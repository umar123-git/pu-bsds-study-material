
<file path=[Content_Types].xml><?xml version="1.0" encoding="utf-8"?>
<Types xmlns="http://schemas.openxmlformats.org/package/2006/content-types"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8"/>
  </p:notesMasterIdLst>
  <p:sldIdLst>
    <p:sldId id="817" r:id="rId2"/>
    <p:sldId id="261" r:id="rId3"/>
    <p:sldId id="429" r:id="rId4"/>
    <p:sldId id="430" r:id="rId5"/>
    <p:sldId id="506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284" r:id="rId19"/>
    <p:sldId id="444" r:id="rId20"/>
    <p:sldId id="445" r:id="rId21"/>
    <p:sldId id="446" r:id="rId22"/>
    <p:sldId id="472" r:id="rId23"/>
    <p:sldId id="453" r:id="rId24"/>
    <p:sldId id="454" r:id="rId25"/>
    <p:sldId id="455" r:id="rId26"/>
    <p:sldId id="287" r:id="rId27"/>
    <p:sldId id="473" r:id="rId28"/>
    <p:sldId id="474" r:id="rId29"/>
    <p:sldId id="475" r:id="rId30"/>
    <p:sldId id="509" r:id="rId31"/>
    <p:sldId id="507" r:id="rId32"/>
    <p:sldId id="476" r:id="rId33"/>
    <p:sldId id="478" r:id="rId34"/>
    <p:sldId id="479" r:id="rId35"/>
    <p:sldId id="480" r:id="rId36"/>
    <p:sldId id="508" r:id="rId37"/>
  </p:sldIdLst>
  <p:sldSz cx="12192000" cy="6858000"/>
  <p:notesSz cx="6858000" cy="9144000"/>
  <p:custShowLst>
    <p:custShow name="Power Table" id="0">
      <p:sldLst>
        <p:sld r:id="rId31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FF9933"/>
    <a:srgbClr val="E0E0DE"/>
    <a:srgbClr val="FEE2FA"/>
    <a:srgbClr val="FFFFCC"/>
    <a:srgbClr val="CCFFCC"/>
    <a:srgbClr val="E9E9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575" autoAdjust="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184"/>
        <p:guide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4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F25B6C4-3F1D-454A-9AC0-BB9E542C88A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LID4096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774A307F-91C6-4A2A-8F4C-EC211E49609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LID4096"/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CE2BFBF7-991F-4E68-985C-E0A6D6B9972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6142F4BE-827C-45C4-B482-73F0DF2848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LID4096"/>
              <a:t>Click to edit Master text styles</a:t>
            </a:r>
          </a:p>
          <a:p>
            <a:pPr lvl="1"/>
            <a:r>
              <a:rPr lang="en-US" altLang="LID4096"/>
              <a:t>Second level</a:t>
            </a:r>
          </a:p>
          <a:p>
            <a:pPr lvl="2"/>
            <a:r>
              <a:rPr lang="en-US" altLang="LID4096"/>
              <a:t>Third level</a:t>
            </a:r>
          </a:p>
          <a:p>
            <a:pPr lvl="3"/>
            <a:r>
              <a:rPr lang="en-US" altLang="LID4096"/>
              <a:t>Fourth level</a:t>
            </a:r>
          </a:p>
          <a:p>
            <a:pPr lvl="4"/>
            <a:r>
              <a:rPr lang="en-US" altLang="LID4096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2BF2D229-C4C5-4D71-B382-31FDBA1893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LID4096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EB75786E-BFA6-401A-8346-511DA1D8F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CBBE63C7-2E6C-4BDA-B4D5-49B3889C099E}" type="slidenum">
              <a:rPr lang="en-US" altLang="LID4096"/>
              <a:pPr/>
              <a:t>‹#›</a:t>
            </a:fld>
            <a:endParaRPr lang="en-US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99706259-0FBF-41B2-908D-AE6AFCBA20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23925"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3925"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3925"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3925"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3925"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fld id="{5B7480CD-E207-4C87-86FC-048F0815B1B2}" type="slidenum">
              <a:rPr lang="en-US" altLang="en-US" sz="1200" baseline="0" smtClean="0">
                <a:solidFill>
                  <a:srgbClr val="000000"/>
                </a:solidFill>
                <a:ea typeface="MS PGothic" panose="020B0600070205080204" pitchFamily="34" charset="-128"/>
              </a:rPr>
              <a:pPr eaLnBrk="0" hangingPunct="0"/>
              <a:t>1</a:t>
            </a:fld>
            <a:endParaRPr lang="en-US" altLang="en-US" sz="1200" baseline="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BEF24E3-9B4B-4E62-AB88-583253017B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A786544-B606-4CF3-ADDA-9C6E0CABD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E63C7-2E6C-4BDA-B4D5-49B3889C099E}" type="slidenum">
              <a:rPr lang="en-US" altLang="LID4096" smtClean="0"/>
              <a:pPr/>
              <a:t>6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6251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33D-11AF-4A96-8EB7-8606B47E00C1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86100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50CB-E08E-44DC-A432-8B37C02FFAFA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62545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F21B0-8E19-4C98-9DAB-17C228A514BC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66240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E47AD-4BAE-462B-97B5-CB8EAF36E35C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4030075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FF2D5-C4C3-4C76-95BB-A3157A69DD09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40271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80FD-848C-4DFA-A319-A553E430F546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196298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D787-346C-4988-A137-26A436D4B432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76231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A827B-9BE1-44F6-A8AF-D18922042FCC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19486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8185A-C829-4749-9F0B-1F08FD3D6C7E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156390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CDCE-9D2E-4DDA-8784-ACAC49300CD3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118469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F71D-C924-4649-871E-CC7B98BB3E27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06376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498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FB700-B01D-4DCD-8DBE-19BAFCE309B7}" type="slidenum">
              <a:rPr lang="en-US" altLang="LID4096" smtClean="0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893868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C7E369F2-ED94-4706-82E4-61CFBFFAF2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895475" y="1370016"/>
            <a:ext cx="8458200" cy="159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/>
            <a:r>
              <a:rPr lang="en-US" altLang="en-US" b="1" dirty="0"/>
              <a:t>Computer Networks</a:t>
            </a:r>
            <a:r>
              <a:rPr lang="en-US" altLang="en-US" dirty="0"/>
              <a:t>	</a:t>
            </a:r>
            <a:br>
              <a:rPr lang="en-US" altLang="en-US" dirty="0"/>
            </a:br>
            <a:r>
              <a:rPr lang="en-US" altLang="en-US" sz="4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IP ADDRESSING</a:t>
            </a:r>
            <a:br>
              <a:rPr lang="en-US" altLang="en-US" sz="4000" dirty="0">
                <a:solidFill>
                  <a:srgbClr val="FF0000"/>
                </a:solidFill>
                <a:latin typeface="Arial Rounded MT Bold" panose="020F0704030504030204" pitchFamily="34" charset="0"/>
              </a:rPr>
            </a:br>
            <a:br>
              <a:rPr lang="en-US" altLang="en-US" sz="4000" dirty="0">
                <a:solidFill>
                  <a:srgbClr val="FF0000"/>
                </a:solidFill>
                <a:latin typeface="Arial Rounded MT Bold" panose="020F0704030504030204" pitchFamily="34" charset="0"/>
              </a:rPr>
            </a:br>
            <a:br>
              <a:rPr lang="en-US" altLang="en-US" sz="4000" dirty="0">
                <a:latin typeface="Arial Rounded MT Bold" panose="020F0704030504030204" pitchFamily="34" charset="0"/>
              </a:rPr>
            </a:br>
            <a:endParaRPr lang="en-US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98CE0D3-DB0E-4308-91B5-F09C386AD43E}"/>
              </a:ext>
            </a:extLst>
          </p:cNvPr>
          <p:cNvSpPr txBox="1">
            <a:spLocks/>
          </p:cNvSpPr>
          <p:nvPr/>
        </p:nvSpPr>
        <p:spPr>
          <a:xfrm>
            <a:off x="1509714" y="3295650"/>
            <a:ext cx="9144001" cy="17414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defRPr/>
            </a:pPr>
            <a:endParaRPr lang="en-US" sz="1800" kern="0" dirty="0">
              <a:solidFill>
                <a:srgbClr val="000000"/>
              </a:solidFill>
              <a:latin typeface="Helvetica"/>
            </a:endParaRPr>
          </a:p>
          <a:p>
            <a:pPr marL="0" indent="0" algn="ctr">
              <a:buNone/>
              <a:defRPr/>
            </a:pPr>
            <a:r>
              <a:rPr lang="en-US" sz="6000" kern="0" dirty="0">
                <a:solidFill>
                  <a:srgbClr val="000000"/>
                </a:solidFill>
                <a:latin typeface="Edwardian Script ITC" panose="030303020407070D0804" pitchFamily="66" charset="0"/>
              </a:rPr>
              <a:t>Dr. Muhammad Nadeem Majeed</a:t>
            </a:r>
          </a:p>
        </p:txBody>
      </p:sp>
      <p:sp>
        <p:nvSpPr>
          <p:cNvPr id="5124" name="TextBox 7">
            <a:extLst>
              <a:ext uri="{FF2B5EF4-FFF2-40B4-BE49-F238E27FC236}">
                <a16:creationId xmlns:a16="http://schemas.microsoft.com/office/drawing/2014/main" id="{06ED807D-0375-4186-8AD8-92CC07662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738" y="5287966"/>
            <a:ext cx="7002462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aseline="-1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baseline="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Contact info: </a:t>
            </a:r>
          </a:p>
          <a:p>
            <a:r>
              <a:rPr lang="en-US" altLang="en-US" sz="3200" baseline="0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		</a:t>
            </a:r>
            <a:r>
              <a:rPr lang="en-US" altLang="en-US" baseline="0" dirty="0">
                <a:solidFill>
                  <a:srgbClr val="000000"/>
                </a:solidFill>
                <a:latin typeface="Andalus" panose="02020603050405020304" pitchFamily="18" charset="-78"/>
                <a:ea typeface="MS PGothic" panose="020B0600070205080204" pitchFamily="34" charset="-128"/>
                <a:cs typeface="Andalus" panose="02020603050405020304" pitchFamily="18" charset="-78"/>
              </a:rPr>
              <a:t>nadeem.majeed@pucit.edu.pk</a:t>
            </a:r>
          </a:p>
          <a:p>
            <a:r>
              <a:rPr lang="en-US" altLang="en-US" baseline="0" dirty="0">
                <a:solidFill>
                  <a:srgbClr val="000000"/>
                </a:solidFill>
                <a:latin typeface="Andalus" panose="02020603050405020304" pitchFamily="18" charset="-78"/>
                <a:ea typeface="MS PGothic" panose="020B0600070205080204" pitchFamily="34" charset="-128"/>
                <a:cs typeface="Andalus" panose="02020603050405020304" pitchFamily="18" charset="-78"/>
              </a:rPr>
              <a:t>		0333-1049181</a:t>
            </a:r>
          </a:p>
          <a:p>
            <a:r>
              <a:rPr lang="en-US" altLang="en-US" baseline="0" dirty="0">
                <a:solidFill>
                  <a:srgbClr val="000000"/>
                </a:solidFill>
                <a:latin typeface="Andalus" panose="02020603050405020304" pitchFamily="18" charset="-78"/>
                <a:ea typeface="MS PGothic" panose="020B0600070205080204" pitchFamily="34" charset="-128"/>
                <a:cs typeface="Andalus" panose="02020603050405020304" pitchFamily="18" charset="-78"/>
              </a:rPr>
              <a:t>		PUCIT, University of the Punjab, Lahore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96F6791-3668-4F35-8C07-91C6D441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1C2F-EC76-41C5-850A-38635D76E7AC}" type="slidenum">
              <a:rPr lang="en-US" altLang="LID4096"/>
              <a:pPr/>
              <a:t>2</a:t>
            </a:fld>
            <a:endParaRPr lang="en-US" altLang="LID4096"/>
          </a:p>
        </p:txBody>
      </p:sp>
      <p:sp>
        <p:nvSpPr>
          <p:cNvPr id="69646" name="WordArt 14">
            <a:extLst>
              <a:ext uri="{FF2B5EF4-FFF2-40B4-BE49-F238E27FC236}">
                <a16:creationId xmlns:a16="http://schemas.microsoft.com/office/drawing/2014/main" id="{7644DC74-A519-4C07-96AC-3B240BCA1D7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275016" y="3081338"/>
            <a:ext cx="5641975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107763" dir="2700000" algn="ctr" rotWithShape="0">
                    <a:schemeClr val="bg2"/>
                  </a:outerShdw>
                </a:effectLst>
                <a:latin typeface="Arial Black" panose="020B0A04020102020204" pitchFamily="34" charset="0"/>
              </a:rPr>
              <a:t>IP ADDRESSING</a:t>
            </a:r>
            <a:endParaRPr lang="LID4096" sz="3600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solidFill>
                <a:srgbClr val="FFFF99"/>
              </a:solidFill>
              <a:effectLst>
                <a:outerShdw dist="107763" dir="2700000" algn="ctr" rotWithShape="0">
                  <a:schemeClr val="bg2"/>
                </a:outerShdw>
              </a:effectLst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F456675-A8E8-41DB-A564-2DADC396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9DA4E-ACBD-4753-9E11-7DC1BB453A7E}" type="slidenum">
              <a:rPr lang="en-US" altLang="LID4096"/>
              <a:pPr/>
              <a:t>3</a:t>
            </a:fld>
            <a:endParaRPr lang="en-US" altLang="LID4096"/>
          </a:p>
        </p:txBody>
      </p:sp>
      <p:sp>
        <p:nvSpPr>
          <p:cNvPr id="279557" name="Rectangle 5">
            <a:extLst>
              <a:ext uri="{FF2B5EF4-FFF2-40B4-BE49-F238E27FC236}">
                <a16:creationId xmlns:a16="http://schemas.microsoft.com/office/drawing/2014/main" id="{6E94BEFF-8AB5-43B1-8667-B0CC3636B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IP Addressing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79556" name="Rectangle 4">
            <a:extLst>
              <a:ext uri="{FF2B5EF4-FFF2-40B4-BE49-F238E27FC236}">
                <a16:creationId xmlns:a16="http://schemas.microsoft.com/office/drawing/2014/main" id="{85D4B2C6-F372-4346-90B5-3F340D9D6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0"/>
            <a:ext cx="8382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8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IP Addressing is Logical Addressing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800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8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It works on Network Layer (Layer 3)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800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8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Two Versions of Addressing Scheme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800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ja-JP" sz="28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IP version 4 – 32 bit addressing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ja-JP" sz="2800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ja-JP" sz="28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IP version 6 – 128 bit addressing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ja-JP" sz="2800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9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9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9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9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9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6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C0112CE-8009-4856-8B75-1D00B334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F454-142A-4534-9F83-21F47474AA0A}" type="slidenum">
              <a:rPr lang="en-US" altLang="LID4096"/>
              <a:pPr/>
              <a:t>4</a:t>
            </a:fld>
            <a:endParaRPr lang="en-US" altLang="LID4096"/>
          </a:p>
        </p:txBody>
      </p:sp>
      <p:sp>
        <p:nvSpPr>
          <p:cNvPr id="280580" name="Rectangle 4">
            <a:extLst>
              <a:ext uri="{FF2B5EF4-FFF2-40B4-BE49-F238E27FC236}">
                <a16:creationId xmlns:a16="http://schemas.microsoft.com/office/drawing/2014/main" id="{368B1600-782D-4423-AB67-AC1BAC37B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447800"/>
            <a:ext cx="8382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  Bit is a value that will represent 0’s or 1’s (i.e. Binary)</a:t>
            </a:r>
          </a:p>
          <a:p>
            <a:pPr algn="ctr">
              <a:spcBef>
                <a:spcPct val="20000"/>
              </a:spcBef>
            </a:pPr>
            <a:endParaRPr lang="en-US" altLang="ja-JP" sz="2500">
              <a:solidFill>
                <a:srgbClr val="6600FF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01010101000001011011111100000001</a:t>
            </a:r>
          </a:p>
          <a:p>
            <a:pPr algn="ctr">
              <a:spcBef>
                <a:spcPct val="20000"/>
              </a:spcBef>
            </a:pPr>
            <a:endParaRPr lang="en-US" altLang="ja-JP" sz="2500">
              <a:solidFill>
                <a:srgbClr val="6600FF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32 bits are divided into 4 Octets known as Dotted Decimal Notation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01010101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00000101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10111111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00000001</a:t>
            </a:r>
          </a:p>
          <a:p>
            <a:pPr>
              <a:spcBef>
                <a:spcPct val="20000"/>
              </a:spcBef>
            </a:pPr>
            <a:endParaRPr lang="en-US" altLang="ja-JP" sz="25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0581" name="Rectangle 5">
            <a:extLst>
              <a:ext uri="{FF2B5EF4-FFF2-40B4-BE49-F238E27FC236}">
                <a16:creationId xmlns:a16="http://schemas.microsoft.com/office/drawing/2014/main" id="{591CE2EF-5A20-4FFD-A5F2-9261DEB8A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IP version 4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80591" name="Group 15">
            <a:extLst>
              <a:ext uri="{FF2B5EF4-FFF2-40B4-BE49-F238E27FC236}">
                <a16:creationId xmlns:a16="http://schemas.microsoft.com/office/drawing/2014/main" id="{9E4D2260-9227-4624-A8B1-800359F6C208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648200"/>
            <a:ext cx="7924800" cy="762000"/>
            <a:chOff x="240" y="2928"/>
            <a:chExt cx="4992" cy="480"/>
          </a:xfrm>
        </p:grpSpPr>
        <p:sp>
          <p:nvSpPr>
            <p:cNvPr id="280585" name="AutoShape 9">
              <a:extLst>
                <a:ext uri="{FF2B5EF4-FFF2-40B4-BE49-F238E27FC236}">
                  <a16:creationId xmlns:a16="http://schemas.microsoft.com/office/drawing/2014/main" id="{D8426615-C1F9-45EF-B22B-B324B9644F5C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672" y="2736"/>
              <a:ext cx="240" cy="1104"/>
            </a:xfrm>
            <a:prstGeom prst="leftBrace">
              <a:avLst>
                <a:gd name="adj1" fmla="val 42081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280586" name="AutoShape 10">
              <a:extLst>
                <a:ext uri="{FF2B5EF4-FFF2-40B4-BE49-F238E27FC236}">
                  <a16:creationId xmlns:a16="http://schemas.microsoft.com/office/drawing/2014/main" id="{82C1A997-EC57-4D32-8720-62A653EAD0A8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1968" y="2736"/>
              <a:ext cx="240" cy="1104"/>
            </a:xfrm>
            <a:prstGeom prst="leftBrace">
              <a:avLst>
                <a:gd name="adj1" fmla="val 42081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280587" name="AutoShape 11">
              <a:extLst>
                <a:ext uri="{FF2B5EF4-FFF2-40B4-BE49-F238E27FC236}">
                  <a16:creationId xmlns:a16="http://schemas.microsoft.com/office/drawing/2014/main" id="{C8525D2A-ADE4-4027-8F64-3D3A1EE7007E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264" y="2736"/>
              <a:ext cx="240" cy="1104"/>
            </a:xfrm>
            <a:prstGeom prst="leftBrace">
              <a:avLst>
                <a:gd name="adj1" fmla="val 42081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280588" name="AutoShape 12">
              <a:extLst>
                <a:ext uri="{FF2B5EF4-FFF2-40B4-BE49-F238E27FC236}">
                  <a16:creationId xmlns:a16="http://schemas.microsoft.com/office/drawing/2014/main" id="{2FF39BB8-9A6E-4F54-AD99-9DF87C555CF3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4512" y="2736"/>
              <a:ext cx="240" cy="1104"/>
            </a:xfrm>
            <a:prstGeom prst="leftBrace">
              <a:avLst>
                <a:gd name="adj1" fmla="val 42081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280590" name="Rectangle 14">
              <a:extLst>
                <a:ext uri="{FF2B5EF4-FFF2-40B4-BE49-F238E27FC236}">
                  <a16:creationId xmlns:a16="http://schemas.microsoft.com/office/drawing/2014/main" id="{7FAF9442-101B-4FA9-A924-A8B2E7755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928"/>
              <a:ext cx="49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First Octet    Second Octet   Third Octet    Forth Octet</a:t>
              </a:r>
              <a:endPara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0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0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0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0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0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4023F4-7C2A-4923-BEEB-18BE2792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02923-F68A-4E5A-B625-43E0A105463B}" type="slidenum">
              <a:rPr lang="en-US" altLang="LID4096"/>
              <a:pPr/>
              <a:t>5</a:t>
            </a:fld>
            <a:endParaRPr lang="en-US" altLang="LID4096"/>
          </a:p>
        </p:txBody>
      </p:sp>
      <p:sp>
        <p:nvSpPr>
          <p:cNvPr id="373762" name="Rectangle 2">
            <a:extLst>
              <a:ext uri="{FF2B5EF4-FFF2-40B4-BE49-F238E27FC236}">
                <a16:creationId xmlns:a16="http://schemas.microsoft.com/office/drawing/2014/main" id="{92F5202D-FFFD-49F8-AD99-1E4AC7758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447800"/>
            <a:ext cx="8382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200000"/>
              </a:lnSpc>
              <a:spcBef>
                <a:spcPct val="20000"/>
              </a:spcBef>
              <a:buFontTx/>
              <a:buChar char="•"/>
            </a:pP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128-bit address is divided along 16-bit boundaries, and each 16-bit block is converted to a 4-digit hexadecimal number and separated by colons    (Colon-Hex Notation)</a:t>
            </a:r>
            <a:b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r>
              <a:rPr lang="en-US" altLang="LID4096" sz="23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FEDC</a:t>
            </a:r>
            <a:r>
              <a:rPr lang="en-US" altLang="LID4096" sz="23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:</a:t>
            </a:r>
            <a:r>
              <a:rPr lang="en-US" altLang="LID4096" sz="23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BA98</a:t>
            </a:r>
            <a:r>
              <a:rPr lang="en-US" altLang="LID4096" sz="23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:</a:t>
            </a:r>
            <a:r>
              <a:rPr lang="en-US" altLang="LID4096" sz="23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7654</a:t>
            </a:r>
            <a:r>
              <a:rPr lang="en-US" altLang="LID4096" sz="23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:</a:t>
            </a:r>
            <a:r>
              <a:rPr lang="en-US" altLang="LID4096" sz="23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3210</a:t>
            </a:r>
            <a:r>
              <a:rPr lang="en-US" altLang="LID4096" sz="23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:</a:t>
            </a:r>
            <a:r>
              <a:rPr lang="en-US" altLang="LID4096" sz="23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FEDC</a:t>
            </a:r>
            <a:r>
              <a:rPr lang="en-US" altLang="LID4096" sz="23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:</a:t>
            </a:r>
            <a:r>
              <a:rPr lang="en-US" altLang="LID4096" sz="23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BA98</a:t>
            </a:r>
            <a:r>
              <a:rPr lang="en-US" altLang="LID4096" sz="23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:</a:t>
            </a:r>
            <a:r>
              <a:rPr lang="en-US" altLang="LID4096" sz="23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7654</a:t>
            </a:r>
            <a:r>
              <a:rPr lang="en-US" altLang="LID4096" sz="23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:</a:t>
            </a:r>
            <a:r>
              <a:rPr lang="en-US" altLang="LID4096" sz="23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3210</a:t>
            </a:r>
          </a:p>
        </p:txBody>
      </p:sp>
      <p:sp>
        <p:nvSpPr>
          <p:cNvPr id="373763" name="Rectangle 3">
            <a:extLst>
              <a:ext uri="{FF2B5EF4-FFF2-40B4-BE49-F238E27FC236}">
                <a16:creationId xmlns:a16="http://schemas.microsoft.com/office/drawing/2014/main" id="{AB18F2A3-C00E-474E-BE1B-002B5B870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IP version 6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3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2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D50E3D-C0CF-4259-B8CB-05E7D657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4BD5-D90A-4AA9-9C70-4496CB623EBC}" type="slidenum">
              <a:rPr lang="en-US" altLang="LID4096"/>
              <a:pPr/>
              <a:t>6</a:t>
            </a:fld>
            <a:endParaRPr lang="en-US" altLang="LID4096"/>
          </a:p>
        </p:txBody>
      </p:sp>
      <p:sp>
        <p:nvSpPr>
          <p:cNvPr id="281604" name="Rectangle 2052">
            <a:extLst>
              <a:ext uri="{FF2B5EF4-FFF2-40B4-BE49-F238E27FC236}">
                <a16:creationId xmlns:a16="http://schemas.microsoft.com/office/drawing/2014/main" id="{283639A6-6D6E-434B-8750-25C8FB243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219200"/>
            <a:ext cx="8305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Taking Example for First Octet : 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Total 8 bits, Value will be 0’s and 1’s  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i.e. 2</a:t>
            </a:r>
            <a:r>
              <a:rPr lang="en-US" altLang="ja-JP" sz="2000" baseline="30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8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 = 256 combination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7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6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5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4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0   0    0   =  0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0   0    1   =  1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0   1    0   =  2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0   1    1   =  3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1   0    0   =  4</a:t>
            </a:r>
          </a:p>
        </p:txBody>
      </p:sp>
      <p:sp>
        <p:nvSpPr>
          <p:cNvPr id="281605" name="Rectangle 2053">
            <a:extLst>
              <a:ext uri="{FF2B5EF4-FFF2-40B4-BE49-F238E27FC236}">
                <a16:creationId xmlns:a16="http://schemas.microsoft.com/office/drawing/2014/main" id="{420ACEBF-D91F-4D7C-B9E5-78E52D8BE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Binary to Decimal Conversion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1618" name="Line 2066">
            <a:extLst>
              <a:ext uri="{FF2B5EF4-FFF2-40B4-BE49-F238E27FC236}">
                <a16:creationId xmlns:a16="http://schemas.microsoft.com/office/drawing/2014/main" id="{F3B36EEB-61AF-41B5-A49D-F2A98462CA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4572000"/>
            <a:ext cx="3505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281619" name="Rectangle 2067">
            <a:extLst>
              <a:ext uri="{FF2B5EF4-FFF2-40B4-BE49-F238E27FC236}">
                <a16:creationId xmlns:a16="http://schemas.microsoft.com/office/drawing/2014/main" id="{0B7F6663-A939-4638-BEF3-768050E19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5603875"/>
            <a:ext cx="830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   1   1    1   1   1   1    1   =  255</a:t>
            </a: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1620" name="AutoShape 2068">
            <a:extLst>
              <a:ext uri="{FF2B5EF4-FFF2-40B4-BE49-F238E27FC236}">
                <a16:creationId xmlns:a16="http://schemas.microsoft.com/office/drawing/2014/main" id="{A5CB9973-B0A9-48D5-8AC7-58361196C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075" y="3273425"/>
            <a:ext cx="3811588" cy="186213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Total IP Address Range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endParaRPr lang="en-US" altLang="ja-JP" sz="25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1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1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1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1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1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1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1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1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4" grpId="0" build="p" autoUpdateAnimBg="0"/>
      <p:bldP spid="281619" grpId="0" autoUpdateAnimBg="0"/>
      <p:bldP spid="281620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0C3CD57-F5EB-45DA-8F46-11117A8E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C5F9F-5678-4632-B8B4-95E8523B69D0}" type="slidenum">
              <a:rPr lang="en-US" altLang="LID4096"/>
              <a:pPr/>
              <a:t>7</a:t>
            </a:fld>
            <a:endParaRPr lang="en-US" altLang="LID4096"/>
          </a:p>
        </p:txBody>
      </p:sp>
      <p:sp>
        <p:nvSpPr>
          <p:cNvPr id="282628" name="Rectangle 2052">
            <a:extLst>
              <a:ext uri="{FF2B5EF4-FFF2-40B4-BE49-F238E27FC236}">
                <a16:creationId xmlns:a16="http://schemas.microsoft.com/office/drawing/2014/main" id="{DC53389A-D6A2-451D-845B-2D2804998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8" y="1365250"/>
            <a:ext cx="8323263" cy="424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Total IP Addressing Scheme is divided 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  into 5 Classes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A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B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C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D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E</a:t>
            </a:r>
          </a:p>
        </p:txBody>
      </p:sp>
      <p:sp>
        <p:nvSpPr>
          <p:cNvPr id="282629" name="Rectangle 2053">
            <a:extLst>
              <a:ext uri="{FF2B5EF4-FFF2-40B4-BE49-F238E27FC236}">
                <a16:creationId xmlns:a16="http://schemas.microsoft.com/office/drawing/2014/main" id="{085DE591-A9D0-4C6E-A8D6-1D38AC13D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IP Address Classes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282644" name="Group 2068">
            <a:extLst>
              <a:ext uri="{FF2B5EF4-FFF2-40B4-BE49-F238E27FC236}">
                <a16:creationId xmlns:a16="http://schemas.microsoft.com/office/drawing/2014/main" id="{8361B57B-F587-46EB-95DD-52B08059B5BD}"/>
              </a:ext>
            </a:extLst>
          </p:cNvPr>
          <p:cNvGrpSpPr>
            <a:grpSpLocks/>
          </p:cNvGrpSpPr>
          <p:nvPr/>
        </p:nvGrpSpPr>
        <p:grpSpPr bwMode="auto">
          <a:xfrm>
            <a:off x="3709988" y="2532063"/>
            <a:ext cx="5676900" cy="1865312"/>
            <a:chOff x="1333" y="1595"/>
            <a:chExt cx="3576" cy="1175"/>
          </a:xfrm>
        </p:grpSpPr>
        <p:sp>
          <p:nvSpPr>
            <p:cNvPr id="282631" name="AutoShape 2055">
              <a:extLst>
                <a:ext uri="{FF2B5EF4-FFF2-40B4-BE49-F238E27FC236}">
                  <a16:creationId xmlns:a16="http://schemas.microsoft.com/office/drawing/2014/main" id="{F89112C9-DBB8-4176-BBDB-D54812045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3" y="1595"/>
              <a:ext cx="225" cy="1175"/>
            </a:xfrm>
            <a:prstGeom prst="rightBrace">
              <a:avLst>
                <a:gd name="adj1" fmla="val 43519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282632" name="Rectangle 2056">
              <a:extLst>
                <a:ext uri="{FF2B5EF4-FFF2-40B4-BE49-F238E27FC236}">
                  <a16:creationId xmlns:a16="http://schemas.microsoft.com/office/drawing/2014/main" id="{358B5699-3EA4-4801-83DD-5FDF0181F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2015"/>
              <a:ext cx="3300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LAN &amp; WAN</a:t>
              </a:r>
            </a:p>
          </p:txBody>
        </p:sp>
      </p:grpSp>
      <p:grpSp>
        <p:nvGrpSpPr>
          <p:cNvPr id="282643" name="Group 2067">
            <a:extLst>
              <a:ext uri="{FF2B5EF4-FFF2-40B4-BE49-F238E27FC236}">
                <a16:creationId xmlns:a16="http://schemas.microsoft.com/office/drawing/2014/main" id="{982287F4-E0ED-4DA3-9F8B-62B79B31FD05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4573588"/>
            <a:ext cx="5691188" cy="596900"/>
            <a:chOff x="1332" y="2881"/>
            <a:chExt cx="3585" cy="376"/>
          </a:xfrm>
        </p:grpSpPr>
        <p:sp>
          <p:nvSpPr>
            <p:cNvPr id="282637" name="AutoShape 2061">
              <a:extLst>
                <a:ext uri="{FF2B5EF4-FFF2-40B4-BE49-F238E27FC236}">
                  <a16:creationId xmlns:a16="http://schemas.microsoft.com/office/drawing/2014/main" id="{5F33F8FE-DE41-46C9-8300-D97655425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2881"/>
              <a:ext cx="226" cy="376"/>
            </a:xfrm>
            <a:prstGeom prst="rightBrace">
              <a:avLst>
                <a:gd name="adj1" fmla="val 41593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282640" name="Rectangle 2064">
              <a:extLst>
                <a:ext uri="{FF2B5EF4-FFF2-40B4-BE49-F238E27FC236}">
                  <a16:creationId xmlns:a16="http://schemas.microsoft.com/office/drawing/2014/main" id="{DD6796CE-A35A-49CD-B36B-171E76CCD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2924"/>
              <a:ext cx="3300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Multicasting</a:t>
              </a:r>
            </a:p>
          </p:txBody>
        </p:sp>
      </p:grpSp>
      <p:grpSp>
        <p:nvGrpSpPr>
          <p:cNvPr id="282642" name="Group 2066">
            <a:extLst>
              <a:ext uri="{FF2B5EF4-FFF2-40B4-BE49-F238E27FC236}">
                <a16:creationId xmlns:a16="http://schemas.microsoft.com/office/drawing/2014/main" id="{990DD66A-5508-4D03-B101-3E09698F14B4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5302253"/>
            <a:ext cx="5691188" cy="665163"/>
            <a:chOff x="1332" y="3340"/>
            <a:chExt cx="3585" cy="419"/>
          </a:xfrm>
        </p:grpSpPr>
        <p:sp>
          <p:nvSpPr>
            <p:cNvPr id="282638" name="AutoShape 2062">
              <a:extLst>
                <a:ext uri="{FF2B5EF4-FFF2-40B4-BE49-F238E27FC236}">
                  <a16:creationId xmlns:a16="http://schemas.microsoft.com/office/drawing/2014/main" id="{8AB1C2B2-BD48-4DD8-A52E-13AC05999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3340"/>
              <a:ext cx="226" cy="376"/>
            </a:xfrm>
            <a:prstGeom prst="rightBrace">
              <a:avLst>
                <a:gd name="adj1" fmla="val 41593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282641" name="Rectangle 2065">
              <a:extLst>
                <a:ext uri="{FF2B5EF4-FFF2-40B4-BE49-F238E27FC236}">
                  <a16:creationId xmlns:a16="http://schemas.microsoft.com/office/drawing/2014/main" id="{8BA6330B-E976-44ED-8E92-DF5BB36B8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3408"/>
              <a:ext cx="3300" cy="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Research &amp; Development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2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2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2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2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2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26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26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B48E27-25C5-4DC9-B01A-4070702A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89A65-9003-43BD-8744-44953DC17461}" type="slidenum">
              <a:rPr lang="en-US" altLang="LID4096"/>
              <a:pPr/>
              <a:t>8</a:t>
            </a:fld>
            <a:endParaRPr lang="en-US" altLang="LID4096"/>
          </a:p>
        </p:txBody>
      </p:sp>
      <p:sp>
        <p:nvSpPr>
          <p:cNvPr id="283656" name="Rectangle 1032">
            <a:extLst>
              <a:ext uri="{FF2B5EF4-FFF2-40B4-BE49-F238E27FC236}">
                <a16:creationId xmlns:a16="http://schemas.microsoft.com/office/drawing/2014/main" id="{A6DBAD29-2C8D-42E6-B12D-A142A8850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Priority Bit Concept</a:t>
            </a:r>
          </a:p>
        </p:txBody>
      </p:sp>
      <p:sp>
        <p:nvSpPr>
          <p:cNvPr id="283657" name="Rectangle 1033">
            <a:extLst>
              <a:ext uri="{FF2B5EF4-FFF2-40B4-BE49-F238E27FC236}">
                <a16:creationId xmlns:a16="http://schemas.microsoft.com/office/drawing/2014/main" id="{D81F5B78-2457-4011-9ED1-BE342CD2A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8" y="1125541"/>
            <a:ext cx="8323263" cy="475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To identify the range of each class 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a bit called priority bit is used.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Priority Bit is the left most bits in the First Octet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A priority bit is		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B priority bit is		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10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C priority bit is		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110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D priority bit is		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1110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E priority bit is		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3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36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36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36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36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36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36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365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88B97DB-B9D9-4136-A7D0-23D56C77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042EE-1DE7-4793-8FF8-896D14F4BDD1}" type="slidenum">
              <a:rPr lang="en-US" altLang="LID4096"/>
              <a:pPr/>
              <a:t>9</a:t>
            </a:fld>
            <a:endParaRPr lang="en-US" altLang="LID4096"/>
          </a:p>
        </p:txBody>
      </p:sp>
      <p:sp>
        <p:nvSpPr>
          <p:cNvPr id="284681" name="Rectangle 1033">
            <a:extLst>
              <a:ext uri="{FF2B5EF4-FFF2-40B4-BE49-F238E27FC236}">
                <a16:creationId xmlns:a16="http://schemas.microsoft.com/office/drawing/2014/main" id="{ABE0A3C0-01EB-411F-BEF5-2BF525B60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38" y="2865438"/>
            <a:ext cx="430212" cy="32639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284676" name="Rectangle 1028">
            <a:extLst>
              <a:ext uri="{FF2B5EF4-FFF2-40B4-BE49-F238E27FC236}">
                <a16:creationId xmlns:a16="http://schemas.microsoft.com/office/drawing/2014/main" id="{1FC4BB59-0DC4-43AD-AE7F-3BAEF04F0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236663"/>
            <a:ext cx="8305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For Class A range : First bit of the first octet 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should be reserved for the priority bit.</a:t>
            </a:r>
          </a:p>
          <a:p>
            <a:pPr>
              <a:spcBef>
                <a:spcPct val="50000"/>
              </a:spcBef>
            </a:pP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0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 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7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6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5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4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0   0    0   =  0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0   0    1   =  1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0   1    0   =  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0   1    1   =  3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0   0   0    0   0   1   0    0   =  4</a:t>
            </a:r>
          </a:p>
        </p:txBody>
      </p:sp>
      <p:sp>
        <p:nvSpPr>
          <p:cNvPr id="284677" name="Rectangle 1029">
            <a:extLst>
              <a:ext uri="{FF2B5EF4-FFF2-40B4-BE49-F238E27FC236}">
                <a16:creationId xmlns:a16="http://schemas.microsoft.com/office/drawing/2014/main" id="{F0E6812F-F9C5-465E-98A9-3A5598666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A Range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4678" name="Line 1030">
            <a:extLst>
              <a:ext uri="{FF2B5EF4-FFF2-40B4-BE49-F238E27FC236}">
                <a16:creationId xmlns:a16="http://schemas.microsoft.com/office/drawing/2014/main" id="{78DF93A3-0DBE-4CA6-A10C-EFCD8B91FD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3" y="4746625"/>
            <a:ext cx="2930525" cy="882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284679" name="Rectangle 1031">
            <a:extLst>
              <a:ext uri="{FF2B5EF4-FFF2-40B4-BE49-F238E27FC236}">
                <a16:creationId xmlns:a16="http://schemas.microsoft.com/office/drawing/2014/main" id="{53AFE55C-631E-4203-B01E-C1B496B11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5708650"/>
            <a:ext cx="830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0   1   1    1   1   1   1    1   =  127</a:t>
            </a: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4680" name="AutoShape 1032">
            <a:extLst>
              <a:ext uri="{FF2B5EF4-FFF2-40B4-BE49-F238E27FC236}">
                <a16:creationId xmlns:a16="http://schemas.microsoft.com/office/drawing/2014/main" id="{4107E0A5-17CD-4ADB-B952-F009361F4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6091" y="3081338"/>
            <a:ext cx="3811587" cy="2508250"/>
          </a:xfrm>
          <a:prstGeom prst="roundRect">
            <a:avLst>
              <a:gd name="adj" fmla="val 13671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A Range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  to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127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</a:p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Exception </a:t>
            </a:r>
          </a:p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0.X.X.X and 127.X.X.X network are reserved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4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4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4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4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4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4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4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4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4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6" grpId="0" build="p" autoUpdateAnimBg="0"/>
      <p:bldP spid="284679" grpId="0" autoUpdateAnimBg="0"/>
      <p:bldP spid="284680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22BED07-3617-4DEC-81E6-A3A25842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E944E-30AA-44E0-88B3-AC23074D5786}" type="slidenum">
              <a:rPr lang="en-US" altLang="LID4096"/>
              <a:pPr/>
              <a:t>10</a:t>
            </a:fld>
            <a:endParaRPr lang="en-US" altLang="LID4096"/>
          </a:p>
        </p:txBody>
      </p:sp>
      <p:sp>
        <p:nvSpPr>
          <p:cNvPr id="285700" name="Rectangle 4">
            <a:extLst>
              <a:ext uri="{FF2B5EF4-FFF2-40B4-BE49-F238E27FC236}">
                <a16:creationId xmlns:a16="http://schemas.microsoft.com/office/drawing/2014/main" id="{77B422CF-ED6D-4181-B395-B0EA8F800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41" y="2865438"/>
            <a:ext cx="877887" cy="32639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285701" name="Rectangle 5">
            <a:extLst>
              <a:ext uri="{FF2B5EF4-FFF2-40B4-BE49-F238E27FC236}">
                <a16:creationId xmlns:a16="http://schemas.microsoft.com/office/drawing/2014/main" id="{1851A21C-561D-48FD-9E18-5EC890BF4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236663"/>
            <a:ext cx="8305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For Class B range : First two bits of the first </a:t>
            </a:r>
          </a:p>
          <a:p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octet should be reserved for the priority bit.</a:t>
            </a:r>
          </a:p>
          <a:p>
            <a:pPr>
              <a:spcBef>
                <a:spcPct val="50000"/>
              </a:spcBef>
            </a:pP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10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 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7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6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5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4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0   0    0   0   0   0    0   =  128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0   0    0   0   0   0    1   =  129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0   0    0   0   0   1    0   =  130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0   0    0   0   0   1    1   =  131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0   0    0   0   1   0    0   =  132</a:t>
            </a:r>
          </a:p>
        </p:txBody>
      </p:sp>
      <p:sp>
        <p:nvSpPr>
          <p:cNvPr id="285702" name="Rectangle 6">
            <a:extLst>
              <a:ext uri="{FF2B5EF4-FFF2-40B4-BE49-F238E27FC236}">
                <a16:creationId xmlns:a16="http://schemas.microsoft.com/office/drawing/2014/main" id="{E688FA95-6BD2-43C6-ACA5-F94010154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B Range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5703" name="Line 7">
            <a:extLst>
              <a:ext uri="{FF2B5EF4-FFF2-40B4-BE49-F238E27FC236}">
                <a16:creationId xmlns:a16="http://schemas.microsoft.com/office/drawing/2014/main" id="{77573CE0-C7E8-48A5-9159-0A1159A55A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4041" y="4746625"/>
            <a:ext cx="2427287" cy="960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285704" name="Rectangle 8">
            <a:extLst>
              <a:ext uri="{FF2B5EF4-FFF2-40B4-BE49-F238E27FC236}">
                <a16:creationId xmlns:a16="http://schemas.microsoft.com/office/drawing/2014/main" id="{789A1925-2263-459B-90C3-60CCA0194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5708650"/>
            <a:ext cx="830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1   0   1    1   1   1   1    1   =  191</a:t>
            </a: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5706" name="AutoShape 10">
            <a:extLst>
              <a:ext uri="{FF2B5EF4-FFF2-40B4-BE49-F238E27FC236}">
                <a16:creationId xmlns:a16="http://schemas.microsoft.com/office/drawing/2014/main" id="{ACDEB86E-5403-436A-A6E4-48360F6D2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6" y="3273425"/>
            <a:ext cx="3811587" cy="186213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B Range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128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191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endParaRPr lang="en-US" altLang="ja-JP" sz="25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5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5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5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5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5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5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57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1" grpId="0" build="p" autoUpdateAnimBg="0"/>
      <p:bldP spid="285704" grpId="0" autoUpdateAnimBg="0"/>
      <p:bldP spid="28570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E2827DC-320B-43A5-9BD6-C95CA031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E5BF-D0B6-469E-AF9C-5BB9D0DF6729}" type="slidenum">
              <a:rPr lang="en-US" altLang="LID4096"/>
              <a:pPr/>
              <a:t>11</a:t>
            </a:fld>
            <a:endParaRPr lang="en-US" altLang="LID4096"/>
          </a:p>
        </p:txBody>
      </p:sp>
      <p:sp>
        <p:nvSpPr>
          <p:cNvPr id="286730" name="Rectangle 2058">
            <a:extLst>
              <a:ext uri="{FF2B5EF4-FFF2-40B4-BE49-F238E27FC236}">
                <a16:creationId xmlns:a16="http://schemas.microsoft.com/office/drawing/2014/main" id="{62A557FF-51AC-41A2-8990-0EBFFDCE2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38" y="2865438"/>
            <a:ext cx="1308100" cy="32639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286731" name="Rectangle 2059">
            <a:extLst>
              <a:ext uri="{FF2B5EF4-FFF2-40B4-BE49-F238E27FC236}">
                <a16:creationId xmlns:a16="http://schemas.microsoft.com/office/drawing/2014/main" id="{230F5299-DD9E-4073-8575-C0E2352AE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236663"/>
            <a:ext cx="8305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For Class C range : First Three bits of the first </a:t>
            </a:r>
          </a:p>
          <a:p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octet should be reserved for the priority bit.</a:t>
            </a:r>
          </a:p>
          <a:p>
            <a:pPr>
              <a:spcBef>
                <a:spcPct val="50000"/>
              </a:spcBef>
            </a:pP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110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 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7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6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5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4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0    0   0   0   0    0   =  192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0    0   0   0   0    1   =  193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0    0   0   0   1    0   =  194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0    0   0   0   1    1   =  195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0    0   0   1   0    0   =  196</a:t>
            </a:r>
          </a:p>
        </p:txBody>
      </p:sp>
      <p:sp>
        <p:nvSpPr>
          <p:cNvPr id="286732" name="Rectangle 2060">
            <a:extLst>
              <a:ext uri="{FF2B5EF4-FFF2-40B4-BE49-F238E27FC236}">
                <a16:creationId xmlns:a16="http://schemas.microsoft.com/office/drawing/2014/main" id="{0345341D-2062-4507-8142-3F59585EF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C Range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6733" name="Line 2061">
            <a:extLst>
              <a:ext uri="{FF2B5EF4-FFF2-40B4-BE49-F238E27FC236}">
                <a16:creationId xmlns:a16="http://schemas.microsoft.com/office/drawing/2014/main" id="{0747307A-EE3F-4DE0-8F6A-F903F03585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95691" y="4746628"/>
            <a:ext cx="1925637" cy="9255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286734" name="Rectangle 2062">
            <a:extLst>
              <a:ext uri="{FF2B5EF4-FFF2-40B4-BE49-F238E27FC236}">
                <a16:creationId xmlns:a16="http://schemas.microsoft.com/office/drawing/2014/main" id="{8F3FBFB2-5E40-440A-9B2A-C7229BB0C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5708650"/>
            <a:ext cx="830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1   1   0    1   1   1   1    1   =  223</a:t>
            </a: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6735" name="AutoShape 2063">
            <a:extLst>
              <a:ext uri="{FF2B5EF4-FFF2-40B4-BE49-F238E27FC236}">
                <a16:creationId xmlns:a16="http://schemas.microsoft.com/office/drawing/2014/main" id="{6B17601B-E0BB-49A8-A464-2C9AB685D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6" y="3273425"/>
            <a:ext cx="3811587" cy="186213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C Range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192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223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endParaRPr lang="en-US" altLang="ja-JP" sz="25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6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6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31" grpId="0" build="p" autoUpdateAnimBg="0"/>
      <p:bldP spid="286734" grpId="0" autoUpdateAnimBg="0"/>
      <p:bldP spid="286735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60A6EDF-120C-4226-8E13-C019A1B0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C4123-F694-4711-AE7E-5A69E5CF7799}" type="slidenum">
              <a:rPr lang="en-US" altLang="LID4096"/>
              <a:pPr/>
              <a:t>12</a:t>
            </a:fld>
            <a:endParaRPr lang="en-US" altLang="LID4096"/>
          </a:p>
        </p:txBody>
      </p:sp>
      <p:sp>
        <p:nvSpPr>
          <p:cNvPr id="287748" name="Rectangle 2052">
            <a:extLst>
              <a:ext uri="{FF2B5EF4-FFF2-40B4-BE49-F238E27FC236}">
                <a16:creationId xmlns:a16="http://schemas.microsoft.com/office/drawing/2014/main" id="{C5E25930-22E4-421E-82A7-1A1B3CE83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38" y="2865438"/>
            <a:ext cx="1846262" cy="32639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287749" name="Rectangle 2053">
            <a:extLst>
              <a:ext uri="{FF2B5EF4-FFF2-40B4-BE49-F238E27FC236}">
                <a16:creationId xmlns:a16="http://schemas.microsoft.com/office/drawing/2014/main" id="{7DB2180E-8CBC-40EC-98A3-9775CD27E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236663"/>
            <a:ext cx="8305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For Class D range : First four bits of the first </a:t>
            </a:r>
          </a:p>
          <a:p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octet should be reserved for the priority bit.</a:t>
            </a:r>
          </a:p>
          <a:p>
            <a:pPr>
              <a:spcBef>
                <a:spcPct val="50000"/>
              </a:spcBef>
            </a:pP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1110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 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7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6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5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4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0   0   0   0    0   =  224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0   0   0   0    1   =  225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0   0   0   1    0   =  226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0   0   0   1    1   =  227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0   0   1   0    0   =  228</a:t>
            </a:r>
          </a:p>
        </p:txBody>
      </p:sp>
      <p:sp>
        <p:nvSpPr>
          <p:cNvPr id="287750" name="Rectangle 2054">
            <a:extLst>
              <a:ext uri="{FF2B5EF4-FFF2-40B4-BE49-F238E27FC236}">
                <a16:creationId xmlns:a16="http://schemas.microsoft.com/office/drawing/2014/main" id="{0D65D4A3-1B16-4B7F-B841-46D7CDA2C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D Range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7751" name="Line 2055">
            <a:extLst>
              <a:ext uri="{FF2B5EF4-FFF2-40B4-BE49-F238E27FC236}">
                <a16:creationId xmlns:a16="http://schemas.microsoft.com/office/drawing/2014/main" id="{A6F1BD2D-9F93-40BE-8D4E-9886CAA4B3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3363" y="4746625"/>
            <a:ext cx="1477962" cy="960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287752" name="Rectangle 2056">
            <a:extLst>
              <a:ext uri="{FF2B5EF4-FFF2-40B4-BE49-F238E27FC236}">
                <a16:creationId xmlns:a16="http://schemas.microsoft.com/office/drawing/2014/main" id="{8D10549E-159F-4587-AD35-36B3B10E3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5708650"/>
            <a:ext cx="830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1   1   1    0   1   1   1    1   =  239</a:t>
            </a: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7753" name="AutoShape 2057">
            <a:extLst>
              <a:ext uri="{FF2B5EF4-FFF2-40B4-BE49-F238E27FC236}">
                <a16:creationId xmlns:a16="http://schemas.microsoft.com/office/drawing/2014/main" id="{0AACF5E4-30C5-4255-B240-14F35C6A3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6" y="3273425"/>
            <a:ext cx="3811587" cy="186213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D Range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224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239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endParaRPr lang="en-US" altLang="ja-JP" sz="25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7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7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7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7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7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7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7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7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9" grpId="0" build="p" autoUpdateAnimBg="0"/>
      <p:bldP spid="287752" grpId="0" autoUpdateAnimBg="0"/>
      <p:bldP spid="287753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761EC89-F389-47A5-9906-B989678A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F793-4603-4390-94B2-4EFAA3D08C8E}" type="slidenum">
              <a:rPr lang="en-US" altLang="LID4096"/>
              <a:pPr/>
              <a:t>13</a:t>
            </a:fld>
            <a:endParaRPr lang="en-US" altLang="LID4096"/>
          </a:p>
        </p:txBody>
      </p:sp>
      <p:sp>
        <p:nvSpPr>
          <p:cNvPr id="288772" name="Rectangle 1028">
            <a:extLst>
              <a:ext uri="{FF2B5EF4-FFF2-40B4-BE49-F238E27FC236}">
                <a16:creationId xmlns:a16="http://schemas.microsoft.com/office/drawing/2014/main" id="{E62894CC-06E5-4D84-A67F-03290653A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41" y="2865438"/>
            <a:ext cx="1900237" cy="32639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288773" name="Rectangle 1029">
            <a:extLst>
              <a:ext uri="{FF2B5EF4-FFF2-40B4-BE49-F238E27FC236}">
                <a16:creationId xmlns:a16="http://schemas.microsoft.com/office/drawing/2014/main" id="{BE4214CC-3CC2-41D5-BE62-81D069102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236663"/>
            <a:ext cx="8305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For Class E range : First four bits of the first </a:t>
            </a:r>
          </a:p>
          <a:p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octet should be reserved for the priority bit.</a:t>
            </a:r>
          </a:p>
          <a:p>
            <a:pPr>
              <a:spcBef>
                <a:spcPct val="50000"/>
              </a:spcBef>
            </a:pP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1111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 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  <a:r>
              <a:rPr lang="en-US" altLang="LID4096" sz="2500">
                <a:solidFill>
                  <a:srgbClr val="FF0000"/>
                </a:solidFill>
                <a:latin typeface="Verdana" panose="020B0604030504040204" pitchFamily="34" charset="0"/>
              </a:rPr>
              <a:t>.</a:t>
            </a:r>
            <a:r>
              <a:rPr lang="en-US" altLang="LID4096" sz="2500">
                <a:solidFill>
                  <a:srgbClr val="6600FF"/>
                </a:solidFill>
                <a:latin typeface="Verdana" panose="020B0604030504040204" pitchFamily="34" charset="0"/>
              </a:rPr>
              <a:t> xxxxxxxx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7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6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5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4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1   0   0   0    0   =  240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1   0   0   0    1   =  241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1   0   0   1    0   =  242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1   0   0   1    1   =  243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 1   1   1    1   0   1   0    0   =  244</a:t>
            </a:r>
          </a:p>
        </p:txBody>
      </p:sp>
      <p:sp>
        <p:nvSpPr>
          <p:cNvPr id="288774" name="Rectangle 1030">
            <a:extLst>
              <a:ext uri="{FF2B5EF4-FFF2-40B4-BE49-F238E27FC236}">
                <a16:creationId xmlns:a16="http://schemas.microsoft.com/office/drawing/2014/main" id="{3899BC95-A38F-4F69-B7C5-BB846390C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E Range</a:t>
            </a:r>
            <a:endParaRPr lang="en-US" altLang="LID4096" sz="200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8775" name="Line 1031">
            <a:extLst>
              <a:ext uri="{FF2B5EF4-FFF2-40B4-BE49-F238E27FC236}">
                <a16:creationId xmlns:a16="http://schemas.microsoft.com/office/drawing/2014/main" id="{D4FD0AA5-3D49-4126-94A9-F0C76A792B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5903" y="4746625"/>
            <a:ext cx="1495425" cy="960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LID4096"/>
          </a:p>
        </p:txBody>
      </p:sp>
      <p:sp>
        <p:nvSpPr>
          <p:cNvPr id="288776" name="Rectangle 1032">
            <a:extLst>
              <a:ext uri="{FF2B5EF4-FFF2-40B4-BE49-F238E27FC236}">
                <a16:creationId xmlns:a16="http://schemas.microsoft.com/office/drawing/2014/main" id="{236B00A2-852A-4EFD-8F36-189FC8D8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5708650"/>
            <a:ext cx="830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 1   1   1    1   1  1   1    1   =  255</a:t>
            </a: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8777" name="AutoShape 1033">
            <a:extLst>
              <a:ext uri="{FF2B5EF4-FFF2-40B4-BE49-F238E27FC236}">
                <a16:creationId xmlns:a16="http://schemas.microsoft.com/office/drawing/2014/main" id="{04C96B77-2E65-4B6B-9AA7-B89181324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6" y="3273425"/>
            <a:ext cx="3811587" cy="186213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E Range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240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 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</a:p>
          <a:p>
            <a:pPr algn="ctr">
              <a:spcBef>
                <a:spcPct val="20000"/>
              </a:spcBef>
            </a:pP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endParaRPr lang="en-US" altLang="ja-JP" sz="25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8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8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8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8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87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87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87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87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87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3" grpId="0" build="p" autoUpdateAnimBg="0"/>
      <p:bldP spid="288776" grpId="0" autoUpdateAnimBg="0"/>
      <p:bldP spid="288777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ABD2B07-E76F-41BF-8F95-DEEF8511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ED6D-51EB-4DEB-BB3B-A1BE06CBCE79}" type="slidenum">
              <a:rPr lang="en-US" altLang="LID4096"/>
              <a:pPr/>
              <a:t>14</a:t>
            </a:fld>
            <a:endParaRPr lang="en-US" altLang="LID4096"/>
          </a:p>
        </p:txBody>
      </p:sp>
      <p:sp>
        <p:nvSpPr>
          <p:cNvPr id="289796" name="Rectangle 1028">
            <a:extLst>
              <a:ext uri="{FF2B5EF4-FFF2-40B4-BE49-F238E27FC236}">
                <a16:creationId xmlns:a16="http://schemas.microsoft.com/office/drawing/2014/main" id="{6AB79A16-D2B3-4D08-9AF1-02E086D14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2060575"/>
            <a:ext cx="8305800" cy="364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IP address is divided into Network &amp; Host Portion</a:t>
            </a: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A is written as	 	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ja-JP" sz="25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</a:t>
            </a:r>
            <a:r>
              <a:rPr lang="en-US" altLang="ja-JP" sz="25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</a:t>
            </a:r>
            <a:r>
              <a:rPr lang="en-US" altLang="ja-JP" sz="25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B is written as 		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ja-JP" sz="25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ja-JP" sz="25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</a:t>
            </a:r>
            <a:r>
              <a:rPr lang="en-US" altLang="ja-JP" sz="25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 C is written as 		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ja-JP" sz="25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ja-JP" sz="25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ja-JP" sz="25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</a:t>
            </a:r>
            <a:endParaRPr lang="en-US" altLang="ja-JP" sz="200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9797" name="Rectangle 1029">
            <a:extLst>
              <a:ext uri="{FF2B5EF4-FFF2-40B4-BE49-F238E27FC236}">
                <a16:creationId xmlns:a16="http://schemas.microsoft.com/office/drawing/2014/main" id="{CF265816-57DC-4513-8219-126116A13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Octet Format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9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9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9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4D417-5C96-4433-B73C-F947D44E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22AC-AD57-4112-B5D5-291C83641681}" type="slidenum">
              <a:rPr lang="en-US" altLang="LID4096"/>
              <a:pPr/>
              <a:t>15</a:t>
            </a:fld>
            <a:endParaRPr lang="en-US" altLang="LID4096"/>
          </a:p>
        </p:txBody>
      </p:sp>
      <p:sp>
        <p:nvSpPr>
          <p:cNvPr id="290820" name="Rectangle 1028">
            <a:extLst>
              <a:ext uri="{FF2B5EF4-FFF2-40B4-BE49-F238E27FC236}">
                <a16:creationId xmlns:a16="http://schemas.microsoft.com/office/drawing/2014/main" id="{9126BBE3-38AD-4867-9B7A-67042CE61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3" y="2060575"/>
            <a:ext cx="8926513" cy="364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ja-JP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90821" name="Rectangle 1029">
            <a:extLst>
              <a:ext uri="{FF2B5EF4-FFF2-40B4-BE49-F238E27FC236}">
                <a16:creationId xmlns:a16="http://schemas.microsoft.com/office/drawing/2014/main" id="{D24F3FF1-F58C-4673-906D-43D805F36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795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A – No. Networks &amp; Host </a:t>
            </a:r>
          </a:p>
        </p:txBody>
      </p:sp>
      <p:sp>
        <p:nvSpPr>
          <p:cNvPr id="290822" name="Rectangle 1030">
            <a:extLst>
              <a:ext uri="{FF2B5EF4-FFF2-40B4-BE49-F238E27FC236}">
                <a16:creationId xmlns:a16="http://schemas.microsoft.com/office/drawing/2014/main" id="{FCD7E4B0-064B-4153-8D5B-9596C0D61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1057275"/>
            <a:ext cx="8234363" cy="464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Class A Octet Format is  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dirty="0">
                <a:latin typeface="Verdana" panose="020B0604030504040204" pitchFamily="34" charset="0"/>
              </a:rPr>
              <a:t>.</a:t>
            </a:r>
            <a:r>
              <a:rPr lang="en-US" altLang="LID4096" sz="2000" dirty="0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r>
              <a:rPr lang="en-US" altLang="LID4096" sz="2000" dirty="0">
                <a:latin typeface="Verdana" panose="020B0604030504040204" pitchFamily="34" charset="0"/>
              </a:rPr>
              <a:t>.</a:t>
            </a:r>
            <a:r>
              <a:rPr lang="en-US" altLang="LID4096" sz="2000" dirty="0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r>
              <a:rPr lang="en-US" altLang="LID4096" sz="2000" dirty="0">
                <a:latin typeface="Verdana" panose="020B0604030504040204" pitchFamily="34" charset="0"/>
              </a:rPr>
              <a:t>.</a:t>
            </a:r>
            <a:r>
              <a:rPr lang="en-US" altLang="LID4096" sz="2000" dirty="0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Network bits : 8	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	  </a:t>
            </a:r>
            <a:r>
              <a:rPr lang="en-US" altLang="ja-JP" sz="2000" dirty="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Host bits : 24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ja-JP" sz="2000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No. of Networks	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8-1	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(-1 is Priority Bit for Class A)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7</a:t>
            </a:r>
            <a:endParaRPr lang="en-US" altLang="ja-JP" sz="2000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128 – 2 (-2 is for 0 &amp; 127 Network)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126 Networks</a:t>
            </a:r>
          </a:p>
          <a:p>
            <a:pPr>
              <a:spcBef>
                <a:spcPct val="20000"/>
              </a:spcBef>
            </a:pPr>
            <a:endParaRPr lang="en-US" altLang="ja-JP" sz="2000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 dirty="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No. of Host		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 dirty="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24 </a:t>
            </a:r>
            <a:r>
              <a:rPr lang="en-US" altLang="ja-JP" sz="2000" dirty="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– 2 (-2 is for Network ID &amp; Broadcast ID)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16777216 - 2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16777214 Hosts/Network</a:t>
            </a:r>
          </a:p>
        </p:txBody>
      </p:sp>
      <p:sp>
        <p:nvSpPr>
          <p:cNvPr id="290823" name="AutoShape 1031">
            <a:extLst>
              <a:ext uri="{FF2B5EF4-FFF2-40B4-BE49-F238E27FC236}">
                <a16:creationId xmlns:a16="http://schemas.microsoft.com/office/drawing/2014/main" id="{121431B2-C87C-431C-8966-1CEA49397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360" y="815975"/>
            <a:ext cx="3998912" cy="204152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A</a:t>
            </a:r>
          </a:p>
          <a:p>
            <a:pPr algn="ctr">
              <a:spcBef>
                <a:spcPct val="20000"/>
              </a:spcBef>
            </a:pPr>
            <a:r>
              <a:rPr lang="en-US" altLang="ja-JP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126 Networks</a:t>
            </a: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&amp;</a:t>
            </a:r>
          </a:p>
          <a:p>
            <a:pPr algn="ctr">
              <a:spcBef>
                <a:spcPct val="20000"/>
              </a:spcBef>
            </a:pPr>
            <a:r>
              <a:rPr lang="en-US" altLang="ja-JP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16777214 Hosts/</a:t>
            </a:r>
            <a:r>
              <a:rPr lang="en-US" altLang="ja-JP" dirty="0" err="1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Nw</a:t>
            </a:r>
            <a:endParaRPr lang="en-US" altLang="ja-JP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0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0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0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0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0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0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0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0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08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08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08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08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0" grpId="0" build="p" autoUpdateAnimBg="0"/>
      <p:bldP spid="290822" grpId="0" build="p" autoUpdateAnimBg="0"/>
      <p:bldP spid="290823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0E88C-A38D-491D-BFFB-F2585F66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29B6-07E8-4553-BBAE-8E65A177DE89}" type="slidenum">
              <a:rPr lang="en-US" altLang="LID4096"/>
              <a:pPr/>
              <a:t>16</a:t>
            </a:fld>
            <a:endParaRPr lang="en-US" altLang="LID4096"/>
          </a:p>
        </p:txBody>
      </p:sp>
      <p:sp>
        <p:nvSpPr>
          <p:cNvPr id="291844" name="Rectangle 2052">
            <a:extLst>
              <a:ext uri="{FF2B5EF4-FFF2-40B4-BE49-F238E27FC236}">
                <a16:creationId xmlns:a16="http://schemas.microsoft.com/office/drawing/2014/main" id="{EA944D19-40AC-47E7-8504-1FBA6215F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3" y="2060575"/>
            <a:ext cx="8926513" cy="364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ja-JP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91845" name="Rectangle 2053">
            <a:extLst>
              <a:ext uri="{FF2B5EF4-FFF2-40B4-BE49-F238E27FC236}">
                <a16:creationId xmlns:a16="http://schemas.microsoft.com/office/drawing/2014/main" id="{76341C03-0A30-40E8-8B7E-5656BEB41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795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B – No. Networks &amp; Host </a:t>
            </a:r>
          </a:p>
        </p:txBody>
      </p:sp>
      <p:sp>
        <p:nvSpPr>
          <p:cNvPr id="291846" name="Rectangle 2054">
            <a:extLst>
              <a:ext uri="{FF2B5EF4-FFF2-40B4-BE49-F238E27FC236}">
                <a16:creationId xmlns:a16="http://schemas.microsoft.com/office/drawing/2014/main" id="{AD1C393B-7721-4FA1-BCB6-17092C449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1057275"/>
            <a:ext cx="8234363" cy="464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B Octet Format is  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>
                <a:latin typeface="Verdana" panose="020B0604030504040204" pitchFamily="34" charset="0"/>
              </a:rPr>
              <a:t>.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>
                <a:latin typeface="Verdana" panose="020B0604030504040204" pitchFamily="34" charset="0"/>
              </a:rPr>
              <a:t>.</a:t>
            </a:r>
            <a:r>
              <a:rPr lang="en-US" altLang="LID4096" sz="2000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r>
              <a:rPr lang="en-US" altLang="LID4096" sz="2000">
                <a:latin typeface="Verdana" panose="020B0604030504040204" pitchFamily="34" charset="0"/>
              </a:rPr>
              <a:t>.</a:t>
            </a:r>
            <a:r>
              <a:rPr lang="en-US" altLang="LID4096" sz="2000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Network bits : 16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  </a:t>
            </a: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Host bits : 16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ja-JP" sz="2000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No. of Networks	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16-2	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(-2 is Priority Bit for Class B)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14</a:t>
            </a:r>
            <a:endParaRPr lang="en-US" altLang="ja-JP" sz="200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16384 Networks</a:t>
            </a:r>
          </a:p>
          <a:p>
            <a:pPr>
              <a:spcBef>
                <a:spcPct val="20000"/>
              </a:spcBef>
            </a:pPr>
            <a:endParaRPr lang="en-US" altLang="ja-JP" sz="200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No. of Host		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16 </a:t>
            </a: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– 2 (-2 is for Network ID &amp; Broadcast ID)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65536 - 2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65534 Hosts/Network</a:t>
            </a:r>
          </a:p>
        </p:txBody>
      </p:sp>
      <p:sp>
        <p:nvSpPr>
          <p:cNvPr id="291847" name="AutoShape 2055">
            <a:extLst>
              <a:ext uri="{FF2B5EF4-FFF2-40B4-BE49-F238E27FC236}">
                <a16:creationId xmlns:a16="http://schemas.microsoft.com/office/drawing/2014/main" id="{FF286A22-A1DB-40FF-AE90-2FBEB9138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2744" y="795597"/>
            <a:ext cx="3998912" cy="204152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B</a:t>
            </a:r>
          </a:p>
          <a:p>
            <a:pPr algn="ctr">
              <a:spcBef>
                <a:spcPct val="20000"/>
              </a:spcBef>
            </a:pPr>
            <a:r>
              <a:rPr lang="en-US" altLang="ja-JP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16384 Networks</a:t>
            </a: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&amp;</a:t>
            </a:r>
          </a:p>
          <a:p>
            <a:pPr algn="ctr">
              <a:spcBef>
                <a:spcPct val="20000"/>
              </a:spcBef>
            </a:pPr>
            <a:r>
              <a:rPr lang="en-US" altLang="ja-JP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65534 Hosts/</a:t>
            </a:r>
            <a:r>
              <a:rPr lang="en-US" altLang="ja-JP" dirty="0" err="1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Nw</a:t>
            </a:r>
            <a:endParaRPr lang="en-US" altLang="ja-JP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1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18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18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1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18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18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18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18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18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4" grpId="0" build="p" autoUpdateAnimBg="0"/>
      <p:bldP spid="291846" grpId="0" build="p" autoUpdateAnimBg="0"/>
      <p:bldP spid="291847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3F3D6-F8D0-45F3-AEAF-D4C2DEF2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2889-C1C5-4ECC-A356-8C25EC771B54}" type="slidenum">
              <a:rPr lang="en-US" altLang="LID4096"/>
              <a:pPr/>
              <a:t>17</a:t>
            </a:fld>
            <a:endParaRPr lang="en-US" altLang="LID4096"/>
          </a:p>
        </p:txBody>
      </p:sp>
      <p:sp>
        <p:nvSpPr>
          <p:cNvPr id="292872" name="Rectangle 1032">
            <a:extLst>
              <a:ext uri="{FF2B5EF4-FFF2-40B4-BE49-F238E27FC236}">
                <a16:creationId xmlns:a16="http://schemas.microsoft.com/office/drawing/2014/main" id="{E651058D-8A14-4007-B2EF-A199B1DAC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3" y="2060575"/>
            <a:ext cx="8926513" cy="364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ja-JP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92873" name="Rectangle 1033">
            <a:extLst>
              <a:ext uri="{FF2B5EF4-FFF2-40B4-BE49-F238E27FC236}">
                <a16:creationId xmlns:a16="http://schemas.microsoft.com/office/drawing/2014/main" id="{CB941219-8414-4A96-8389-097A31278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795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C – No. Networks &amp; Host </a:t>
            </a:r>
          </a:p>
        </p:txBody>
      </p:sp>
      <p:sp>
        <p:nvSpPr>
          <p:cNvPr id="292874" name="Rectangle 1034">
            <a:extLst>
              <a:ext uri="{FF2B5EF4-FFF2-40B4-BE49-F238E27FC236}">
                <a16:creationId xmlns:a16="http://schemas.microsoft.com/office/drawing/2014/main" id="{FEC3345F-6AEE-4C6B-AA4B-B99EA9DD4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1057275"/>
            <a:ext cx="8234363" cy="464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Class C Octet Format is  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>
                <a:latin typeface="Verdana" panose="020B0604030504040204" pitchFamily="34" charset="0"/>
              </a:rPr>
              <a:t>.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>
                <a:latin typeface="Verdana" panose="020B0604030504040204" pitchFamily="34" charset="0"/>
              </a:rPr>
              <a:t>.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>
                <a:latin typeface="Verdana" panose="020B0604030504040204" pitchFamily="34" charset="0"/>
              </a:rPr>
              <a:t>.</a:t>
            </a:r>
            <a:r>
              <a:rPr lang="en-US" altLang="LID4096" sz="2000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Network bits : 24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  </a:t>
            </a: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Host bits : 8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ja-JP" sz="2000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No. of Networks	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24-3	</a:t>
            </a: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(-3 is Priority Bit for Class C)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21</a:t>
            </a:r>
            <a:endParaRPr lang="en-US" altLang="ja-JP" sz="200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2097152 Networks</a:t>
            </a:r>
          </a:p>
          <a:p>
            <a:pPr>
              <a:spcBef>
                <a:spcPct val="20000"/>
              </a:spcBef>
            </a:pPr>
            <a:endParaRPr lang="en-US" altLang="ja-JP" sz="200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No. of Host		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8 </a:t>
            </a: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– 2 (-2 is for Network ID &amp; Broadcast ID)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256 - 2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	=	254 Hosts/Network</a:t>
            </a:r>
          </a:p>
        </p:txBody>
      </p:sp>
      <p:sp>
        <p:nvSpPr>
          <p:cNvPr id="292875" name="AutoShape 1035">
            <a:extLst>
              <a:ext uri="{FF2B5EF4-FFF2-40B4-BE49-F238E27FC236}">
                <a16:creationId xmlns:a16="http://schemas.microsoft.com/office/drawing/2014/main" id="{87979878-53AC-4ABD-8A7C-6FC845DA1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360" y="609600"/>
            <a:ext cx="3998912" cy="204152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C</a:t>
            </a:r>
          </a:p>
          <a:p>
            <a:pPr algn="ctr">
              <a:spcBef>
                <a:spcPct val="20000"/>
              </a:spcBef>
            </a:pPr>
            <a:r>
              <a:rPr lang="en-US" altLang="ja-JP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2097152 Networks</a:t>
            </a: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&amp;</a:t>
            </a:r>
          </a:p>
          <a:p>
            <a:pPr algn="ctr">
              <a:spcBef>
                <a:spcPct val="20000"/>
              </a:spcBef>
            </a:pPr>
            <a:r>
              <a:rPr lang="en-US" altLang="ja-JP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254 Hosts/</a:t>
            </a:r>
            <a:r>
              <a:rPr lang="en-US" altLang="ja-JP" dirty="0" err="1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Nw</a:t>
            </a:r>
            <a:endParaRPr lang="en-US" altLang="ja-JP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2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2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2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2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2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2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28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28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28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2" grpId="0" build="p" autoUpdateAnimBg="0"/>
      <p:bldP spid="292874" grpId="0" build="p" autoUpdateAnimBg="0"/>
      <p:bldP spid="29287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>
            <a:extLst>
              <a:ext uri="{FF2B5EF4-FFF2-40B4-BE49-F238E27FC236}">
                <a16:creationId xmlns:a16="http://schemas.microsoft.com/office/drawing/2014/main" id="{93E6D0FB-793B-428C-9F06-C59B187911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1820863"/>
            <a:ext cx="8382000" cy="4030662"/>
          </a:xfrm>
        </p:spPr>
        <p:txBody>
          <a:bodyPr/>
          <a:lstStyle/>
          <a:p>
            <a:r>
              <a:rPr lang="en-US" altLang="LID4096" sz="2000" b="1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The network address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 is represented with all bits as ZERO in the host portion of the address</a:t>
            </a:r>
          </a:p>
          <a:p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r>
              <a:rPr lang="en-US" altLang="LID4096" sz="2000" b="1">
                <a:solidFill>
                  <a:schemeClr val="folHlink"/>
                </a:solidFill>
                <a:latin typeface="Verdana" panose="020B0604030504040204" pitchFamily="34" charset="0"/>
              </a:rPr>
              <a:t>The broadcast address</a:t>
            </a:r>
            <a:r>
              <a:rPr lang="en-US" altLang="LID4096" sz="2000" b="1">
                <a:latin typeface="Verdana" panose="020B0604030504040204" pitchFamily="34" charset="0"/>
              </a:rPr>
              <a:t> is represented with all bits as ONES in the host portion of the address</a:t>
            </a:r>
          </a:p>
          <a:p>
            <a:endParaRPr lang="en-US" altLang="LID4096" sz="2000" b="1">
              <a:latin typeface="Verdana" panose="020B0604030504040204" pitchFamily="34" charset="0"/>
            </a:endParaRPr>
          </a:p>
          <a:p>
            <a:r>
              <a:rPr lang="en-US" altLang="LID4096" sz="2000" b="1">
                <a:latin typeface="Verdana" panose="020B0604030504040204" pitchFamily="34" charset="0"/>
              </a:rPr>
              <a:t>Valid IP Addresses lie between the Network Address and the Broadcast Address. </a:t>
            </a:r>
          </a:p>
          <a:p>
            <a:endParaRPr lang="en-US" altLang="LID4096" sz="2000" b="1">
              <a:latin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LID4096" sz="2000" b="1">
                <a:latin typeface="Verdana" panose="020B0604030504040204" pitchFamily="34" charset="0"/>
              </a:rPr>
              <a:t>Only Valid IP Addresses are assigned to hosts/clients</a:t>
            </a:r>
            <a:endParaRPr lang="en-US" altLang="LID4096" sz="2800" b="1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707A5C-CCB5-4572-9134-497F8581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20650-56DF-4171-8D51-AA301018ACE8}" type="slidenum">
              <a:rPr lang="en-US" altLang="LID4096"/>
              <a:pPr/>
              <a:t>18</a:t>
            </a:fld>
            <a:endParaRPr lang="en-US" altLang="LID4096"/>
          </a:p>
        </p:txBody>
      </p:sp>
      <p:sp>
        <p:nvSpPr>
          <p:cNvPr id="95236" name="Rectangle 4">
            <a:extLst>
              <a:ext uri="{FF2B5EF4-FFF2-40B4-BE49-F238E27FC236}">
                <a16:creationId xmlns:a16="http://schemas.microsoft.com/office/drawing/2014/main" id="{5187E062-42B0-465B-8BD0-29E065AB2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3" y="152400"/>
            <a:ext cx="4778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Network &amp; Broadcast Address 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 bldLvl="3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>
            <a:extLst>
              <a:ext uri="{FF2B5EF4-FFF2-40B4-BE49-F238E27FC236}">
                <a16:creationId xmlns:a16="http://schemas.microsoft.com/office/drawing/2014/main" id="{30D7CD53-5C46-4DBE-880D-D0E498E05A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36828" y="852488"/>
            <a:ext cx="6462713" cy="190341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Class A : 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Network Address :</a:t>
            </a:r>
          </a:p>
          <a:p>
            <a:pPr>
              <a:buFontTx/>
              <a:buNone/>
            </a:pP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0xxxxxxx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Broadcast Address :</a:t>
            </a:r>
          </a:p>
          <a:p>
            <a:pPr>
              <a:buFontTx/>
              <a:buNone/>
            </a:pP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0xxxxxxx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172D7E3-BB73-4ADA-99A1-1736917A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1E88-8B2E-48D9-961B-954958AD9E54}" type="slidenum">
              <a:rPr lang="en-US" altLang="LID4096"/>
              <a:pPr/>
              <a:t>19</a:t>
            </a:fld>
            <a:endParaRPr lang="en-US" altLang="LID4096"/>
          </a:p>
        </p:txBody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8F7AA118-B2C2-4EAE-8941-50CDFD4D3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Example - Class  A	</a:t>
            </a:r>
          </a:p>
        </p:txBody>
      </p:sp>
      <p:grpSp>
        <p:nvGrpSpPr>
          <p:cNvPr id="294936" name="Group 24">
            <a:extLst>
              <a:ext uri="{FF2B5EF4-FFF2-40B4-BE49-F238E27FC236}">
                <a16:creationId xmlns:a16="http://schemas.microsoft.com/office/drawing/2014/main" id="{DEED519A-D757-4CAC-BA8B-1691B6671303}"/>
              </a:ext>
            </a:extLst>
          </p:cNvPr>
          <p:cNvGrpSpPr>
            <a:grpSpLocks/>
          </p:cNvGrpSpPr>
          <p:nvPr/>
        </p:nvGrpSpPr>
        <p:grpSpPr bwMode="auto">
          <a:xfrm>
            <a:off x="2530475" y="2754316"/>
            <a:ext cx="6477000" cy="3887787"/>
            <a:chOff x="720" y="1735"/>
            <a:chExt cx="3744" cy="2449"/>
          </a:xfrm>
        </p:grpSpPr>
        <p:sp>
          <p:nvSpPr>
            <p:cNvPr id="294917" name="AutoShape 5">
              <a:extLst>
                <a:ext uri="{FF2B5EF4-FFF2-40B4-BE49-F238E27FC236}">
                  <a16:creationId xmlns:a16="http://schemas.microsoft.com/office/drawing/2014/main" id="{898C2D16-43BC-4C16-BEB2-48AE95E88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735"/>
              <a:ext cx="3744" cy="2449"/>
            </a:xfrm>
            <a:prstGeom prst="roundRect">
              <a:avLst>
                <a:gd name="adj" fmla="val 9472"/>
              </a:avLst>
            </a:prstGeom>
            <a:solidFill>
              <a:srgbClr val="FFFF99"/>
            </a:solidFill>
            <a:ln>
              <a:noFill/>
            </a:ln>
            <a:effectLst>
              <a:outerShdw dist="107763" dir="81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	Class A</a:t>
              </a:r>
              <a:r>
                <a:rPr lang="en-US" altLang="ja-JP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	10.0.0.0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	10.0.0.1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  	10.0.0.2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  	10.0.0.3</a:t>
              </a:r>
            </a:p>
            <a:p>
              <a:pPr>
                <a:spcBef>
                  <a:spcPct val="20000"/>
                </a:spcBef>
              </a:pPr>
              <a:endPara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>
                <a:spcBef>
                  <a:spcPct val="20000"/>
                </a:spcBef>
              </a:pPr>
              <a:endPara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10.255.255.254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10.255.255.255</a:t>
              </a:r>
            </a:p>
          </p:txBody>
        </p:sp>
        <p:sp>
          <p:nvSpPr>
            <p:cNvPr id="294918" name="Line 6">
              <a:extLst>
                <a:ext uri="{FF2B5EF4-FFF2-40B4-BE49-F238E27FC236}">
                  <a16:creationId xmlns:a16="http://schemas.microsoft.com/office/drawing/2014/main" id="{D55DA948-0BB4-4D2E-AA0E-5B58A5141D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993"/>
              <a:ext cx="463" cy="4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294958" name="Group 46">
            <a:extLst>
              <a:ext uri="{FF2B5EF4-FFF2-40B4-BE49-F238E27FC236}">
                <a16:creationId xmlns:a16="http://schemas.microsoft.com/office/drawing/2014/main" id="{C2593C0C-12AA-4499-A133-8FEB2126338A}"/>
              </a:ext>
            </a:extLst>
          </p:cNvPr>
          <p:cNvGrpSpPr>
            <a:grpSpLocks/>
          </p:cNvGrpSpPr>
          <p:nvPr/>
        </p:nvGrpSpPr>
        <p:grpSpPr bwMode="auto">
          <a:xfrm>
            <a:off x="5035553" y="5849938"/>
            <a:ext cx="4068763" cy="381000"/>
            <a:chOff x="2333" y="3685"/>
            <a:chExt cx="2563" cy="240"/>
          </a:xfrm>
        </p:grpSpPr>
        <p:sp>
          <p:nvSpPr>
            <p:cNvPr id="294935" name="Line 23">
              <a:extLst>
                <a:ext uri="{FF2B5EF4-FFF2-40B4-BE49-F238E27FC236}">
                  <a16:creationId xmlns:a16="http://schemas.microsoft.com/office/drawing/2014/main" id="{02364FE9-9486-4FC6-B154-717753E25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3805"/>
              <a:ext cx="691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4948" name="Rectangle 36">
              <a:extLst>
                <a:ext uri="{FF2B5EF4-FFF2-40B4-BE49-F238E27FC236}">
                  <a16:creationId xmlns:a16="http://schemas.microsoft.com/office/drawing/2014/main" id="{ACEDF1AB-3498-4A0B-828D-643B0A361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685"/>
              <a:ext cx="18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Broadcast Address</a:t>
              </a:r>
            </a:p>
          </p:txBody>
        </p:sp>
      </p:grpSp>
      <p:grpSp>
        <p:nvGrpSpPr>
          <p:cNvPr id="294956" name="Group 44">
            <a:extLst>
              <a:ext uri="{FF2B5EF4-FFF2-40B4-BE49-F238E27FC236}">
                <a16:creationId xmlns:a16="http://schemas.microsoft.com/office/drawing/2014/main" id="{0972D98B-13E8-416C-B233-A01F085A5D61}"/>
              </a:ext>
            </a:extLst>
          </p:cNvPr>
          <p:cNvGrpSpPr>
            <a:grpSpLocks/>
          </p:cNvGrpSpPr>
          <p:nvPr/>
        </p:nvGrpSpPr>
        <p:grpSpPr bwMode="auto">
          <a:xfrm>
            <a:off x="4300541" y="3303588"/>
            <a:ext cx="4803775" cy="381000"/>
            <a:chOff x="1870" y="2081"/>
            <a:chExt cx="3026" cy="240"/>
          </a:xfrm>
        </p:grpSpPr>
        <p:sp>
          <p:nvSpPr>
            <p:cNvPr id="294954" name="Line 42">
              <a:extLst>
                <a:ext uri="{FF2B5EF4-FFF2-40B4-BE49-F238E27FC236}">
                  <a16:creationId xmlns:a16="http://schemas.microsoft.com/office/drawing/2014/main" id="{A187724D-F97D-4C69-97E4-F5D72C30C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" y="2201"/>
              <a:ext cx="115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4955" name="Rectangle 43">
              <a:extLst>
                <a:ext uri="{FF2B5EF4-FFF2-40B4-BE49-F238E27FC236}">
                  <a16:creationId xmlns:a16="http://schemas.microsoft.com/office/drawing/2014/main" id="{060CB277-D80C-413D-A215-16E31E36A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081"/>
              <a:ext cx="18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Network Address</a:t>
              </a:r>
            </a:p>
          </p:txBody>
        </p:sp>
      </p:grpSp>
      <p:grpSp>
        <p:nvGrpSpPr>
          <p:cNvPr id="294972" name="Group 60">
            <a:extLst>
              <a:ext uri="{FF2B5EF4-FFF2-40B4-BE49-F238E27FC236}">
                <a16:creationId xmlns:a16="http://schemas.microsoft.com/office/drawing/2014/main" id="{7FFF5B4C-2388-4675-A2F5-E79C369B3C52}"/>
              </a:ext>
            </a:extLst>
          </p:cNvPr>
          <p:cNvGrpSpPr>
            <a:grpSpLocks/>
          </p:cNvGrpSpPr>
          <p:nvPr/>
        </p:nvGrpSpPr>
        <p:grpSpPr bwMode="auto">
          <a:xfrm>
            <a:off x="4316413" y="3733800"/>
            <a:ext cx="4779962" cy="2058988"/>
            <a:chOff x="1759" y="2352"/>
            <a:chExt cx="3011" cy="1297"/>
          </a:xfrm>
        </p:grpSpPr>
        <p:sp>
          <p:nvSpPr>
            <p:cNvPr id="294968" name="Rectangle 56">
              <a:extLst>
                <a:ext uri="{FF2B5EF4-FFF2-40B4-BE49-F238E27FC236}">
                  <a16:creationId xmlns:a16="http://schemas.microsoft.com/office/drawing/2014/main" id="{C2445767-F58F-4FB0-BC87-D6A60ECD8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1" y="2880"/>
              <a:ext cx="1819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Valid IP Addresses</a:t>
              </a:r>
            </a:p>
          </p:txBody>
        </p:sp>
        <p:sp>
          <p:nvSpPr>
            <p:cNvPr id="294969" name="Line 57">
              <a:extLst>
                <a:ext uri="{FF2B5EF4-FFF2-40B4-BE49-F238E27FC236}">
                  <a16:creationId xmlns:a16="http://schemas.microsoft.com/office/drawing/2014/main" id="{AE73D669-6AAA-4CA1-BB9F-337721250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9" y="2352"/>
              <a:ext cx="838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4970" name="Line 58">
              <a:extLst>
                <a:ext uri="{FF2B5EF4-FFF2-40B4-BE49-F238E27FC236}">
                  <a16:creationId xmlns:a16="http://schemas.microsoft.com/office/drawing/2014/main" id="{D1573A06-70FE-42D6-9E43-83B22DA0A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" y="3648"/>
              <a:ext cx="364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4971" name="AutoShape 59">
              <a:extLst>
                <a:ext uri="{FF2B5EF4-FFF2-40B4-BE49-F238E27FC236}">
                  <a16:creationId xmlns:a16="http://schemas.microsoft.com/office/drawing/2014/main" id="{00BC419E-CD54-4346-BA28-018FD978A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2352"/>
              <a:ext cx="412" cy="1296"/>
            </a:xfrm>
            <a:prstGeom prst="rightBrace">
              <a:avLst>
                <a:gd name="adj1" fmla="val 31558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4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4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4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4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4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4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 build="p" bldLvl="3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A08D4FB9-98A1-4D1D-8B1A-C43CEB0459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36828" y="852488"/>
            <a:ext cx="6462713" cy="190341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LID4096" sz="1800" b="1">
                <a:latin typeface="Verdana" panose="020B0604030504040204" pitchFamily="34" charset="0"/>
                <a:ea typeface="ＭＳ Ｐゴシック" panose="020B0600070205080204" pitchFamily="34" charset="-128"/>
              </a:rPr>
              <a:t>Class B : </a:t>
            </a:r>
            <a:r>
              <a:rPr lang="en-US" altLang="LID4096" sz="18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1800" b="1">
                <a:latin typeface="Verdana" panose="020B0604030504040204" pitchFamily="34" charset="0"/>
              </a:rPr>
              <a:t>.</a:t>
            </a:r>
            <a:r>
              <a:rPr lang="en-US" altLang="LID4096" sz="18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1800" b="1">
                <a:latin typeface="Verdana" panose="020B0604030504040204" pitchFamily="34" charset="0"/>
              </a:rPr>
              <a:t>.</a:t>
            </a:r>
            <a:r>
              <a:rPr lang="en-US" altLang="LID4096" sz="18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r>
              <a:rPr lang="en-US" altLang="LID4096" sz="1800" b="1">
                <a:latin typeface="Verdana" panose="020B0604030504040204" pitchFamily="34" charset="0"/>
              </a:rPr>
              <a:t>.</a:t>
            </a:r>
            <a:r>
              <a:rPr lang="en-US" altLang="LID4096" sz="18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endParaRPr lang="en-US" altLang="LID4096" sz="18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LID4096" sz="1800" b="1">
                <a:latin typeface="Verdana" panose="020B0604030504040204" pitchFamily="34" charset="0"/>
                <a:ea typeface="ＭＳ Ｐゴシック" panose="020B0600070205080204" pitchFamily="34" charset="-128"/>
              </a:rPr>
              <a:t>Network Address :</a:t>
            </a:r>
          </a:p>
          <a:p>
            <a:pPr>
              <a:buFontTx/>
              <a:buNone/>
            </a:pP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10xxxxxx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Broadcast Address :</a:t>
            </a:r>
          </a:p>
          <a:p>
            <a:pPr>
              <a:buFontTx/>
              <a:buNone/>
            </a:pP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10xxxxxx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2E93ED7-A5FD-4D0C-A5C0-2D26876F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6DC18-0A4F-416B-9EA0-0050D77F7B93}" type="slidenum">
              <a:rPr lang="en-US" altLang="LID4096"/>
              <a:pPr/>
              <a:t>20</a:t>
            </a:fld>
            <a:endParaRPr lang="en-US" altLang="LID4096"/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7A9B12A4-0443-4DE4-BBCC-A10173AF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Example - Class  B	</a:t>
            </a:r>
          </a:p>
        </p:txBody>
      </p:sp>
      <p:grpSp>
        <p:nvGrpSpPr>
          <p:cNvPr id="295940" name="Group 4">
            <a:extLst>
              <a:ext uri="{FF2B5EF4-FFF2-40B4-BE49-F238E27FC236}">
                <a16:creationId xmlns:a16="http://schemas.microsoft.com/office/drawing/2014/main" id="{54C63EA1-A163-4BE8-B45E-F8EF09AD9F18}"/>
              </a:ext>
            </a:extLst>
          </p:cNvPr>
          <p:cNvGrpSpPr>
            <a:grpSpLocks/>
          </p:cNvGrpSpPr>
          <p:nvPr/>
        </p:nvGrpSpPr>
        <p:grpSpPr bwMode="auto">
          <a:xfrm>
            <a:off x="2530475" y="2754316"/>
            <a:ext cx="6477000" cy="3887787"/>
            <a:chOff x="720" y="1735"/>
            <a:chExt cx="3744" cy="2449"/>
          </a:xfrm>
        </p:grpSpPr>
        <p:sp>
          <p:nvSpPr>
            <p:cNvPr id="295941" name="AutoShape 5">
              <a:extLst>
                <a:ext uri="{FF2B5EF4-FFF2-40B4-BE49-F238E27FC236}">
                  <a16:creationId xmlns:a16="http://schemas.microsoft.com/office/drawing/2014/main" id="{4DE2ECB1-3654-43A0-A0DF-21899F7FE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735"/>
              <a:ext cx="3744" cy="2449"/>
            </a:xfrm>
            <a:prstGeom prst="roundRect">
              <a:avLst>
                <a:gd name="adj" fmla="val 9472"/>
              </a:avLst>
            </a:prstGeom>
            <a:solidFill>
              <a:srgbClr val="FFFF99"/>
            </a:solidFill>
            <a:ln>
              <a:noFill/>
            </a:ln>
            <a:effectLst>
              <a:outerShdw dist="107763" dir="81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	 Class B</a:t>
              </a:r>
              <a:r>
                <a:rPr lang="en-US" altLang="ja-JP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	172.16.0.0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	172.16.0.1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  	172.16.0.2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	172.16.0.3</a:t>
              </a:r>
            </a:p>
            <a:p>
              <a:pPr>
                <a:spcBef>
                  <a:spcPct val="20000"/>
                </a:spcBef>
              </a:pPr>
              <a:endPara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>
                <a:spcBef>
                  <a:spcPct val="20000"/>
                </a:spcBef>
              </a:pPr>
              <a:endPara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172.16.255.254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172.16.255.255</a:t>
              </a:r>
            </a:p>
          </p:txBody>
        </p:sp>
        <p:sp>
          <p:nvSpPr>
            <p:cNvPr id="295942" name="Line 6">
              <a:extLst>
                <a:ext uri="{FF2B5EF4-FFF2-40B4-BE49-F238E27FC236}">
                  <a16:creationId xmlns:a16="http://schemas.microsoft.com/office/drawing/2014/main" id="{50ECEA0B-D3ED-4CC9-B623-9DCF360EAA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993"/>
              <a:ext cx="463" cy="4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295949" name="Group 13">
            <a:extLst>
              <a:ext uri="{FF2B5EF4-FFF2-40B4-BE49-F238E27FC236}">
                <a16:creationId xmlns:a16="http://schemas.microsoft.com/office/drawing/2014/main" id="{F9222555-62A6-4E1B-B7AC-E36ABC8D2B04}"/>
              </a:ext>
            </a:extLst>
          </p:cNvPr>
          <p:cNvGrpSpPr>
            <a:grpSpLocks/>
          </p:cNvGrpSpPr>
          <p:nvPr/>
        </p:nvGrpSpPr>
        <p:grpSpPr bwMode="auto">
          <a:xfrm>
            <a:off x="5035553" y="5849938"/>
            <a:ext cx="4068763" cy="381000"/>
            <a:chOff x="2333" y="3685"/>
            <a:chExt cx="2563" cy="240"/>
          </a:xfrm>
        </p:grpSpPr>
        <p:sp>
          <p:nvSpPr>
            <p:cNvPr id="295950" name="Line 14">
              <a:extLst>
                <a:ext uri="{FF2B5EF4-FFF2-40B4-BE49-F238E27FC236}">
                  <a16:creationId xmlns:a16="http://schemas.microsoft.com/office/drawing/2014/main" id="{DD480A6F-F02F-4E65-92F7-33F6BC7A6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3805"/>
              <a:ext cx="691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5951" name="Rectangle 15">
              <a:extLst>
                <a:ext uri="{FF2B5EF4-FFF2-40B4-BE49-F238E27FC236}">
                  <a16:creationId xmlns:a16="http://schemas.microsoft.com/office/drawing/2014/main" id="{7322695C-6007-45D1-B154-E8BAC32BC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685"/>
              <a:ext cx="18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Broadcast Address</a:t>
              </a:r>
            </a:p>
          </p:txBody>
        </p:sp>
      </p:grpSp>
      <p:grpSp>
        <p:nvGrpSpPr>
          <p:cNvPr id="295955" name="Group 19">
            <a:extLst>
              <a:ext uri="{FF2B5EF4-FFF2-40B4-BE49-F238E27FC236}">
                <a16:creationId xmlns:a16="http://schemas.microsoft.com/office/drawing/2014/main" id="{263D7155-4223-40A3-ADE5-BEE635D47D29}"/>
              </a:ext>
            </a:extLst>
          </p:cNvPr>
          <p:cNvGrpSpPr>
            <a:grpSpLocks/>
          </p:cNvGrpSpPr>
          <p:nvPr/>
        </p:nvGrpSpPr>
        <p:grpSpPr bwMode="auto">
          <a:xfrm>
            <a:off x="4695825" y="3303588"/>
            <a:ext cx="4408488" cy="381000"/>
            <a:chOff x="1998" y="2081"/>
            <a:chExt cx="2777" cy="240"/>
          </a:xfrm>
        </p:grpSpPr>
        <p:sp>
          <p:nvSpPr>
            <p:cNvPr id="295953" name="Line 17">
              <a:extLst>
                <a:ext uri="{FF2B5EF4-FFF2-40B4-BE49-F238E27FC236}">
                  <a16:creationId xmlns:a16="http://schemas.microsoft.com/office/drawing/2014/main" id="{5C4ABC88-B041-471B-8004-50C364605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8" y="2201"/>
              <a:ext cx="905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5954" name="Rectangle 18">
              <a:extLst>
                <a:ext uri="{FF2B5EF4-FFF2-40B4-BE49-F238E27FC236}">
                  <a16:creationId xmlns:a16="http://schemas.microsoft.com/office/drawing/2014/main" id="{97CCF3F9-FA66-49A7-B06F-9A85C1630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1" y="2081"/>
              <a:ext cx="18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Network Address</a:t>
              </a:r>
            </a:p>
          </p:txBody>
        </p:sp>
      </p:grpSp>
      <p:grpSp>
        <p:nvGrpSpPr>
          <p:cNvPr id="295962" name="Group 26">
            <a:extLst>
              <a:ext uri="{FF2B5EF4-FFF2-40B4-BE49-F238E27FC236}">
                <a16:creationId xmlns:a16="http://schemas.microsoft.com/office/drawing/2014/main" id="{94F0C6D5-6519-4B6F-8803-0D6DAF049076}"/>
              </a:ext>
            </a:extLst>
          </p:cNvPr>
          <p:cNvGrpSpPr>
            <a:grpSpLocks/>
          </p:cNvGrpSpPr>
          <p:nvPr/>
        </p:nvGrpSpPr>
        <p:grpSpPr bwMode="auto">
          <a:xfrm>
            <a:off x="4673603" y="3733800"/>
            <a:ext cx="4422775" cy="2058988"/>
            <a:chOff x="1984" y="2352"/>
            <a:chExt cx="2786" cy="1297"/>
          </a:xfrm>
        </p:grpSpPr>
        <p:sp>
          <p:nvSpPr>
            <p:cNvPr id="295963" name="Rectangle 27">
              <a:extLst>
                <a:ext uri="{FF2B5EF4-FFF2-40B4-BE49-F238E27FC236}">
                  <a16:creationId xmlns:a16="http://schemas.microsoft.com/office/drawing/2014/main" id="{BF6E6A99-A95A-45A1-B8D2-9708B0DA1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1" y="2880"/>
              <a:ext cx="1819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Valid IP Addresses</a:t>
              </a:r>
            </a:p>
          </p:txBody>
        </p:sp>
        <p:sp>
          <p:nvSpPr>
            <p:cNvPr id="295964" name="Line 28">
              <a:extLst>
                <a:ext uri="{FF2B5EF4-FFF2-40B4-BE49-F238E27FC236}">
                  <a16:creationId xmlns:a16="http://schemas.microsoft.com/office/drawing/2014/main" id="{D4295DC3-130B-47F2-9ECB-BEDA28003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4" y="2352"/>
              <a:ext cx="613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5965" name="Line 29">
              <a:extLst>
                <a:ext uri="{FF2B5EF4-FFF2-40B4-BE49-F238E27FC236}">
                  <a16:creationId xmlns:a16="http://schemas.microsoft.com/office/drawing/2014/main" id="{90A8B636-9116-4A72-B8AB-22686DF50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" y="3648"/>
              <a:ext cx="364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5966" name="AutoShape 30">
              <a:extLst>
                <a:ext uri="{FF2B5EF4-FFF2-40B4-BE49-F238E27FC236}">
                  <a16:creationId xmlns:a16="http://schemas.microsoft.com/office/drawing/2014/main" id="{1591B9AE-B6FA-4EB8-8318-F15450042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2352"/>
              <a:ext cx="412" cy="1296"/>
            </a:xfrm>
            <a:prstGeom prst="rightBrace">
              <a:avLst>
                <a:gd name="adj1" fmla="val 31558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5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5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5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5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5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 build="p" bldLvl="3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0375CB5C-BC40-429E-BE01-C721A74D2C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36828" y="852488"/>
            <a:ext cx="6462713" cy="190341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Class C : 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Network Address :</a:t>
            </a:r>
          </a:p>
          <a:p>
            <a:pPr>
              <a:buFontTx/>
              <a:buNone/>
            </a:pP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110xxxxx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Broadcast Address :</a:t>
            </a:r>
          </a:p>
          <a:p>
            <a:pPr>
              <a:buFontTx/>
              <a:buNone/>
            </a:pP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110xxxxx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16865E2-1D02-489E-844C-8659AB87C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D367-F78C-4543-80BA-A8C4F9BFDBD6}" type="slidenum">
              <a:rPr lang="en-US" altLang="LID4096"/>
              <a:pPr/>
              <a:t>21</a:t>
            </a:fld>
            <a:endParaRPr lang="en-US" altLang="LID4096"/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82980D6B-C4E8-4F54-9DF5-F6761572A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Example - Class  C</a:t>
            </a:r>
          </a:p>
        </p:txBody>
      </p:sp>
      <p:grpSp>
        <p:nvGrpSpPr>
          <p:cNvPr id="296964" name="Group 4">
            <a:extLst>
              <a:ext uri="{FF2B5EF4-FFF2-40B4-BE49-F238E27FC236}">
                <a16:creationId xmlns:a16="http://schemas.microsoft.com/office/drawing/2014/main" id="{530CED66-E244-41E0-8729-F53955B33B4E}"/>
              </a:ext>
            </a:extLst>
          </p:cNvPr>
          <p:cNvGrpSpPr>
            <a:grpSpLocks/>
          </p:cNvGrpSpPr>
          <p:nvPr/>
        </p:nvGrpSpPr>
        <p:grpSpPr bwMode="auto">
          <a:xfrm>
            <a:off x="2530475" y="2754316"/>
            <a:ext cx="6477000" cy="3887787"/>
            <a:chOff x="720" y="1735"/>
            <a:chExt cx="3744" cy="2449"/>
          </a:xfrm>
        </p:grpSpPr>
        <p:sp>
          <p:nvSpPr>
            <p:cNvPr id="296965" name="AutoShape 5">
              <a:extLst>
                <a:ext uri="{FF2B5EF4-FFF2-40B4-BE49-F238E27FC236}">
                  <a16:creationId xmlns:a16="http://schemas.microsoft.com/office/drawing/2014/main" id="{8D5AEE28-9A34-49E6-BE9E-885E3B0CC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735"/>
              <a:ext cx="3744" cy="2449"/>
            </a:xfrm>
            <a:prstGeom prst="roundRect">
              <a:avLst>
                <a:gd name="adj" fmla="val 9472"/>
              </a:avLst>
            </a:prstGeom>
            <a:solidFill>
              <a:srgbClr val="FFFF99"/>
            </a:solidFill>
            <a:ln>
              <a:noFill/>
            </a:ln>
            <a:effectLst>
              <a:outerShdw dist="107763" dir="81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	 Class C</a:t>
              </a:r>
              <a:r>
                <a:rPr lang="en-US" altLang="ja-JP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  192.168.1.0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  192.168.1.1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  192.168.1.2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  192.168.1.3</a:t>
              </a:r>
            </a:p>
            <a:p>
              <a:pPr>
                <a:spcBef>
                  <a:spcPct val="20000"/>
                </a:spcBef>
              </a:pPr>
              <a:endPara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>
                <a:spcBef>
                  <a:spcPct val="20000"/>
                </a:spcBef>
              </a:pPr>
              <a:endPara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 192.168.1.254</a:t>
              </a:r>
            </a:p>
            <a:p>
              <a:pPr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 192.168.1.255</a:t>
              </a:r>
            </a:p>
          </p:txBody>
        </p:sp>
        <p:sp>
          <p:nvSpPr>
            <p:cNvPr id="296966" name="Line 6">
              <a:extLst>
                <a:ext uri="{FF2B5EF4-FFF2-40B4-BE49-F238E27FC236}">
                  <a16:creationId xmlns:a16="http://schemas.microsoft.com/office/drawing/2014/main" id="{B2E7CEDC-B620-4F08-BC38-1A894E1758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993"/>
              <a:ext cx="463" cy="4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296967" name="Group 7">
            <a:extLst>
              <a:ext uri="{FF2B5EF4-FFF2-40B4-BE49-F238E27FC236}">
                <a16:creationId xmlns:a16="http://schemas.microsoft.com/office/drawing/2014/main" id="{03EAB8BC-1D63-45B9-ACEA-68D9100BA888}"/>
              </a:ext>
            </a:extLst>
          </p:cNvPr>
          <p:cNvGrpSpPr>
            <a:grpSpLocks/>
          </p:cNvGrpSpPr>
          <p:nvPr/>
        </p:nvGrpSpPr>
        <p:grpSpPr bwMode="auto">
          <a:xfrm>
            <a:off x="5035553" y="5849938"/>
            <a:ext cx="4068763" cy="381000"/>
            <a:chOff x="2333" y="3685"/>
            <a:chExt cx="2563" cy="240"/>
          </a:xfrm>
        </p:grpSpPr>
        <p:sp>
          <p:nvSpPr>
            <p:cNvPr id="296968" name="Line 8">
              <a:extLst>
                <a:ext uri="{FF2B5EF4-FFF2-40B4-BE49-F238E27FC236}">
                  <a16:creationId xmlns:a16="http://schemas.microsoft.com/office/drawing/2014/main" id="{468FEC98-2C2D-411D-9499-6724CD8C6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3805"/>
              <a:ext cx="691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6969" name="Rectangle 9">
              <a:extLst>
                <a:ext uri="{FF2B5EF4-FFF2-40B4-BE49-F238E27FC236}">
                  <a16:creationId xmlns:a16="http://schemas.microsoft.com/office/drawing/2014/main" id="{817EBB92-ACF0-4685-AB1C-5618B3D2E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685"/>
              <a:ext cx="18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Broadcast Address</a:t>
              </a:r>
            </a:p>
          </p:txBody>
        </p:sp>
      </p:grpSp>
      <p:grpSp>
        <p:nvGrpSpPr>
          <p:cNvPr id="296970" name="Group 10">
            <a:extLst>
              <a:ext uri="{FF2B5EF4-FFF2-40B4-BE49-F238E27FC236}">
                <a16:creationId xmlns:a16="http://schemas.microsoft.com/office/drawing/2014/main" id="{45F94623-B4A6-412D-AD46-ADCAF7421A19}"/>
              </a:ext>
            </a:extLst>
          </p:cNvPr>
          <p:cNvGrpSpPr>
            <a:grpSpLocks/>
          </p:cNvGrpSpPr>
          <p:nvPr/>
        </p:nvGrpSpPr>
        <p:grpSpPr bwMode="auto">
          <a:xfrm>
            <a:off x="4695825" y="3303588"/>
            <a:ext cx="4408488" cy="381000"/>
            <a:chOff x="1998" y="2081"/>
            <a:chExt cx="2777" cy="240"/>
          </a:xfrm>
        </p:grpSpPr>
        <p:sp>
          <p:nvSpPr>
            <p:cNvPr id="296971" name="Line 11">
              <a:extLst>
                <a:ext uri="{FF2B5EF4-FFF2-40B4-BE49-F238E27FC236}">
                  <a16:creationId xmlns:a16="http://schemas.microsoft.com/office/drawing/2014/main" id="{951985AC-B580-4319-9ED1-8D1D56359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8" y="2201"/>
              <a:ext cx="905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6972" name="Rectangle 12">
              <a:extLst>
                <a:ext uri="{FF2B5EF4-FFF2-40B4-BE49-F238E27FC236}">
                  <a16:creationId xmlns:a16="http://schemas.microsoft.com/office/drawing/2014/main" id="{0642692E-4BC0-4675-92BC-C3F3D8682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1" y="2081"/>
              <a:ext cx="18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Network Address</a:t>
              </a:r>
            </a:p>
          </p:txBody>
        </p:sp>
      </p:grpSp>
      <p:grpSp>
        <p:nvGrpSpPr>
          <p:cNvPr id="296978" name="Group 18">
            <a:extLst>
              <a:ext uri="{FF2B5EF4-FFF2-40B4-BE49-F238E27FC236}">
                <a16:creationId xmlns:a16="http://schemas.microsoft.com/office/drawing/2014/main" id="{7D33EF32-0D84-470F-93EC-215837438CCF}"/>
              </a:ext>
            </a:extLst>
          </p:cNvPr>
          <p:cNvGrpSpPr>
            <a:grpSpLocks/>
          </p:cNvGrpSpPr>
          <p:nvPr/>
        </p:nvGrpSpPr>
        <p:grpSpPr bwMode="auto">
          <a:xfrm>
            <a:off x="4673603" y="3733800"/>
            <a:ext cx="4422775" cy="2058988"/>
            <a:chOff x="1984" y="2352"/>
            <a:chExt cx="2786" cy="1297"/>
          </a:xfrm>
        </p:grpSpPr>
        <p:sp>
          <p:nvSpPr>
            <p:cNvPr id="296974" name="Rectangle 14">
              <a:extLst>
                <a:ext uri="{FF2B5EF4-FFF2-40B4-BE49-F238E27FC236}">
                  <a16:creationId xmlns:a16="http://schemas.microsoft.com/office/drawing/2014/main" id="{BBDAD6DD-5B33-43E1-9D96-B58BC7B18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1" y="2880"/>
              <a:ext cx="1819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Valid IP Addresses</a:t>
              </a:r>
            </a:p>
          </p:txBody>
        </p:sp>
        <p:sp>
          <p:nvSpPr>
            <p:cNvPr id="296975" name="Line 15">
              <a:extLst>
                <a:ext uri="{FF2B5EF4-FFF2-40B4-BE49-F238E27FC236}">
                  <a16:creationId xmlns:a16="http://schemas.microsoft.com/office/drawing/2014/main" id="{28825C3F-EC9C-4408-B2DF-123BF9B92C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4" y="2352"/>
              <a:ext cx="613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6976" name="Line 16">
              <a:extLst>
                <a:ext uri="{FF2B5EF4-FFF2-40B4-BE49-F238E27FC236}">
                  <a16:creationId xmlns:a16="http://schemas.microsoft.com/office/drawing/2014/main" id="{3CFE13E8-E27D-4A6C-A6D7-75314DE86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" y="3648"/>
              <a:ext cx="364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296977" name="AutoShape 17">
              <a:extLst>
                <a:ext uri="{FF2B5EF4-FFF2-40B4-BE49-F238E27FC236}">
                  <a16:creationId xmlns:a16="http://schemas.microsoft.com/office/drawing/2014/main" id="{129EF92C-72D1-40E7-B0AF-D425C227E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2352"/>
              <a:ext cx="412" cy="1296"/>
            </a:xfrm>
            <a:prstGeom prst="rightBrace">
              <a:avLst>
                <a:gd name="adj1" fmla="val 31558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6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6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6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2" grpId="0" build="p" bldLvl="3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4" name="Rectangle 1028">
            <a:extLst>
              <a:ext uri="{FF2B5EF4-FFF2-40B4-BE49-F238E27FC236}">
                <a16:creationId xmlns:a16="http://schemas.microsoft.com/office/drawing/2014/main" id="{06496665-B4CB-40BE-9C6F-9FEB77D245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641" y="1566863"/>
            <a:ext cx="8059737" cy="3611562"/>
          </a:xfrm>
          <a:noFill/>
          <a:ln/>
        </p:spPr>
        <p:txBody>
          <a:bodyPr/>
          <a:lstStyle/>
          <a:p>
            <a:r>
              <a:rPr lang="en-US" altLang="LID4096" sz="2000" b="1">
                <a:latin typeface="Verdana" panose="020B0604030504040204" pitchFamily="34" charset="0"/>
              </a:rPr>
              <a:t>There are certain addresses in each  class of IP address that are reserved for LAN. These addresses are called private addresses.</a:t>
            </a:r>
          </a:p>
          <a:p>
            <a:endParaRPr lang="en-US" altLang="LID4096" sz="2000" b="1">
              <a:latin typeface="Verdana" panose="020B0604030504040204" pitchFamily="34" charset="0"/>
            </a:endParaRPr>
          </a:p>
          <a:p>
            <a:r>
              <a:rPr lang="en-US" altLang="LID4096" sz="2000" b="1">
                <a:latin typeface="Verdana" panose="020B0604030504040204" pitchFamily="34" charset="0"/>
              </a:rPr>
              <a:t>They can be used for: home &amp; office networks, networks not connected to Internet.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0EFABA-3CA6-4ACA-BBF8-9E60BAD2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1D26B-2F85-4808-9CC3-D0DB3F164709}" type="slidenum">
              <a:rPr lang="en-US" altLang="LID4096"/>
              <a:pPr/>
              <a:t>22</a:t>
            </a:fld>
            <a:endParaRPr lang="en-US" altLang="LID4096"/>
          </a:p>
        </p:txBody>
      </p:sp>
      <p:sp>
        <p:nvSpPr>
          <p:cNvPr id="327685" name="Rectangle 1029">
            <a:extLst>
              <a:ext uri="{FF2B5EF4-FFF2-40B4-BE49-F238E27FC236}">
                <a16:creationId xmlns:a16="http://schemas.microsoft.com/office/drawing/2014/main" id="{AEAC605E-3290-4DBA-B4C0-91CB18BA8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Private IP Address</a:t>
            </a:r>
          </a:p>
        </p:txBody>
      </p:sp>
      <p:sp>
        <p:nvSpPr>
          <p:cNvPr id="327686" name="AutoShape 1030">
            <a:extLst>
              <a:ext uri="{FF2B5EF4-FFF2-40B4-BE49-F238E27FC236}">
                <a16:creationId xmlns:a16="http://schemas.microsoft.com/office/drawing/2014/main" id="{C1FA9518-1644-48E8-827E-F0757497C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6" y="3630613"/>
            <a:ext cx="6340475" cy="296545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A</a:t>
            </a:r>
          </a:p>
          <a:p>
            <a:pPr algn="ctr">
              <a:spcBef>
                <a:spcPct val="20000"/>
              </a:spcBef>
            </a:pPr>
            <a:r>
              <a:rPr lang="en-US" altLang="LID4096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10.0.0.0 to 10.255.255.255</a:t>
            </a:r>
          </a:p>
          <a:p>
            <a:pPr algn="ctr">
              <a:spcBef>
                <a:spcPct val="20000"/>
              </a:spcBef>
            </a:pP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B</a:t>
            </a:r>
            <a:endParaRPr lang="en-US" altLang="LID4096">
              <a:solidFill>
                <a:srgbClr val="6600FF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20000"/>
              </a:spcBef>
            </a:pPr>
            <a:r>
              <a:rPr lang="en-US" altLang="LID4096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172.16.0.0 to 172.31.255.255</a:t>
            </a:r>
          </a:p>
          <a:p>
            <a:pPr algn="ctr">
              <a:spcBef>
                <a:spcPct val="20000"/>
              </a:spcBef>
            </a:pP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Class C</a:t>
            </a:r>
          </a:p>
          <a:p>
            <a:pPr algn="ctr">
              <a:spcBef>
                <a:spcPct val="20000"/>
              </a:spcBef>
            </a:pPr>
            <a:r>
              <a:rPr lang="en-US" altLang="LID4096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192.168.0.0 to 192.168.255.255</a:t>
            </a:r>
            <a:endParaRPr lang="en-US" altLang="ja-JP">
              <a:solidFill>
                <a:srgbClr val="6600FF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4" grpId="0" build="p" autoUpdateAnimBg="0"/>
      <p:bldP spid="327686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41E5487-BA3D-4D79-A6DA-E6C6FBBE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7F13C-BC78-432A-9E95-849993C08C7D}" type="slidenum">
              <a:rPr lang="en-US" altLang="LID4096"/>
              <a:pPr/>
              <a:t>23</a:t>
            </a:fld>
            <a:endParaRPr lang="en-US" altLang="LID4096"/>
          </a:p>
        </p:txBody>
      </p:sp>
      <p:sp>
        <p:nvSpPr>
          <p:cNvPr id="305157" name="Rectangle 5">
            <a:extLst>
              <a:ext uri="{FF2B5EF4-FFF2-40B4-BE49-F238E27FC236}">
                <a16:creationId xmlns:a16="http://schemas.microsoft.com/office/drawing/2014/main" id="{AD3E85B7-5803-477E-8CEC-91E97476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3" y="152400"/>
            <a:ext cx="4778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Subnet Mask</a:t>
            </a:r>
          </a:p>
        </p:txBody>
      </p:sp>
      <p:sp>
        <p:nvSpPr>
          <p:cNvPr id="305158" name="Rectangle 6">
            <a:extLst>
              <a:ext uri="{FF2B5EF4-FFF2-40B4-BE49-F238E27FC236}">
                <a16:creationId xmlns:a16="http://schemas.microsoft.com/office/drawing/2014/main" id="{3EA34EFF-FC96-4DAF-98EA-609DD0DF0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1820863"/>
            <a:ext cx="8382000" cy="403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Subnet Mask differentiates Network portion and Host Portion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LID4096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Subnet Mask is been given for host Identification of Network ID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LID4096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LID4096" sz="2000">
                <a:latin typeface="Verdana" panose="020B0604030504040204" pitchFamily="34" charset="0"/>
              </a:rPr>
              <a:t>Represented with all 1’s in the network portion</a:t>
            </a:r>
          </a:p>
          <a:p>
            <a:pPr>
              <a:spcBef>
                <a:spcPct val="20000"/>
              </a:spcBef>
            </a:pPr>
            <a:r>
              <a:rPr lang="en-US" altLang="LID4096" sz="2000">
                <a:latin typeface="Verdana" panose="020B0604030504040204" pitchFamily="34" charset="0"/>
              </a:rPr>
              <a:t>    and with all 0’s in the host portion.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LID4096" sz="2000">
              <a:latin typeface="Verdana" panose="020B0604030504040204" pitchFamily="34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LID4096" sz="2000">
              <a:latin typeface="Verdana" panose="020B0604030504040204" pitchFamily="34" charset="0"/>
            </a:endParaRPr>
          </a:p>
          <a:p>
            <a:pPr>
              <a:spcBef>
                <a:spcPct val="20000"/>
              </a:spcBef>
            </a:pPr>
            <a:endParaRPr lang="en-US" altLang="LID4096" sz="20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5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5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5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5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8" grpId="0" build="p" bldLvl="3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1026">
            <a:extLst>
              <a:ext uri="{FF2B5EF4-FFF2-40B4-BE49-F238E27FC236}">
                <a16:creationId xmlns:a16="http://schemas.microsoft.com/office/drawing/2014/main" id="{8A2EE8C8-3881-4685-87AE-1A5836B5DB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25653" y="1455738"/>
            <a:ext cx="7396163" cy="449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Class A : 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Default Subnet Mask for Class A is  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buFontTx/>
              <a:buNone/>
            </a:pP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Class B : 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Default Subnet Mask for Class B is  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buFontTx/>
              <a:buNone/>
            </a:pPr>
            <a:endParaRPr lang="en-US" altLang="LID4096" sz="2000" b="1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Class C : 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b="1">
                <a:latin typeface="Verdana" panose="020B0604030504040204" pitchFamily="34" charset="0"/>
              </a:rPr>
              <a:t>.</a:t>
            </a:r>
            <a:r>
              <a:rPr lang="en-US" altLang="LID4096" sz="2000" b="1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00000000</a:t>
            </a:r>
          </a:p>
          <a:p>
            <a:pPr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Default Subnet Mask for Class C is  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</a:t>
            </a:r>
            <a:r>
              <a:rPr lang="en-US" altLang="LID4096" sz="2000" b="1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b="1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</a:t>
            </a:r>
          </a:p>
          <a:p>
            <a:pPr>
              <a:buFontTx/>
              <a:buNone/>
            </a:pPr>
            <a:endParaRPr lang="en-US" altLang="LID4096" sz="2000" b="1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A14EAA-F7ED-4449-A181-6399C2A1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6485-C0A8-4E0B-AC6B-07DCCB570A63}" type="slidenum">
              <a:rPr lang="en-US" altLang="LID4096"/>
              <a:pPr/>
              <a:t>24</a:t>
            </a:fld>
            <a:endParaRPr lang="en-US" altLang="LID4096"/>
          </a:p>
        </p:txBody>
      </p:sp>
      <p:sp>
        <p:nvSpPr>
          <p:cNvPr id="306179" name="Rectangle 1027">
            <a:extLst>
              <a:ext uri="{FF2B5EF4-FFF2-40B4-BE49-F238E27FC236}">
                <a16:creationId xmlns:a16="http://schemas.microsoft.com/office/drawing/2014/main" id="{DB310EB6-B2B5-494E-AB2C-F78FB01BA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Subnet Mask - Examples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6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6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6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6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6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6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6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6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 build="p" bldLvl="3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D72C5-DBA9-40C6-9668-16190099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331E-5972-4B6D-B43B-2F15290720C6}" type="slidenum">
              <a:rPr lang="en-US" altLang="LID4096"/>
              <a:pPr/>
              <a:t>25</a:t>
            </a:fld>
            <a:endParaRPr lang="en-US" altLang="LID4096"/>
          </a:p>
        </p:txBody>
      </p:sp>
      <p:sp>
        <p:nvSpPr>
          <p:cNvPr id="307205" name="Rectangle 5">
            <a:extLst>
              <a:ext uri="{FF2B5EF4-FFF2-40B4-BE49-F238E27FC236}">
                <a16:creationId xmlns:a16="http://schemas.microsoft.com/office/drawing/2014/main" id="{4C3298CE-5B91-4C29-8E42-BABC4444F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How Subnet Mask Works ?</a:t>
            </a:r>
          </a:p>
        </p:txBody>
      </p:sp>
      <p:pic>
        <p:nvPicPr>
          <p:cNvPr id="307206" name="Picture 6">
            <a:extLst>
              <a:ext uri="{FF2B5EF4-FFF2-40B4-BE49-F238E27FC236}">
                <a16:creationId xmlns:a16="http://schemas.microsoft.com/office/drawing/2014/main" id="{8AFF3856-B34A-4903-BA83-2EABCF00F70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lum bright="70000" contrast="-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791" y="1296991"/>
            <a:ext cx="4745037" cy="470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204" name="Rectangle 4">
            <a:extLst>
              <a:ext uri="{FF2B5EF4-FFF2-40B4-BE49-F238E27FC236}">
                <a16:creationId xmlns:a16="http://schemas.microsoft.com/office/drawing/2014/main" id="{6FEE04B1-C8AF-417E-BF96-37660DC8E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3" y="915988"/>
            <a:ext cx="8893175" cy="594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IP Address	 :	192.168.1.1</a:t>
            </a:r>
          </a:p>
          <a:p>
            <a:pPr>
              <a:spcBef>
                <a:spcPct val="20000"/>
              </a:spcBef>
            </a:pPr>
            <a:r>
              <a:rPr lang="en-US" altLang="LID4096" sz="2000">
                <a:solidFill>
                  <a:srgbClr val="6600FF"/>
                </a:solidFill>
                <a:latin typeface="Verdana" panose="020B0604030504040204" pitchFamily="34" charset="0"/>
              </a:rPr>
              <a:t>Subnet Mask	 :	255.255.255.0</a:t>
            </a:r>
          </a:p>
          <a:p>
            <a:pPr>
              <a:spcBef>
                <a:spcPct val="20000"/>
              </a:spcBef>
            </a:pPr>
            <a:endParaRPr lang="en-US" altLang="LID4096" sz="2000">
              <a:solidFill>
                <a:srgbClr val="6600FF"/>
              </a:solidFill>
              <a:latin typeface="Verdana" panose="020B0604030504040204" pitchFamily="34" charset="0"/>
            </a:endParaRPr>
          </a:p>
          <a:p>
            <a:pPr>
              <a:spcBef>
                <a:spcPct val="20000"/>
              </a:spcBef>
            </a:pPr>
            <a:r>
              <a:rPr lang="en-US" altLang="LID4096" sz="2000" u="sng">
                <a:latin typeface="Verdana" panose="020B0604030504040204" pitchFamily="34" charset="0"/>
              </a:rPr>
              <a:t>ANDING PROCESS</a:t>
            </a:r>
            <a:r>
              <a:rPr lang="en-US" altLang="LID4096" sz="2000">
                <a:solidFill>
                  <a:srgbClr val="6600FF"/>
                </a:solidFill>
                <a:latin typeface="Verdana" panose="020B0604030504040204" pitchFamily="34" charset="0"/>
              </a:rPr>
              <a:t> :</a:t>
            </a:r>
          </a:p>
          <a:p>
            <a:pPr>
              <a:spcBef>
                <a:spcPct val="20000"/>
              </a:spcBef>
            </a:pPr>
            <a:endParaRPr lang="en-US" altLang="LID4096" sz="2000">
              <a:solidFill>
                <a:srgbClr val="6600FF"/>
              </a:solidFill>
              <a:latin typeface="Verdana" panose="020B0604030504040204" pitchFamily="34" charset="0"/>
            </a:endParaRPr>
          </a:p>
          <a:p>
            <a:pPr>
              <a:spcBef>
                <a:spcPct val="20000"/>
              </a:spcBef>
            </a:pP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	    = 11000000.10101000.00000001.00000001</a:t>
            </a:r>
          </a:p>
          <a:p>
            <a:pPr>
              <a:spcBef>
                <a:spcPct val="20000"/>
              </a:spcBef>
            </a:pPr>
            <a:r>
              <a:rPr lang="en-US" altLang="LID4096" sz="2000">
                <a:solidFill>
                  <a:srgbClr val="6600FF"/>
                </a:solidFill>
                <a:latin typeface="Verdana" panose="020B0604030504040204" pitchFamily="34" charset="0"/>
              </a:rPr>
              <a:t>255.255.255.0 = 11111111.11111111.11111111.00000000</a:t>
            </a:r>
          </a:p>
          <a:p>
            <a:pPr>
              <a:spcBef>
                <a:spcPct val="20000"/>
              </a:spcBef>
            </a:pPr>
            <a:r>
              <a:rPr lang="en-US" altLang="LID4096" sz="2000">
                <a:latin typeface="Verdana" panose="020B0604030504040204" pitchFamily="34" charset="0"/>
              </a:rPr>
              <a:t>=======================================</a:t>
            </a:r>
          </a:p>
          <a:p>
            <a:pPr>
              <a:spcBef>
                <a:spcPct val="20000"/>
              </a:spcBef>
            </a:pPr>
            <a:r>
              <a:rPr lang="en-US" altLang="LID4096" sz="2000">
                <a:solidFill>
                  <a:srgbClr val="008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192.168.1.0	    = 11000000.10101000.00000001.00000000</a:t>
            </a:r>
          </a:p>
          <a:p>
            <a:pPr>
              <a:spcBef>
                <a:spcPct val="20000"/>
              </a:spcBef>
            </a:pPr>
            <a:r>
              <a:rPr lang="en-US" altLang="LID4096" sz="2000">
                <a:latin typeface="Verdana" panose="020B0604030504040204" pitchFamily="34" charset="0"/>
              </a:rPr>
              <a:t>=======================================</a:t>
            </a:r>
          </a:p>
          <a:p>
            <a:pPr>
              <a:spcBef>
                <a:spcPct val="20000"/>
              </a:spcBef>
            </a:pPr>
            <a:endParaRPr lang="en-US" altLang="LID4096" sz="2000">
              <a:solidFill>
                <a:srgbClr val="008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The output of an AND table is 1 if both its inputs are 1. </a:t>
            </a:r>
          </a:p>
          <a:p>
            <a:pPr>
              <a:spcBef>
                <a:spcPct val="20000"/>
              </a:spcBef>
            </a:pP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For all other possible inputs the output is 0.</a:t>
            </a:r>
          </a:p>
          <a:p>
            <a:pPr>
              <a:spcBef>
                <a:spcPct val="20000"/>
              </a:spcBef>
            </a:pPr>
            <a:endParaRPr lang="en-US" altLang="LID4096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LID4096" sz="200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LID4096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endParaRPr lang="en-US" altLang="LID4096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07208" name="AutoShape 8">
            <a:extLst>
              <a:ext uri="{FF2B5EF4-FFF2-40B4-BE49-F238E27FC236}">
                <a16:creationId xmlns:a16="http://schemas.microsoft.com/office/drawing/2014/main" id="{132BA757-C850-4B88-923C-D0B41E184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6216" y="2860675"/>
            <a:ext cx="4141787" cy="284638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AND TABLE</a:t>
            </a:r>
          </a:p>
          <a:p>
            <a:pPr algn="ctr">
              <a:spcBef>
                <a:spcPct val="20000"/>
              </a:spcBef>
            </a:pPr>
            <a:r>
              <a:rPr lang="en-US" altLang="LID4096">
                <a:solidFill>
                  <a:srgbClr val="6600FF"/>
                </a:solidFill>
                <a:latin typeface="Verdana" panose="020B0604030504040204" pitchFamily="34" charset="0"/>
              </a:rPr>
              <a:t>A		B	C</a:t>
            </a:r>
          </a:p>
          <a:p>
            <a:pPr algn="ctr">
              <a:spcBef>
                <a:spcPct val="20000"/>
              </a:spcBef>
            </a:pPr>
            <a:r>
              <a:rPr lang="en-US" altLang="LID4096">
                <a:solidFill>
                  <a:srgbClr val="6600FF"/>
                </a:solidFill>
                <a:latin typeface="Verdana" panose="020B0604030504040204" pitchFamily="34" charset="0"/>
              </a:rPr>
              <a:t>0		0	0</a:t>
            </a:r>
          </a:p>
          <a:p>
            <a:pPr algn="ctr">
              <a:spcBef>
                <a:spcPct val="20000"/>
              </a:spcBef>
            </a:pPr>
            <a:r>
              <a:rPr lang="en-US" altLang="LID4096">
                <a:solidFill>
                  <a:srgbClr val="6600FF"/>
                </a:solidFill>
                <a:latin typeface="Verdana" panose="020B0604030504040204" pitchFamily="34" charset="0"/>
              </a:rPr>
              <a:t>0		1	0</a:t>
            </a:r>
          </a:p>
          <a:p>
            <a:pPr algn="ctr">
              <a:spcBef>
                <a:spcPct val="20000"/>
              </a:spcBef>
            </a:pPr>
            <a:r>
              <a:rPr lang="en-US" altLang="LID4096">
                <a:solidFill>
                  <a:srgbClr val="6600FF"/>
                </a:solidFill>
                <a:latin typeface="Verdana" panose="020B0604030504040204" pitchFamily="34" charset="0"/>
              </a:rPr>
              <a:t>1		0	0</a:t>
            </a:r>
          </a:p>
          <a:p>
            <a:pPr algn="ctr">
              <a:spcBef>
                <a:spcPct val="20000"/>
              </a:spcBef>
            </a:pPr>
            <a:r>
              <a:rPr lang="en-US" altLang="LID4096">
                <a:solidFill>
                  <a:srgbClr val="6600FF"/>
                </a:solidFill>
                <a:latin typeface="Verdana" panose="020B0604030504040204" pitchFamily="34" charset="0"/>
              </a:rPr>
              <a:t>1		1	1</a:t>
            </a:r>
            <a:endParaRPr lang="en-US" altLang="ja-JP">
              <a:solidFill>
                <a:srgbClr val="6600FF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2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72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 build="p" bldLvl="3" autoUpdateAnimBg="0"/>
      <p:bldP spid="307208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>
            <a:extLst>
              <a:ext uri="{FF2B5EF4-FFF2-40B4-BE49-F238E27FC236}">
                <a16:creationId xmlns:a16="http://schemas.microsoft.com/office/drawing/2014/main" id="{046B8289-C47C-4D1A-8D77-2286F18DFF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1676400"/>
            <a:ext cx="7824788" cy="39814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LID4096" sz="2000" b="1">
                <a:latin typeface="Verdana" panose="020B0604030504040204" pitchFamily="34" charset="0"/>
              </a:rPr>
              <a:t>Dividing a Single Network into Multiple Networks.</a:t>
            </a:r>
          </a:p>
          <a:p>
            <a:pPr>
              <a:lnSpc>
                <a:spcPct val="90000"/>
              </a:lnSpc>
            </a:pPr>
            <a:endParaRPr lang="en-US" altLang="LID4096" sz="2000" b="1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LID4096" sz="2000" b="1">
                <a:latin typeface="Verdana" panose="020B0604030504040204" pitchFamily="34" charset="0"/>
              </a:rPr>
              <a:t>Converting Host bits to Network Bits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LID4096" sz="2000" b="1">
                <a:latin typeface="Verdana" panose="020B0604030504040204" pitchFamily="34" charset="0"/>
              </a:rPr>
              <a:t>	i.e. Converting 0’s into 1’s</a:t>
            </a:r>
          </a:p>
          <a:p>
            <a:pPr>
              <a:lnSpc>
                <a:spcPct val="90000"/>
              </a:lnSpc>
            </a:pPr>
            <a:endParaRPr lang="en-US" altLang="LID4096" sz="2000" b="1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LID4096" sz="2000" b="1">
                <a:latin typeface="Verdana" panose="020B0604030504040204" pitchFamily="34" charset="0"/>
              </a:rPr>
              <a:t>Subnetting is also called as FLSM (Fixed Length Subnet Mask)</a:t>
            </a:r>
          </a:p>
          <a:p>
            <a:pPr>
              <a:lnSpc>
                <a:spcPct val="90000"/>
              </a:lnSpc>
            </a:pPr>
            <a:endParaRPr lang="en-US" altLang="LID4096" sz="2000" b="1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LID4096" sz="2000" b="1">
                <a:latin typeface="Verdana" panose="020B0604030504040204" pitchFamily="34" charset="0"/>
              </a:rPr>
              <a:t>Subnetting can be done in three ways.</a:t>
            </a:r>
          </a:p>
          <a:p>
            <a:pPr lvl="1">
              <a:lnSpc>
                <a:spcPct val="90000"/>
              </a:lnSpc>
            </a:pPr>
            <a:r>
              <a:rPr lang="en-US" altLang="LID4096" sz="2000" b="1">
                <a:latin typeface="Verdana" panose="020B0604030504040204" pitchFamily="34" charset="0"/>
              </a:rPr>
              <a:t>Requirement of Networks</a:t>
            </a:r>
          </a:p>
          <a:p>
            <a:pPr lvl="1">
              <a:lnSpc>
                <a:spcPct val="90000"/>
              </a:lnSpc>
            </a:pPr>
            <a:r>
              <a:rPr lang="en-US" altLang="LID4096" sz="2000" b="1">
                <a:latin typeface="Verdana" panose="020B0604030504040204" pitchFamily="34" charset="0"/>
              </a:rPr>
              <a:t>Requirement of Hosts</a:t>
            </a:r>
          </a:p>
          <a:p>
            <a:pPr lvl="1">
              <a:lnSpc>
                <a:spcPct val="90000"/>
              </a:lnSpc>
            </a:pPr>
            <a:r>
              <a:rPr lang="en-US" altLang="LID4096" sz="2000" b="1">
                <a:latin typeface="Verdana" panose="020B0604030504040204" pitchFamily="34" charset="0"/>
              </a:rPr>
              <a:t>Cisco / Notation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A4FA371-6000-4C1B-A36D-F0D8DCF0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1223-4442-42D6-80CF-5F8D46919A8F}" type="slidenum">
              <a:rPr lang="en-US" altLang="LID4096"/>
              <a:pPr/>
              <a:t>26</a:t>
            </a:fld>
            <a:endParaRPr lang="en-US" altLang="LID4096"/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6EC96BB1-4E6F-4FDE-8967-D63A99F8D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Subnetting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023B13A-80AC-4147-829B-1F78FB8FE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69E23-5F56-4F9F-BA48-DD59505D8388}" type="slidenum">
              <a:rPr lang="en-US" altLang="LID4096"/>
              <a:pPr/>
              <a:t>27</a:t>
            </a:fld>
            <a:endParaRPr lang="en-US" altLang="LID4096"/>
          </a:p>
        </p:txBody>
      </p:sp>
      <p:sp>
        <p:nvSpPr>
          <p:cNvPr id="329732" name="Rectangle 4">
            <a:extLst>
              <a:ext uri="{FF2B5EF4-FFF2-40B4-BE49-F238E27FC236}">
                <a16:creationId xmlns:a16="http://schemas.microsoft.com/office/drawing/2014/main" id="{247F4B3A-3367-45AB-B560-F6F9D6356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117603"/>
            <a:ext cx="7772400" cy="260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</a:rPr>
              <a:t>ZOOM Technologies is having 100 PC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LID4096" sz="2000" dirty="0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LID4096" sz="2000" dirty="0">
                <a:latin typeface="Verdana" panose="020B0604030504040204" pitchFamily="34" charset="0"/>
              </a:rPr>
              <a:t>Which Class is </a:t>
            </a:r>
            <a:r>
              <a:rPr lang="en-US" altLang="LID4096" sz="2000" dirty="0" err="1">
                <a:latin typeface="Verdana" panose="020B0604030504040204" pitchFamily="34" charset="0"/>
              </a:rPr>
              <a:t>preffered</a:t>
            </a:r>
            <a:r>
              <a:rPr lang="en-US" altLang="LID4096" sz="2000" dirty="0">
                <a:latin typeface="Verdana" panose="020B0604030504040204" pitchFamily="34" charset="0"/>
              </a:rPr>
              <a:t> for the network ?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</a:rPr>
              <a:t>	Answer : Class C.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LID4096" sz="2000" dirty="0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LID4096" sz="2000" dirty="0">
                <a:latin typeface="Verdana" panose="020B0604030504040204" pitchFamily="34" charset="0"/>
              </a:rPr>
              <a:t>In ZOOM Technologies we have Five Departments with 20 Pcs each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LID4096" sz="2000" dirty="0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</a:rPr>
              <a:t> 	ZOOM Technologies – 192.168.1.0/24</a:t>
            </a:r>
          </a:p>
        </p:txBody>
      </p:sp>
      <p:sp>
        <p:nvSpPr>
          <p:cNvPr id="329733" name="Rectangle 5">
            <a:extLst>
              <a:ext uri="{FF2B5EF4-FFF2-40B4-BE49-F238E27FC236}">
                <a16:creationId xmlns:a16="http://schemas.microsoft.com/office/drawing/2014/main" id="{AC8CBADD-3F01-4C57-8354-B8B306BAD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Scenario</a:t>
            </a:r>
          </a:p>
        </p:txBody>
      </p:sp>
      <p:grpSp>
        <p:nvGrpSpPr>
          <p:cNvPr id="329764" name="Group 36">
            <a:extLst>
              <a:ext uri="{FF2B5EF4-FFF2-40B4-BE49-F238E27FC236}">
                <a16:creationId xmlns:a16="http://schemas.microsoft.com/office/drawing/2014/main" id="{1C5083D7-D75E-4C6C-8A53-0931A672E56A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4465638"/>
            <a:ext cx="7845425" cy="311150"/>
            <a:chOff x="312" y="2813"/>
            <a:chExt cx="4942" cy="196"/>
          </a:xfrm>
        </p:grpSpPr>
        <p:sp>
          <p:nvSpPr>
            <p:cNvPr id="329734" name="Rectangle 6">
              <a:extLst>
                <a:ext uri="{FF2B5EF4-FFF2-40B4-BE49-F238E27FC236}">
                  <a16:creationId xmlns:a16="http://schemas.microsoft.com/office/drawing/2014/main" id="{1F5B1B4A-7CB5-4F56-95CA-BCE7FB07C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2813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MCSE</a:t>
              </a:r>
            </a:p>
          </p:txBody>
        </p:sp>
        <p:sp>
          <p:nvSpPr>
            <p:cNvPr id="329736" name="AutoShape 8">
              <a:extLst>
                <a:ext uri="{FF2B5EF4-FFF2-40B4-BE49-F238E27FC236}">
                  <a16:creationId xmlns:a16="http://schemas.microsoft.com/office/drawing/2014/main" id="{E08A4F0B-5CAC-4783-97F4-A7E0831D7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2831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29741" name="Rectangle 13">
              <a:extLst>
                <a:ext uri="{FF2B5EF4-FFF2-40B4-BE49-F238E27FC236}">
                  <a16:creationId xmlns:a16="http://schemas.microsoft.com/office/drawing/2014/main" id="{7C01245F-B8C7-421B-BA93-C05400297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813"/>
              <a:ext cx="2965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192.168.1.1	  to 192.168.1.20</a:t>
              </a:r>
            </a:p>
          </p:txBody>
        </p:sp>
      </p:grpSp>
      <p:grpSp>
        <p:nvGrpSpPr>
          <p:cNvPr id="329769" name="Group 41">
            <a:extLst>
              <a:ext uri="{FF2B5EF4-FFF2-40B4-BE49-F238E27FC236}">
                <a16:creationId xmlns:a16="http://schemas.microsoft.com/office/drawing/2014/main" id="{B2D30227-9CAE-4886-9037-C1415E97F33D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4840291"/>
            <a:ext cx="7788275" cy="407987"/>
            <a:chOff x="312" y="3049"/>
            <a:chExt cx="4906" cy="257"/>
          </a:xfrm>
        </p:grpSpPr>
        <p:sp>
          <p:nvSpPr>
            <p:cNvPr id="329749" name="Rectangle 21">
              <a:extLst>
                <a:ext uri="{FF2B5EF4-FFF2-40B4-BE49-F238E27FC236}">
                  <a16:creationId xmlns:a16="http://schemas.microsoft.com/office/drawing/2014/main" id="{EC59E89E-54B0-4EC3-8592-CBE2CE63C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3049"/>
              <a:ext cx="292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192.168.1.21 to 192.168.1.40</a:t>
              </a:r>
            </a:p>
          </p:txBody>
        </p:sp>
        <p:sp>
          <p:nvSpPr>
            <p:cNvPr id="329747" name="Rectangle 19">
              <a:extLst>
                <a:ext uri="{FF2B5EF4-FFF2-40B4-BE49-F238E27FC236}">
                  <a16:creationId xmlns:a16="http://schemas.microsoft.com/office/drawing/2014/main" id="{E432EF3D-50BD-4512-8EE2-37179A32F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3049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CISCO</a:t>
              </a:r>
            </a:p>
          </p:txBody>
        </p:sp>
        <p:sp>
          <p:nvSpPr>
            <p:cNvPr id="329748" name="AutoShape 20">
              <a:extLst>
                <a:ext uri="{FF2B5EF4-FFF2-40B4-BE49-F238E27FC236}">
                  <a16:creationId xmlns:a16="http://schemas.microsoft.com/office/drawing/2014/main" id="{7979F0A2-DE53-4905-B6B5-4F4FEDA84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3067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</p:grpSp>
      <p:grpSp>
        <p:nvGrpSpPr>
          <p:cNvPr id="329766" name="Group 38">
            <a:extLst>
              <a:ext uri="{FF2B5EF4-FFF2-40B4-BE49-F238E27FC236}">
                <a16:creationId xmlns:a16="http://schemas.microsoft.com/office/drawing/2014/main" id="{CE5B1276-3BEC-4CCB-96B1-DD37DC89366C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5214938"/>
            <a:ext cx="7845425" cy="311150"/>
            <a:chOff x="312" y="3285"/>
            <a:chExt cx="4942" cy="196"/>
          </a:xfrm>
        </p:grpSpPr>
        <p:sp>
          <p:nvSpPr>
            <p:cNvPr id="329751" name="Rectangle 23">
              <a:extLst>
                <a:ext uri="{FF2B5EF4-FFF2-40B4-BE49-F238E27FC236}">
                  <a16:creationId xmlns:a16="http://schemas.microsoft.com/office/drawing/2014/main" id="{3091472A-8349-47E4-A90B-19193D642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3285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FIREWALL</a:t>
              </a:r>
            </a:p>
          </p:txBody>
        </p:sp>
        <p:sp>
          <p:nvSpPr>
            <p:cNvPr id="329752" name="AutoShape 24">
              <a:extLst>
                <a:ext uri="{FF2B5EF4-FFF2-40B4-BE49-F238E27FC236}">
                  <a16:creationId xmlns:a16="http://schemas.microsoft.com/office/drawing/2014/main" id="{70B556DA-E4F6-4A2F-A421-4C28751DC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3303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29753" name="Rectangle 25">
              <a:extLst>
                <a:ext uri="{FF2B5EF4-FFF2-40B4-BE49-F238E27FC236}">
                  <a16:creationId xmlns:a16="http://schemas.microsoft.com/office/drawing/2014/main" id="{2141DA09-83DF-4B88-A9B7-AA5F0E2B0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3285"/>
              <a:ext cx="2965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192.168.1.41 to 192.168.1.60</a:t>
              </a:r>
            </a:p>
          </p:txBody>
        </p:sp>
      </p:grpSp>
      <p:grpSp>
        <p:nvGrpSpPr>
          <p:cNvPr id="329767" name="Group 39">
            <a:extLst>
              <a:ext uri="{FF2B5EF4-FFF2-40B4-BE49-F238E27FC236}">
                <a16:creationId xmlns:a16="http://schemas.microsoft.com/office/drawing/2014/main" id="{1969DFC4-079E-4053-89E0-0DFD6D398512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5589588"/>
            <a:ext cx="7845425" cy="311150"/>
            <a:chOff x="312" y="3521"/>
            <a:chExt cx="4942" cy="196"/>
          </a:xfrm>
        </p:grpSpPr>
        <p:sp>
          <p:nvSpPr>
            <p:cNvPr id="329755" name="Rectangle 27">
              <a:extLst>
                <a:ext uri="{FF2B5EF4-FFF2-40B4-BE49-F238E27FC236}">
                  <a16:creationId xmlns:a16="http://schemas.microsoft.com/office/drawing/2014/main" id="{ADB92BB8-6DF7-4B24-8E5E-97F65B342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3521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SOLARIS</a:t>
              </a:r>
            </a:p>
          </p:txBody>
        </p:sp>
        <p:sp>
          <p:nvSpPr>
            <p:cNvPr id="329756" name="AutoShape 28">
              <a:extLst>
                <a:ext uri="{FF2B5EF4-FFF2-40B4-BE49-F238E27FC236}">
                  <a16:creationId xmlns:a16="http://schemas.microsoft.com/office/drawing/2014/main" id="{5A1A5C00-0EBF-4133-AB5E-EECC04DDA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3539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29757" name="Rectangle 29">
              <a:extLst>
                <a:ext uri="{FF2B5EF4-FFF2-40B4-BE49-F238E27FC236}">
                  <a16:creationId xmlns:a16="http://schemas.microsoft.com/office/drawing/2014/main" id="{0BF708AA-8748-4D49-ACF1-1D8E0249A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3521"/>
              <a:ext cx="2965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192.168.1.61 to 192.168.1.80</a:t>
              </a:r>
            </a:p>
          </p:txBody>
        </p:sp>
      </p:grpSp>
      <p:grpSp>
        <p:nvGrpSpPr>
          <p:cNvPr id="329768" name="Group 40">
            <a:extLst>
              <a:ext uri="{FF2B5EF4-FFF2-40B4-BE49-F238E27FC236}">
                <a16:creationId xmlns:a16="http://schemas.microsoft.com/office/drawing/2014/main" id="{C9C82983-8BA0-41E3-ADDB-D44D6CFA2807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5964238"/>
            <a:ext cx="7845425" cy="311150"/>
            <a:chOff x="312" y="3757"/>
            <a:chExt cx="4942" cy="196"/>
          </a:xfrm>
        </p:grpSpPr>
        <p:sp>
          <p:nvSpPr>
            <p:cNvPr id="329759" name="Rectangle 31">
              <a:extLst>
                <a:ext uri="{FF2B5EF4-FFF2-40B4-BE49-F238E27FC236}">
                  <a16:creationId xmlns:a16="http://schemas.microsoft.com/office/drawing/2014/main" id="{BC90B0F6-8275-4AD3-901D-F177E3816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3757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TRAINING</a:t>
              </a:r>
            </a:p>
          </p:txBody>
        </p:sp>
        <p:sp>
          <p:nvSpPr>
            <p:cNvPr id="329760" name="AutoShape 32">
              <a:extLst>
                <a:ext uri="{FF2B5EF4-FFF2-40B4-BE49-F238E27FC236}">
                  <a16:creationId xmlns:a16="http://schemas.microsoft.com/office/drawing/2014/main" id="{F3993253-1317-493B-A298-995FA3A96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3775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29761" name="Rectangle 33">
              <a:extLst>
                <a:ext uri="{FF2B5EF4-FFF2-40B4-BE49-F238E27FC236}">
                  <a16:creationId xmlns:a16="http://schemas.microsoft.com/office/drawing/2014/main" id="{9F441A2D-8C45-4CC2-BE18-C693C7182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3757"/>
              <a:ext cx="2965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192.168.1.81 to 192.168.1.100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9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9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9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97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2" grpId="0" build="p" bldLvl="2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CA4D7F0-8A90-446A-A0C7-4CFA0D4E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F4BD-41E4-4902-9F74-62C0635BD810}" type="slidenum">
              <a:rPr lang="en-US" altLang="LID4096"/>
              <a:pPr/>
              <a:t>28</a:t>
            </a:fld>
            <a:endParaRPr lang="en-US" altLang="LID4096"/>
          </a:p>
        </p:txBody>
      </p:sp>
      <p:sp>
        <p:nvSpPr>
          <p:cNvPr id="330758" name="Rectangle 1030">
            <a:extLst>
              <a:ext uri="{FF2B5EF4-FFF2-40B4-BE49-F238E27FC236}">
                <a16:creationId xmlns:a16="http://schemas.microsoft.com/office/drawing/2014/main" id="{7C8992C7-3422-47C1-AA82-08D0B30D8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117603"/>
            <a:ext cx="7772400" cy="260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LID4096" sz="2000" dirty="0">
                <a:latin typeface="Verdana" panose="020B0604030504040204" pitchFamily="34" charset="0"/>
              </a:rPr>
              <a:t>Administrator’s  Requirement 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</a:rPr>
              <a:t>	Inter-department communication should not be possible ?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</a:rPr>
              <a:t>	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</a:rPr>
              <a:t>	Solution.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</a:rPr>
              <a:t>	Allocate a different Network to each Department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</a:rPr>
              <a:t>	i.e.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LID4096" sz="2000" dirty="0">
              <a:latin typeface="Verdana" panose="020B0604030504040204" pitchFamily="34" charset="0"/>
            </a:endParaRPr>
          </a:p>
        </p:txBody>
      </p:sp>
      <p:sp>
        <p:nvSpPr>
          <p:cNvPr id="330759" name="Rectangle 1031">
            <a:extLst>
              <a:ext uri="{FF2B5EF4-FFF2-40B4-BE49-F238E27FC236}">
                <a16:creationId xmlns:a16="http://schemas.microsoft.com/office/drawing/2014/main" id="{731D4398-06EB-4782-B507-02CD3631B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Scenario (…continued)</a:t>
            </a:r>
          </a:p>
        </p:txBody>
      </p:sp>
      <p:grpSp>
        <p:nvGrpSpPr>
          <p:cNvPr id="330777" name="Group 1049">
            <a:extLst>
              <a:ext uri="{FF2B5EF4-FFF2-40B4-BE49-F238E27FC236}">
                <a16:creationId xmlns:a16="http://schemas.microsoft.com/office/drawing/2014/main" id="{FB034C58-A664-45CF-9E0F-C1EB1EE8851B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3417888"/>
            <a:ext cx="7845425" cy="311150"/>
            <a:chOff x="312" y="2153"/>
            <a:chExt cx="4942" cy="196"/>
          </a:xfrm>
        </p:grpSpPr>
        <p:sp>
          <p:nvSpPr>
            <p:cNvPr id="330761" name="Rectangle 1033">
              <a:extLst>
                <a:ext uri="{FF2B5EF4-FFF2-40B4-BE49-F238E27FC236}">
                  <a16:creationId xmlns:a16="http://schemas.microsoft.com/office/drawing/2014/main" id="{D6680127-608A-42B5-B08B-086D5DC3F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2153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MCSE</a:t>
              </a:r>
            </a:p>
          </p:txBody>
        </p:sp>
        <p:sp>
          <p:nvSpPr>
            <p:cNvPr id="330762" name="AutoShape 1034">
              <a:extLst>
                <a:ext uri="{FF2B5EF4-FFF2-40B4-BE49-F238E27FC236}">
                  <a16:creationId xmlns:a16="http://schemas.microsoft.com/office/drawing/2014/main" id="{68FD86C6-8EF2-4BE8-A9B2-F3C26433F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2171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0763" name="Rectangle 1035">
              <a:extLst>
                <a:ext uri="{FF2B5EF4-FFF2-40B4-BE49-F238E27FC236}">
                  <a16:creationId xmlns:a16="http://schemas.microsoft.com/office/drawing/2014/main" id="{D116AC03-DEA0-4CC7-81C6-5FDBDFDE2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153"/>
              <a:ext cx="2965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192.168.1.1   to 192.168.1.20</a:t>
              </a:r>
            </a:p>
          </p:txBody>
        </p:sp>
      </p:grpSp>
      <p:grpSp>
        <p:nvGrpSpPr>
          <p:cNvPr id="330778" name="Group 1050">
            <a:extLst>
              <a:ext uri="{FF2B5EF4-FFF2-40B4-BE49-F238E27FC236}">
                <a16:creationId xmlns:a16="http://schemas.microsoft.com/office/drawing/2014/main" id="{1A14C061-9F18-4EFD-89C6-21AFF52BC3E0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3792541"/>
            <a:ext cx="7788275" cy="407987"/>
            <a:chOff x="312" y="2389"/>
            <a:chExt cx="4906" cy="257"/>
          </a:xfrm>
        </p:grpSpPr>
        <p:sp>
          <p:nvSpPr>
            <p:cNvPr id="330760" name="Rectangle 1032">
              <a:extLst>
                <a:ext uri="{FF2B5EF4-FFF2-40B4-BE49-F238E27FC236}">
                  <a16:creationId xmlns:a16="http://schemas.microsoft.com/office/drawing/2014/main" id="{435DB496-D4E4-4554-898F-22475D6D8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389"/>
              <a:ext cx="2929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192.168.2.1   to 192.168.2.20</a:t>
              </a:r>
            </a:p>
          </p:txBody>
        </p:sp>
        <p:sp>
          <p:nvSpPr>
            <p:cNvPr id="330764" name="Rectangle 1036">
              <a:extLst>
                <a:ext uri="{FF2B5EF4-FFF2-40B4-BE49-F238E27FC236}">
                  <a16:creationId xmlns:a16="http://schemas.microsoft.com/office/drawing/2014/main" id="{3DCAE0A4-A582-43ED-9D7B-310AD5BEB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2389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CISCO</a:t>
              </a:r>
            </a:p>
          </p:txBody>
        </p:sp>
        <p:sp>
          <p:nvSpPr>
            <p:cNvPr id="330765" name="AutoShape 1037">
              <a:extLst>
                <a:ext uri="{FF2B5EF4-FFF2-40B4-BE49-F238E27FC236}">
                  <a16:creationId xmlns:a16="http://schemas.microsoft.com/office/drawing/2014/main" id="{CB873F83-E518-4584-BE24-59A2BD677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2407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</p:grpSp>
      <p:grpSp>
        <p:nvGrpSpPr>
          <p:cNvPr id="330779" name="Group 1051">
            <a:extLst>
              <a:ext uri="{FF2B5EF4-FFF2-40B4-BE49-F238E27FC236}">
                <a16:creationId xmlns:a16="http://schemas.microsoft.com/office/drawing/2014/main" id="{B2E02E1B-56EC-4E46-989B-AB3ACBA12C2E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4167188"/>
            <a:ext cx="7845425" cy="311150"/>
            <a:chOff x="312" y="2625"/>
            <a:chExt cx="4942" cy="196"/>
          </a:xfrm>
        </p:grpSpPr>
        <p:sp>
          <p:nvSpPr>
            <p:cNvPr id="330766" name="Rectangle 1038">
              <a:extLst>
                <a:ext uri="{FF2B5EF4-FFF2-40B4-BE49-F238E27FC236}">
                  <a16:creationId xmlns:a16="http://schemas.microsoft.com/office/drawing/2014/main" id="{E4FBE827-E9E4-4094-9044-79A1A8E57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2625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FIREWALL</a:t>
              </a:r>
            </a:p>
          </p:txBody>
        </p:sp>
        <p:sp>
          <p:nvSpPr>
            <p:cNvPr id="330767" name="AutoShape 1039">
              <a:extLst>
                <a:ext uri="{FF2B5EF4-FFF2-40B4-BE49-F238E27FC236}">
                  <a16:creationId xmlns:a16="http://schemas.microsoft.com/office/drawing/2014/main" id="{CACA02DF-C839-4E4C-A869-766F2B230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2643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0768" name="Rectangle 1040">
              <a:extLst>
                <a:ext uri="{FF2B5EF4-FFF2-40B4-BE49-F238E27FC236}">
                  <a16:creationId xmlns:a16="http://schemas.microsoft.com/office/drawing/2014/main" id="{FEE268B0-04A4-4689-9D94-04623B37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625"/>
              <a:ext cx="2965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192.168.3.1   to 192.168.3.20</a:t>
              </a:r>
            </a:p>
          </p:txBody>
        </p:sp>
      </p:grpSp>
      <p:grpSp>
        <p:nvGrpSpPr>
          <p:cNvPr id="330780" name="Group 1052">
            <a:extLst>
              <a:ext uri="{FF2B5EF4-FFF2-40B4-BE49-F238E27FC236}">
                <a16:creationId xmlns:a16="http://schemas.microsoft.com/office/drawing/2014/main" id="{4A311003-E8BF-4C30-A3AC-FE0F9929CC1E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4541838"/>
            <a:ext cx="7845425" cy="311150"/>
            <a:chOff x="312" y="2861"/>
            <a:chExt cx="4942" cy="196"/>
          </a:xfrm>
        </p:grpSpPr>
        <p:sp>
          <p:nvSpPr>
            <p:cNvPr id="330769" name="Rectangle 1041">
              <a:extLst>
                <a:ext uri="{FF2B5EF4-FFF2-40B4-BE49-F238E27FC236}">
                  <a16:creationId xmlns:a16="http://schemas.microsoft.com/office/drawing/2014/main" id="{832177E4-2702-4A11-BC73-347AA9F18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2861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SOLARIS</a:t>
              </a:r>
            </a:p>
          </p:txBody>
        </p:sp>
        <p:sp>
          <p:nvSpPr>
            <p:cNvPr id="330770" name="AutoShape 1042">
              <a:extLst>
                <a:ext uri="{FF2B5EF4-FFF2-40B4-BE49-F238E27FC236}">
                  <a16:creationId xmlns:a16="http://schemas.microsoft.com/office/drawing/2014/main" id="{12C828A9-9D2E-419F-B493-334DE3E8C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2879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0771" name="Rectangle 1043">
              <a:extLst>
                <a:ext uri="{FF2B5EF4-FFF2-40B4-BE49-F238E27FC236}">
                  <a16:creationId xmlns:a16="http://schemas.microsoft.com/office/drawing/2014/main" id="{6CEACB8C-F887-46E4-B31B-2D3F71E9B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2861"/>
              <a:ext cx="2965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192.168.4.1   to 192.168.4.20</a:t>
              </a:r>
            </a:p>
          </p:txBody>
        </p:sp>
      </p:grpSp>
      <p:grpSp>
        <p:nvGrpSpPr>
          <p:cNvPr id="330781" name="Group 1053">
            <a:extLst>
              <a:ext uri="{FF2B5EF4-FFF2-40B4-BE49-F238E27FC236}">
                <a16:creationId xmlns:a16="http://schemas.microsoft.com/office/drawing/2014/main" id="{D6A04A0D-DC06-42BD-84ED-85F4017F5536}"/>
              </a:ext>
            </a:extLst>
          </p:cNvPr>
          <p:cNvGrpSpPr>
            <a:grpSpLocks/>
          </p:cNvGrpSpPr>
          <p:nvPr/>
        </p:nvGrpSpPr>
        <p:grpSpPr bwMode="auto">
          <a:xfrm>
            <a:off x="2019303" y="4916488"/>
            <a:ext cx="7845425" cy="311150"/>
            <a:chOff x="312" y="3097"/>
            <a:chExt cx="4942" cy="196"/>
          </a:xfrm>
        </p:grpSpPr>
        <p:sp>
          <p:nvSpPr>
            <p:cNvPr id="330772" name="Rectangle 1044">
              <a:extLst>
                <a:ext uri="{FF2B5EF4-FFF2-40B4-BE49-F238E27FC236}">
                  <a16:creationId xmlns:a16="http://schemas.microsoft.com/office/drawing/2014/main" id="{4E96F8F0-4249-4E67-8E90-A43082C61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" y="3097"/>
              <a:ext cx="1441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altLang="LID4096" sz="2000">
                  <a:latin typeface="Verdana" panose="020B0604030504040204" pitchFamily="34" charset="0"/>
                </a:rPr>
                <a:t>TRAINING</a:t>
              </a:r>
            </a:p>
          </p:txBody>
        </p:sp>
        <p:sp>
          <p:nvSpPr>
            <p:cNvPr id="330773" name="AutoShape 1045">
              <a:extLst>
                <a:ext uri="{FF2B5EF4-FFF2-40B4-BE49-F238E27FC236}">
                  <a16:creationId xmlns:a16="http://schemas.microsoft.com/office/drawing/2014/main" id="{563E673C-A485-4A85-A882-82A920123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3115"/>
              <a:ext cx="452" cy="178"/>
            </a:xfrm>
            <a:prstGeom prst="rightArrow">
              <a:avLst>
                <a:gd name="adj1" fmla="val 50000"/>
                <a:gd name="adj2" fmla="val 63483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0774" name="Rectangle 1046">
              <a:extLst>
                <a:ext uri="{FF2B5EF4-FFF2-40B4-BE49-F238E27FC236}">
                  <a16:creationId xmlns:a16="http://schemas.microsoft.com/office/drawing/2014/main" id="{39296DB2-32C4-45AE-8965-6DD0211C9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3097"/>
              <a:ext cx="2965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LID4096" sz="2000">
                  <a:latin typeface="Verdana" panose="020B0604030504040204" pitchFamily="34" charset="0"/>
                </a:rPr>
                <a:t>192.168.5.1   to 192.168.5.20</a:t>
              </a:r>
            </a:p>
          </p:txBody>
        </p:sp>
      </p:grpSp>
      <p:sp>
        <p:nvSpPr>
          <p:cNvPr id="330776" name="Rectangle 1048">
            <a:extLst>
              <a:ext uri="{FF2B5EF4-FFF2-40B4-BE49-F238E27FC236}">
                <a16:creationId xmlns:a16="http://schemas.microsoft.com/office/drawing/2014/main" id="{9E5027E2-662C-44CC-B4FE-813627D5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3" y="5575300"/>
            <a:ext cx="8004175" cy="61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LID4096" sz="2000">
                <a:latin typeface="Verdana" panose="020B0604030504040204" pitchFamily="34" charset="0"/>
              </a:rPr>
              <a:t>In the above Scenario inter-department communication is not possible.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0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0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0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0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0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0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8" grpId="0" build="p" bldLvl="2" autoUpdateAnimBg="0"/>
      <p:bldP spid="330776" grpId="0" build="p" bldLvl="2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D683F01-4726-43B9-B816-A45A663F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71BBE-B2A5-4E65-8B31-16CD0DA6034D}" type="slidenum">
              <a:rPr lang="en-US" altLang="LID4096"/>
              <a:pPr/>
              <a:t>29</a:t>
            </a:fld>
            <a:endParaRPr lang="en-US" altLang="LID4096"/>
          </a:p>
        </p:txBody>
      </p:sp>
      <p:sp>
        <p:nvSpPr>
          <p:cNvPr id="331780" name="Rectangle 4">
            <a:extLst>
              <a:ext uri="{FF2B5EF4-FFF2-40B4-BE49-F238E27FC236}">
                <a16:creationId xmlns:a16="http://schemas.microsoft.com/office/drawing/2014/main" id="{0084CCFD-FDAB-46F3-B210-8744E405B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3" y="1817688"/>
            <a:ext cx="8112125" cy="3878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/>
            <a:r>
              <a:rPr lang="en-US" altLang="LID4096" sz="2000">
                <a:latin typeface="Verdana" panose="020B0604030504040204" pitchFamily="34" charset="0"/>
              </a:rPr>
              <a:t>Problem with the previous Scenario is :-</a:t>
            </a:r>
          </a:p>
          <a:p>
            <a:pPr eaLnBrk="0" hangingPunct="0"/>
            <a:endParaRPr lang="en-US" altLang="LID4096" sz="2000">
              <a:latin typeface="Verdana" panose="020B0604030504040204" pitchFamily="34" charset="0"/>
            </a:endParaRPr>
          </a:p>
          <a:p>
            <a:pPr eaLnBrk="0" hangingPunct="0">
              <a:buFontTx/>
              <a:buChar char="•"/>
            </a:pPr>
            <a:r>
              <a:rPr lang="en-US" altLang="LID4096" sz="2000">
                <a:latin typeface="Verdana" panose="020B0604030504040204" pitchFamily="34" charset="0"/>
              </a:rPr>
              <a:t>Loss of bandwidth</a:t>
            </a:r>
            <a:r>
              <a:rPr lang="en-US" altLang="LID4096"/>
              <a:t> </a:t>
            </a:r>
            <a:r>
              <a:rPr lang="en-US" altLang="LID4096" sz="2000">
                <a:latin typeface="Verdana" panose="020B0604030504040204" pitchFamily="34" charset="0"/>
              </a:rPr>
              <a:t>as</a:t>
            </a:r>
            <a:r>
              <a:rPr lang="en-US" altLang="LID4096"/>
              <a:t> </a:t>
            </a:r>
            <a:r>
              <a:rPr lang="en-US" altLang="LID4096" sz="2000">
                <a:latin typeface="Verdana" panose="020B0604030504040204" pitchFamily="34" charset="0"/>
              </a:rPr>
              <a:t>the broadcasting is done for 254 machines rather than for 20 machines.</a:t>
            </a:r>
          </a:p>
          <a:p>
            <a:pPr eaLnBrk="0" hangingPunct="0">
              <a:buFontTx/>
              <a:buChar char="•"/>
            </a:pPr>
            <a:endParaRPr lang="en-US" altLang="LID4096" sz="2000">
              <a:latin typeface="Verdana" panose="020B0604030504040204" pitchFamily="34" charset="0"/>
            </a:endParaRPr>
          </a:p>
          <a:p>
            <a:pPr eaLnBrk="0" hangingPunct="0">
              <a:buFontTx/>
              <a:buChar char="•"/>
            </a:pPr>
            <a:r>
              <a:rPr lang="en-US" altLang="LID4096" sz="2000">
                <a:latin typeface="Verdana" panose="020B0604030504040204" pitchFamily="34" charset="0"/>
              </a:rPr>
              <a:t>Wastage of IP addresses (Approximately 1000)</a:t>
            </a:r>
          </a:p>
          <a:p>
            <a:pPr eaLnBrk="0" hangingPunct="0">
              <a:buFontTx/>
              <a:buChar char="•"/>
            </a:pPr>
            <a:endParaRPr lang="en-US" altLang="LID4096" sz="2000">
              <a:latin typeface="Verdana" panose="020B0604030504040204" pitchFamily="34" charset="0"/>
            </a:endParaRPr>
          </a:p>
          <a:p>
            <a:pPr eaLnBrk="0" hangingPunct="0">
              <a:buFontTx/>
              <a:buChar char="•"/>
            </a:pPr>
            <a:r>
              <a:rPr lang="en-US" altLang="LID4096" sz="2000">
                <a:latin typeface="Verdana" panose="020B0604030504040204" pitchFamily="34" charset="0"/>
              </a:rPr>
              <a:t>No Security</a:t>
            </a:r>
          </a:p>
        </p:txBody>
      </p:sp>
      <p:sp>
        <p:nvSpPr>
          <p:cNvPr id="331781" name="Rectangle 5">
            <a:extLst>
              <a:ext uri="{FF2B5EF4-FFF2-40B4-BE49-F238E27FC236}">
                <a16:creationId xmlns:a16="http://schemas.microsoft.com/office/drawing/2014/main" id="{1072EFE7-97EC-47D0-A6E0-0C2FD1CB6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Main Aim of Subnetting</a:t>
            </a:r>
          </a:p>
        </p:txBody>
      </p:sp>
      <p:sp>
        <p:nvSpPr>
          <p:cNvPr id="331798" name="Rectangle 22">
            <a:extLst>
              <a:ext uri="{FF2B5EF4-FFF2-40B4-BE49-F238E27FC236}">
                <a16:creationId xmlns:a16="http://schemas.microsoft.com/office/drawing/2014/main" id="{484EACB5-4831-4B5C-8ED6-66BEEE4F5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3" y="5330825"/>
            <a:ext cx="8004175" cy="61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LID4096" altLang="LID4096" sz="20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1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1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1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1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0" grpId="0" build="p" bldLvl="2" autoUpdateAnimBg="0"/>
      <p:bldP spid="331798" grpId="0" build="p" bldLvl="2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>
            <a:extLst>
              <a:ext uri="{FF2B5EF4-FFF2-40B4-BE49-F238E27FC236}">
                <a16:creationId xmlns:a16="http://schemas.microsoft.com/office/drawing/2014/main" id="{FE42822A-8EDA-43CA-9515-95B9B22A9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LID4096" altLang="LID4096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43C5102-1961-4B2E-94B4-DAB54764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39D2-4CDA-481A-88DE-025D98B079BB}" type="slidenum">
              <a:rPr lang="en-US" altLang="LID4096"/>
              <a:pPr/>
              <a:t>30</a:t>
            </a:fld>
            <a:endParaRPr lang="en-US" altLang="LID4096"/>
          </a:p>
        </p:txBody>
      </p:sp>
      <p:grpSp>
        <p:nvGrpSpPr>
          <p:cNvPr id="376864" name="Group 32">
            <a:extLst>
              <a:ext uri="{FF2B5EF4-FFF2-40B4-BE49-F238E27FC236}">
                <a16:creationId xmlns:a16="http://schemas.microsoft.com/office/drawing/2014/main" id="{F86BBA77-D018-4A81-A64E-7EE187073A6D}"/>
              </a:ext>
            </a:extLst>
          </p:cNvPr>
          <p:cNvGrpSpPr>
            <a:grpSpLocks/>
          </p:cNvGrpSpPr>
          <p:nvPr/>
        </p:nvGrpSpPr>
        <p:grpSpPr bwMode="auto">
          <a:xfrm>
            <a:off x="888207" y="1690688"/>
            <a:ext cx="8805862" cy="5359400"/>
            <a:chOff x="114" y="620"/>
            <a:chExt cx="5547" cy="3376"/>
          </a:xfrm>
        </p:grpSpPr>
        <p:sp>
          <p:nvSpPr>
            <p:cNvPr id="376837" name="AutoShape 5">
              <a:extLst>
                <a:ext uri="{FF2B5EF4-FFF2-40B4-BE49-F238E27FC236}">
                  <a16:creationId xmlns:a16="http://schemas.microsoft.com/office/drawing/2014/main" id="{0C1F8B53-C02E-459E-B97D-B84CC5A12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" y="620"/>
              <a:ext cx="5547" cy="3376"/>
            </a:xfrm>
            <a:prstGeom prst="roundRect">
              <a:avLst>
                <a:gd name="adj" fmla="val 10523"/>
              </a:avLst>
            </a:prstGeom>
            <a:solidFill>
              <a:srgbClr val="FFFF99"/>
            </a:solidFill>
            <a:ln>
              <a:noFill/>
            </a:ln>
            <a:effectLst>
              <a:outerShdw dist="107763" dir="81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POWER TABLE</a:t>
              </a:r>
            </a:p>
          </p:txBody>
        </p:sp>
        <p:sp>
          <p:nvSpPr>
            <p:cNvPr id="376840" name="Text Box 8">
              <a:extLst>
                <a:ext uri="{FF2B5EF4-FFF2-40B4-BE49-F238E27FC236}">
                  <a16:creationId xmlns:a16="http://schemas.microsoft.com/office/drawing/2014/main" id="{2A6D7A29-45A8-41EC-A0A8-7FF078F19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" y="1152"/>
              <a:ext cx="1278" cy="2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2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 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4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3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 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8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4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16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5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32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6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64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7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128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8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256</a:t>
              </a:r>
              <a:endParaRPr lang="en-US" altLang="LID4096" sz="20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6841" name="Text Box 9">
              <a:extLst>
                <a:ext uri="{FF2B5EF4-FFF2-40B4-BE49-F238E27FC236}">
                  <a16:creationId xmlns:a16="http://schemas.microsoft.com/office/drawing/2014/main" id="{0C02EB7D-95DE-4825-8787-9218BD151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2" y="1152"/>
              <a:ext cx="1278" cy="2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9  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512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10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 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1024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11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 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2048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12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4096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13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8192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14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16384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15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32768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16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65536</a:t>
              </a:r>
              <a:endParaRPr lang="en-US" altLang="LID4096" sz="20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6843" name="Text Box 11">
              <a:extLst>
                <a:ext uri="{FF2B5EF4-FFF2-40B4-BE49-F238E27FC236}">
                  <a16:creationId xmlns:a16="http://schemas.microsoft.com/office/drawing/2014/main" id="{DAB9CA14-CB67-4DA6-976A-F34306B9B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9" y="1152"/>
              <a:ext cx="1594" cy="2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17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131072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18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 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262144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19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 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524288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20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1048576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21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2097152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22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4194304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23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8388608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24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16777216</a:t>
              </a:r>
            </a:p>
          </p:txBody>
        </p:sp>
        <p:sp>
          <p:nvSpPr>
            <p:cNvPr id="376844" name="Text Box 12">
              <a:extLst>
                <a:ext uri="{FF2B5EF4-FFF2-40B4-BE49-F238E27FC236}">
                  <a16:creationId xmlns:a16="http://schemas.microsoft.com/office/drawing/2014/main" id="{5C02672E-EE2D-4C70-98FA-01CDAB0A9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3" y="1152"/>
              <a:ext cx="1798" cy="2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25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33554432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26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 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67108864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27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 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134217728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28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268435456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29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536870912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30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1073741824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31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2147483648</a:t>
              </a:r>
            </a:p>
            <a:p>
              <a:pPr>
                <a:lnSpc>
                  <a:spcPct val="180000"/>
                </a:lnSpc>
              </a:pP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</a:t>
              </a:r>
              <a:r>
                <a:rPr lang="en-US" altLang="ja-JP" sz="2000" baseline="30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32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ja-JP" sz="2000">
                  <a:solidFill>
                    <a:schemeClr val="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=</a:t>
              </a:r>
              <a:r>
                <a:rPr lang="en-US" altLang="ja-JP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</a:t>
              </a: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4294967296</a:t>
              </a:r>
            </a:p>
          </p:txBody>
        </p:sp>
        <p:sp>
          <p:nvSpPr>
            <p:cNvPr id="376849" name="Line 17">
              <a:extLst>
                <a:ext uri="{FF2B5EF4-FFF2-40B4-BE49-F238E27FC236}">
                  <a16:creationId xmlns:a16="http://schemas.microsoft.com/office/drawing/2014/main" id="{DB918E8C-74A0-423D-8DB7-11C0308C7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" y="1240"/>
              <a:ext cx="551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6850" name="Line 18">
              <a:extLst>
                <a:ext uri="{FF2B5EF4-FFF2-40B4-BE49-F238E27FC236}">
                  <a16:creationId xmlns:a16="http://schemas.microsoft.com/office/drawing/2014/main" id="{282165BC-5B14-4641-9CBC-B3301F62F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" y="1584"/>
              <a:ext cx="551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6851" name="Line 19">
              <a:extLst>
                <a:ext uri="{FF2B5EF4-FFF2-40B4-BE49-F238E27FC236}">
                  <a16:creationId xmlns:a16="http://schemas.microsoft.com/office/drawing/2014/main" id="{459AAAC7-2FED-4FAD-AF1E-7D3D02C7C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" y="1929"/>
              <a:ext cx="551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6852" name="Line 20">
              <a:extLst>
                <a:ext uri="{FF2B5EF4-FFF2-40B4-BE49-F238E27FC236}">
                  <a16:creationId xmlns:a16="http://schemas.microsoft.com/office/drawing/2014/main" id="{225AC909-E6ED-4913-85E4-EAD6135ED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" y="2273"/>
              <a:ext cx="551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6853" name="Line 21">
              <a:extLst>
                <a:ext uri="{FF2B5EF4-FFF2-40B4-BE49-F238E27FC236}">
                  <a16:creationId xmlns:a16="http://schemas.microsoft.com/office/drawing/2014/main" id="{BF8BD941-7527-49EB-8EB2-9BA32DF8E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" y="2618"/>
              <a:ext cx="551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6854" name="Line 22">
              <a:extLst>
                <a:ext uri="{FF2B5EF4-FFF2-40B4-BE49-F238E27FC236}">
                  <a16:creationId xmlns:a16="http://schemas.microsoft.com/office/drawing/2014/main" id="{6CDC8C8A-582B-44F2-B894-8AC52B2C6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" y="2962"/>
              <a:ext cx="551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6855" name="Line 23">
              <a:extLst>
                <a:ext uri="{FF2B5EF4-FFF2-40B4-BE49-F238E27FC236}">
                  <a16:creationId xmlns:a16="http://schemas.microsoft.com/office/drawing/2014/main" id="{21A17BD6-7623-4F88-9626-0413B368B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" y="3307"/>
              <a:ext cx="551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6856" name="Line 24">
              <a:extLst>
                <a:ext uri="{FF2B5EF4-FFF2-40B4-BE49-F238E27FC236}">
                  <a16:creationId xmlns:a16="http://schemas.microsoft.com/office/drawing/2014/main" id="{D1987153-B6F9-4D26-8AC8-9867174E3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" y="3651"/>
              <a:ext cx="551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grpSp>
          <p:nvGrpSpPr>
            <p:cNvPr id="376862" name="Group 30">
              <a:extLst>
                <a:ext uri="{FF2B5EF4-FFF2-40B4-BE49-F238E27FC236}">
                  <a16:creationId xmlns:a16="http://schemas.microsoft.com/office/drawing/2014/main" id="{D496504A-48B2-43ED-9C23-68539CBDF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2" y="1243"/>
              <a:ext cx="2745" cy="2753"/>
              <a:chOff x="1092" y="1265"/>
              <a:chExt cx="2745" cy="2688"/>
            </a:xfrm>
          </p:grpSpPr>
          <p:sp>
            <p:nvSpPr>
              <p:cNvPr id="376857" name="Line 25">
                <a:extLst>
                  <a:ext uri="{FF2B5EF4-FFF2-40B4-BE49-F238E27FC236}">
                    <a16:creationId xmlns:a16="http://schemas.microsoft.com/office/drawing/2014/main" id="{02137E02-C259-448C-9EA6-049EB97EC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2" y="1265"/>
                <a:ext cx="0" cy="26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76859" name="Line 27">
                <a:extLst>
                  <a:ext uri="{FF2B5EF4-FFF2-40B4-BE49-F238E27FC236}">
                    <a16:creationId xmlns:a16="http://schemas.microsoft.com/office/drawing/2014/main" id="{56368A3D-EFC1-4D1F-B5BD-C295F5F1DD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9" y="1265"/>
                <a:ext cx="0" cy="26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76860" name="Line 28">
                <a:extLst>
                  <a:ext uri="{FF2B5EF4-FFF2-40B4-BE49-F238E27FC236}">
                    <a16:creationId xmlns:a16="http://schemas.microsoft.com/office/drawing/2014/main" id="{1EB0413D-6FD4-4236-A5D6-2A15660C3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7" y="1265"/>
                <a:ext cx="0" cy="26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376865" name="Rectangle 33">
            <a:extLst>
              <a:ext uri="{FF2B5EF4-FFF2-40B4-BE49-F238E27FC236}">
                <a16:creationId xmlns:a16="http://schemas.microsoft.com/office/drawing/2014/main" id="{ED2EBA37-21F9-45BC-8FCC-31B618505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Power table</a:t>
            </a:r>
          </a:p>
        </p:txBody>
      </p:sp>
    </p:spTree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A0B69D7-BF83-47E0-B6AE-D042CCCD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724C-E16F-4049-8014-95226268B04A}" type="slidenum">
              <a:rPr lang="en-US" altLang="LID4096"/>
              <a:pPr/>
              <a:t>31</a:t>
            </a:fld>
            <a:endParaRPr lang="en-US" altLang="LID4096"/>
          </a:p>
        </p:txBody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B91A5407-F141-43F7-9FE0-6C2132111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</a:rPr>
              <a:t>Some Important Values</a:t>
            </a:r>
          </a:p>
        </p:txBody>
      </p:sp>
      <p:grpSp>
        <p:nvGrpSpPr>
          <p:cNvPr id="374800" name="Group 16">
            <a:extLst>
              <a:ext uri="{FF2B5EF4-FFF2-40B4-BE49-F238E27FC236}">
                <a16:creationId xmlns:a16="http://schemas.microsoft.com/office/drawing/2014/main" id="{F1C4CA10-7DD7-46DF-B116-FE10DF176F27}"/>
              </a:ext>
            </a:extLst>
          </p:cNvPr>
          <p:cNvGrpSpPr>
            <a:grpSpLocks/>
          </p:cNvGrpSpPr>
          <p:nvPr/>
        </p:nvGrpSpPr>
        <p:grpSpPr bwMode="auto">
          <a:xfrm>
            <a:off x="2478088" y="955678"/>
            <a:ext cx="7200900" cy="5489575"/>
            <a:chOff x="601" y="602"/>
            <a:chExt cx="4536" cy="3458"/>
          </a:xfrm>
        </p:grpSpPr>
        <p:sp>
          <p:nvSpPr>
            <p:cNvPr id="374786" name="AutoShape 2">
              <a:extLst>
                <a:ext uri="{FF2B5EF4-FFF2-40B4-BE49-F238E27FC236}">
                  <a16:creationId xmlns:a16="http://schemas.microsoft.com/office/drawing/2014/main" id="{F6E844A4-81BE-483A-BED7-C490B89B7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" y="602"/>
              <a:ext cx="4536" cy="3458"/>
            </a:xfrm>
            <a:prstGeom prst="roundRect">
              <a:avLst>
                <a:gd name="adj" fmla="val 10523"/>
              </a:avLst>
            </a:prstGeom>
            <a:solidFill>
              <a:srgbClr val="FFFF99"/>
            </a:solidFill>
            <a:ln>
              <a:noFill/>
            </a:ln>
            <a:effectLst>
              <a:outerShdw dist="107763" dir="81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VALUES IN SUBNET MASK</a:t>
              </a:r>
            </a:p>
            <a:p>
              <a:pPr algn="just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	    Bit	        Value                  Mask</a:t>
              </a:r>
            </a:p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			128		10000000</a:t>
              </a:r>
            </a:p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			192		11000000</a:t>
              </a:r>
            </a:p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3			224		11100000</a:t>
              </a:r>
            </a:p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4			240		11110000</a:t>
              </a:r>
            </a:p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5			248		11111000</a:t>
              </a:r>
            </a:p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6			252		11111100</a:t>
              </a:r>
            </a:p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7			254		11111110</a:t>
              </a:r>
            </a:p>
            <a:p>
              <a:pPr algn="ctr" eaLnBrk="0" hangingPunct="0">
                <a:lnSpc>
                  <a:spcPct val="170000"/>
                </a:lnSpc>
                <a:buClr>
                  <a:srgbClr val="4000A2"/>
                </a:buClr>
                <a:buSzPct val="90000"/>
                <a:buFont typeface="Monotype Sorts" pitchFamily="2" charset="2"/>
                <a:buNone/>
              </a:pPr>
              <a:r>
                <a:rPr lang="en-US" altLang="LID4096" sz="2000">
                  <a:solidFill>
                    <a:schemeClr val="folHlink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8			255		11111111</a:t>
              </a:r>
              <a:endParaRPr lang="en-US" altLang="ja-JP" sz="20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74788" name="Line 4">
              <a:extLst>
                <a:ext uri="{FF2B5EF4-FFF2-40B4-BE49-F238E27FC236}">
                  <a16:creationId xmlns:a16="http://schemas.microsoft.com/office/drawing/2014/main" id="{0B7FBD31-8537-47FC-A71A-C8C467C2B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" y="1108"/>
              <a:ext cx="45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89" name="Line 5">
              <a:extLst>
                <a:ext uri="{FF2B5EF4-FFF2-40B4-BE49-F238E27FC236}">
                  <a16:creationId xmlns:a16="http://schemas.microsoft.com/office/drawing/2014/main" id="{FF397C00-2944-4386-9BF2-A110C4EA0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" y="1436"/>
              <a:ext cx="45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90" name="Line 6">
              <a:extLst>
                <a:ext uri="{FF2B5EF4-FFF2-40B4-BE49-F238E27FC236}">
                  <a16:creationId xmlns:a16="http://schemas.microsoft.com/office/drawing/2014/main" id="{19697703-AA22-498C-AEA5-3E0274E611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" y="1764"/>
              <a:ext cx="45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91" name="Line 7">
              <a:extLst>
                <a:ext uri="{FF2B5EF4-FFF2-40B4-BE49-F238E27FC236}">
                  <a16:creationId xmlns:a16="http://schemas.microsoft.com/office/drawing/2014/main" id="{9D395DFA-78AC-4A88-ACE4-FCEF8FB62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" y="2092"/>
              <a:ext cx="45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92" name="Line 8">
              <a:extLst>
                <a:ext uri="{FF2B5EF4-FFF2-40B4-BE49-F238E27FC236}">
                  <a16:creationId xmlns:a16="http://schemas.microsoft.com/office/drawing/2014/main" id="{3A2C541F-3C97-4F88-BACA-C9DF6D3AA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" y="2420"/>
              <a:ext cx="45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93" name="Line 9">
              <a:extLst>
                <a:ext uri="{FF2B5EF4-FFF2-40B4-BE49-F238E27FC236}">
                  <a16:creationId xmlns:a16="http://schemas.microsoft.com/office/drawing/2014/main" id="{1784A43E-369A-4CBB-9907-3FC572A82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" y="2748"/>
              <a:ext cx="45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94" name="Line 10">
              <a:extLst>
                <a:ext uri="{FF2B5EF4-FFF2-40B4-BE49-F238E27FC236}">
                  <a16:creationId xmlns:a16="http://schemas.microsoft.com/office/drawing/2014/main" id="{7A2C3533-407D-4B13-B41D-D0E7FCF0C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" y="3076"/>
              <a:ext cx="45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95" name="Line 11">
              <a:extLst>
                <a:ext uri="{FF2B5EF4-FFF2-40B4-BE49-F238E27FC236}">
                  <a16:creationId xmlns:a16="http://schemas.microsoft.com/office/drawing/2014/main" id="{0026AE35-DC11-4C00-A03A-9FB719B88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" y="3404"/>
              <a:ext cx="45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96" name="Line 12">
              <a:extLst>
                <a:ext uri="{FF2B5EF4-FFF2-40B4-BE49-F238E27FC236}">
                  <a16:creationId xmlns:a16="http://schemas.microsoft.com/office/drawing/2014/main" id="{8E511F07-D81E-4F1F-B906-3830F84F5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" y="3732"/>
              <a:ext cx="45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98" name="Line 14">
              <a:extLst>
                <a:ext uri="{FF2B5EF4-FFF2-40B4-BE49-F238E27FC236}">
                  <a16:creationId xmlns:a16="http://schemas.microsoft.com/office/drawing/2014/main" id="{57A4D25E-0D28-43F5-9F5F-E461292F2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1108"/>
              <a:ext cx="0" cy="295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  <p:sp>
          <p:nvSpPr>
            <p:cNvPr id="374799" name="Line 15">
              <a:extLst>
                <a:ext uri="{FF2B5EF4-FFF2-40B4-BE49-F238E27FC236}">
                  <a16:creationId xmlns:a16="http://schemas.microsoft.com/office/drawing/2014/main" id="{3E4B6357-4D88-4D51-8DAA-13D6CD3B9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7" y="1108"/>
              <a:ext cx="0" cy="295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</p:spTree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ACE40ED-B778-40D7-81A2-B4780C73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23BC-3501-495F-ACC0-D31A61729D7A}" type="slidenum">
              <a:rPr lang="en-US" altLang="LID4096"/>
              <a:pPr/>
              <a:t>32</a:t>
            </a:fld>
            <a:endParaRPr lang="en-US" altLang="LID4096"/>
          </a:p>
        </p:txBody>
      </p:sp>
      <p:sp>
        <p:nvSpPr>
          <p:cNvPr id="332805" name="Rectangle 5">
            <a:extLst>
              <a:ext uri="{FF2B5EF4-FFF2-40B4-BE49-F238E27FC236}">
                <a16:creationId xmlns:a16="http://schemas.microsoft.com/office/drawing/2014/main" id="{A07A0D45-08A4-4E7D-928E-7E2EFCEA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3" y="152400"/>
            <a:ext cx="6049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Requirement of Networks is 5 ?</a:t>
            </a:r>
          </a:p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Example – 1</a:t>
            </a:r>
          </a:p>
        </p:txBody>
      </p:sp>
      <p:sp>
        <p:nvSpPr>
          <p:cNvPr id="332806" name="Rectangle 6">
            <a:extLst>
              <a:ext uri="{FF2B5EF4-FFF2-40B4-BE49-F238E27FC236}">
                <a16:creationId xmlns:a16="http://schemas.microsoft.com/office/drawing/2014/main" id="{F791AE2E-9165-47F3-AB21-901C28FBA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4206878"/>
            <a:ext cx="8234363" cy="174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No. of Host	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latin typeface="Verdana" panose="020B0604030504040204" pitchFamily="34" charset="0"/>
                <a:ea typeface="ＭＳ Ｐゴシック" panose="020B0600070205080204" pitchFamily="34" charset="-128"/>
              </a:rPr>
              <a:t>h 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– 2 (-2 is for Network ID &amp; Broadcast ID)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latin typeface="Verdana" panose="020B0604030504040204" pitchFamily="34" charset="0"/>
                <a:ea typeface="ＭＳ Ｐゴシック" panose="020B0600070205080204" pitchFamily="34" charset="-128"/>
              </a:rPr>
              <a:t>5 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– 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=	32 – 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=	30 Hosts/Subnet</a:t>
            </a:r>
          </a:p>
        </p:txBody>
      </p:sp>
      <p:sp>
        <p:nvSpPr>
          <p:cNvPr id="332811" name="Rectangle 11">
            <a:extLst>
              <a:ext uri="{FF2B5EF4-FFF2-40B4-BE49-F238E27FC236}">
                <a16:creationId xmlns:a16="http://schemas.microsoft.com/office/drawing/2014/main" id="{13772BDA-03A1-4839-AC65-F1E747FD8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1057278"/>
            <a:ext cx="8234363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Class C : 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dirty="0">
                <a:latin typeface="Verdana" panose="020B0604030504040204" pitchFamily="34" charset="0"/>
              </a:rPr>
              <a:t>.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dirty="0">
                <a:latin typeface="Verdana" panose="020B0604030504040204" pitchFamily="34" charset="0"/>
              </a:rPr>
              <a:t>.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dirty="0">
                <a:latin typeface="Verdana" panose="020B0604030504040204" pitchFamily="34" charset="0"/>
              </a:rPr>
              <a:t>.</a:t>
            </a:r>
            <a:r>
              <a:rPr lang="en-US" altLang="LID4096" sz="2000" dirty="0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endParaRPr lang="en-US" altLang="LID4096" sz="2000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110xxxxx</a:t>
            </a:r>
            <a:r>
              <a:rPr lang="en-US" altLang="LID4096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dirty="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</a:p>
          <a:p>
            <a:pPr>
              <a:spcBef>
                <a:spcPct val="5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Class C : 192.168.1.0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No. of Subnet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n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 Req. of Subnet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3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 5 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	=	8   Subnet</a:t>
            </a:r>
          </a:p>
        </p:txBody>
      </p:sp>
      <p:sp>
        <p:nvSpPr>
          <p:cNvPr id="332813" name="Rectangle 13">
            <a:extLst>
              <a:ext uri="{FF2B5EF4-FFF2-40B4-BE49-F238E27FC236}">
                <a16:creationId xmlns:a16="http://schemas.microsoft.com/office/drawing/2014/main" id="{6634B8B2-9FC7-431E-AECC-9A5C583EE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1431925"/>
            <a:ext cx="6118225" cy="490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110xxxxx</a:t>
            </a: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</a:t>
            </a:r>
            <a:r>
              <a:rPr lang="en-US" altLang="LID4096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</a:t>
            </a:r>
          </a:p>
        </p:txBody>
      </p:sp>
      <p:sp>
        <p:nvSpPr>
          <p:cNvPr id="332818" name="AutoShape 18">
            <a:hlinkClick r:id="" action="ppaction://customshow?id=0&amp;return=true" highlightClick="1"/>
            <a:extLst>
              <a:ext uri="{FF2B5EF4-FFF2-40B4-BE49-F238E27FC236}">
                <a16:creationId xmlns:a16="http://schemas.microsoft.com/office/drawing/2014/main" id="{19A900A4-BDE1-4D3F-A25F-E92D243AE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6016" y="6437313"/>
            <a:ext cx="661987" cy="419100"/>
          </a:xfrm>
          <a:prstGeom prst="bevel">
            <a:avLst>
              <a:gd name="adj" fmla="val 22653"/>
            </a:avLst>
          </a:prstGeom>
          <a:solidFill>
            <a:srgbClr val="FFFF99"/>
          </a:solidFill>
          <a:ln w="190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LID4096" sz="1200">
                <a:solidFill>
                  <a:schemeClr val="folHlink"/>
                </a:solidFill>
                <a:latin typeface="Verdana" panose="020B0604030504040204" pitchFamily="34" charset="0"/>
              </a:rPr>
              <a:t>HELP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2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2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2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2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2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2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2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75"/>
                                        <p:tgtEl>
                                          <p:spTgt spid="33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2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2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2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32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2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6" grpId="0" build="p" autoUpdateAnimBg="0"/>
      <p:bldP spid="332811" grpId="0" build="p" autoUpdateAnimBg="0"/>
      <p:bldP spid="332813" grpId="0" animBg="1" autoUpdateAnimBg="0"/>
      <p:bldP spid="332818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F323AFB8-5320-4237-8E8E-3C4D721F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6EDFA-7F26-4495-89E7-56CD68B277E6}" type="slidenum">
              <a:rPr lang="en-US" altLang="LID4096"/>
              <a:pPr/>
              <a:t>33</a:t>
            </a:fld>
            <a:endParaRPr lang="en-US" altLang="LID4096"/>
          </a:p>
        </p:txBody>
      </p:sp>
      <p:sp>
        <p:nvSpPr>
          <p:cNvPr id="334958" name="Rectangle 110">
            <a:extLst>
              <a:ext uri="{FF2B5EF4-FFF2-40B4-BE49-F238E27FC236}">
                <a16:creationId xmlns:a16="http://schemas.microsoft.com/office/drawing/2014/main" id="{E1CCBBC7-02C4-4589-8F3A-F9639F427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41" y="6130928"/>
            <a:ext cx="6346825" cy="347663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334959" name="Rectangle 111">
            <a:extLst>
              <a:ext uri="{FF2B5EF4-FFF2-40B4-BE49-F238E27FC236}">
                <a16:creationId xmlns:a16="http://schemas.microsoft.com/office/drawing/2014/main" id="{6752E0CE-3731-4EE9-AF30-23A0D5975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891" y="6059491"/>
            <a:ext cx="382587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LID4096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</a:t>
            </a:r>
            <a:endParaRPr lang="en-US" altLang="LID4096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4955" name="Rectangle 107">
            <a:extLst>
              <a:ext uri="{FF2B5EF4-FFF2-40B4-BE49-F238E27FC236}">
                <a16:creationId xmlns:a16="http://schemas.microsoft.com/office/drawing/2014/main" id="{F56E5911-E1C3-45F3-AC10-CC83814E7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41" y="3584578"/>
            <a:ext cx="6346825" cy="347663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334852" name="Rectangle 4">
            <a:extLst>
              <a:ext uri="{FF2B5EF4-FFF2-40B4-BE49-F238E27FC236}">
                <a16:creationId xmlns:a16="http://schemas.microsoft.com/office/drawing/2014/main" id="{CB79C5E9-95D9-4F27-B80F-B19ABE72B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5245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Example – 1  (Continued…)</a:t>
            </a:r>
          </a:p>
        </p:txBody>
      </p:sp>
      <p:sp>
        <p:nvSpPr>
          <p:cNvPr id="334853" name="Rectangle 5">
            <a:extLst>
              <a:ext uri="{FF2B5EF4-FFF2-40B4-BE49-F238E27FC236}">
                <a16:creationId xmlns:a16="http://schemas.microsoft.com/office/drawing/2014/main" id="{B4382B44-1626-40CC-B3C1-C8893AFAC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2849563"/>
            <a:ext cx="8056563" cy="1185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Range of Networks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ja-JP" sz="20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Network ID		Broadcast ID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192.168.1.0</a:t>
            </a:r>
          </a:p>
          <a:p>
            <a:pPr>
              <a:spcBef>
                <a:spcPct val="20000"/>
              </a:spcBef>
            </a:pPr>
            <a:endParaRPr lang="en-US" altLang="ja-JP" sz="2000">
              <a:solidFill>
                <a:schemeClr val="folHlink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4855" name="Rectangle 7">
            <a:extLst>
              <a:ext uri="{FF2B5EF4-FFF2-40B4-BE49-F238E27FC236}">
                <a16:creationId xmlns:a16="http://schemas.microsoft.com/office/drawing/2014/main" id="{503C9607-24CB-4808-8D2A-27BFD32C3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1057278"/>
            <a:ext cx="823436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Customize Subnet Mask =</a:t>
            </a:r>
            <a:endParaRPr lang="en-US" altLang="LID4096" sz="2000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34905" name="Group 57">
            <a:extLst>
              <a:ext uri="{FF2B5EF4-FFF2-40B4-BE49-F238E27FC236}">
                <a16:creationId xmlns:a16="http://schemas.microsoft.com/office/drawing/2014/main" id="{4D97FA64-232E-4071-A158-2686CF550462}"/>
              </a:ext>
            </a:extLst>
          </p:cNvPr>
          <p:cNvGrpSpPr>
            <a:grpSpLocks/>
          </p:cNvGrpSpPr>
          <p:nvPr/>
        </p:nvGrpSpPr>
        <p:grpSpPr bwMode="auto">
          <a:xfrm>
            <a:off x="2236788" y="1397000"/>
            <a:ext cx="1287462" cy="660400"/>
            <a:chOff x="856" y="880"/>
            <a:chExt cx="811" cy="416"/>
          </a:xfrm>
        </p:grpSpPr>
        <p:sp>
          <p:nvSpPr>
            <p:cNvPr id="334866" name="AutoShape 18">
              <a:extLst>
                <a:ext uri="{FF2B5EF4-FFF2-40B4-BE49-F238E27FC236}">
                  <a16:creationId xmlns:a16="http://schemas.microsoft.com/office/drawing/2014/main" id="{3AAA8982-46AC-453D-82BD-B648E08D27E5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1181" y="810"/>
              <a:ext cx="161" cy="811"/>
            </a:xfrm>
            <a:prstGeom prst="leftBrace">
              <a:avLst>
                <a:gd name="adj1" fmla="val 46082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4878" name="Rectangle 30">
              <a:extLst>
                <a:ext uri="{FF2B5EF4-FFF2-40B4-BE49-F238E27FC236}">
                  <a16:creationId xmlns:a16="http://schemas.microsoft.com/office/drawing/2014/main" id="{DE7EADD7-1F92-4C04-AE29-2AD6FDC62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80"/>
              <a:ext cx="71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255.</a:t>
              </a:r>
            </a:p>
          </p:txBody>
        </p:sp>
      </p:grpSp>
      <p:sp>
        <p:nvSpPr>
          <p:cNvPr id="334887" name="Rectangle 39">
            <a:extLst>
              <a:ext uri="{FF2B5EF4-FFF2-40B4-BE49-F238E27FC236}">
                <a16:creationId xmlns:a16="http://schemas.microsoft.com/office/drawing/2014/main" id="{2D0059BD-342C-4600-B181-E0DB06D84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91" y="2009775"/>
            <a:ext cx="1709737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</a:p>
        </p:txBody>
      </p:sp>
      <p:grpSp>
        <p:nvGrpSpPr>
          <p:cNvPr id="334906" name="Group 58">
            <a:extLst>
              <a:ext uri="{FF2B5EF4-FFF2-40B4-BE49-F238E27FC236}">
                <a16:creationId xmlns:a16="http://schemas.microsoft.com/office/drawing/2014/main" id="{04E59E58-6FA3-4D28-9AED-3D857692B278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1397000"/>
            <a:ext cx="1287462" cy="660400"/>
            <a:chOff x="1828" y="880"/>
            <a:chExt cx="811" cy="416"/>
          </a:xfrm>
        </p:grpSpPr>
        <p:sp>
          <p:nvSpPr>
            <p:cNvPr id="334893" name="AutoShape 45">
              <a:extLst>
                <a:ext uri="{FF2B5EF4-FFF2-40B4-BE49-F238E27FC236}">
                  <a16:creationId xmlns:a16="http://schemas.microsoft.com/office/drawing/2014/main" id="{805D7EEA-7C1B-4C14-8517-62B6A733B7A2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2153" y="810"/>
              <a:ext cx="161" cy="811"/>
            </a:xfrm>
            <a:prstGeom prst="leftBrace">
              <a:avLst>
                <a:gd name="adj1" fmla="val 46082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4894" name="Rectangle 46">
              <a:extLst>
                <a:ext uri="{FF2B5EF4-FFF2-40B4-BE49-F238E27FC236}">
                  <a16:creationId xmlns:a16="http://schemas.microsoft.com/office/drawing/2014/main" id="{59A43D4E-9C17-486E-96BA-991ECD743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880"/>
              <a:ext cx="71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255.</a:t>
              </a:r>
            </a:p>
          </p:txBody>
        </p:sp>
      </p:grpSp>
      <p:sp>
        <p:nvSpPr>
          <p:cNvPr id="334895" name="Rectangle 47">
            <a:extLst>
              <a:ext uri="{FF2B5EF4-FFF2-40B4-BE49-F238E27FC236}">
                <a16:creationId xmlns:a16="http://schemas.microsoft.com/office/drawing/2014/main" id="{4E3AEC78-D793-44BC-B25A-23E2EA135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41" y="2009775"/>
            <a:ext cx="1709737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</a:p>
        </p:txBody>
      </p:sp>
      <p:grpSp>
        <p:nvGrpSpPr>
          <p:cNvPr id="334907" name="Group 59">
            <a:extLst>
              <a:ext uri="{FF2B5EF4-FFF2-40B4-BE49-F238E27FC236}">
                <a16:creationId xmlns:a16="http://schemas.microsoft.com/office/drawing/2014/main" id="{C33B7545-559D-4088-B461-AE643B41A3C5}"/>
              </a:ext>
            </a:extLst>
          </p:cNvPr>
          <p:cNvGrpSpPr>
            <a:grpSpLocks/>
          </p:cNvGrpSpPr>
          <p:nvPr/>
        </p:nvGrpSpPr>
        <p:grpSpPr bwMode="auto">
          <a:xfrm>
            <a:off x="5305428" y="1397000"/>
            <a:ext cx="1287463" cy="660400"/>
            <a:chOff x="2789" y="880"/>
            <a:chExt cx="811" cy="416"/>
          </a:xfrm>
        </p:grpSpPr>
        <p:sp>
          <p:nvSpPr>
            <p:cNvPr id="334897" name="AutoShape 49">
              <a:extLst>
                <a:ext uri="{FF2B5EF4-FFF2-40B4-BE49-F238E27FC236}">
                  <a16:creationId xmlns:a16="http://schemas.microsoft.com/office/drawing/2014/main" id="{208ED207-6BF2-45B6-B6A0-C2BBE5136B6E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114" y="810"/>
              <a:ext cx="161" cy="811"/>
            </a:xfrm>
            <a:prstGeom prst="leftBrace">
              <a:avLst>
                <a:gd name="adj1" fmla="val 46082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4898" name="Rectangle 50">
              <a:extLst>
                <a:ext uri="{FF2B5EF4-FFF2-40B4-BE49-F238E27FC236}">
                  <a16:creationId xmlns:a16="http://schemas.microsoft.com/office/drawing/2014/main" id="{39FDDADA-7FA8-4415-86CC-A11103BF7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880"/>
              <a:ext cx="71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255.</a:t>
              </a:r>
            </a:p>
          </p:txBody>
        </p:sp>
      </p:grpSp>
      <p:sp>
        <p:nvSpPr>
          <p:cNvPr id="334899" name="Rectangle 51">
            <a:extLst>
              <a:ext uri="{FF2B5EF4-FFF2-40B4-BE49-F238E27FC236}">
                <a16:creationId xmlns:a16="http://schemas.microsoft.com/office/drawing/2014/main" id="{90FB9278-63C8-4ED8-9308-52149AE5D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009775"/>
            <a:ext cx="1709738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334903" name="Rectangle 55">
            <a:extLst>
              <a:ext uri="{FF2B5EF4-FFF2-40B4-BE49-F238E27FC236}">
                <a16:creationId xmlns:a16="http://schemas.microsoft.com/office/drawing/2014/main" id="{27859EF2-D4C4-425F-AA0A-B83CCCE37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2009775"/>
            <a:ext cx="1709738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</a:t>
            </a: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00000</a:t>
            </a: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4916" name="Rectangle 68">
            <a:extLst>
              <a:ext uri="{FF2B5EF4-FFF2-40B4-BE49-F238E27FC236}">
                <a16:creationId xmlns:a16="http://schemas.microsoft.com/office/drawing/2014/main" id="{DE0D50FA-4B8F-47DC-9567-BF00F05F67BD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6573841" y="2366963"/>
            <a:ext cx="509587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ja-JP" sz="1200">
                <a:latin typeface="Verdana" panose="020B0604030504040204" pitchFamily="34" charset="0"/>
                <a:ea typeface="ＭＳ Ｐゴシック" panose="020B0600070205080204" pitchFamily="34" charset="-128"/>
              </a:rPr>
              <a:t>128</a:t>
            </a:r>
          </a:p>
        </p:txBody>
      </p:sp>
      <p:sp>
        <p:nvSpPr>
          <p:cNvPr id="334917" name="Rectangle 69">
            <a:extLst>
              <a:ext uri="{FF2B5EF4-FFF2-40B4-BE49-F238E27FC236}">
                <a16:creationId xmlns:a16="http://schemas.microsoft.com/office/drawing/2014/main" id="{A1A0259A-E5EF-4DA1-AD38-A9FC01E31255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6792916" y="2366963"/>
            <a:ext cx="509587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ja-JP" sz="1200">
                <a:latin typeface="Verdana" panose="020B0604030504040204" pitchFamily="34" charset="0"/>
                <a:ea typeface="ＭＳ Ｐゴシック" panose="020B0600070205080204" pitchFamily="34" charset="-128"/>
              </a:rPr>
              <a:t>64</a:t>
            </a:r>
          </a:p>
        </p:txBody>
      </p:sp>
      <p:sp>
        <p:nvSpPr>
          <p:cNvPr id="334918" name="Rectangle 70">
            <a:extLst>
              <a:ext uri="{FF2B5EF4-FFF2-40B4-BE49-F238E27FC236}">
                <a16:creationId xmlns:a16="http://schemas.microsoft.com/office/drawing/2014/main" id="{A2C4FCB4-C96D-4047-8357-E0BFCA8CA477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6992941" y="2366963"/>
            <a:ext cx="509587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ja-JP" sz="1200">
                <a:latin typeface="Verdana" panose="020B0604030504040204" pitchFamily="34" charset="0"/>
                <a:ea typeface="ＭＳ Ｐゴシック" panose="020B0600070205080204" pitchFamily="34" charset="-128"/>
              </a:rPr>
              <a:t>32</a:t>
            </a:r>
          </a:p>
        </p:txBody>
      </p:sp>
      <p:sp>
        <p:nvSpPr>
          <p:cNvPr id="334920" name="Rectangle 72">
            <a:extLst>
              <a:ext uri="{FF2B5EF4-FFF2-40B4-BE49-F238E27FC236}">
                <a16:creationId xmlns:a16="http://schemas.microsoft.com/office/drawing/2014/main" id="{9BE28B26-B330-4856-BA10-37A4C7CCE368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6992941" y="2366963"/>
            <a:ext cx="509587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ja-JP" sz="12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32</a:t>
            </a:r>
          </a:p>
        </p:txBody>
      </p:sp>
      <p:sp>
        <p:nvSpPr>
          <p:cNvPr id="334921" name="Rectangle 73">
            <a:extLst>
              <a:ext uri="{FF2B5EF4-FFF2-40B4-BE49-F238E27FC236}">
                <a16:creationId xmlns:a16="http://schemas.microsoft.com/office/drawing/2014/main" id="{3FBEA7D7-15F3-4C5B-B9AB-10F3CF6D5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8" y="3937003"/>
            <a:ext cx="2373313" cy="269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192.168.1.32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192.168.1.64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192.168.1.96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192.168.1.128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192.168.1.160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192.168.1.192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192.168.1.224</a:t>
            </a:r>
          </a:p>
        </p:txBody>
      </p:sp>
      <p:sp>
        <p:nvSpPr>
          <p:cNvPr id="334923" name="Rectangle 75">
            <a:extLst>
              <a:ext uri="{FF2B5EF4-FFF2-40B4-BE49-F238E27FC236}">
                <a16:creationId xmlns:a16="http://schemas.microsoft.com/office/drawing/2014/main" id="{5CBD7646-F49F-4195-875C-D154A9F54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988" y="3570288"/>
            <a:ext cx="2373312" cy="309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192.168.1.31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192.168.1.63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192.168.1.95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192.168.1.127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192.168.1.159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192.168.1.191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192.168.1.223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192.168.1.255</a:t>
            </a:r>
          </a:p>
        </p:txBody>
      </p:sp>
      <p:sp>
        <p:nvSpPr>
          <p:cNvPr id="334957" name="Rectangle 109">
            <a:extLst>
              <a:ext uri="{FF2B5EF4-FFF2-40B4-BE49-F238E27FC236}">
                <a16:creationId xmlns:a16="http://schemas.microsoft.com/office/drawing/2014/main" id="{ABBC0F6F-78DD-473A-ABE2-DC0E9E790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891" y="3513141"/>
            <a:ext cx="382587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LID4096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</a:t>
            </a:r>
            <a:endParaRPr lang="en-US" altLang="LID4096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34966" name="Group 118">
            <a:extLst>
              <a:ext uri="{FF2B5EF4-FFF2-40B4-BE49-F238E27FC236}">
                <a16:creationId xmlns:a16="http://schemas.microsoft.com/office/drawing/2014/main" id="{0BE66279-E6EB-4021-8D1A-3E989AF35A5C}"/>
              </a:ext>
            </a:extLst>
          </p:cNvPr>
          <p:cNvGrpSpPr>
            <a:grpSpLocks/>
          </p:cNvGrpSpPr>
          <p:nvPr/>
        </p:nvGrpSpPr>
        <p:grpSpPr bwMode="auto">
          <a:xfrm>
            <a:off x="7670803" y="4013200"/>
            <a:ext cx="2847975" cy="2057400"/>
            <a:chOff x="3872" y="2528"/>
            <a:chExt cx="1794" cy="1296"/>
          </a:xfrm>
        </p:grpSpPr>
        <p:sp>
          <p:nvSpPr>
            <p:cNvPr id="334961" name="Rectangle 113">
              <a:extLst>
                <a:ext uri="{FF2B5EF4-FFF2-40B4-BE49-F238E27FC236}">
                  <a16:creationId xmlns:a16="http://schemas.microsoft.com/office/drawing/2014/main" id="{A021DF79-170A-47B1-9C00-9B456B204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3056"/>
              <a:ext cx="1593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Valid Subnets</a:t>
              </a:r>
            </a:p>
          </p:txBody>
        </p:sp>
        <p:sp>
          <p:nvSpPr>
            <p:cNvPr id="334964" name="AutoShape 116">
              <a:extLst>
                <a:ext uri="{FF2B5EF4-FFF2-40B4-BE49-F238E27FC236}">
                  <a16:creationId xmlns:a16="http://schemas.microsoft.com/office/drawing/2014/main" id="{EF0D4DC2-C5E7-4CAD-82BA-7048DC71D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528"/>
              <a:ext cx="232" cy="1296"/>
            </a:xfrm>
            <a:prstGeom prst="rightBrace">
              <a:avLst>
                <a:gd name="adj1" fmla="val 31888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</p:grpSp>
      <p:grpSp>
        <p:nvGrpSpPr>
          <p:cNvPr id="334967" name="Group 119">
            <a:extLst>
              <a:ext uri="{FF2B5EF4-FFF2-40B4-BE49-F238E27FC236}">
                <a16:creationId xmlns:a16="http://schemas.microsoft.com/office/drawing/2014/main" id="{60F8C721-0BC4-4BE6-86EC-83961779576D}"/>
              </a:ext>
            </a:extLst>
          </p:cNvPr>
          <p:cNvGrpSpPr>
            <a:grpSpLocks/>
          </p:cNvGrpSpPr>
          <p:nvPr/>
        </p:nvGrpSpPr>
        <p:grpSpPr bwMode="auto">
          <a:xfrm>
            <a:off x="6883403" y="1397000"/>
            <a:ext cx="1287463" cy="660400"/>
            <a:chOff x="2789" y="880"/>
            <a:chExt cx="811" cy="416"/>
          </a:xfrm>
        </p:grpSpPr>
        <p:sp>
          <p:nvSpPr>
            <p:cNvPr id="334968" name="AutoShape 120">
              <a:extLst>
                <a:ext uri="{FF2B5EF4-FFF2-40B4-BE49-F238E27FC236}">
                  <a16:creationId xmlns:a16="http://schemas.microsoft.com/office/drawing/2014/main" id="{071FAA08-CD80-4677-A483-0C4269162DA4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114" y="810"/>
              <a:ext cx="161" cy="811"/>
            </a:xfrm>
            <a:prstGeom prst="leftBrace">
              <a:avLst>
                <a:gd name="adj1" fmla="val 46082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4969" name="Rectangle 121">
              <a:extLst>
                <a:ext uri="{FF2B5EF4-FFF2-40B4-BE49-F238E27FC236}">
                  <a16:creationId xmlns:a16="http://schemas.microsoft.com/office/drawing/2014/main" id="{096639CA-4285-49D8-BCC1-22FDCFAA3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880"/>
              <a:ext cx="71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224</a:t>
              </a:r>
            </a:p>
          </p:txBody>
        </p:sp>
      </p:grpSp>
      <p:sp>
        <p:nvSpPr>
          <p:cNvPr id="334854" name="AutoShape 6">
            <a:extLst>
              <a:ext uri="{FF2B5EF4-FFF2-40B4-BE49-F238E27FC236}">
                <a16:creationId xmlns:a16="http://schemas.microsoft.com/office/drawing/2014/main" id="{4BD97F07-9D79-4172-8807-4DBD4C041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8" y="984250"/>
            <a:ext cx="8353425" cy="5575300"/>
          </a:xfrm>
          <a:prstGeom prst="roundRect">
            <a:avLst>
              <a:gd name="adj" fmla="val 10523"/>
            </a:avLst>
          </a:prstGeom>
          <a:solidFill>
            <a:srgbClr val="FFFF99"/>
          </a:solidFill>
          <a:ln>
            <a:noFill/>
          </a:ln>
          <a:effectLst>
            <a:outerShdw dist="107763" dir="81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If you convert 3 Host Bits to Network Bits</a:t>
            </a: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8 Subnet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&amp; 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30 Hosts/Subnet</a:t>
            </a:r>
          </a:p>
          <a:p>
            <a:pPr algn="ctr">
              <a:spcBef>
                <a:spcPct val="20000"/>
              </a:spcBef>
            </a:pPr>
            <a:endParaRPr lang="en-US" altLang="ja-JP" sz="2000" dirty="0">
              <a:solidFill>
                <a:srgbClr val="6600FF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Customize Subnet Mask</a:t>
            </a: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255.255.255.224</a:t>
            </a:r>
          </a:p>
          <a:p>
            <a:pPr algn="ctr">
              <a:spcBef>
                <a:spcPct val="20000"/>
              </a:spcBef>
            </a:pPr>
            <a:endParaRPr lang="en-US" altLang="ja-JP" sz="2000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Subnet Range</a:t>
            </a: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192.168.1.32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192.168.1.63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MCSE       </a:t>
            </a:r>
            <a:r>
              <a:rPr lang="en-US" altLang="ja-JP" sz="2000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.</a:t>
            </a: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192.168.1.64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192.168.1.95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CISCO      </a:t>
            </a:r>
            <a:r>
              <a:rPr lang="en-US" altLang="ja-JP" sz="2000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.</a:t>
            </a:r>
            <a:endParaRPr lang="en-US" altLang="ja-JP" sz="2000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 192.168.1.96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192.168.1.127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FIREWALL</a:t>
            </a:r>
            <a:endParaRPr lang="en-US" altLang="ja-JP" sz="2000" dirty="0">
              <a:solidFill>
                <a:srgbClr val="6600FF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192.168.1.128 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 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192.168.1.159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SOLARIS</a:t>
            </a:r>
            <a:endParaRPr lang="en-US" altLang="ja-JP" sz="2000" dirty="0">
              <a:solidFill>
                <a:srgbClr val="6600FF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192.168.1.160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192.168.1.191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TRAINING</a:t>
            </a:r>
            <a:endParaRPr lang="en-US" altLang="ja-JP" sz="2000" dirty="0">
              <a:solidFill>
                <a:srgbClr val="6600FF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20000"/>
              </a:spcBef>
            </a:pP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192.168.1.192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to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192.168.1.223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altLang="ja-JP" sz="2000" dirty="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 </a:t>
            </a:r>
            <a:r>
              <a:rPr lang="en-US" altLang="ja-JP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Future 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4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4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3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4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4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4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4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4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4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49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349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349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349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349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34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34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34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34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34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34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34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34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3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75"/>
                                        <p:tgtEl>
                                          <p:spTgt spid="33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3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75"/>
                                        <p:tgtEl>
                                          <p:spTgt spid="33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33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959" grpId="0" autoUpdateAnimBg="0"/>
      <p:bldP spid="334853" grpId="0" build="p" autoUpdateAnimBg="0"/>
      <p:bldP spid="334855" grpId="0" build="p" autoUpdateAnimBg="0"/>
      <p:bldP spid="334887" grpId="0" autoUpdateAnimBg="0"/>
      <p:bldP spid="334895" grpId="0" autoUpdateAnimBg="0"/>
      <p:bldP spid="334899" grpId="0" autoUpdateAnimBg="0"/>
      <p:bldP spid="334903" grpId="0" autoUpdateAnimBg="0"/>
      <p:bldP spid="334916" grpId="0" autoUpdateAnimBg="0"/>
      <p:bldP spid="334917" grpId="0" autoUpdateAnimBg="0"/>
      <p:bldP spid="334918" grpId="0" autoUpdateAnimBg="0"/>
      <p:bldP spid="334920" grpId="0" autoUpdateAnimBg="0"/>
      <p:bldP spid="334921" grpId="0" build="p" autoUpdateAnimBg="0"/>
      <p:bldP spid="334923" grpId="0" build="p" autoUpdateAnimBg="0"/>
      <p:bldP spid="334957" grpId="0" autoUpdateAnimBg="0"/>
      <p:bldP spid="334854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972EEFC-7F92-4A7A-AB16-DDFCC99F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603DA-35A4-4587-A004-F49819E7652B}" type="slidenum">
              <a:rPr lang="en-US" altLang="LID4096"/>
              <a:pPr/>
              <a:t>34</a:t>
            </a:fld>
            <a:endParaRPr lang="en-US" altLang="LID4096"/>
          </a:p>
        </p:txBody>
      </p:sp>
      <p:sp>
        <p:nvSpPr>
          <p:cNvPr id="337922" name="Rectangle 2">
            <a:extLst>
              <a:ext uri="{FF2B5EF4-FFF2-40B4-BE49-F238E27FC236}">
                <a16:creationId xmlns:a16="http://schemas.microsoft.com/office/drawing/2014/main" id="{BBAD474F-57BC-4B49-AD87-9BD7B4ADE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3" y="152400"/>
            <a:ext cx="508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Requirement of Networks is 14 ?</a:t>
            </a:r>
          </a:p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Example – 2 </a:t>
            </a:r>
          </a:p>
        </p:txBody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06E85E95-2ECE-4E32-89D5-95592FB30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4224338"/>
            <a:ext cx="8234363" cy="174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No. of Host	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latin typeface="Verdana" panose="020B0604030504040204" pitchFamily="34" charset="0"/>
                <a:ea typeface="ＭＳ Ｐゴシック" panose="020B0600070205080204" pitchFamily="34" charset="-128"/>
              </a:rPr>
              <a:t>h 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– 2 (-2 is for Network ID &amp; Broadcast ID)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>
                <a:latin typeface="Verdana" panose="020B0604030504040204" pitchFamily="34" charset="0"/>
                <a:ea typeface="ＭＳ Ｐゴシック" panose="020B0600070205080204" pitchFamily="34" charset="-128"/>
              </a:rPr>
              <a:t>4 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– 2 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=	16 - 2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=	14 Hosts/Subnet</a:t>
            </a:r>
          </a:p>
        </p:txBody>
      </p:sp>
      <p:sp>
        <p:nvSpPr>
          <p:cNvPr id="337924" name="Rectangle 4">
            <a:extLst>
              <a:ext uri="{FF2B5EF4-FFF2-40B4-BE49-F238E27FC236}">
                <a16:creationId xmlns:a16="http://schemas.microsoft.com/office/drawing/2014/main" id="{CC42C65D-6A7B-4E7D-8BB8-38733F63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1057278"/>
            <a:ext cx="8234363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LID4096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Class C : 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dirty="0">
                <a:latin typeface="Verdana" panose="020B0604030504040204" pitchFamily="34" charset="0"/>
              </a:rPr>
              <a:t>.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dirty="0">
                <a:latin typeface="Verdana" panose="020B0604030504040204" pitchFamily="34" charset="0"/>
              </a:rPr>
              <a:t>.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</a:rPr>
              <a:t>N</a:t>
            </a:r>
            <a:r>
              <a:rPr lang="en-US" altLang="LID4096" sz="2000" dirty="0">
                <a:latin typeface="Verdana" panose="020B0604030504040204" pitchFamily="34" charset="0"/>
              </a:rPr>
              <a:t>.</a:t>
            </a:r>
            <a:r>
              <a:rPr lang="en-US" altLang="LID4096" sz="2000" dirty="0">
                <a:solidFill>
                  <a:srgbClr val="6600FF"/>
                </a:solidFill>
                <a:latin typeface="Verdana" panose="020B0604030504040204" pitchFamily="34" charset="0"/>
              </a:rPr>
              <a:t>H</a:t>
            </a:r>
            <a:endParaRPr lang="en-US" altLang="LID4096" sz="2000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110xxxxx</a:t>
            </a:r>
            <a:r>
              <a:rPr lang="en-US" altLang="LID4096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 dirty="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</a:p>
          <a:p>
            <a:pPr>
              <a:spcBef>
                <a:spcPct val="5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Class C : 192.168.1.0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No. of Subnet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n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 Req. of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Subnet</a:t>
            </a:r>
            <a:endParaRPr lang="en-US" altLang="ja-JP" sz="2000" dirty="0">
              <a:latin typeface="Verdana" panose="020B0604030504040204" pitchFamily="34" charset="0"/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	=	2</a:t>
            </a:r>
            <a:r>
              <a:rPr lang="en-US" altLang="ja-JP" sz="2000" baseline="30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4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 14</a:t>
            </a:r>
            <a:endParaRPr lang="en-US" altLang="ja-JP" sz="2000" dirty="0"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	=	16 </a:t>
            </a:r>
          </a:p>
          <a:p>
            <a:pPr>
              <a:spcBef>
                <a:spcPct val="20000"/>
              </a:spcBef>
            </a:pPr>
            <a:r>
              <a:rPr lang="en-US" altLang="ja-JP" sz="2000" dirty="0">
                <a:latin typeface="Verdana" panose="020B0604030504040204" pitchFamily="34" charset="0"/>
                <a:ea typeface="ＭＳ Ｐゴシック" panose="020B0600070205080204" pitchFamily="34" charset="-128"/>
              </a:rPr>
              <a:t>	=	16 Subnet</a:t>
            </a:r>
          </a:p>
        </p:txBody>
      </p:sp>
      <p:sp>
        <p:nvSpPr>
          <p:cNvPr id="337925" name="Rectangle 5">
            <a:extLst>
              <a:ext uri="{FF2B5EF4-FFF2-40B4-BE49-F238E27FC236}">
                <a16:creationId xmlns:a16="http://schemas.microsoft.com/office/drawing/2014/main" id="{176A8935-A986-4D32-9013-7AB298DB8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1431925"/>
            <a:ext cx="6118225" cy="4905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110xxxxx</a:t>
            </a: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xxxxxxxx</a:t>
            </a:r>
            <a:r>
              <a:rPr lang="en-US" altLang="LID4096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LID4096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</a:t>
            </a:r>
            <a:r>
              <a:rPr lang="en-US" altLang="LID4096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xxxx</a:t>
            </a:r>
          </a:p>
        </p:txBody>
      </p:sp>
      <p:sp>
        <p:nvSpPr>
          <p:cNvPr id="337926" name="AutoShape 6">
            <a:hlinkClick r:id="" action="ppaction://customshow?id=0&amp;return=true" highlightClick="1"/>
            <a:extLst>
              <a:ext uri="{FF2B5EF4-FFF2-40B4-BE49-F238E27FC236}">
                <a16:creationId xmlns:a16="http://schemas.microsoft.com/office/drawing/2014/main" id="{1257C2C3-5133-4D36-9A04-DE8A3DCBB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6016" y="6429375"/>
            <a:ext cx="661987" cy="419100"/>
          </a:xfrm>
          <a:prstGeom prst="bevel">
            <a:avLst>
              <a:gd name="adj" fmla="val 22653"/>
            </a:avLst>
          </a:prstGeom>
          <a:solidFill>
            <a:srgbClr val="FFFF99"/>
          </a:solidFill>
          <a:ln w="1905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LID4096" sz="1200" dirty="0">
                <a:solidFill>
                  <a:schemeClr val="folHlink"/>
                </a:solidFill>
                <a:latin typeface="Verdana" panose="020B0604030504040204" pitchFamily="34" charset="0"/>
              </a:rPr>
              <a:t>HELP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7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79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7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75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3" grpId="0" build="p" autoUpdateAnimBg="0"/>
      <p:bldP spid="337924" grpId="0" build="p" autoUpdateAnimBg="0"/>
      <p:bldP spid="337925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F3F503BF-55AF-4BE2-B3CD-36B7881D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7827-C6AA-4E85-BE29-B6098AF518A0}" type="slidenum">
              <a:rPr lang="en-US" altLang="LID4096"/>
              <a:pPr/>
              <a:t>35</a:t>
            </a:fld>
            <a:endParaRPr lang="en-US" altLang="LID4096"/>
          </a:p>
        </p:txBody>
      </p:sp>
      <p:sp>
        <p:nvSpPr>
          <p:cNvPr id="338946" name="Rectangle 2">
            <a:extLst>
              <a:ext uri="{FF2B5EF4-FFF2-40B4-BE49-F238E27FC236}">
                <a16:creationId xmlns:a16="http://schemas.microsoft.com/office/drawing/2014/main" id="{D526FB5C-7CF3-47D1-B5C5-30190D2D1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41" y="6130928"/>
            <a:ext cx="6346825" cy="347663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CE895938-456D-49BA-8A73-0E6A8EA5C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891" y="6059491"/>
            <a:ext cx="382587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LID4096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</a:t>
            </a:r>
            <a:endParaRPr lang="en-US" altLang="LID4096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8948" name="Rectangle 4">
            <a:extLst>
              <a:ext uri="{FF2B5EF4-FFF2-40B4-BE49-F238E27FC236}">
                <a16:creationId xmlns:a16="http://schemas.microsoft.com/office/drawing/2014/main" id="{8FDB191E-9756-4040-BC27-8AAF1B4D4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41" y="3584578"/>
            <a:ext cx="6346825" cy="347663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LID4096"/>
          </a:p>
        </p:txBody>
      </p:sp>
      <p:sp>
        <p:nvSpPr>
          <p:cNvPr id="338949" name="Rectangle 5">
            <a:extLst>
              <a:ext uri="{FF2B5EF4-FFF2-40B4-BE49-F238E27FC236}">
                <a16:creationId xmlns:a16="http://schemas.microsoft.com/office/drawing/2014/main" id="{20E3E4D1-A13B-4182-AFA9-3B43C6DE9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52400"/>
            <a:ext cx="5245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LID4096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Example – 2  (Continued…)</a:t>
            </a:r>
          </a:p>
        </p:txBody>
      </p:sp>
      <p:sp>
        <p:nvSpPr>
          <p:cNvPr id="338950" name="Rectangle 6">
            <a:extLst>
              <a:ext uri="{FF2B5EF4-FFF2-40B4-BE49-F238E27FC236}">
                <a16:creationId xmlns:a16="http://schemas.microsoft.com/office/drawing/2014/main" id="{D121EDCD-C98B-466C-B958-86C3B3B25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2849563"/>
            <a:ext cx="8056563" cy="1185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Range of Networks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ja-JP" sz="20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Network ID		Broadcast ID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192.168.1.0</a:t>
            </a:r>
          </a:p>
          <a:p>
            <a:pPr>
              <a:spcBef>
                <a:spcPct val="20000"/>
              </a:spcBef>
            </a:pPr>
            <a:endParaRPr lang="en-US" altLang="ja-JP" sz="2000">
              <a:solidFill>
                <a:schemeClr val="folHlink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8951" name="Rectangle 7">
            <a:extLst>
              <a:ext uri="{FF2B5EF4-FFF2-40B4-BE49-F238E27FC236}">
                <a16:creationId xmlns:a16="http://schemas.microsoft.com/office/drawing/2014/main" id="{D543B2CA-8536-4439-B1F3-31165B4E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1057278"/>
            <a:ext cx="823436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Customize Subnet Mask =</a:t>
            </a:r>
            <a:endParaRPr lang="en-US" altLang="LID4096" sz="2000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38955" name="Group 11">
            <a:extLst>
              <a:ext uri="{FF2B5EF4-FFF2-40B4-BE49-F238E27FC236}">
                <a16:creationId xmlns:a16="http://schemas.microsoft.com/office/drawing/2014/main" id="{17FDC745-B902-48E2-AF50-300122FAEA67}"/>
              </a:ext>
            </a:extLst>
          </p:cNvPr>
          <p:cNvGrpSpPr>
            <a:grpSpLocks/>
          </p:cNvGrpSpPr>
          <p:nvPr/>
        </p:nvGrpSpPr>
        <p:grpSpPr bwMode="auto">
          <a:xfrm>
            <a:off x="2236788" y="1397000"/>
            <a:ext cx="1287462" cy="660400"/>
            <a:chOff x="856" y="880"/>
            <a:chExt cx="811" cy="416"/>
          </a:xfrm>
        </p:grpSpPr>
        <p:sp>
          <p:nvSpPr>
            <p:cNvPr id="338956" name="AutoShape 12">
              <a:extLst>
                <a:ext uri="{FF2B5EF4-FFF2-40B4-BE49-F238E27FC236}">
                  <a16:creationId xmlns:a16="http://schemas.microsoft.com/office/drawing/2014/main" id="{1BDCB858-4621-49DB-8988-67260606D2E0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1181" y="810"/>
              <a:ext cx="161" cy="811"/>
            </a:xfrm>
            <a:prstGeom prst="leftBrace">
              <a:avLst>
                <a:gd name="adj1" fmla="val 46082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8957" name="Rectangle 13">
              <a:extLst>
                <a:ext uri="{FF2B5EF4-FFF2-40B4-BE49-F238E27FC236}">
                  <a16:creationId xmlns:a16="http://schemas.microsoft.com/office/drawing/2014/main" id="{D94791E4-ACA5-4574-B26E-209CDE205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80"/>
              <a:ext cx="71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255.</a:t>
              </a:r>
            </a:p>
          </p:txBody>
        </p:sp>
      </p:grpSp>
      <p:sp>
        <p:nvSpPr>
          <p:cNvPr id="338958" name="Rectangle 14">
            <a:extLst>
              <a:ext uri="{FF2B5EF4-FFF2-40B4-BE49-F238E27FC236}">
                <a16:creationId xmlns:a16="http://schemas.microsoft.com/office/drawing/2014/main" id="{3D02336A-6BA8-4C1A-9168-B678236BD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91" y="2009775"/>
            <a:ext cx="1709737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</a:p>
        </p:txBody>
      </p:sp>
      <p:grpSp>
        <p:nvGrpSpPr>
          <p:cNvPr id="338959" name="Group 15">
            <a:extLst>
              <a:ext uri="{FF2B5EF4-FFF2-40B4-BE49-F238E27FC236}">
                <a16:creationId xmlns:a16="http://schemas.microsoft.com/office/drawing/2014/main" id="{F69B82EB-5CE0-4588-B28A-B2F313CAE3AC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1397000"/>
            <a:ext cx="1287462" cy="660400"/>
            <a:chOff x="1828" y="880"/>
            <a:chExt cx="811" cy="416"/>
          </a:xfrm>
        </p:grpSpPr>
        <p:sp>
          <p:nvSpPr>
            <p:cNvPr id="338960" name="AutoShape 16">
              <a:extLst>
                <a:ext uri="{FF2B5EF4-FFF2-40B4-BE49-F238E27FC236}">
                  <a16:creationId xmlns:a16="http://schemas.microsoft.com/office/drawing/2014/main" id="{54C5CBC4-53D2-41D1-A1D6-4BE066323820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2153" y="810"/>
              <a:ext cx="161" cy="811"/>
            </a:xfrm>
            <a:prstGeom prst="leftBrace">
              <a:avLst>
                <a:gd name="adj1" fmla="val 46082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8961" name="Rectangle 17">
              <a:extLst>
                <a:ext uri="{FF2B5EF4-FFF2-40B4-BE49-F238E27FC236}">
                  <a16:creationId xmlns:a16="http://schemas.microsoft.com/office/drawing/2014/main" id="{09E6C388-787B-4D0A-907B-4BDFC591C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880"/>
              <a:ext cx="71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255.</a:t>
              </a:r>
            </a:p>
          </p:txBody>
        </p:sp>
      </p:grpSp>
      <p:sp>
        <p:nvSpPr>
          <p:cNvPr id="338962" name="Rectangle 18">
            <a:extLst>
              <a:ext uri="{FF2B5EF4-FFF2-40B4-BE49-F238E27FC236}">
                <a16:creationId xmlns:a16="http://schemas.microsoft.com/office/drawing/2014/main" id="{0D342BB3-EF38-4171-937C-6DC5FE500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41" y="2009775"/>
            <a:ext cx="1709737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</a:p>
        </p:txBody>
      </p:sp>
      <p:grpSp>
        <p:nvGrpSpPr>
          <p:cNvPr id="338963" name="Group 19">
            <a:extLst>
              <a:ext uri="{FF2B5EF4-FFF2-40B4-BE49-F238E27FC236}">
                <a16:creationId xmlns:a16="http://schemas.microsoft.com/office/drawing/2014/main" id="{B6937CE3-6810-44AC-B613-45B58CAAFC84}"/>
              </a:ext>
            </a:extLst>
          </p:cNvPr>
          <p:cNvGrpSpPr>
            <a:grpSpLocks/>
          </p:cNvGrpSpPr>
          <p:nvPr/>
        </p:nvGrpSpPr>
        <p:grpSpPr bwMode="auto">
          <a:xfrm>
            <a:off x="5305428" y="1397000"/>
            <a:ext cx="1287463" cy="660400"/>
            <a:chOff x="2789" y="880"/>
            <a:chExt cx="811" cy="416"/>
          </a:xfrm>
        </p:grpSpPr>
        <p:sp>
          <p:nvSpPr>
            <p:cNvPr id="338964" name="AutoShape 20">
              <a:extLst>
                <a:ext uri="{FF2B5EF4-FFF2-40B4-BE49-F238E27FC236}">
                  <a16:creationId xmlns:a16="http://schemas.microsoft.com/office/drawing/2014/main" id="{62ECECBD-EE0B-49D8-90A8-F3EB9403E941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114" y="810"/>
              <a:ext cx="161" cy="811"/>
            </a:xfrm>
            <a:prstGeom prst="leftBrace">
              <a:avLst>
                <a:gd name="adj1" fmla="val 46082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8965" name="Rectangle 21">
              <a:extLst>
                <a:ext uri="{FF2B5EF4-FFF2-40B4-BE49-F238E27FC236}">
                  <a16:creationId xmlns:a16="http://schemas.microsoft.com/office/drawing/2014/main" id="{E965BDFC-A580-4CDB-A43F-6E2B28222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880"/>
              <a:ext cx="71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255.</a:t>
              </a:r>
            </a:p>
          </p:txBody>
        </p:sp>
      </p:grpSp>
      <p:sp>
        <p:nvSpPr>
          <p:cNvPr id="338966" name="Rectangle 22">
            <a:extLst>
              <a:ext uri="{FF2B5EF4-FFF2-40B4-BE49-F238E27FC236}">
                <a16:creationId xmlns:a16="http://schemas.microsoft.com/office/drawing/2014/main" id="{511B97B7-66E5-414E-A82B-364B9660C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5" y="2009775"/>
            <a:ext cx="1709738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11111111</a:t>
            </a: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338967" name="Rectangle 23">
            <a:extLst>
              <a:ext uri="{FF2B5EF4-FFF2-40B4-BE49-F238E27FC236}">
                <a16:creationId xmlns:a16="http://schemas.microsoft.com/office/drawing/2014/main" id="{3CD85395-0347-4BB4-9D26-F0616E887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650" y="2009775"/>
            <a:ext cx="1709738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1111</a:t>
            </a:r>
            <a:r>
              <a:rPr lang="en-US" altLang="ja-JP" sz="2000">
                <a:solidFill>
                  <a:schemeClr val="accent2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0000</a:t>
            </a:r>
            <a:endParaRPr lang="en-US" altLang="ja-JP" sz="2000"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8968" name="Rectangle 24">
            <a:extLst>
              <a:ext uri="{FF2B5EF4-FFF2-40B4-BE49-F238E27FC236}">
                <a16:creationId xmlns:a16="http://schemas.microsoft.com/office/drawing/2014/main" id="{1635AFD6-FA28-46BE-8344-8394B54B069E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6573841" y="2366963"/>
            <a:ext cx="509587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ja-JP" sz="1200">
                <a:latin typeface="Verdana" panose="020B0604030504040204" pitchFamily="34" charset="0"/>
                <a:ea typeface="ＭＳ Ｐゴシック" panose="020B0600070205080204" pitchFamily="34" charset="-128"/>
              </a:rPr>
              <a:t>128</a:t>
            </a:r>
          </a:p>
        </p:txBody>
      </p:sp>
      <p:sp>
        <p:nvSpPr>
          <p:cNvPr id="338969" name="Rectangle 25">
            <a:extLst>
              <a:ext uri="{FF2B5EF4-FFF2-40B4-BE49-F238E27FC236}">
                <a16:creationId xmlns:a16="http://schemas.microsoft.com/office/drawing/2014/main" id="{2CEE490E-A726-4802-AA5F-D1D5D4DB5BE6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6773866" y="2366963"/>
            <a:ext cx="509587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ja-JP" sz="1200">
                <a:latin typeface="Verdana" panose="020B0604030504040204" pitchFamily="34" charset="0"/>
                <a:ea typeface="ＭＳ Ｐゴシック" panose="020B0600070205080204" pitchFamily="34" charset="-128"/>
              </a:rPr>
              <a:t>64</a:t>
            </a:r>
          </a:p>
        </p:txBody>
      </p:sp>
      <p:sp>
        <p:nvSpPr>
          <p:cNvPr id="338970" name="Rectangle 26">
            <a:extLst>
              <a:ext uri="{FF2B5EF4-FFF2-40B4-BE49-F238E27FC236}">
                <a16:creationId xmlns:a16="http://schemas.microsoft.com/office/drawing/2014/main" id="{ECBB8529-761E-4372-A5F5-75FB98394639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6973891" y="2366963"/>
            <a:ext cx="509587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ja-JP" sz="1200">
                <a:latin typeface="Verdana" panose="020B0604030504040204" pitchFamily="34" charset="0"/>
                <a:ea typeface="ＭＳ Ｐゴシック" panose="020B0600070205080204" pitchFamily="34" charset="-128"/>
              </a:rPr>
              <a:t>32</a:t>
            </a:r>
          </a:p>
        </p:txBody>
      </p:sp>
      <p:sp>
        <p:nvSpPr>
          <p:cNvPr id="338974" name="Rectangle 30">
            <a:extLst>
              <a:ext uri="{FF2B5EF4-FFF2-40B4-BE49-F238E27FC236}">
                <a16:creationId xmlns:a16="http://schemas.microsoft.com/office/drawing/2014/main" id="{ED9610C7-3B88-40A2-8FF2-5D85D6E55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891" y="3513141"/>
            <a:ext cx="382587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LID4096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x</a:t>
            </a:r>
            <a:endParaRPr lang="en-US" altLang="LID4096">
              <a:solidFill>
                <a:schemeClr val="accent2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38975" name="Group 31">
            <a:extLst>
              <a:ext uri="{FF2B5EF4-FFF2-40B4-BE49-F238E27FC236}">
                <a16:creationId xmlns:a16="http://schemas.microsoft.com/office/drawing/2014/main" id="{A5E10B60-89F8-40CB-BE0C-872941D2711E}"/>
              </a:ext>
            </a:extLst>
          </p:cNvPr>
          <p:cNvGrpSpPr>
            <a:grpSpLocks/>
          </p:cNvGrpSpPr>
          <p:nvPr/>
        </p:nvGrpSpPr>
        <p:grpSpPr bwMode="auto">
          <a:xfrm>
            <a:off x="7670803" y="4013200"/>
            <a:ext cx="2847975" cy="2057400"/>
            <a:chOff x="3872" y="2528"/>
            <a:chExt cx="1794" cy="1296"/>
          </a:xfrm>
        </p:grpSpPr>
        <p:sp>
          <p:nvSpPr>
            <p:cNvPr id="338976" name="Rectangle 32">
              <a:extLst>
                <a:ext uri="{FF2B5EF4-FFF2-40B4-BE49-F238E27FC236}">
                  <a16:creationId xmlns:a16="http://schemas.microsoft.com/office/drawing/2014/main" id="{FBB18E03-BFDE-4EF6-9B4D-2C27414F0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3056"/>
              <a:ext cx="1593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ja-JP" sz="2000">
                  <a:solidFill>
                    <a:schemeClr val="accent2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Valid Subnets</a:t>
              </a:r>
            </a:p>
          </p:txBody>
        </p:sp>
        <p:sp>
          <p:nvSpPr>
            <p:cNvPr id="338977" name="AutoShape 33">
              <a:extLst>
                <a:ext uri="{FF2B5EF4-FFF2-40B4-BE49-F238E27FC236}">
                  <a16:creationId xmlns:a16="http://schemas.microsoft.com/office/drawing/2014/main" id="{C88E3DF3-F757-4BEE-8647-07FE5D5F0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528"/>
              <a:ext cx="232" cy="1296"/>
            </a:xfrm>
            <a:prstGeom prst="rightBrace">
              <a:avLst>
                <a:gd name="adj1" fmla="val 31888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</p:grpSp>
      <p:sp>
        <p:nvSpPr>
          <p:cNvPr id="338980" name="Rectangle 36">
            <a:extLst>
              <a:ext uri="{FF2B5EF4-FFF2-40B4-BE49-F238E27FC236}">
                <a16:creationId xmlns:a16="http://schemas.microsoft.com/office/drawing/2014/main" id="{3C0E3B49-D45B-4D90-A5B4-079BFF2B5FB1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7172325" y="2366963"/>
            <a:ext cx="5095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ja-JP" sz="1200">
                <a:latin typeface="Verdana" panose="020B0604030504040204" pitchFamily="34" charset="0"/>
                <a:ea typeface="ＭＳ Ｐゴシック" panose="020B0600070205080204" pitchFamily="34" charset="-128"/>
              </a:rPr>
              <a:t>16</a:t>
            </a:r>
          </a:p>
        </p:txBody>
      </p:sp>
      <p:sp>
        <p:nvSpPr>
          <p:cNvPr id="338981" name="Rectangle 37">
            <a:extLst>
              <a:ext uri="{FF2B5EF4-FFF2-40B4-BE49-F238E27FC236}">
                <a16:creationId xmlns:a16="http://schemas.microsoft.com/office/drawing/2014/main" id="{239036BC-B22D-4740-926E-3295CA7E6E2F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7172325" y="2366963"/>
            <a:ext cx="5095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ja-JP" sz="1200">
                <a:solidFill>
                  <a:schemeClr val="folHlink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16</a:t>
            </a:r>
          </a:p>
        </p:txBody>
      </p:sp>
      <p:sp>
        <p:nvSpPr>
          <p:cNvPr id="338982" name="Rectangle 38">
            <a:extLst>
              <a:ext uri="{FF2B5EF4-FFF2-40B4-BE49-F238E27FC236}">
                <a16:creationId xmlns:a16="http://schemas.microsoft.com/office/drawing/2014/main" id="{0222B863-3D50-4729-A1B8-09E28844D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5753103"/>
            <a:ext cx="6370638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192.168.1.224	–	192.168.1.239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192.168.1.240	–  	192.168.1.255</a:t>
            </a:r>
          </a:p>
        </p:txBody>
      </p:sp>
      <p:sp>
        <p:nvSpPr>
          <p:cNvPr id="338984" name="Rectangle 40">
            <a:extLst>
              <a:ext uri="{FF2B5EF4-FFF2-40B4-BE49-F238E27FC236}">
                <a16:creationId xmlns:a16="http://schemas.microsoft.com/office/drawing/2014/main" id="{83B6234A-E047-43FD-9DCB-DDD558CF8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3" y="3568700"/>
            <a:ext cx="6442075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			–	192.168.1.15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192.168.1.16	–	192.168.1.31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192.168.1.32 	–	192.168.1.47</a:t>
            </a:r>
          </a:p>
          <a:p>
            <a:pPr>
              <a:spcBef>
                <a:spcPct val="20000"/>
              </a:spcBef>
            </a:pPr>
            <a:r>
              <a:rPr lang="en-US" altLang="ja-JP" sz="2000">
                <a:latin typeface="Verdana" panose="020B0604030504040204" pitchFamily="34" charset="0"/>
                <a:ea typeface="ＭＳ Ｐゴシック" panose="020B0600070205080204" pitchFamily="34" charset="-128"/>
              </a:rPr>
              <a:t>	192.168.1.48	–	192.168.1.63</a:t>
            </a:r>
          </a:p>
        </p:txBody>
      </p:sp>
      <p:sp>
        <p:nvSpPr>
          <p:cNvPr id="338985" name="Line 41">
            <a:extLst>
              <a:ext uri="{FF2B5EF4-FFF2-40B4-BE49-F238E27FC236}">
                <a16:creationId xmlns:a16="http://schemas.microsoft.com/office/drawing/2014/main" id="{4F53E885-586D-4C76-A538-81837147C1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9500" y="5119688"/>
            <a:ext cx="5056188" cy="57785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LID4096"/>
          </a:p>
        </p:txBody>
      </p:sp>
      <p:grpSp>
        <p:nvGrpSpPr>
          <p:cNvPr id="338989" name="Group 45">
            <a:extLst>
              <a:ext uri="{FF2B5EF4-FFF2-40B4-BE49-F238E27FC236}">
                <a16:creationId xmlns:a16="http://schemas.microsoft.com/office/drawing/2014/main" id="{819B204B-AE15-45A2-884E-8515F9466953}"/>
              </a:ext>
            </a:extLst>
          </p:cNvPr>
          <p:cNvGrpSpPr>
            <a:grpSpLocks/>
          </p:cNvGrpSpPr>
          <p:nvPr/>
        </p:nvGrpSpPr>
        <p:grpSpPr bwMode="auto">
          <a:xfrm>
            <a:off x="6883403" y="1397000"/>
            <a:ext cx="1287463" cy="660400"/>
            <a:chOff x="2789" y="880"/>
            <a:chExt cx="811" cy="416"/>
          </a:xfrm>
        </p:grpSpPr>
        <p:sp>
          <p:nvSpPr>
            <p:cNvPr id="338990" name="AutoShape 46">
              <a:extLst>
                <a:ext uri="{FF2B5EF4-FFF2-40B4-BE49-F238E27FC236}">
                  <a16:creationId xmlns:a16="http://schemas.microsoft.com/office/drawing/2014/main" id="{F1B1A4BC-E6C0-4A6A-B760-3AFCA6288DF2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114" y="810"/>
              <a:ext cx="161" cy="811"/>
            </a:xfrm>
            <a:prstGeom prst="leftBrace">
              <a:avLst>
                <a:gd name="adj1" fmla="val 46082"/>
                <a:gd name="adj2" fmla="val 50000"/>
              </a:avLst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LID4096"/>
            </a:p>
          </p:txBody>
        </p:sp>
        <p:sp>
          <p:nvSpPr>
            <p:cNvPr id="338991" name="Rectangle 47">
              <a:extLst>
                <a:ext uri="{FF2B5EF4-FFF2-40B4-BE49-F238E27FC236}">
                  <a16:creationId xmlns:a16="http://schemas.microsoft.com/office/drawing/2014/main" id="{5A65173F-5ACE-40EC-8DB7-A9111AC4C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880"/>
              <a:ext cx="71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ja-JP" sz="2000">
                  <a:latin typeface="Verdana" panose="020B0604030504040204" pitchFamily="34" charset="0"/>
                  <a:ea typeface="ＭＳ Ｐゴシック" panose="020B0600070205080204" pitchFamily="34" charset="-128"/>
                </a:rPr>
                <a:t>240</a:t>
              </a:r>
            </a:p>
          </p:txBody>
        </p:sp>
      </p:grpSp>
      <p:grpSp>
        <p:nvGrpSpPr>
          <p:cNvPr id="338992" name="Group 48">
            <a:extLst>
              <a:ext uri="{FF2B5EF4-FFF2-40B4-BE49-F238E27FC236}">
                <a16:creationId xmlns:a16="http://schemas.microsoft.com/office/drawing/2014/main" id="{7B1D75BC-E66E-46DD-8481-D5E131AEA55B}"/>
              </a:ext>
            </a:extLst>
          </p:cNvPr>
          <p:cNvGrpSpPr>
            <a:grpSpLocks/>
          </p:cNvGrpSpPr>
          <p:nvPr/>
        </p:nvGrpSpPr>
        <p:grpSpPr bwMode="auto">
          <a:xfrm>
            <a:off x="1901828" y="984250"/>
            <a:ext cx="8353425" cy="5575300"/>
            <a:chOff x="238" y="620"/>
            <a:chExt cx="5262" cy="3512"/>
          </a:xfrm>
        </p:grpSpPr>
        <p:sp>
          <p:nvSpPr>
            <p:cNvPr id="338993" name="AutoShape 49">
              <a:extLst>
                <a:ext uri="{FF2B5EF4-FFF2-40B4-BE49-F238E27FC236}">
                  <a16:creationId xmlns:a16="http://schemas.microsoft.com/office/drawing/2014/main" id="{D3D15BDB-5E10-4B2F-8FC0-6A3AAAEAC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" y="620"/>
              <a:ext cx="5262" cy="3512"/>
            </a:xfrm>
            <a:prstGeom prst="roundRect">
              <a:avLst>
                <a:gd name="adj" fmla="val 10523"/>
              </a:avLst>
            </a:prstGeom>
            <a:solidFill>
              <a:srgbClr val="FFFF99"/>
            </a:solidFill>
            <a:ln>
              <a:noFill/>
            </a:ln>
            <a:effectLst>
              <a:outerShdw dist="107763" dir="81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If you convert 4 Host Bits to Network Bits</a:t>
              </a:r>
            </a:p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14 Subnet </a:t>
              </a:r>
              <a:r>
                <a:rPr lang="en-US" altLang="ja-JP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&amp; </a:t>
              </a: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14 Hosts/Subnet</a:t>
              </a:r>
            </a:p>
            <a:p>
              <a:pPr algn="ctr">
                <a:spcBef>
                  <a:spcPct val="20000"/>
                </a:spcBef>
              </a:pPr>
              <a:endParaRPr lang="en-US" altLang="ja-JP" sz="20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Customize Subnet Mask</a:t>
              </a:r>
            </a:p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255.255.255.240</a:t>
              </a:r>
            </a:p>
            <a:p>
              <a:pPr algn="ctr">
                <a:spcBef>
                  <a:spcPct val="20000"/>
                </a:spcBef>
              </a:pPr>
              <a:endParaRPr lang="en-US" altLang="ja-JP" sz="200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Subnet Range</a:t>
              </a:r>
            </a:p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192.168.1.16 </a:t>
              </a:r>
              <a:r>
                <a:rPr lang="en-US" altLang="ja-JP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to</a:t>
              </a: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192.168.1.31 </a:t>
              </a:r>
            </a:p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192.168.1.32 </a:t>
              </a:r>
              <a:r>
                <a:rPr lang="en-US" altLang="ja-JP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to</a:t>
              </a: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192.168.1.47</a:t>
              </a:r>
              <a:endParaRPr lang="en-US" altLang="ja-JP" sz="200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192.168.1.48 </a:t>
              </a:r>
              <a:r>
                <a:rPr lang="en-US" altLang="ja-JP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to</a:t>
              </a: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192.168.1.63 </a:t>
              </a:r>
            </a:p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192.168.1.64 </a:t>
              </a:r>
              <a:r>
                <a:rPr lang="en-US" altLang="ja-JP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to</a:t>
              </a: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192.168.1.80 </a:t>
              </a:r>
            </a:p>
            <a:p>
              <a:pPr algn="ctr">
                <a:spcBef>
                  <a:spcPct val="20000"/>
                </a:spcBef>
              </a:pPr>
              <a:endParaRPr lang="en-US" altLang="ja-JP" sz="20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 algn="ctr">
                <a:spcBef>
                  <a:spcPct val="20000"/>
                </a:spcBef>
              </a:pPr>
              <a:endParaRPr lang="en-US" altLang="ja-JP" sz="2000">
                <a:solidFill>
                  <a:srgbClr val="6600FF"/>
                </a:solidFill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  <a:p>
              <a:pPr algn="ctr">
                <a:spcBef>
                  <a:spcPct val="20000"/>
                </a:spcBef>
              </a:pP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192.168.1.224 </a:t>
              </a:r>
              <a:r>
                <a:rPr lang="en-US" altLang="ja-JP" sz="2000">
                  <a:solidFill>
                    <a:srgbClr val="FF0000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to</a:t>
              </a:r>
              <a:r>
                <a:rPr lang="en-US" altLang="ja-JP" sz="2000">
                  <a:solidFill>
                    <a:srgbClr val="6600FF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rPr>
                <a:t> 192.168.1.239</a:t>
              </a:r>
            </a:p>
          </p:txBody>
        </p:sp>
        <p:sp>
          <p:nvSpPr>
            <p:cNvPr id="338994" name="Line 50">
              <a:extLst>
                <a:ext uri="{FF2B5EF4-FFF2-40B4-BE49-F238E27FC236}">
                  <a16:creationId xmlns:a16="http://schemas.microsoft.com/office/drawing/2014/main" id="{C2B720DE-B54D-4482-9768-013D86F0BD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9" y="3281"/>
              <a:ext cx="2654" cy="47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LID4096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38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8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8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8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38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8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8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89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389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389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33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38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389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75"/>
                                        <p:tgtEl>
                                          <p:spTgt spid="33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75"/>
                                        <p:tgtEl>
                                          <p:spTgt spid="3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3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38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38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7" grpId="0" autoUpdateAnimBg="0"/>
      <p:bldP spid="338950" grpId="0" build="p" autoUpdateAnimBg="0"/>
      <p:bldP spid="338951" grpId="0" build="p" autoUpdateAnimBg="0"/>
      <p:bldP spid="338958" grpId="0" autoUpdateAnimBg="0"/>
      <p:bldP spid="338962" grpId="0" autoUpdateAnimBg="0"/>
      <p:bldP spid="338966" grpId="0" autoUpdateAnimBg="0"/>
      <p:bldP spid="338967" grpId="0" autoUpdateAnimBg="0"/>
      <p:bldP spid="338968" grpId="0" autoUpdateAnimBg="0"/>
      <p:bldP spid="338969" grpId="0" autoUpdateAnimBg="0"/>
      <p:bldP spid="338970" grpId="0" autoUpdateAnimBg="0"/>
      <p:bldP spid="338974" grpId="0" autoUpdateAnimBg="0"/>
      <p:bldP spid="338980" grpId="0" autoUpdateAnimBg="0"/>
      <p:bldP spid="338981" grpId="0" autoUpdateAnimBg="0"/>
      <p:bldP spid="338982" grpId="0" build="p" autoUpdateAnimBg="0"/>
      <p:bldP spid="338984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9CEB424-4EC3-4529-91DF-339836BD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E32A-7E33-40DE-9130-C3E3973CAFE8}" type="slidenum">
              <a:rPr lang="en-US" altLang="LID4096"/>
              <a:pPr/>
              <a:t>36</a:t>
            </a:fld>
            <a:endParaRPr lang="en-US" altLang="LID4096"/>
          </a:p>
        </p:txBody>
      </p:sp>
      <p:sp>
        <p:nvSpPr>
          <p:cNvPr id="375812" name="WordArt 4">
            <a:extLst>
              <a:ext uri="{FF2B5EF4-FFF2-40B4-BE49-F238E27FC236}">
                <a16:creationId xmlns:a16="http://schemas.microsoft.com/office/drawing/2014/main" id="{B7FFC78F-1C4D-4729-9F24-42E17046EF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52900" y="3086100"/>
            <a:ext cx="388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107763" dir="2700000" algn="ctr" rotWithShape="0">
                    <a:schemeClr val="bg2"/>
                  </a:outerShdw>
                </a:effectLst>
                <a:latin typeface="Arial Black" panose="020B0A04020102020204" pitchFamily="34" charset="0"/>
              </a:rPr>
              <a:t>THE END</a:t>
            </a:r>
            <a:endParaRPr lang="LID4096" sz="3600" kern="10">
              <a:ln w="9525">
                <a:solidFill>
                  <a:schemeClr val="tx1"/>
                </a:solidFill>
                <a:round/>
                <a:headEnd/>
                <a:tailEnd/>
              </a:ln>
              <a:solidFill>
                <a:srgbClr val="FFFF99"/>
              </a:solidFill>
              <a:effectLst>
                <a:outerShdw dist="107763" dir="2700000" algn="ctr" rotWithShape="0">
                  <a:schemeClr val="bg2"/>
                </a:outerShdw>
              </a:effectLst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35665</TotalTime>
  <Words>2710</Words>
  <Application>Microsoft Office PowerPoint</Application>
  <PresentationFormat>Widescreen</PresentationFormat>
  <Paragraphs>602</Paragraphs>
  <Slides>36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  <vt:variant>
        <vt:lpstr>Custom Shows</vt:lpstr>
      </vt:variant>
      <vt:variant>
        <vt:i4>1</vt:i4>
      </vt:variant>
    </vt:vector>
  </HeadingPairs>
  <TitlesOfParts>
    <vt:vector size="50" baseType="lpstr">
      <vt:lpstr>MS PGothic</vt:lpstr>
      <vt:lpstr>Andalus</vt:lpstr>
      <vt:lpstr>Arial</vt:lpstr>
      <vt:lpstr>Arial Black</vt:lpstr>
      <vt:lpstr>Arial Rounded MT Bold</vt:lpstr>
      <vt:lpstr>Calibri</vt:lpstr>
      <vt:lpstr>Calibri Light</vt:lpstr>
      <vt:lpstr>Edwardian Script ITC</vt:lpstr>
      <vt:lpstr>Helvetica</vt:lpstr>
      <vt:lpstr>Monotype Sorts</vt:lpstr>
      <vt:lpstr>Times New Roman</vt:lpstr>
      <vt:lpstr>Verdana</vt:lpstr>
      <vt:lpstr>Default Design</vt:lpstr>
      <vt:lpstr>Computer Networks  IP ADDRESSING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 Table</vt:lpstr>
    </vt:vector>
  </TitlesOfParts>
  <Company>zoom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computer4</dc:creator>
  <cp:lastModifiedBy>umar shafiq</cp:lastModifiedBy>
  <cp:revision>449</cp:revision>
  <dcterms:created xsi:type="dcterms:W3CDTF">2003-08-19T08:39:34Z</dcterms:created>
  <dcterms:modified xsi:type="dcterms:W3CDTF">2026-04-06T18:27:25Z</dcterms:modified>
</cp:coreProperties>
</file>