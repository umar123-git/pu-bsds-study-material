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handoutMasterIdLst>
    <p:handoutMasterId r:id="rId44"/>
  </p:handoutMasterIdLst>
  <p:sldIdLst>
    <p:sldId id="256" r:id="rId2"/>
    <p:sldId id="257" r:id="rId3"/>
    <p:sldId id="305" r:id="rId4"/>
    <p:sldId id="260" r:id="rId5"/>
    <p:sldId id="306" r:id="rId6"/>
    <p:sldId id="261" r:id="rId7"/>
    <p:sldId id="292" r:id="rId8"/>
    <p:sldId id="294" r:id="rId9"/>
    <p:sldId id="279" r:id="rId10"/>
    <p:sldId id="300" r:id="rId11"/>
    <p:sldId id="275" r:id="rId12"/>
    <p:sldId id="307" r:id="rId13"/>
    <p:sldId id="308" r:id="rId14"/>
    <p:sldId id="302" r:id="rId15"/>
    <p:sldId id="331" r:id="rId16"/>
    <p:sldId id="280" r:id="rId17"/>
    <p:sldId id="281" r:id="rId18"/>
    <p:sldId id="264" r:id="rId19"/>
    <p:sldId id="259" r:id="rId20"/>
    <p:sldId id="309" r:id="rId21"/>
    <p:sldId id="310" r:id="rId22"/>
    <p:sldId id="311" r:id="rId23"/>
    <p:sldId id="312" r:id="rId24"/>
    <p:sldId id="313" r:id="rId25"/>
    <p:sldId id="314" r:id="rId26"/>
    <p:sldId id="315" r:id="rId27"/>
    <p:sldId id="316" r:id="rId28"/>
    <p:sldId id="317" r:id="rId29"/>
    <p:sldId id="318" r:id="rId30"/>
    <p:sldId id="319" r:id="rId31"/>
    <p:sldId id="320" r:id="rId32"/>
    <p:sldId id="321" r:id="rId33"/>
    <p:sldId id="322" r:id="rId34"/>
    <p:sldId id="323" r:id="rId35"/>
    <p:sldId id="324" r:id="rId36"/>
    <p:sldId id="325" r:id="rId37"/>
    <p:sldId id="326" r:id="rId38"/>
    <p:sldId id="327" r:id="rId39"/>
    <p:sldId id="328" r:id="rId40"/>
    <p:sldId id="329" r:id="rId41"/>
    <p:sldId id="330" r:id="rId42"/>
  </p:sldIdLst>
  <p:sldSz cx="9144000" cy="6858000" type="screen4x3"/>
  <p:notesSz cx="6818313" cy="9128125"/>
  <p:defaultTextStyle>
    <a:defPPr>
      <a:defRPr lang="en-US"/>
    </a:defPPr>
    <a:lvl1pPr algn="ctr" rtl="0" eaLnBrk="0" fontAlgn="base" hangingPunct="0">
      <a:lnSpc>
        <a:spcPct val="120000"/>
      </a:lnSpc>
      <a:spcBef>
        <a:spcPct val="60000"/>
      </a:spcBef>
      <a:spcAft>
        <a:spcPct val="0"/>
      </a:spcAft>
      <a:defRPr sz="2800" b="1" kern="1200">
        <a:solidFill>
          <a:schemeClr val="bg2"/>
        </a:solidFill>
        <a:latin typeface="Arial Narrow" pitchFamily="34" charset="0"/>
        <a:ea typeface="+mn-ea"/>
        <a:cs typeface="+mn-cs"/>
      </a:defRPr>
    </a:lvl1pPr>
    <a:lvl2pPr marL="457200" algn="ctr" rtl="0" eaLnBrk="0" fontAlgn="base" hangingPunct="0">
      <a:lnSpc>
        <a:spcPct val="120000"/>
      </a:lnSpc>
      <a:spcBef>
        <a:spcPct val="60000"/>
      </a:spcBef>
      <a:spcAft>
        <a:spcPct val="0"/>
      </a:spcAft>
      <a:defRPr sz="2800" b="1" kern="1200">
        <a:solidFill>
          <a:schemeClr val="bg2"/>
        </a:solidFill>
        <a:latin typeface="Arial Narrow" pitchFamily="34" charset="0"/>
        <a:ea typeface="+mn-ea"/>
        <a:cs typeface="+mn-cs"/>
      </a:defRPr>
    </a:lvl2pPr>
    <a:lvl3pPr marL="914400" algn="ctr" rtl="0" eaLnBrk="0" fontAlgn="base" hangingPunct="0">
      <a:lnSpc>
        <a:spcPct val="120000"/>
      </a:lnSpc>
      <a:spcBef>
        <a:spcPct val="60000"/>
      </a:spcBef>
      <a:spcAft>
        <a:spcPct val="0"/>
      </a:spcAft>
      <a:defRPr sz="2800" b="1" kern="1200">
        <a:solidFill>
          <a:schemeClr val="bg2"/>
        </a:solidFill>
        <a:latin typeface="Arial Narrow" pitchFamily="34" charset="0"/>
        <a:ea typeface="+mn-ea"/>
        <a:cs typeface="+mn-cs"/>
      </a:defRPr>
    </a:lvl3pPr>
    <a:lvl4pPr marL="1371600" algn="ctr" rtl="0" eaLnBrk="0" fontAlgn="base" hangingPunct="0">
      <a:lnSpc>
        <a:spcPct val="120000"/>
      </a:lnSpc>
      <a:spcBef>
        <a:spcPct val="60000"/>
      </a:spcBef>
      <a:spcAft>
        <a:spcPct val="0"/>
      </a:spcAft>
      <a:defRPr sz="2800" b="1" kern="1200">
        <a:solidFill>
          <a:schemeClr val="bg2"/>
        </a:solidFill>
        <a:latin typeface="Arial Narrow" pitchFamily="34" charset="0"/>
        <a:ea typeface="+mn-ea"/>
        <a:cs typeface="+mn-cs"/>
      </a:defRPr>
    </a:lvl4pPr>
    <a:lvl5pPr marL="1828800" algn="ctr" rtl="0" eaLnBrk="0" fontAlgn="base" hangingPunct="0">
      <a:lnSpc>
        <a:spcPct val="120000"/>
      </a:lnSpc>
      <a:spcBef>
        <a:spcPct val="60000"/>
      </a:spcBef>
      <a:spcAft>
        <a:spcPct val="0"/>
      </a:spcAft>
      <a:defRPr sz="2800" b="1" kern="1200">
        <a:solidFill>
          <a:schemeClr val="bg2"/>
        </a:solidFill>
        <a:latin typeface="Arial Narrow" pitchFamily="34" charset="0"/>
        <a:ea typeface="+mn-ea"/>
        <a:cs typeface="+mn-cs"/>
      </a:defRPr>
    </a:lvl5pPr>
    <a:lvl6pPr marL="2286000" algn="l" defTabSz="914400" rtl="0" eaLnBrk="1" latinLnBrk="0" hangingPunct="1">
      <a:defRPr sz="2800" b="1" kern="1200">
        <a:solidFill>
          <a:schemeClr val="bg2"/>
        </a:solidFill>
        <a:latin typeface="Arial Narrow" pitchFamily="34" charset="0"/>
        <a:ea typeface="+mn-ea"/>
        <a:cs typeface="+mn-cs"/>
      </a:defRPr>
    </a:lvl6pPr>
    <a:lvl7pPr marL="2743200" algn="l" defTabSz="914400" rtl="0" eaLnBrk="1" latinLnBrk="0" hangingPunct="1">
      <a:defRPr sz="2800" b="1" kern="1200">
        <a:solidFill>
          <a:schemeClr val="bg2"/>
        </a:solidFill>
        <a:latin typeface="Arial Narrow" pitchFamily="34" charset="0"/>
        <a:ea typeface="+mn-ea"/>
        <a:cs typeface="+mn-cs"/>
      </a:defRPr>
    </a:lvl7pPr>
    <a:lvl8pPr marL="3200400" algn="l" defTabSz="914400" rtl="0" eaLnBrk="1" latinLnBrk="0" hangingPunct="1">
      <a:defRPr sz="2800" b="1" kern="1200">
        <a:solidFill>
          <a:schemeClr val="bg2"/>
        </a:solidFill>
        <a:latin typeface="Arial Narrow" pitchFamily="34" charset="0"/>
        <a:ea typeface="+mn-ea"/>
        <a:cs typeface="+mn-cs"/>
      </a:defRPr>
    </a:lvl8pPr>
    <a:lvl9pPr marL="3657600" algn="l" defTabSz="914400" rtl="0" eaLnBrk="1" latinLnBrk="0" hangingPunct="1">
      <a:defRPr sz="2800" b="1" kern="1200">
        <a:solidFill>
          <a:schemeClr val="bg2"/>
        </a:solidFill>
        <a:latin typeface="Arial Narrow"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160">
          <p15:clr>
            <a:srgbClr val="A4A3A4"/>
          </p15:clr>
        </p15:guide>
        <p15:guide id="2" pos="288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CC"/>
    <a:srgbClr val="DDDDDD"/>
    <a:srgbClr val="FF5050"/>
    <a:srgbClr val="FF9966"/>
    <a:srgbClr val="000000"/>
    <a:srgbClr val="FFCC00"/>
    <a:srgbClr val="FF3300"/>
    <a:srgbClr val="FC012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2787"/>
    <p:restoredTop sz="86731" autoAdjust="0"/>
  </p:normalViewPr>
  <p:slideViewPr>
    <p:cSldViewPr>
      <p:cViewPr varScale="1">
        <p:scale>
          <a:sx n="72" d="100"/>
          <a:sy n="72" d="100"/>
        </p:scale>
        <p:origin x="1181"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notesViewPr>
    <p:cSldViewPr>
      <p:cViewPr>
        <p:scale>
          <a:sx n="75" d="100"/>
          <a:sy n="75" d="100"/>
        </p:scale>
        <p:origin x="-448" y="2126"/>
      </p:cViewPr>
      <p:guideLst>
        <p:guide orient="horz" pos="2160"/>
        <p:guide pos="288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ChangeArrowheads="1"/>
          </p:cNvSpPr>
          <p:nvPr/>
        </p:nvSpPr>
        <p:spPr bwMode="auto">
          <a:xfrm>
            <a:off x="766763" y="8713788"/>
            <a:ext cx="5276850"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defTabSz="941388">
              <a:lnSpc>
                <a:spcPct val="100000"/>
              </a:lnSpc>
              <a:spcBef>
                <a:spcPct val="50000"/>
              </a:spcBef>
            </a:pPr>
            <a:r>
              <a:rPr lang="en-US" sz="1000">
                <a:solidFill>
                  <a:schemeClr val="tx1"/>
                </a:solidFill>
                <a:latin typeface="Arial" pitchFamily="34" charset="0"/>
              </a:rPr>
              <a:t>&lt;Course name&gt; &lt;Lesson number&gt;</a:t>
            </a:r>
            <a:r>
              <a:rPr lang="en-US" sz="1000">
                <a:solidFill>
                  <a:schemeClr val="tx1"/>
                </a:solidFill>
                <a:latin typeface="Times New Roman" pitchFamily="18" charset="0"/>
              </a:rPr>
              <a:t>-</a:t>
            </a:r>
            <a:fld id="{24E7620B-8DAB-449F-B280-9C9B15971FC9}" type="slidenum">
              <a:rPr lang="en-US" sz="1000">
                <a:solidFill>
                  <a:schemeClr val="tx1"/>
                </a:solidFill>
                <a:latin typeface="Arial" pitchFamily="34" charset="0"/>
              </a:rPr>
              <a:pPr defTabSz="941388">
                <a:lnSpc>
                  <a:spcPct val="100000"/>
                </a:lnSpc>
                <a:spcBef>
                  <a:spcPct val="50000"/>
                </a:spcBef>
              </a:pPr>
              <a:t>‹#›</a:t>
            </a:fld>
            <a:endParaRPr lang="en-US" sz="1000">
              <a:solidFill>
                <a:schemeClr val="tx1"/>
              </a:solidFill>
              <a:latin typeface="Arial" pitchFamily="34" charset="0"/>
            </a:endParaRPr>
          </a:p>
        </p:txBody>
      </p:sp>
    </p:spTree>
    <p:extLst>
      <p:ext uri="{BB962C8B-B14F-4D97-AF65-F5344CB8AC3E}">
        <p14:creationId xmlns:p14="http://schemas.microsoft.com/office/powerpoint/2010/main" val="235984675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Rot="1" noChangeAspect="1" noChangeArrowheads="1" noTextEdit="1"/>
          </p:cNvSpPr>
          <p:nvPr>
            <p:ph type="sldImg" idx="2"/>
          </p:nvPr>
        </p:nvSpPr>
        <p:spPr bwMode="auto">
          <a:xfrm>
            <a:off x="473075" y="161925"/>
            <a:ext cx="5867400" cy="4397375"/>
          </a:xfrm>
          <a:prstGeom prst="rect">
            <a:avLst/>
          </a:prstGeom>
          <a:noFill/>
          <a:ln w="12700">
            <a:solidFill>
              <a:schemeClr val="tx1"/>
            </a:solidFill>
            <a:miter lim="800000"/>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2051" name="Rectangle 3"/>
          <p:cNvSpPr>
            <a:spLocks noGrp="1" noChangeArrowheads="1"/>
          </p:cNvSpPr>
          <p:nvPr>
            <p:ph type="body" sz="quarter" idx="3"/>
          </p:nvPr>
        </p:nvSpPr>
        <p:spPr bwMode="auto">
          <a:xfrm>
            <a:off x="409575" y="4765675"/>
            <a:ext cx="5995988" cy="3749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488" tIns="44450" rIns="90488" bIns="44450" numCol="1" anchor="t" anchorCtr="0" compatLnSpc="1">
            <a:prstTxWarp prst="textNoShape">
              <a:avLst/>
            </a:prstTxWarp>
          </a:bodyPr>
          <a:lstStyle/>
          <a:p>
            <a:pPr lvl="0"/>
            <a:r>
              <a:rPr lang="en-US"/>
              <a:t>Heading (Level 1) Arial 11pt Bold</a:t>
            </a:r>
          </a:p>
          <a:p>
            <a:pPr lvl="1"/>
            <a:r>
              <a:rPr lang="en-US"/>
              <a:t>Body Text (Level 2) Times New Roman 11pt</a:t>
            </a:r>
          </a:p>
          <a:p>
            <a:pPr lvl="2"/>
            <a:r>
              <a:rPr lang="en-US"/>
              <a:t>Bullet 1 (Level 3) Times New Roman 11pt</a:t>
            </a:r>
          </a:p>
          <a:p>
            <a:pPr lvl="3"/>
            <a:r>
              <a:rPr lang="en-US"/>
              <a:t>Bullet 2 (Level 4) Times New Roman 11pt</a:t>
            </a:r>
          </a:p>
          <a:p>
            <a:pPr lvl="0"/>
            <a:endParaRPr lang="en-US"/>
          </a:p>
          <a:p>
            <a:pPr lvl="0"/>
            <a:endParaRPr lang="en-US"/>
          </a:p>
          <a:p>
            <a:pPr lvl="0"/>
            <a:endParaRPr lang="en-US"/>
          </a:p>
          <a:p>
            <a:pPr lvl="0"/>
            <a:endParaRPr lang="en-US"/>
          </a:p>
          <a:p>
            <a:pPr lvl="0"/>
            <a:endParaRPr lang="en-US"/>
          </a:p>
          <a:p>
            <a:pPr lvl="0"/>
            <a:endParaRPr lang="en-US"/>
          </a:p>
          <a:p>
            <a:pPr lvl="0"/>
            <a:endParaRPr lang="en-US"/>
          </a:p>
          <a:p>
            <a:pPr lvl="0"/>
            <a:endParaRPr lang="en-US"/>
          </a:p>
          <a:p>
            <a:pPr lvl="0"/>
            <a:r>
              <a:rPr lang="en-US"/>
              <a:t>Technical Note (Level 1) Arial 11pt Bold (CHANGE TO BLUE)</a:t>
            </a:r>
          </a:p>
          <a:p>
            <a:pPr lvl="0"/>
            <a:r>
              <a:rPr lang="en-US"/>
              <a:t>Class Management Note (Level 1) Arial 11pt Bold (CHANGE TO BLUE)</a:t>
            </a:r>
          </a:p>
          <a:p>
            <a:pPr lvl="1"/>
            <a:r>
              <a:rPr lang="en-US"/>
              <a:t>Body Text (Level 2) Times New Roman 11pt (CHANGE TO BLUE)</a:t>
            </a:r>
          </a:p>
          <a:p>
            <a:pPr lvl="2"/>
            <a:r>
              <a:rPr lang="en-US"/>
              <a:t>Bullet 1 (Level 3) Times New Roman 11pt (CHANGE TO BLUE)</a:t>
            </a:r>
          </a:p>
        </p:txBody>
      </p:sp>
      <p:sp>
        <p:nvSpPr>
          <p:cNvPr id="2052" name="Rectangle 4"/>
          <p:cNvSpPr>
            <a:spLocks noChangeArrowheads="1"/>
          </p:cNvSpPr>
          <p:nvPr/>
        </p:nvSpPr>
        <p:spPr bwMode="auto">
          <a:xfrm>
            <a:off x="712788" y="8593138"/>
            <a:ext cx="5270500"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defTabSz="941388">
              <a:lnSpc>
                <a:spcPct val="100000"/>
              </a:lnSpc>
              <a:spcBef>
                <a:spcPct val="50000"/>
              </a:spcBef>
            </a:pPr>
            <a:r>
              <a:rPr lang="en-US" sz="1000">
                <a:solidFill>
                  <a:schemeClr val="tx1"/>
                </a:solidFill>
                <a:latin typeface="Arial" pitchFamily="34" charset="0"/>
              </a:rPr>
              <a:t>Introduction to Oracle: SQL and PL/SQL  6</a:t>
            </a:r>
            <a:r>
              <a:rPr lang="en-US" sz="1000">
                <a:solidFill>
                  <a:schemeClr val="tx1"/>
                </a:solidFill>
                <a:latin typeface="Times New Roman" pitchFamily="18" charset="0"/>
              </a:rPr>
              <a:t>-</a:t>
            </a:r>
            <a:fld id="{E267C3CF-2F8C-4CD6-9A56-0CF4A0151D1F}" type="slidenum">
              <a:rPr lang="en-US" sz="1000">
                <a:solidFill>
                  <a:schemeClr val="tx1"/>
                </a:solidFill>
                <a:latin typeface="Arial" pitchFamily="34" charset="0"/>
              </a:rPr>
              <a:pPr defTabSz="941388">
                <a:lnSpc>
                  <a:spcPct val="100000"/>
                </a:lnSpc>
                <a:spcBef>
                  <a:spcPct val="50000"/>
                </a:spcBef>
              </a:pPr>
              <a:t>‹#›</a:t>
            </a:fld>
            <a:endParaRPr lang="en-US" sz="1000">
              <a:solidFill>
                <a:schemeClr val="tx1"/>
              </a:solidFill>
              <a:latin typeface="Arial" pitchFamily="34" charset="0"/>
            </a:endParaRPr>
          </a:p>
        </p:txBody>
      </p:sp>
    </p:spTree>
    <p:extLst>
      <p:ext uri="{BB962C8B-B14F-4D97-AF65-F5344CB8AC3E}">
        <p14:creationId xmlns:p14="http://schemas.microsoft.com/office/powerpoint/2010/main" val="598338482"/>
      </p:ext>
    </p:extLst>
  </p:cSld>
  <p:clrMap bg1="lt1" tx1="dk1" bg2="lt2" tx2="dk2" accent1="accent1" accent2="accent2" accent3="accent3" accent4="accent4" accent5="accent5" accent6="accent6" hlink="hlink" folHlink="folHlink"/>
  <p:notesStyle>
    <a:lvl1pPr algn="l" defTabSz="382588" rtl="0" eaLnBrk="0" fontAlgn="base" hangingPunct="0">
      <a:spcBef>
        <a:spcPct val="30000"/>
      </a:spcBef>
      <a:spcAft>
        <a:spcPct val="0"/>
      </a:spcAft>
      <a:tabLst>
        <a:tab pos="446088" algn="l"/>
      </a:tabLst>
      <a:defRPr sz="1100" b="1" kern="1200">
        <a:solidFill>
          <a:schemeClr val="tx1"/>
        </a:solidFill>
        <a:latin typeface="Arial" pitchFamily="34" charset="0"/>
        <a:ea typeface="+mn-ea"/>
        <a:cs typeface="+mn-cs"/>
      </a:defRPr>
    </a:lvl1pPr>
    <a:lvl2pPr marL="114300" algn="l" defTabSz="382588" rtl="0" eaLnBrk="0" fontAlgn="base" hangingPunct="0">
      <a:spcBef>
        <a:spcPct val="30000"/>
      </a:spcBef>
      <a:spcAft>
        <a:spcPct val="0"/>
      </a:spcAft>
      <a:tabLst>
        <a:tab pos="446088" algn="l"/>
      </a:tabLst>
      <a:defRPr sz="1100" kern="1200">
        <a:solidFill>
          <a:schemeClr val="tx1"/>
        </a:solidFill>
        <a:latin typeface="Times New Roman" pitchFamily="18" charset="0"/>
        <a:ea typeface="+mn-ea"/>
        <a:cs typeface="+mn-cs"/>
      </a:defRPr>
    </a:lvl2pPr>
    <a:lvl3pPr marL="439738" indent="-211138" algn="l" defTabSz="382588" rtl="0" eaLnBrk="0" fontAlgn="base" hangingPunct="0">
      <a:spcBef>
        <a:spcPct val="30000"/>
      </a:spcBef>
      <a:spcAft>
        <a:spcPct val="0"/>
      </a:spcAft>
      <a:buChar char="•"/>
      <a:tabLst>
        <a:tab pos="446088" algn="l"/>
      </a:tabLst>
      <a:defRPr sz="1100" kern="1200">
        <a:solidFill>
          <a:schemeClr val="tx1"/>
        </a:solidFill>
        <a:latin typeface="Times New Roman" pitchFamily="18" charset="0"/>
        <a:ea typeface="+mn-ea"/>
        <a:cs typeface="+mn-cs"/>
      </a:defRPr>
    </a:lvl3pPr>
    <a:lvl4pPr marL="831850" indent="-212725" algn="l" defTabSz="382588" rtl="0" eaLnBrk="0" fontAlgn="base" hangingPunct="0">
      <a:spcBef>
        <a:spcPct val="30000"/>
      </a:spcBef>
      <a:spcAft>
        <a:spcPct val="0"/>
      </a:spcAft>
      <a:buChar char="–"/>
      <a:tabLst>
        <a:tab pos="446088" algn="l"/>
      </a:tabLst>
      <a:defRPr sz="1100" kern="1200">
        <a:solidFill>
          <a:schemeClr val="tx1"/>
        </a:solidFill>
        <a:latin typeface="Times New Roman" pitchFamily="18" charset="0"/>
        <a:ea typeface="+mn-ea"/>
        <a:cs typeface="+mn-cs"/>
      </a:defRPr>
    </a:lvl4pPr>
    <a:lvl5pPr marL="5675313" algn="l" defTabSz="382588" rtl="0" eaLnBrk="0" fontAlgn="base" hangingPunct="0">
      <a:spcBef>
        <a:spcPct val="30000"/>
      </a:spcBef>
      <a:spcAft>
        <a:spcPct val="0"/>
      </a:spcAft>
      <a:tabLst>
        <a:tab pos="446088" algn="l"/>
      </a:tabLs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6" name="Rectangle 2"/>
          <p:cNvSpPr>
            <a:spLocks noGrp="1" noChangeArrowheads="1"/>
          </p:cNvSpPr>
          <p:nvPr>
            <p:ph type="body" idx="1"/>
          </p:nvPr>
        </p:nvSpPr>
        <p:spPr>
          <a:noFill/>
          <a:ln/>
        </p:spPr>
        <p:txBody>
          <a:bodyPr/>
          <a:lstStyle/>
          <a:p>
            <a:pPr>
              <a:tabLst>
                <a:tab pos="1095375" algn="l"/>
                <a:tab pos="2192338" algn="l"/>
              </a:tabLst>
            </a:pPr>
            <a:endParaRPr lang="en-US"/>
          </a:p>
          <a:p>
            <a:pPr>
              <a:tabLst>
                <a:tab pos="1095375" algn="l"/>
                <a:tab pos="2192338" algn="l"/>
              </a:tabLst>
            </a:pPr>
            <a:endParaRPr lang="en-US"/>
          </a:p>
          <a:p>
            <a:pPr>
              <a:tabLst>
                <a:tab pos="1095375" algn="l"/>
                <a:tab pos="2192338" algn="l"/>
              </a:tabLst>
            </a:pPr>
            <a:endParaRPr lang="en-US"/>
          </a:p>
          <a:p>
            <a:pPr>
              <a:tabLst>
                <a:tab pos="1095375" algn="l"/>
                <a:tab pos="2192338" algn="l"/>
              </a:tabLst>
            </a:pPr>
            <a:endParaRPr lang="en-US"/>
          </a:p>
          <a:p>
            <a:pPr>
              <a:tabLst>
                <a:tab pos="1095375" algn="l"/>
                <a:tab pos="2192338" algn="l"/>
              </a:tabLst>
            </a:pPr>
            <a:endParaRPr lang="en-US"/>
          </a:p>
          <a:p>
            <a:pPr>
              <a:tabLst>
                <a:tab pos="1095375" algn="l"/>
                <a:tab pos="2192338" algn="l"/>
              </a:tabLst>
            </a:pPr>
            <a:endParaRPr lang="en-US"/>
          </a:p>
          <a:p>
            <a:pPr>
              <a:tabLst>
                <a:tab pos="1095375" algn="l"/>
                <a:tab pos="2192338" algn="l"/>
              </a:tabLst>
            </a:pPr>
            <a:endParaRPr lang="en-US"/>
          </a:p>
          <a:p>
            <a:pPr>
              <a:tabLst>
                <a:tab pos="1095375" algn="l"/>
                <a:tab pos="2192338" algn="l"/>
              </a:tabLst>
            </a:pPr>
            <a:endParaRPr lang="en-US"/>
          </a:p>
          <a:p>
            <a:pPr>
              <a:tabLst>
                <a:tab pos="1095375" algn="l"/>
                <a:tab pos="2192338" algn="l"/>
              </a:tabLst>
            </a:pPr>
            <a:endParaRPr lang="en-US"/>
          </a:p>
          <a:p>
            <a:pPr>
              <a:tabLst>
                <a:tab pos="1095375" algn="l"/>
                <a:tab pos="2192338" algn="l"/>
              </a:tabLst>
            </a:pPr>
            <a:endParaRPr lang="en-US"/>
          </a:p>
          <a:p>
            <a:pPr>
              <a:tabLst>
                <a:tab pos="1095375" algn="l"/>
                <a:tab pos="2192338" algn="l"/>
              </a:tabLst>
            </a:pPr>
            <a:endParaRPr lang="en-US"/>
          </a:p>
          <a:p>
            <a:pPr>
              <a:tabLst>
                <a:tab pos="1095375" algn="l"/>
                <a:tab pos="2192338" algn="l"/>
              </a:tabLst>
            </a:pPr>
            <a:endParaRPr lang="en-US"/>
          </a:p>
          <a:p>
            <a:pPr>
              <a:tabLst>
                <a:tab pos="1095375" algn="l"/>
                <a:tab pos="2192338" algn="l"/>
              </a:tabLst>
            </a:pPr>
            <a:r>
              <a:rPr lang="en-US" sz="1200">
                <a:solidFill>
                  <a:schemeClr val="accent2"/>
                </a:solidFill>
              </a:rPr>
              <a:t>Schedule:	Timing	Topic</a:t>
            </a:r>
          </a:p>
          <a:p>
            <a:pPr lvl="1">
              <a:tabLst>
                <a:tab pos="1095375" algn="l"/>
                <a:tab pos="2192338" algn="l"/>
              </a:tabLst>
            </a:pPr>
            <a:r>
              <a:rPr lang="en-US">
                <a:solidFill>
                  <a:schemeClr val="accent2"/>
                </a:solidFill>
              </a:rPr>
              <a:t>	25 minutes	Lecture</a:t>
            </a:r>
          </a:p>
          <a:p>
            <a:pPr lvl="1">
              <a:tabLst>
                <a:tab pos="1095375" algn="l"/>
                <a:tab pos="2192338" algn="l"/>
              </a:tabLst>
            </a:pPr>
            <a:r>
              <a:rPr lang="en-US">
                <a:solidFill>
                  <a:schemeClr val="accent2"/>
                </a:solidFill>
              </a:rPr>
              <a:t>	30 minutes	Practice</a:t>
            </a:r>
          </a:p>
          <a:p>
            <a:pPr lvl="1">
              <a:tabLst>
                <a:tab pos="1095375" algn="l"/>
                <a:tab pos="2192338" algn="l"/>
              </a:tabLst>
            </a:pPr>
            <a:r>
              <a:rPr lang="en-US">
                <a:solidFill>
                  <a:schemeClr val="accent2"/>
                </a:solidFill>
              </a:rPr>
              <a:t>	55 minutes	Total</a:t>
            </a:r>
          </a:p>
        </p:txBody>
      </p:sp>
      <p:sp>
        <p:nvSpPr>
          <p:cNvPr id="6147" name="Rectangle 3"/>
          <p:cNvSpPr>
            <a:spLocks noGrp="1" noRot="1" noChangeAspect="1" noChangeArrowheads="1" noTextEdit="1"/>
          </p:cNvSpPr>
          <p:nvPr>
            <p:ph type="sldImg"/>
          </p:nvPr>
        </p:nvSpPr>
        <p:spPr>
          <a:xfrm>
            <a:off x="474663" y="161925"/>
            <a:ext cx="5864225" cy="4397375"/>
          </a:xfrm>
          <a:ln cap="flat"/>
        </p:spPr>
      </p:sp>
    </p:spTree>
    <p:extLst>
      <p:ext uri="{BB962C8B-B14F-4D97-AF65-F5344CB8AC3E}">
        <p14:creationId xmlns:p14="http://schemas.microsoft.com/office/powerpoint/2010/main" val="40781113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ChangeArrowheads="1"/>
          </p:cNvSpPr>
          <p:nvPr/>
        </p:nvSpPr>
        <p:spPr bwMode="auto">
          <a:xfrm>
            <a:off x="3860800" y="0"/>
            <a:ext cx="29591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95" name="Rectangle 3"/>
          <p:cNvSpPr>
            <a:spLocks noChangeArrowheads="1"/>
          </p:cNvSpPr>
          <p:nvPr/>
        </p:nvSpPr>
        <p:spPr bwMode="auto">
          <a:xfrm>
            <a:off x="-3175" y="0"/>
            <a:ext cx="295592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96" name="Rectangle 4"/>
          <p:cNvSpPr>
            <a:spLocks noGrp="1" noChangeArrowheads="1"/>
          </p:cNvSpPr>
          <p:nvPr>
            <p:ph type="body" idx="1"/>
          </p:nvPr>
        </p:nvSpPr>
        <p:spPr>
          <a:noFill/>
          <a:ln/>
        </p:spPr>
        <p:txBody>
          <a:bodyPr/>
          <a:lstStyle/>
          <a:p>
            <a:pPr>
              <a:tabLst/>
            </a:pPr>
            <a:r>
              <a:rPr lang="en-US"/>
              <a:t>Lesson Aim</a:t>
            </a:r>
          </a:p>
          <a:p>
            <a:pPr lvl="1">
              <a:tabLst/>
            </a:pPr>
            <a:r>
              <a:rPr lang="en-US">
                <a:solidFill>
                  <a:srgbClr val="000000"/>
                </a:solidFill>
              </a:rPr>
              <a:t>In this lesson, you will learn about more advanced features of the SELECT statement. You can write subqueries in the WHERE clause of another SQL statement to obtain values based on an unknown conditional value. This lesson covers single-row subqueries and multiple-row subqueries.</a:t>
            </a:r>
          </a:p>
        </p:txBody>
      </p:sp>
      <p:sp>
        <p:nvSpPr>
          <p:cNvPr id="8197" name="Rectangle 5"/>
          <p:cNvSpPr>
            <a:spLocks noGrp="1" noRot="1" noChangeAspect="1" noChangeArrowheads="1" noTextEdit="1"/>
          </p:cNvSpPr>
          <p:nvPr>
            <p:ph type="sldImg"/>
          </p:nvPr>
        </p:nvSpPr>
        <p:spPr>
          <a:xfrm>
            <a:off x="474663" y="161925"/>
            <a:ext cx="5864225" cy="4397375"/>
          </a:xfrm>
          <a:ln cap="flat"/>
        </p:spPr>
      </p:sp>
    </p:spTree>
    <p:extLst>
      <p:ext uri="{BB962C8B-B14F-4D97-AF65-F5344CB8AC3E}">
        <p14:creationId xmlns:p14="http://schemas.microsoft.com/office/powerpoint/2010/main" val="6612656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ChangeArrowheads="1"/>
          </p:cNvSpPr>
          <p:nvPr/>
        </p:nvSpPr>
        <p:spPr bwMode="auto">
          <a:xfrm>
            <a:off x="3862388" y="-1588"/>
            <a:ext cx="2955925"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3" name="Rectangle 3"/>
          <p:cNvSpPr>
            <a:spLocks noChangeArrowheads="1"/>
          </p:cNvSpPr>
          <p:nvPr/>
        </p:nvSpPr>
        <p:spPr bwMode="auto">
          <a:xfrm>
            <a:off x="-1588" y="-1588"/>
            <a:ext cx="2952751"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4" name="Rectangle 4"/>
          <p:cNvSpPr>
            <a:spLocks noGrp="1" noChangeArrowheads="1"/>
          </p:cNvSpPr>
          <p:nvPr>
            <p:ph type="body" idx="1"/>
          </p:nvPr>
        </p:nvSpPr>
        <p:spPr>
          <a:xfrm>
            <a:off x="452438" y="4762500"/>
            <a:ext cx="5842000" cy="3795713"/>
          </a:xfrm>
          <a:noFill/>
          <a:ln/>
        </p:spPr>
        <p:txBody>
          <a:bodyPr/>
          <a:lstStyle/>
          <a:p>
            <a:pPr defTabSz="377825">
              <a:tabLst>
                <a:tab pos="442913" algn="l"/>
              </a:tabLst>
            </a:pPr>
            <a:r>
              <a:rPr lang="en-US"/>
              <a:t>Using a Subquery to Solve a Problem</a:t>
            </a:r>
          </a:p>
          <a:p>
            <a:pPr lvl="1" defTabSz="377825">
              <a:tabLst>
                <a:tab pos="442913" algn="l"/>
              </a:tabLst>
            </a:pPr>
            <a:r>
              <a:rPr lang="en-US"/>
              <a:t>Suppose you want to write a query to find out who earns a salary greater than Jones’ salary. </a:t>
            </a:r>
          </a:p>
          <a:p>
            <a:pPr lvl="1" defTabSz="377825">
              <a:tabLst>
                <a:tab pos="442913" algn="l"/>
              </a:tabLst>
            </a:pPr>
            <a:r>
              <a:rPr lang="en-US"/>
              <a:t>To solve this problem, you need </a:t>
            </a:r>
            <a:r>
              <a:rPr lang="en-US" i="1"/>
              <a:t>two</a:t>
            </a:r>
            <a:r>
              <a:rPr lang="en-US"/>
              <a:t> queries: one query to find what Jones earns and a second query to find who earns more than that amount. </a:t>
            </a:r>
          </a:p>
          <a:p>
            <a:pPr lvl="1" defTabSz="377825">
              <a:tabLst>
                <a:tab pos="442913" algn="l"/>
              </a:tabLst>
            </a:pPr>
            <a:r>
              <a:rPr lang="en-US"/>
              <a:t>You can solve this problem by combining the two queries, placing one query </a:t>
            </a:r>
            <a:r>
              <a:rPr lang="en-US" i="1"/>
              <a:t>inside</a:t>
            </a:r>
            <a:r>
              <a:rPr lang="en-US"/>
              <a:t> the other query. </a:t>
            </a:r>
          </a:p>
          <a:p>
            <a:pPr lvl="1" defTabSz="377825">
              <a:tabLst>
                <a:tab pos="442913" algn="l"/>
              </a:tabLst>
            </a:pPr>
            <a:r>
              <a:rPr lang="en-US"/>
              <a:t>The inner query or the </a:t>
            </a:r>
            <a:r>
              <a:rPr lang="en-US" i="1"/>
              <a:t>subquery</a:t>
            </a:r>
            <a:r>
              <a:rPr lang="en-US"/>
              <a:t> returns a value that is used by the outer query or the main query. Using a subquery is equivalent to performing two sequential queries and using the result of the first query as the search value in the second query.</a:t>
            </a:r>
          </a:p>
          <a:p>
            <a:pPr marL="436563" lvl="2" indent="-207963" defTabSz="377825">
              <a:buFontTx/>
              <a:buNone/>
              <a:tabLst>
                <a:tab pos="442913" algn="l"/>
              </a:tabLst>
            </a:pPr>
            <a:endParaRPr lang="en-US"/>
          </a:p>
          <a:p>
            <a:pPr defTabSz="377825">
              <a:tabLst>
                <a:tab pos="442913" algn="l"/>
              </a:tabLst>
            </a:pPr>
            <a:endParaRPr lang="en-US">
              <a:latin typeface="Times New Roman" pitchFamily="18" charset="0"/>
            </a:endParaRPr>
          </a:p>
          <a:p>
            <a:pPr defTabSz="377825">
              <a:tabLst>
                <a:tab pos="442913" algn="l"/>
              </a:tabLst>
            </a:pPr>
            <a:endParaRPr lang="en-US">
              <a:latin typeface="Times New Roman" pitchFamily="18" charset="0"/>
            </a:endParaRPr>
          </a:p>
          <a:p>
            <a:pPr defTabSz="377825">
              <a:tabLst>
                <a:tab pos="442913" algn="l"/>
              </a:tabLst>
            </a:pPr>
            <a:endParaRPr lang="en-US">
              <a:solidFill>
                <a:schemeClr val="accent1"/>
              </a:solidFill>
            </a:endParaRPr>
          </a:p>
          <a:p>
            <a:pPr lvl="1" defTabSz="377825">
              <a:tabLst>
                <a:tab pos="442913" algn="l"/>
              </a:tabLst>
            </a:pPr>
            <a:endParaRPr lang="en-US"/>
          </a:p>
          <a:p>
            <a:pPr defTabSz="377825">
              <a:tabLst>
                <a:tab pos="442913" algn="l"/>
              </a:tabLst>
            </a:pPr>
            <a:endParaRPr lang="en-US" b="0">
              <a:latin typeface="Times New Roman" pitchFamily="18" charset="0"/>
            </a:endParaRPr>
          </a:p>
        </p:txBody>
      </p:sp>
      <p:sp>
        <p:nvSpPr>
          <p:cNvPr id="10245" name="Rectangle 5"/>
          <p:cNvSpPr>
            <a:spLocks noGrp="1" noRot="1" noChangeAspect="1" noChangeArrowheads="1" noTextEdit="1"/>
          </p:cNvSpPr>
          <p:nvPr>
            <p:ph type="sldImg"/>
          </p:nvPr>
        </p:nvSpPr>
        <p:spPr>
          <a:xfrm>
            <a:off x="441325" y="168275"/>
            <a:ext cx="5927725" cy="4445000"/>
          </a:xfrm>
          <a:ln cap="flat"/>
        </p:spPr>
      </p:sp>
    </p:spTree>
    <p:extLst>
      <p:ext uri="{BB962C8B-B14F-4D97-AF65-F5344CB8AC3E}">
        <p14:creationId xmlns:p14="http://schemas.microsoft.com/office/powerpoint/2010/main" val="34353024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body" idx="1"/>
          </p:nvPr>
        </p:nvSpPr>
        <p:spPr>
          <a:noFill/>
          <a:ln/>
        </p:spPr>
        <p:txBody>
          <a:bodyPr/>
          <a:lstStyle/>
          <a:p>
            <a:r>
              <a:rPr lang="en-US"/>
              <a:t>Subqueries</a:t>
            </a:r>
          </a:p>
          <a:p>
            <a:pPr lvl="1"/>
            <a:r>
              <a:rPr lang="en-US"/>
              <a:t>A </a:t>
            </a:r>
            <a:r>
              <a:rPr lang="en-US">
                <a:solidFill>
                  <a:srgbClr val="FC0128"/>
                </a:solidFill>
              </a:rPr>
              <a:t>subquery </a:t>
            </a:r>
            <a:r>
              <a:rPr lang="en-US"/>
              <a:t>is a SELECT statement that is embedded in a clause of another SELECT statement. </a:t>
            </a:r>
            <a:r>
              <a:rPr lang="en-US">
                <a:latin typeface="Times" charset="0"/>
              </a:rPr>
              <a:t>You can build powerful statements out of simple ones by using subqueries. They can be very useful when you need to select rows from a table with a condition that depends on the data in the table itself.</a:t>
            </a:r>
          </a:p>
          <a:p>
            <a:pPr lvl="1"/>
            <a:r>
              <a:rPr lang="en-US"/>
              <a:t>You can place the subquery in a number of SQL clauses: </a:t>
            </a:r>
          </a:p>
          <a:p>
            <a:pPr lvl="2"/>
            <a:r>
              <a:rPr lang="en-US"/>
              <a:t>WHERE clause</a:t>
            </a:r>
          </a:p>
          <a:p>
            <a:pPr lvl="2"/>
            <a:r>
              <a:rPr lang="en-US"/>
              <a:t>HAVING clause</a:t>
            </a:r>
          </a:p>
          <a:p>
            <a:pPr lvl="2"/>
            <a:r>
              <a:rPr lang="en-US"/>
              <a:t>FROM clause</a:t>
            </a:r>
          </a:p>
          <a:p>
            <a:pPr lvl="1"/>
            <a:r>
              <a:rPr lang="en-US"/>
              <a:t>In the syntax:</a:t>
            </a:r>
          </a:p>
          <a:p>
            <a:pPr algn="just">
              <a:lnSpc>
                <a:spcPct val="112000"/>
              </a:lnSpc>
              <a:spcBef>
                <a:spcPct val="0"/>
              </a:spcBef>
            </a:pPr>
            <a:r>
              <a:rPr lang="en-US" b="0" i="1">
                <a:latin typeface="Times" charset="0"/>
              </a:rPr>
              <a:t>	operator</a:t>
            </a:r>
            <a:r>
              <a:rPr lang="en-US" b="0">
                <a:latin typeface="Times" charset="0"/>
              </a:rPr>
              <a:t> 	includes a comparison operator such as &gt;, =, or IN</a:t>
            </a:r>
          </a:p>
          <a:p>
            <a:pPr lvl="1"/>
            <a:r>
              <a:rPr lang="en-US" b="1"/>
              <a:t>Note:</a:t>
            </a:r>
            <a:r>
              <a:rPr lang="en-US"/>
              <a:t> Comparison operators fall into two classes: single-row operators (&gt;, =, &gt;=, &lt;, &lt;&gt;, &lt;=) and multiple-row operators (IN, ANY, ALL).</a:t>
            </a:r>
          </a:p>
          <a:p>
            <a:pPr lvl="1"/>
            <a:r>
              <a:rPr lang="en-US"/>
              <a:t>The subquery is often referred to as a nested SELECT, sub-SELECT, or inner SELECT statement. The subquery generally executes first, and its output is used to complete the query condition for the main or outer query.</a:t>
            </a:r>
          </a:p>
          <a:p>
            <a:r>
              <a:rPr lang="en-US">
                <a:solidFill>
                  <a:schemeClr val="accent2"/>
                </a:solidFill>
              </a:rPr>
              <a:t>Class Management Note</a:t>
            </a:r>
          </a:p>
          <a:p>
            <a:pPr lvl="1"/>
            <a:r>
              <a:rPr lang="en-US">
                <a:solidFill>
                  <a:schemeClr val="accent2"/>
                </a:solidFill>
              </a:rPr>
              <a:t>Additionally, subqueries can be placed in the CREATE VIEW statement, CREATE TABLE statement, UPDATE clause, INTO clause of an INSERT statement, and SET clause of an UPDATE statement.</a:t>
            </a:r>
            <a:r>
              <a:rPr lang="en-US"/>
              <a:t> </a:t>
            </a:r>
          </a:p>
        </p:txBody>
      </p:sp>
      <p:sp>
        <p:nvSpPr>
          <p:cNvPr id="12291" name="Rectangle 3"/>
          <p:cNvSpPr>
            <a:spLocks noGrp="1" noRot="1" noChangeAspect="1" noChangeArrowheads="1" noTextEdit="1"/>
          </p:cNvSpPr>
          <p:nvPr>
            <p:ph type="sldImg"/>
          </p:nvPr>
        </p:nvSpPr>
        <p:spPr>
          <a:xfrm>
            <a:off x="474663" y="161925"/>
            <a:ext cx="5864225" cy="4397375"/>
          </a:xfrm>
          <a:ln cap="flat"/>
        </p:spPr>
      </p:sp>
    </p:spTree>
    <p:extLst>
      <p:ext uri="{BB962C8B-B14F-4D97-AF65-F5344CB8AC3E}">
        <p14:creationId xmlns:p14="http://schemas.microsoft.com/office/powerpoint/2010/main" val="21865868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Rot="1" noChangeAspect="1" noChangeArrowheads="1" noTextEdit="1"/>
          </p:cNvSpPr>
          <p:nvPr>
            <p:ph type="sldImg"/>
          </p:nvPr>
        </p:nvSpPr>
        <p:spPr>
          <a:xfrm>
            <a:off x="441325" y="168275"/>
            <a:ext cx="5927725" cy="4445000"/>
          </a:xfrm>
          <a:ln cap="flat"/>
        </p:spPr>
      </p:sp>
      <p:sp>
        <p:nvSpPr>
          <p:cNvPr id="14339" name="Rectangle 3"/>
          <p:cNvSpPr>
            <a:spLocks noGrp="1" noChangeArrowheads="1"/>
          </p:cNvSpPr>
          <p:nvPr>
            <p:ph type="body" idx="1"/>
          </p:nvPr>
        </p:nvSpPr>
        <p:spPr>
          <a:xfrm>
            <a:off x="452438" y="4762500"/>
            <a:ext cx="5778500" cy="3795713"/>
          </a:xfrm>
          <a:noFill/>
          <a:ln/>
        </p:spPr>
        <p:txBody>
          <a:bodyPr/>
          <a:lstStyle/>
          <a:p>
            <a:pPr defTabSz="377825">
              <a:tabLst>
                <a:tab pos="442913" algn="l"/>
              </a:tabLst>
            </a:pPr>
            <a:r>
              <a:rPr lang="en-US"/>
              <a:t>Using a Subquery</a:t>
            </a:r>
          </a:p>
          <a:p>
            <a:pPr lvl="1" defTabSz="377825">
              <a:tabLst>
                <a:tab pos="442913" algn="l"/>
              </a:tabLst>
            </a:pPr>
            <a:r>
              <a:rPr lang="en-US"/>
              <a:t>In the slide, the inner query determines the salary of employee 7566. The outer query takes the result of the inner query and uses this result to display all the employees who earn more than this amount.</a:t>
            </a:r>
          </a:p>
          <a:p>
            <a:pPr lvl="1" defTabSz="377825">
              <a:tabLst>
                <a:tab pos="442913" algn="l"/>
              </a:tabLst>
            </a:pPr>
            <a:endParaRPr lang="en-US"/>
          </a:p>
          <a:p>
            <a:pPr lvl="1" defTabSz="377825">
              <a:tabLst>
                <a:tab pos="442913" algn="l"/>
              </a:tabLst>
            </a:pPr>
            <a:endParaRPr lang="en-US"/>
          </a:p>
          <a:p>
            <a:pPr lvl="1" defTabSz="377825">
              <a:tabLst>
                <a:tab pos="442913" algn="l"/>
              </a:tabLst>
            </a:pPr>
            <a:endParaRPr lang="en-US"/>
          </a:p>
          <a:p>
            <a:pPr lvl="1" defTabSz="377825">
              <a:tabLst>
                <a:tab pos="442913" algn="l"/>
              </a:tabLst>
            </a:pPr>
            <a:endParaRPr lang="en-US"/>
          </a:p>
          <a:p>
            <a:pPr lvl="1" defTabSz="377825">
              <a:tabLst>
                <a:tab pos="442913" algn="l"/>
              </a:tabLst>
            </a:pPr>
            <a:endParaRPr lang="en-US"/>
          </a:p>
          <a:p>
            <a:pPr lvl="1" defTabSz="377825">
              <a:tabLst>
                <a:tab pos="442913" algn="l"/>
              </a:tabLst>
            </a:pPr>
            <a:endParaRPr lang="en-US"/>
          </a:p>
          <a:p>
            <a:pPr lvl="1" defTabSz="377825">
              <a:tabLst>
                <a:tab pos="442913" algn="l"/>
              </a:tabLst>
            </a:pPr>
            <a:endParaRPr lang="en-US"/>
          </a:p>
          <a:p>
            <a:pPr lvl="1" defTabSz="377825">
              <a:tabLst>
                <a:tab pos="442913" algn="l"/>
              </a:tabLst>
            </a:pPr>
            <a:endParaRPr lang="en-US"/>
          </a:p>
          <a:p>
            <a:pPr defTabSz="377825">
              <a:tabLst>
                <a:tab pos="442913" algn="l"/>
              </a:tabLst>
            </a:pPr>
            <a:endParaRPr lang="en-US">
              <a:solidFill>
                <a:schemeClr val="accent1"/>
              </a:solidFill>
            </a:endParaRPr>
          </a:p>
          <a:p>
            <a:pPr defTabSz="377825">
              <a:tabLst>
                <a:tab pos="442913" algn="l"/>
              </a:tabLst>
            </a:pPr>
            <a:endParaRPr lang="en-US">
              <a:solidFill>
                <a:schemeClr val="accent1"/>
              </a:solidFill>
            </a:endParaRPr>
          </a:p>
          <a:p>
            <a:pPr defTabSz="377825">
              <a:tabLst>
                <a:tab pos="442913" algn="l"/>
              </a:tabLst>
            </a:pPr>
            <a:r>
              <a:rPr lang="en-US">
                <a:solidFill>
                  <a:schemeClr val="accent2"/>
                </a:solidFill>
              </a:rPr>
              <a:t>Class Management Note</a:t>
            </a:r>
          </a:p>
          <a:p>
            <a:pPr lvl="1" defTabSz="377825">
              <a:tabLst>
                <a:tab pos="442913" algn="l"/>
              </a:tabLst>
            </a:pPr>
            <a:r>
              <a:rPr lang="en-US">
                <a:solidFill>
                  <a:schemeClr val="accent2"/>
                </a:solidFill>
              </a:rPr>
              <a:t>Execute the subquery (inner query) on its own first to show the value that the subquery returns. Then execute the outer query using the result returned by the inner query. Finally, execute the entire query (containing the subquery) and show that the result is the same.</a:t>
            </a:r>
            <a:r>
              <a:rPr lang="en-US">
                <a:solidFill>
                  <a:schemeClr val="accent1"/>
                </a:solidFill>
              </a:rPr>
              <a:t> </a:t>
            </a:r>
          </a:p>
        </p:txBody>
      </p:sp>
    </p:spTree>
    <p:extLst>
      <p:ext uri="{BB962C8B-B14F-4D97-AF65-F5344CB8AC3E}">
        <p14:creationId xmlns:p14="http://schemas.microsoft.com/office/powerpoint/2010/main" val="407160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3860800" y="0"/>
            <a:ext cx="29591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387" name="Rectangle 3"/>
          <p:cNvSpPr>
            <a:spLocks noChangeArrowheads="1"/>
          </p:cNvSpPr>
          <p:nvPr/>
        </p:nvSpPr>
        <p:spPr bwMode="auto">
          <a:xfrm>
            <a:off x="-3175" y="0"/>
            <a:ext cx="295592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388" name="Rectangle 4"/>
          <p:cNvSpPr>
            <a:spLocks noGrp="1" noChangeArrowheads="1"/>
          </p:cNvSpPr>
          <p:nvPr>
            <p:ph type="body" idx="1"/>
          </p:nvPr>
        </p:nvSpPr>
        <p:spPr>
          <a:noFill/>
          <a:ln/>
        </p:spPr>
        <p:txBody>
          <a:bodyPr/>
          <a:lstStyle/>
          <a:p>
            <a:r>
              <a:rPr lang="en-US"/>
              <a:t>Guidelines for Using Subqueries</a:t>
            </a:r>
          </a:p>
          <a:p>
            <a:pPr lvl="2"/>
            <a:r>
              <a:rPr lang="en-US"/>
              <a:t>A subquery must be</a:t>
            </a:r>
            <a:r>
              <a:rPr lang="en-US">
                <a:latin typeface="Times" charset="0"/>
              </a:rPr>
              <a:t> enclosed in parentheses.</a:t>
            </a:r>
          </a:p>
          <a:p>
            <a:pPr lvl="2"/>
            <a:r>
              <a:rPr lang="en-US"/>
              <a:t>A subquery must appear on the right side of the comparison operator.</a:t>
            </a:r>
          </a:p>
          <a:p>
            <a:pPr lvl="2"/>
            <a:r>
              <a:rPr lang="en-US"/>
              <a:t>Subqueries cannot contain an ORDER BY clause. You can have only one ORDER BY clause for a SELECT statement, and if specified it must be the last clause in the main SELECT statement.</a:t>
            </a:r>
          </a:p>
          <a:p>
            <a:pPr lvl="2"/>
            <a:r>
              <a:rPr lang="en-US"/>
              <a:t>Two classes of comparison operators are used in subqueries: single-row operators and </a:t>
            </a:r>
            <a:br>
              <a:rPr lang="en-US"/>
            </a:br>
            <a:r>
              <a:rPr lang="en-US"/>
              <a:t>multiple-row operators.</a:t>
            </a:r>
          </a:p>
          <a:p>
            <a:pPr lvl="1"/>
            <a:endParaRPr lang="en-US"/>
          </a:p>
          <a:p>
            <a:pPr lvl="1"/>
            <a:endParaRPr lang="en-US"/>
          </a:p>
          <a:p>
            <a:pPr lvl="1"/>
            <a:endParaRPr lang="en-US"/>
          </a:p>
          <a:p>
            <a:pPr lvl="1"/>
            <a:endParaRPr lang="en-US"/>
          </a:p>
          <a:p>
            <a:pPr lvl="1"/>
            <a:endParaRPr lang="en-US"/>
          </a:p>
          <a:p>
            <a:pPr lvl="1"/>
            <a:endParaRPr lang="en-US"/>
          </a:p>
          <a:p>
            <a:r>
              <a:rPr lang="en-US">
                <a:solidFill>
                  <a:schemeClr val="accent2"/>
                </a:solidFill>
              </a:rPr>
              <a:t>Class Management Note</a:t>
            </a:r>
          </a:p>
          <a:p>
            <a:pPr lvl="1"/>
            <a:r>
              <a:rPr lang="en-US">
                <a:solidFill>
                  <a:schemeClr val="accent2"/>
                </a:solidFill>
              </a:rPr>
              <a:t>A subquery can execute multiple times in correlated subqueries, which are not included in this course. Students may ask how many subqueries can be written. The Oracle Server imposes no limit on the number of subqueries. The limit is related to the buffer size that the query uses.</a:t>
            </a:r>
          </a:p>
        </p:txBody>
      </p:sp>
      <p:sp>
        <p:nvSpPr>
          <p:cNvPr id="16389" name="Rectangle 5"/>
          <p:cNvSpPr>
            <a:spLocks noGrp="1" noRot="1" noChangeAspect="1" noChangeArrowheads="1" noTextEdit="1"/>
          </p:cNvSpPr>
          <p:nvPr>
            <p:ph type="sldImg"/>
          </p:nvPr>
        </p:nvSpPr>
        <p:spPr>
          <a:xfrm>
            <a:off x="474663" y="161925"/>
            <a:ext cx="5864225" cy="4397375"/>
          </a:xfrm>
          <a:ln cap="flat"/>
        </p:spPr>
      </p:sp>
    </p:spTree>
    <p:extLst>
      <p:ext uri="{BB962C8B-B14F-4D97-AF65-F5344CB8AC3E}">
        <p14:creationId xmlns:p14="http://schemas.microsoft.com/office/powerpoint/2010/main" val="17466389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ChangeArrowheads="1"/>
          </p:cNvSpPr>
          <p:nvPr/>
        </p:nvSpPr>
        <p:spPr bwMode="auto">
          <a:xfrm>
            <a:off x="3862388" y="-1588"/>
            <a:ext cx="2955925"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35" name="Rectangle 3"/>
          <p:cNvSpPr>
            <a:spLocks noChangeArrowheads="1"/>
          </p:cNvSpPr>
          <p:nvPr/>
        </p:nvSpPr>
        <p:spPr bwMode="auto">
          <a:xfrm>
            <a:off x="-1588" y="-1588"/>
            <a:ext cx="2952751"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36" name="Rectangle 4"/>
          <p:cNvSpPr>
            <a:spLocks noGrp="1" noChangeArrowheads="1"/>
          </p:cNvSpPr>
          <p:nvPr>
            <p:ph type="body" idx="1"/>
          </p:nvPr>
        </p:nvSpPr>
        <p:spPr>
          <a:xfrm>
            <a:off x="452438" y="4762500"/>
            <a:ext cx="5789612" cy="3795713"/>
          </a:xfrm>
          <a:noFill/>
          <a:ln/>
        </p:spPr>
        <p:txBody>
          <a:bodyPr/>
          <a:lstStyle/>
          <a:p>
            <a:pPr defTabSz="377825">
              <a:tabLst>
                <a:tab pos="442913" algn="l"/>
              </a:tabLst>
            </a:pPr>
            <a:r>
              <a:rPr lang="en-US"/>
              <a:t>Types of Subqueries</a:t>
            </a:r>
          </a:p>
          <a:p>
            <a:pPr marL="436563" lvl="2" indent="-207963" defTabSz="377825">
              <a:tabLst>
                <a:tab pos="442913" algn="l"/>
              </a:tabLst>
            </a:pPr>
            <a:r>
              <a:rPr lang="en-US">
                <a:solidFill>
                  <a:srgbClr val="FC0128"/>
                </a:solidFill>
              </a:rPr>
              <a:t>Single-row subqueries:</a:t>
            </a:r>
            <a:r>
              <a:rPr lang="en-US"/>
              <a:t> Queries that return only one row from the inner SELECT statement</a:t>
            </a:r>
          </a:p>
          <a:p>
            <a:pPr marL="436563" lvl="2" indent="-207963" defTabSz="377825">
              <a:tabLst>
                <a:tab pos="442913" algn="l"/>
              </a:tabLst>
            </a:pPr>
            <a:r>
              <a:rPr lang="en-US">
                <a:solidFill>
                  <a:srgbClr val="FC0128"/>
                </a:solidFill>
              </a:rPr>
              <a:t>Multiple-row subqueries:</a:t>
            </a:r>
            <a:r>
              <a:rPr lang="en-US"/>
              <a:t> Queries that return more than one row from the inner SELECT statement</a:t>
            </a:r>
          </a:p>
          <a:p>
            <a:pPr marL="436563" lvl="2" indent="-207963" defTabSz="377825">
              <a:tabLst>
                <a:tab pos="442913" algn="l"/>
              </a:tabLst>
            </a:pPr>
            <a:r>
              <a:rPr lang="en-US">
                <a:solidFill>
                  <a:srgbClr val="FC0128"/>
                </a:solidFill>
              </a:rPr>
              <a:t>Multiple-column subqueries:</a:t>
            </a:r>
            <a:r>
              <a:rPr lang="en-US"/>
              <a:t> Queries that return more than one column from the inner SELECT statement</a:t>
            </a:r>
          </a:p>
          <a:p>
            <a:pPr defTabSz="377825">
              <a:tabLst>
                <a:tab pos="442913" algn="l"/>
              </a:tabLst>
            </a:pPr>
            <a:endParaRPr lang="en-US">
              <a:solidFill>
                <a:schemeClr val="accent1"/>
              </a:solidFill>
            </a:endParaRPr>
          </a:p>
          <a:p>
            <a:pPr defTabSz="377825">
              <a:tabLst>
                <a:tab pos="442913" algn="l"/>
              </a:tabLst>
            </a:pPr>
            <a:endParaRPr lang="en-US">
              <a:solidFill>
                <a:schemeClr val="accent1"/>
              </a:solidFill>
            </a:endParaRPr>
          </a:p>
          <a:p>
            <a:pPr defTabSz="377825">
              <a:tabLst>
                <a:tab pos="442913" algn="l"/>
              </a:tabLst>
            </a:pPr>
            <a:endParaRPr lang="en-US">
              <a:solidFill>
                <a:schemeClr val="accent1"/>
              </a:solidFill>
            </a:endParaRPr>
          </a:p>
          <a:p>
            <a:pPr defTabSz="377825">
              <a:tabLst>
                <a:tab pos="442913" algn="l"/>
              </a:tabLst>
            </a:pPr>
            <a:endParaRPr lang="en-US">
              <a:solidFill>
                <a:schemeClr val="accent1"/>
              </a:solidFill>
            </a:endParaRPr>
          </a:p>
          <a:p>
            <a:pPr defTabSz="377825">
              <a:tabLst>
                <a:tab pos="442913" algn="l"/>
              </a:tabLst>
            </a:pPr>
            <a:endParaRPr lang="en-US">
              <a:solidFill>
                <a:schemeClr val="accent1"/>
              </a:solidFill>
            </a:endParaRPr>
          </a:p>
          <a:p>
            <a:pPr defTabSz="377825">
              <a:tabLst>
                <a:tab pos="442913" algn="l"/>
              </a:tabLst>
            </a:pPr>
            <a:endParaRPr lang="en-US">
              <a:solidFill>
                <a:schemeClr val="accent1"/>
              </a:solidFill>
            </a:endParaRPr>
          </a:p>
        </p:txBody>
      </p:sp>
      <p:sp>
        <p:nvSpPr>
          <p:cNvPr id="18437" name="Rectangle 5"/>
          <p:cNvSpPr>
            <a:spLocks noGrp="1" noRot="1" noChangeAspect="1" noChangeArrowheads="1" noTextEdit="1"/>
          </p:cNvSpPr>
          <p:nvPr>
            <p:ph type="sldImg"/>
          </p:nvPr>
        </p:nvSpPr>
        <p:spPr>
          <a:xfrm>
            <a:off x="441325" y="168275"/>
            <a:ext cx="5927725" cy="4445000"/>
          </a:xfrm>
          <a:ln cap="flat"/>
        </p:spPr>
      </p:sp>
    </p:spTree>
    <p:extLst>
      <p:ext uri="{BB962C8B-B14F-4D97-AF65-F5344CB8AC3E}">
        <p14:creationId xmlns:p14="http://schemas.microsoft.com/office/powerpoint/2010/main" val="24176250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spect="1" noChangeArrowheads="1" noTextEdit="1"/>
          </p:cNvSpPr>
          <p:nvPr>
            <p:ph type="sldImg"/>
          </p:nvPr>
        </p:nvSpPr>
        <p:spPr>
          <a:xfrm>
            <a:off x="441325" y="168275"/>
            <a:ext cx="5927725" cy="4445000"/>
          </a:xfrm>
          <a:ln cap="flat"/>
        </p:spPr>
      </p:sp>
      <p:sp>
        <p:nvSpPr>
          <p:cNvPr id="20483" name="Rectangle 3"/>
          <p:cNvSpPr>
            <a:spLocks noChangeArrowheads="1"/>
          </p:cNvSpPr>
          <p:nvPr/>
        </p:nvSpPr>
        <p:spPr bwMode="auto">
          <a:xfrm>
            <a:off x="3862388" y="-1588"/>
            <a:ext cx="2955925"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4" name="Rectangle 4"/>
          <p:cNvSpPr>
            <a:spLocks noChangeArrowheads="1"/>
          </p:cNvSpPr>
          <p:nvPr/>
        </p:nvSpPr>
        <p:spPr bwMode="auto">
          <a:xfrm>
            <a:off x="-1588" y="-1588"/>
            <a:ext cx="2952751"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5" name="Rectangle 5"/>
          <p:cNvSpPr>
            <a:spLocks noGrp="1" noChangeArrowheads="1"/>
          </p:cNvSpPr>
          <p:nvPr>
            <p:ph type="body" idx="1"/>
          </p:nvPr>
        </p:nvSpPr>
        <p:spPr>
          <a:xfrm>
            <a:off x="452438" y="4762500"/>
            <a:ext cx="5802312" cy="3795713"/>
          </a:xfrm>
          <a:noFill/>
          <a:ln/>
        </p:spPr>
        <p:txBody>
          <a:bodyPr/>
          <a:lstStyle/>
          <a:p>
            <a:pPr defTabSz="377825">
              <a:tabLst>
                <a:tab pos="442913" algn="l"/>
              </a:tabLst>
            </a:pPr>
            <a:r>
              <a:rPr lang="en-US"/>
              <a:t>Single-Row Subqueries</a:t>
            </a:r>
          </a:p>
          <a:p>
            <a:pPr lvl="1" defTabSz="377825">
              <a:tabLst>
                <a:tab pos="442913" algn="l"/>
              </a:tabLst>
            </a:pPr>
            <a:r>
              <a:rPr lang="en-US"/>
              <a:t>A </a:t>
            </a:r>
            <a:r>
              <a:rPr lang="en-US" i="1">
                <a:solidFill>
                  <a:srgbClr val="FC0128"/>
                </a:solidFill>
              </a:rPr>
              <a:t>single-row subquery</a:t>
            </a:r>
            <a:r>
              <a:rPr lang="en-US">
                <a:solidFill>
                  <a:srgbClr val="FC0128"/>
                </a:solidFill>
              </a:rPr>
              <a:t> </a:t>
            </a:r>
            <a:r>
              <a:rPr lang="en-US"/>
              <a:t>is one that returns one row from the inner SELECT statement. This type of subquery uses a single-row operator. The slide gives a list of single-row operators. </a:t>
            </a:r>
          </a:p>
          <a:p>
            <a:pPr defTabSz="377825">
              <a:tabLst>
                <a:tab pos="442913" algn="l"/>
              </a:tabLst>
            </a:pPr>
            <a:r>
              <a:rPr lang="en-US"/>
              <a:t>Example</a:t>
            </a:r>
          </a:p>
          <a:p>
            <a:pPr lvl="1" defTabSz="377825">
              <a:tabLst>
                <a:tab pos="442913" algn="l"/>
              </a:tabLst>
            </a:pPr>
            <a:r>
              <a:rPr lang="en-US"/>
              <a:t>Display the employees whose job title is the same as that of employee 7369.  </a:t>
            </a:r>
          </a:p>
          <a:p>
            <a:pPr defTabSz="377825">
              <a:spcBef>
                <a:spcPct val="0"/>
              </a:spcBef>
              <a:tabLst>
                <a:tab pos="442913" algn="l"/>
              </a:tabLst>
            </a:pPr>
            <a:endParaRPr lang="en-US">
              <a:solidFill>
                <a:srgbClr val="000000"/>
              </a:solidFill>
              <a:latin typeface="Courier New" pitchFamily="49" charset="0"/>
            </a:endParaRPr>
          </a:p>
          <a:p>
            <a:pPr defTabSz="377825">
              <a:spcBef>
                <a:spcPct val="0"/>
              </a:spcBef>
              <a:tabLst>
                <a:tab pos="442913" algn="l"/>
              </a:tabLst>
            </a:pPr>
            <a:r>
              <a:rPr lang="en-US">
                <a:solidFill>
                  <a:srgbClr val="000000"/>
                </a:solidFill>
                <a:latin typeface="Courier New" pitchFamily="49" charset="0"/>
              </a:rPr>
              <a:t> </a:t>
            </a:r>
          </a:p>
        </p:txBody>
      </p:sp>
      <p:sp>
        <p:nvSpPr>
          <p:cNvPr id="20486" name="Rectangle 6"/>
          <p:cNvSpPr>
            <a:spLocks noChangeArrowheads="1"/>
          </p:cNvSpPr>
          <p:nvPr/>
        </p:nvSpPr>
        <p:spPr bwMode="auto">
          <a:xfrm>
            <a:off x="655638" y="5843588"/>
            <a:ext cx="5618162" cy="123666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7" name="Rectangle 7"/>
          <p:cNvSpPr>
            <a:spLocks noChangeArrowheads="1"/>
          </p:cNvSpPr>
          <p:nvPr/>
        </p:nvSpPr>
        <p:spPr bwMode="auto">
          <a:xfrm>
            <a:off x="652463" y="7213600"/>
            <a:ext cx="5630862" cy="112712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8" name="Rectangle 8"/>
          <p:cNvSpPr>
            <a:spLocks noChangeArrowheads="1"/>
          </p:cNvSpPr>
          <p:nvPr/>
        </p:nvSpPr>
        <p:spPr bwMode="auto">
          <a:xfrm>
            <a:off x="698500" y="7258050"/>
            <a:ext cx="5224463" cy="1095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8900" tIns="42863" rIns="88900" bIns="42863">
            <a:spAutoFit/>
          </a:bodyPr>
          <a:lstStyle/>
          <a:p>
            <a:pPr algn="l" defTabSz="828675">
              <a:lnSpc>
                <a:spcPct val="100000"/>
              </a:lnSpc>
              <a:spcBef>
                <a:spcPct val="0"/>
              </a:spcBef>
            </a:pPr>
            <a:r>
              <a:rPr lang="en-US" sz="1100" b="0">
                <a:solidFill>
                  <a:srgbClr val="000000"/>
                </a:solidFill>
                <a:latin typeface="Courier New" pitchFamily="49" charset="0"/>
              </a:rPr>
              <a:t>ENAME      JOB</a:t>
            </a:r>
          </a:p>
          <a:p>
            <a:pPr algn="l" defTabSz="828675">
              <a:lnSpc>
                <a:spcPct val="100000"/>
              </a:lnSpc>
              <a:spcBef>
                <a:spcPct val="0"/>
              </a:spcBef>
            </a:pPr>
            <a:r>
              <a:rPr lang="en-US" sz="1100" b="0">
                <a:solidFill>
                  <a:srgbClr val="000000"/>
                </a:solidFill>
                <a:latin typeface="Courier New" pitchFamily="49" charset="0"/>
              </a:rPr>
              <a:t>---------- ---------</a:t>
            </a:r>
          </a:p>
          <a:p>
            <a:pPr algn="l" defTabSz="828675">
              <a:lnSpc>
                <a:spcPct val="100000"/>
              </a:lnSpc>
              <a:spcBef>
                <a:spcPct val="0"/>
              </a:spcBef>
            </a:pPr>
            <a:r>
              <a:rPr lang="en-US" sz="1100" b="0">
                <a:solidFill>
                  <a:srgbClr val="000000"/>
                </a:solidFill>
                <a:latin typeface="Courier New" pitchFamily="49" charset="0"/>
              </a:rPr>
              <a:t>JAMES      CLERK</a:t>
            </a:r>
          </a:p>
          <a:p>
            <a:pPr algn="l" defTabSz="828675">
              <a:lnSpc>
                <a:spcPct val="100000"/>
              </a:lnSpc>
              <a:spcBef>
                <a:spcPct val="0"/>
              </a:spcBef>
            </a:pPr>
            <a:r>
              <a:rPr lang="en-US" sz="1100" b="0">
                <a:solidFill>
                  <a:srgbClr val="000000"/>
                </a:solidFill>
                <a:latin typeface="Courier New" pitchFamily="49" charset="0"/>
              </a:rPr>
              <a:t>SMITH      CLERK</a:t>
            </a:r>
          </a:p>
          <a:p>
            <a:pPr algn="l" defTabSz="828675">
              <a:lnSpc>
                <a:spcPct val="100000"/>
              </a:lnSpc>
              <a:spcBef>
                <a:spcPct val="0"/>
              </a:spcBef>
            </a:pPr>
            <a:r>
              <a:rPr lang="en-US" sz="1100" b="0">
                <a:solidFill>
                  <a:srgbClr val="000000"/>
                </a:solidFill>
                <a:latin typeface="Courier New" pitchFamily="49" charset="0"/>
              </a:rPr>
              <a:t>ADAMS      CLERK</a:t>
            </a:r>
          </a:p>
          <a:p>
            <a:pPr algn="l" defTabSz="828675">
              <a:lnSpc>
                <a:spcPct val="100000"/>
              </a:lnSpc>
              <a:spcBef>
                <a:spcPct val="0"/>
              </a:spcBef>
            </a:pPr>
            <a:r>
              <a:rPr lang="en-US" sz="1100" b="0">
                <a:solidFill>
                  <a:srgbClr val="000000"/>
                </a:solidFill>
                <a:latin typeface="Courier New" pitchFamily="49" charset="0"/>
              </a:rPr>
              <a:t>MILLER     CLERK</a:t>
            </a:r>
          </a:p>
        </p:txBody>
      </p:sp>
      <p:sp>
        <p:nvSpPr>
          <p:cNvPr id="20489" name="Rectangle 9"/>
          <p:cNvSpPr>
            <a:spLocks noChangeArrowheads="1"/>
          </p:cNvSpPr>
          <p:nvPr/>
        </p:nvSpPr>
        <p:spPr bwMode="auto">
          <a:xfrm>
            <a:off x="714375" y="5907088"/>
            <a:ext cx="4208463" cy="1138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l" defTabSz="403225">
              <a:lnSpc>
                <a:spcPct val="100000"/>
              </a:lnSpc>
              <a:spcBef>
                <a:spcPct val="0"/>
              </a:spcBef>
              <a:spcAft>
                <a:spcPct val="24000"/>
              </a:spcAft>
            </a:pPr>
            <a:r>
              <a:rPr lang="en-US" sz="1100">
                <a:solidFill>
                  <a:schemeClr val="tx1"/>
                </a:solidFill>
                <a:latin typeface="Courier New" pitchFamily="49" charset="0"/>
              </a:rPr>
              <a:t>SQL&gt; SELECT   ename, job</a:t>
            </a:r>
            <a:br>
              <a:rPr lang="en-US" sz="1100">
                <a:solidFill>
                  <a:schemeClr val="tx1"/>
                </a:solidFill>
                <a:latin typeface="Courier New" pitchFamily="49" charset="0"/>
              </a:rPr>
            </a:br>
            <a:r>
              <a:rPr lang="en-US" sz="1100">
                <a:solidFill>
                  <a:schemeClr val="tx1"/>
                </a:solidFill>
                <a:latin typeface="Courier New" pitchFamily="49" charset="0"/>
              </a:rPr>
              <a:t>   2  FROM     emp</a:t>
            </a:r>
            <a:br>
              <a:rPr lang="en-US" sz="1100">
                <a:solidFill>
                  <a:schemeClr val="tx1"/>
                </a:solidFill>
                <a:latin typeface="Courier New" pitchFamily="49" charset="0"/>
              </a:rPr>
            </a:br>
            <a:r>
              <a:rPr lang="en-US" sz="1100">
                <a:solidFill>
                  <a:schemeClr val="tx1"/>
                </a:solidFill>
                <a:latin typeface="Courier New" pitchFamily="49" charset="0"/>
              </a:rPr>
              <a:t>   3  WHERE    job = </a:t>
            </a:r>
          </a:p>
          <a:p>
            <a:pPr algn="l" defTabSz="403225">
              <a:lnSpc>
                <a:spcPct val="100000"/>
              </a:lnSpc>
              <a:spcBef>
                <a:spcPct val="0"/>
              </a:spcBef>
              <a:spcAft>
                <a:spcPct val="24000"/>
              </a:spcAft>
            </a:pPr>
            <a:r>
              <a:rPr lang="en-US" sz="1100">
                <a:solidFill>
                  <a:schemeClr val="tx1"/>
                </a:solidFill>
                <a:latin typeface="Courier New" pitchFamily="49" charset="0"/>
              </a:rPr>
              <a:t>   4		      	(SELECT  job</a:t>
            </a:r>
            <a:br>
              <a:rPr lang="en-US" sz="1100">
                <a:solidFill>
                  <a:schemeClr val="tx1"/>
                </a:solidFill>
                <a:latin typeface="Courier New" pitchFamily="49" charset="0"/>
              </a:rPr>
            </a:br>
            <a:r>
              <a:rPr lang="en-US" sz="1100">
                <a:solidFill>
                  <a:schemeClr val="tx1"/>
                </a:solidFill>
                <a:latin typeface="Courier New" pitchFamily="49" charset="0"/>
              </a:rPr>
              <a:t>   5	     			 FROM     emp</a:t>
            </a:r>
            <a:br>
              <a:rPr lang="en-US" sz="1100">
                <a:solidFill>
                  <a:schemeClr val="tx1"/>
                </a:solidFill>
                <a:latin typeface="Courier New" pitchFamily="49" charset="0"/>
              </a:rPr>
            </a:br>
            <a:r>
              <a:rPr lang="en-US" sz="1100">
                <a:solidFill>
                  <a:schemeClr val="tx1"/>
                </a:solidFill>
                <a:latin typeface="Courier New" pitchFamily="49" charset="0"/>
              </a:rPr>
              <a:t>   6	     			 WHERE    empno = 7369);</a:t>
            </a:r>
          </a:p>
        </p:txBody>
      </p:sp>
    </p:spTree>
    <p:extLst>
      <p:ext uri="{BB962C8B-B14F-4D97-AF65-F5344CB8AC3E}">
        <p14:creationId xmlns:p14="http://schemas.microsoft.com/office/powerpoint/2010/main" val="287626527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Rot="1" noChangeAspect="1" noChangeArrowheads="1" noTextEdit="1"/>
          </p:cNvSpPr>
          <p:nvPr>
            <p:ph type="sldImg"/>
          </p:nvPr>
        </p:nvSpPr>
        <p:spPr>
          <a:xfrm>
            <a:off x="474663" y="161925"/>
            <a:ext cx="5864225" cy="4397375"/>
          </a:xfrm>
          <a:ln cap="flat"/>
        </p:spPr>
      </p:sp>
      <p:sp>
        <p:nvSpPr>
          <p:cNvPr id="22531" name="Rectangle 3"/>
          <p:cNvSpPr>
            <a:spLocks noGrp="1" noChangeArrowheads="1"/>
          </p:cNvSpPr>
          <p:nvPr>
            <p:ph type="body" idx="1"/>
          </p:nvPr>
        </p:nvSpPr>
        <p:spPr>
          <a:noFill/>
          <a:ln/>
        </p:spPr>
        <p:txBody>
          <a:bodyPr/>
          <a:lstStyle/>
          <a:p>
            <a:r>
              <a:rPr lang="en-US"/>
              <a:t>Executing Single-Row Subqueries</a:t>
            </a:r>
          </a:p>
          <a:p>
            <a:pPr lvl="1"/>
            <a:r>
              <a:rPr lang="en-US"/>
              <a:t>A SELECT statement can be considered as a query block. The example on the slide displays employees whose job title is the same as that of employee 7369 and whose salary is greater than that of employee 7876. </a:t>
            </a:r>
          </a:p>
          <a:p>
            <a:pPr lvl="1"/>
            <a:r>
              <a:rPr lang="en-US"/>
              <a:t>The example consists of three query blocks: the outer query and two inner queries. The inner query blocks are executed first, producing the query results: CLERK and 1100, respectively. The outer query block is then processed and uses the values returned by the inner queries to complete its search conditions.  </a:t>
            </a:r>
          </a:p>
          <a:p>
            <a:pPr lvl="1"/>
            <a:r>
              <a:rPr lang="en-US"/>
              <a:t>Both inner queries return single values (CLERK and 1100, respectively), so this SQL statement is called a single-row subquery.</a:t>
            </a:r>
          </a:p>
          <a:p>
            <a:pPr lvl="1"/>
            <a:r>
              <a:rPr lang="en-US" b="1"/>
              <a:t>Note:</a:t>
            </a:r>
            <a:r>
              <a:rPr lang="en-US"/>
              <a:t> The outer and inner queries can get data from different tables.</a:t>
            </a:r>
          </a:p>
        </p:txBody>
      </p:sp>
    </p:spTree>
    <p:extLst>
      <p:ext uri="{BB962C8B-B14F-4D97-AF65-F5344CB8AC3E}">
        <p14:creationId xmlns:p14="http://schemas.microsoft.com/office/powerpoint/2010/main" val="37627485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body" idx="1"/>
          </p:nvPr>
        </p:nvSpPr>
        <p:spPr>
          <a:noFill/>
          <a:ln/>
        </p:spPr>
        <p:txBody>
          <a:bodyPr/>
          <a:lstStyle/>
          <a:p>
            <a:pPr>
              <a:tabLst/>
            </a:pPr>
            <a:r>
              <a:rPr lang="en-US"/>
              <a:t>Using Group Functions in a Subquery</a:t>
            </a:r>
          </a:p>
          <a:p>
            <a:pPr lvl="1">
              <a:tabLst/>
            </a:pPr>
            <a:r>
              <a:rPr lang="en-US"/>
              <a:t>You can display data from a main query by using a group function in a subquery to return a single row. The subquery is in parentheses and is placed after the comparison operator.</a:t>
            </a:r>
          </a:p>
          <a:p>
            <a:pPr lvl="1">
              <a:tabLst/>
            </a:pPr>
            <a:r>
              <a:rPr lang="en-US"/>
              <a:t>The example on the slide displays the employee name, job title, and salary of all employees whose salary is equal to the minimum salary. The MIN group function returns a single value (800) to the outer query.</a:t>
            </a:r>
          </a:p>
          <a:p>
            <a:pPr lvl="1">
              <a:tabLst/>
            </a:pPr>
            <a:endParaRPr lang="en-US"/>
          </a:p>
          <a:p>
            <a:pPr>
              <a:tabLst/>
            </a:pPr>
            <a:endParaRPr lang="en-US" b="0">
              <a:latin typeface="Times New Roman" pitchFamily="18" charset="0"/>
            </a:endParaRPr>
          </a:p>
        </p:txBody>
      </p:sp>
      <p:sp>
        <p:nvSpPr>
          <p:cNvPr id="24579" name="Rectangle 3"/>
          <p:cNvSpPr>
            <a:spLocks noGrp="1" noRot="1" noChangeAspect="1" noChangeArrowheads="1" noTextEdit="1"/>
          </p:cNvSpPr>
          <p:nvPr>
            <p:ph type="sldImg"/>
          </p:nvPr>
        </p:nvSpPr>
        <p:spPr>
          <a:xfrm>
            <a:off x="474663" y="161925"/>
            <a:ext cx="5864225" cy="4397375"/>
          </a:xfrm>
          <a:ln cap="flat"/>
        </p:spPr>
      </p:sp>
    </p:spTree>
    <p:extLst>
      <p:ext uri="{BB962C8B-B14F-4D97-AF65-F5344CB8AC3E}">
        <p14:creationId xmlns:p14="http://schemas.microsoft.com/office/powerpoint/2010/main" val="1339910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Rot="1" noChangeAspect="1" noChangeArrowheads="1" noTextEdit="1"/>
          </p:cNvSpPr>
          <p:nvPr>
            <p:ph type="sldImg"/>
          </p:nvPr>
        </p:nvSpPr>
        <p:spPr>
          <a:xfrm>
            <a:off x="474663" y="161925"/>
            <a:ext cx="5864225" cy="4397375"/>
          </a:xfrm>
          <a:ln cap="flat"/>
        </p:spPr>
      </p:sp>
      <p:sp>
        <p:nvSpPr>
          <p:cNvPr id="26627" name="Rectangle 3"/>
          <p:cNvSpPr>
            <a:spLocks noGrp="1" noChangeArrowheads="1"/>
          </p:cNvSpPr>
          <p:nvPr>
            <p:ph type="body" idx="1"/>
          </p:nvPr>
        </p:nvSpPr>
        <p:spPr>
          <a:noFill/>
          <a:ln/>
        </p:spPr>
        <p:txBody>
          <a:bodyPr/>
          <a:lstStyle/>
          <a:p>
            <a:r>
              <a:rPr lang="en-US"/>
              <a:t>HAVING Clause with Subqueries</a:t>
            </a:r>
          </a:p>
          <a:p>
            <a:pPr lvl="1"/>
            <a:r>
              <a:rPr lang="en-US"/>
              <a:t>You can use subqueries not only in the WHERE clause, but also in the HAVING clause. The Oracle Server executes the subquery, and the results are returned into the HAVING clause of the main query.</a:t>
            </a:r>
          </a:p>
          <a:p>
            <a:pPr lvl="1"/>
            <a:r>
              <a:rPr lang="en-US"/>
              <a:t>The SQL statement on the slide displays all the departments that have a minimum salary greater than that of department 20.</a:t>
            </a:r>
          </a:p>
          <a:p>
            <a:pPr lvl="1"/>
            <a:endParaRPr lang="en-US"/>
          </a:p>
          <a:p>
            <a:pPr lvl="1"/>
            <a:endParaRPr lang="en-US"/>
          </a:p>
          <a:p>
            <a:endParaRPr lang="en-US"/>
          </a:p>
          <a:p>
            <a:endParaRPr lang="en-US"/>
          </a:p>
          <a:p>
            <a:r>
              <a:rPr lang="en-US"/>
              <a:t>Example</a:t>
            </a:r>
          </a:p>
          <a:p>
            <a:pPr lvl="1"/>
            <a:r>
              <a:rPr lang="en-US"/>
              <a:t>Find the job with the lowest average salary.</a:t>
            </a:r>
          </a:p>
          <a:p>
            <a:endParaRPr lang="en-US" b="0">
              <a:latin typeface="Times New Roman" pitchFamily="18" charset="0"/>
            </a:endParaRPr>
          </a:p>
        </p:txBody>
      </p:sp>
      <p:sp>
        <p:nvSpPr>
          <p:cNvPr id="26628" name="Rectangle 4"/>
          <p:cNvSpPr>
            <a:spLocks noChangeArrowheads="1"/>
          </p:cNvSpPr>
          <p:nvPr/>
        </p:nvSpPr>
        <p:spPr bwMode="auto">
          <a:xfrm>
            <a:off x="625475" y="5805488"/>
            <a:ext cx="5635625" cy="82391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88900" tIns="42863" rIns="88900" bIns="42863" anchor="ctr"/>
          <a:lstStyle/>
          <a:p>
            <a:pPr algn="l" defTabSz="828675">
              <a:lnSpc>
                <a:spcPct val="70000"/>
              </a:lnSpc>
              <a:spcBef>
                <a:spcPct val="0"/>
              </a:spcBef>
              <a:tabLst>
                <a:tab pos="1141413" algn="l"/>
              </a:tabLst>
            </a:pPr>
            <a:r>
              <a:rPr lang="en-US" sz="2500" b="0">
                <a:solidFill>
                  <a:schemeClr val="tx1"/>
                </a:solidFill>
                <a:latin typeface="Times New Roman" pitchFamily="18" charset="0"/>
              </a:rPr>
              <a:t>   </a:t>
            </a:r>
            <a:r>
              <a:rPr lang="en-US" sz="1100" b="0">
                <a:solidFill>
                  <a:schemeClr val="tx1"/>
                </a:solidFill>
                <a:latin typeface="Courier New" pitchFamily="49" charset="0"/>
              </a:rPr>
              <a:t>DEPTNO   MIN(SAL)</a:t>
            </a:r>
          </a:p>
          <a:p>
            <a:pPr algn="l" defTabSz="828675">
              <a:lnSpc>
                <a:spcPct val="100000"/>
              </a:lnSpc>
              <a:spcBef>
                <a:spcPct val="0"/>
              </a:spcBef>
              <a:tabLst>
                <a:tab pos="1141413" algn="l"/>
              </a:tabLst>
            </a:pPr>
            <a:r>
              <a:rPr lang="en-US" sz="1100" b="0">
                <a:solidFill>
                  <a:schemeClr val="tx1"/>
                </a:solidFill>
                <a:latin typeface="Courier New" pitchFamily="49" charset="0"/>
              </a:rPr>
              <a:t>--------- ---------</a:t>
            </a:r>
          </a:p>
          <a:p>
            <a:pPr algn="l" defTabSz="828675">
              <a:lnSpc>
                <a:spcPct val="100000"/>
              </a:lnSpc>
              <a:spcBef>
                <a:spcPct val="0"/>
              </a:spcBef>
              <a:tabLst>
                <a:tab pos="1141413" algn="l"/>
              </a:tabLst>
            </a:pPr>
            <a:r>
              <a:rPr lang="en-US" sz="1100" b="0">
                <a:solidFill>
                  <a:schemeClr val="tx1"/>
                </a:solidFill>
                <a:latin typeface="Courier New" pitchFamily="49" charset="0"/>
              </a:rPr>
              <a:t>       10      1300</a:t>
            </a:r>
          </a:p>
          <a:p>
            <a:pPr algn="l" defTabSz="828675">
              <a:lnSpc>
                <a:spcPct val="100000"/>
              </a:lnSpc>
              <a:spcBef>
                <a:spcPct val="0"/>
              </a:spcBef>
              <a:tabLst>
                <a:tab pos="1141413" algn="l"/>
              </a:tabLst>
            </a:pPr>
            <a:r>
              <a:rPr lang="en-US" sz="1100" b="0">
                <a:solidFill>
                  <a:schemeClr val="tx1"/>
                </a:solidFill>
                <a:latin typeface="Courier New" pitchFamily="49" charset="0"/>
              </a:rPr>
              <a:t>       30       950</a:t>
            </a:r>
          </a:p>
        </p:txBody>
      </p:sp>
      <p:sp>
        <p:nvSpPr>
          <p:cNvPr id="26629" name="Rectangle 5"/>
          <p:cNvSpPr>
            <a:spLocks noChangeArrowheads="1"/>
          </p:cNvSpPr>
          <p:nvPr/>
        </p:nvSpPr>
        <p:spPr bwMode="auto">
          <a:xfrm>
            <a:off x="612775" y="7154863"/>
            <a:ext cx="5653088" cy="110966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630" name="Rectangle 6"/>
          <p:cNvSpPr>
            <a:spLocks noChangeArrowheads="1"/>
          </p:cNvSpPr>
          <p:nvPr/>
        </p:nvSpPr>
        <p:spPr bwMode="auto">
          <a:xfrm>
            <a:off x="650875" y="7154863"/>
            <a:ext cx="5689600" cy="1095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88900" tIns="42863" rIns="88900" bIns="42863">
            <a:spAutoFit/>
          </a:bodyPr>
          <a:lstStyle/>
          <a:p>
            <a:pPr algn="l" defTabSz="828675">
              <a:lnSpc>
                <a:spcPct val="100000"/>
              </a:lnSpc>
              <a:spcBef>
                <a:spcPct val="0"/>
              </a:spcBef>
              <a:tabLst>
                <a:tab pos="1141413" algn="l"/>
                <a:tab pos="2070100" algn="l"/>
                <a:tab pos="2789238" algn="l"/>
              </a:tabLst>
            </a:pPr>
            <a:r>
              <a:rPr lang="en-US" sz="1100">
                <a:solidFill>
                  <a:schemeClr val="tx1"/>
                </a:solidFill>
                <a:latin typeface="Courier New" pitchFamily="49" charset="0"/>
              </a:rPr>
              <a:t>SQL&gt; SELECT	job, AVG(sal)</a:t>
            </a:r>
          </a:p>
          <a:p>
            <a:pPr algn="l" defTabSz="828675">
              <a:lnSpc>
                <a:spcPct val="100000"/>
              </a:lnSpc>
              <a:spcBef>
                <a:spcPct val="0"/>
              </a:spcBef>
              <a:tabLst>
                <a:tab pos="1141413" algn="l"/>
                <a:tab pos="2070100" algn="l"/>
                <a:tab pos="2789238" algn="l"/>
              </a:tabLst>
            </a:pPr>
            <a:r>
              <a:rPr lang="en-US" sz="1100">
                <a:solidFill>
                  <a:schemeClr val="tx1"/>
                </a:solidFill>
                <a:latin typeface="Courier New" pitchFamily="49" charset="0"/>
              </a:rPr>
              <a:t>  2  FROM	emp</a:t>
            </a:r>
          </a:p>
          <a:p>
            <a:pPr algn="l" defTabSz="828675">
              <a:lnSpc>
                <a:spcPct val="100000"/>
              </a:lnSpc>
              <a:spcBef>
                <a:spcPct val="0"/>
              </a:spcBef>
              <a:tabLst>
                <a:tab pos="1141413" algn="l"/>
                <a:tab pos="2070100" algn="l"/>
                <a:tab pos="2789238" algn="l"/>
              </a:tabLst>
            </a:pPr>
            <a:r>
              <a:rPr lang="en-US" sz="1100">
                <a:solidFill>
                  <a:schemeClr val="tx1"/>
                </a:solidFill>
                <a:latin typeface="Courier New" pitchFamily="49" charset="0"/>
              </a:rPr>
              <a:t>  3  GROUP BY	job</a:t>
            </a:r>
          </a:p>
          <a:p>
            <a:pPr algn="l" defTabSz="828675">
              <a:lnSpc>
                <a:spcPct val="100000"/>
              </a:lnSpc>
              <a:spcBef>
                <a:spcPct val="0"/>
              </a:spcBef>
              <a:tabLst>
                <a:tab pos="1141413" algn="l"/>
                <a:tab pos="2070100" algn="l"/>
                <a:tab pos="2789238" algn="l"/>
              </a:tabLst>
            </a:pPr>
            <a:r>
              <a:rPr lang="en-US" sz="1100">
                <a:solidFill>
                  <a:schemeClr val="tx1"/>
                </a:solidFill>
                <a:latin typeface="Courier New" pitchFamily="49" charset="0"/>
              </a:rPr>
              <a:t>  4  HAVING	AVG(sal) = (SELECT	 MIN(AVG(sal))</a:t>
            </a:r>
          </a:p>
          <a:p>
            <a:pPr algn="l" defTabSz="828675">
              <a:lnSpc>
                <a:spcPct val="100000"/>
              </a:lnSpc>
              <a:spcBef>
                <a:spcPct val="0"/>
              </a:spcBef>
              <a:tabLst>
                <a:tab pos="1141413" algn="l"/>
                <a:tab pos="2070100" algn="l"/>
                <a:tab pos="2789238" algn="l"/>
              </a:tabLst>
            </a:pPr>
            <a:r>
              <a:rPr lang="en-US" sz="1100">
                <a:solidFill>
                  <a:schemeClr val="tx1"/>
                </a:solidFill>
                <a:latin typeface="Courier New" pitchFamily="49" charset="0"/>
              </a:rPr>
              <a:t>  5		FROM      EMP</a:t>
            </a:r>
          </a:p>
          <a:p>
            <a:pPr algn="l" defTabSz="828675">
              <a:lnSpc>
                <a:spcPct val="100000"/>
              </a:lnSpc>
              <a:spcBef>
                <a:spcPct val="0"/>
              </a:spcBef>
              <a:tabLst>
                <a:tab pos="1141413" algn="l"/>
                <a:tab pos="2070100" algn="l"/>
                <a:tab pos="2789238" algn="l"/>
              </a:tabLst>
            </a:pPr>
            <a:r>
              <a:rPr lang="en-US" sz="1100">
                <a:solidFill>
                  <a:schemeClr val="tx1"/>
                </a:solidFill>
                <a:latin typeface="Courier New" pitchFamily="49" charset="0"/>
              </a:rPr>
              <a:t>  6		GROUP BY  job);</a:t>
            </a:r>
          </a:p>
        </p:txBody>
      </p:sp>
    </p:spTree>
    <p:extLst>
      <p:ext uri="{BB962C8B-B14F-4D97-AF65-F5344CB8AC3E}">
        <p14:creationId xmlns:p14="http://schemas.microsoft.com/office/powerpoint/2010/main" val="36525429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Rot="1" noChangeAspect="1" noChangeArrowheads="1" noTextEdit="1"/>
          </p:cNvSpPr>
          <p:nvPr>
            <p:ph type="sldImg"/>
          </p:nvPr>
        </p:nvSpPr>
        <p:spPr>
          <a:xfrm>
            <a:off x="441325" y="168275"/>
            <a:ext cx="5927725" cy="4445000"/>
          </a:xfrm>
          <a:ln cap="flat"/>
        </p:spPr>
      </p:sp>
      <p:sp>
        <p:nvSpPr>
          <p:cNvPr id="28675" name="Rectangle 3"/>
          <p:cNvSpPr>
            <a:spLocks noGrp="1" noChangeArrowheads="1"/>
          </p:cNvSpPr>
          <p:nvPr>
            <p:ph type="body" idx="1"/>
          </p:nvPr>
        </p:nvSpPr>
        <p:spPr>
          <a:xfrm>
            <a:off x="452438" y="4762500"/>
            <a:ext cx="5862637" cy="3795713"/>
          </a:xfrm>
          <a:noFill/>
          <a:ln/>
        </p:spPr>
        <p:txBody>
          <a:bodyPr/>
          <a:lstStyle/>
          <a:p>
            <a:pPr defTabSz="377825">
              <a:tabLst>
                <a:tab pos="442913" algn="l"/>
              </a:tabLst>
            </a:pPr>
            <a:r>
              <a:rPr lang="en-US"/>
              <a:t>Errors with Subqueries</a:t>
            </a:r>
          </a:p>
          <a:p>
            <a:pPr lvl="1" defTabSz="377825">
              <a:tabLst>
                <a:tab pos="442913" algn="l"/>
              </a:tabLst>
            </a:pPr>
            <a:r>
              <a:rPr lang="en-US"/>
              <a:t>One common error with subqueries is more than one row returned for a single-row subquery.</a:t>
            </a:r>
          </a:p>
          <a:p>
            <a:pPr lvl="1" defTabSz="377825">
              <a:tabLst>
                <a:tab pos="442913" algn="l"/>
              </a:tabLst>
            </a:pPr>
            <a:r>
              <a:rPr lang="en-US"/>
              <a:t>In the SQL statement on the slide, the subquery contains a GROUP BY (deptno) clause, which implies that the subquery will return multiple rows, one for each group it finds. In this case, the result of the subquery will be 800, 1300, and 950. </a:t>
            </a:r>
          </a:p>
          <a:p>
            <a:pPr lvl="1" defTabSz="377825">
              <a:tabLst>
                <a:tab pos="442913" algn="l"/>
              </a:tabLst>
            </a:pPr>
            <a:r>
              <a:rPr lang="en-US"/>
              <a:t>The outer query takes the results of the subquery (800, 950, 1300) and uses these results in its WHERE clause. The WHERE clause contains an equal (=) operator, a single-row comparison operator expecting only one value. The = operator cannot accept more than one value from the subquery and hence generates the error.</a:t>
            </a:r>
          </a:p>
          <a:p>
            <a:pPr lvl="1" defTabSz="377825">
              <a:tabLst>
                <a:tab pos="442913" algn="l"/>
              </a:tabLst>
            </a:pPr>
            <a:r>
              <a:rPr lang="en-US"/>
              <a:t>To correct this error, change the = operator to IN. </a:t>
            </a:r>
          </a:p>
        </p:txBody>
      </p:sp>
    </p:spTree>
    <p:extLst>
      <p:ext uri="{BB962C8B-B14F-4D97-AF65-F5344CB8AC3E}">
        <p14:creationId xmlns:p14="http://schemas.microsoft.com/office/powerpoint/2010/main" val="404620306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Rot="1" noChangeAspect="1" noChangeArrowheads="1" noTextEdit="1"/>
          </p:cNvSpPr>
          <p:nvPr>
            <p:ph type="sldImg"/>
          </p:nvPr>
        </p:nvSpPr>
        <p:spPr>
          <a:xfrm>
            <a:off x="441325" y="168275"/>
            <a:ext cx="5927725" cy="4445000"/>
          </a:xfrm>
          <a:ln cap="flat"/>
        </p:spPr>
      </p:sp>
      <p:sp>
        <p:nvSpPr>
          <p:cNvPr id="30723" name="Rectangle 3"/>
          <p:cNvSpPr>
            <a:spLocks noGrp="1" noChangeArrowheads="1"/>
          </p:cNvSpPr>
          <p:nvPr>
            <p:ph type="body" idx="1"/>
          </p:nvPr>
        </p:nvSpPr>
        <p:spPr>
          <a:xfrm>
            <a:off x="452438" y="4762500"/>
            <a:ext cx="5815012" cy="3795713"/>
          </a:xfrm>
          <a:noFill/>
          <a:ln/>
        </p:spPr>
        <p:txBody>
          <a:bodyPr/>
          <a:lstStyle/>
          <a:p>
            <a:pPr defTabSz="377825">
              <a:tabLst>
                <a:tab pos="442913" algn="l"/>
              </a:tabLst>
            </a:pPr>
            <a:r>
              <a:rPr lang="en-US"/>
              <a:t>Problems with Subqueries </a:t>
            </a:r>
          </a:p>
          <a:p>
            <a:pPr lvl="1" defTabSz="377825">
              <a:tabLst>
                <a:tab pos="442913" algn="l"/>
              </a:tabLst>
            </a:pPr>
            <a:r>
              <a:rPr lang="en-US"/>
              <a:t>A common problem with subqueries is no rows being returned by the inner query. </a:t>
            </a:r>
          </a:p>
          <a:p>
            <a:pPr lvl="1" defTabSz="377825">
              <a:tabLst>
                <a:tab pos="442913" algn="l"/>
              </a:tabLst>
            </a:pPr>
            <a:r>
              <a:rPr lang="en-US"/>
              <a:t>In the SQL statement on the slide, the subquery contains a WHERE (ename=</a:t>
            </a:r>
            <a:r>
              <a:rPr lang="en-US">
                <a:latin typeface="Courier New" pitchFamily="49" charset="0"/>
              </a:rPr>
              <a:t>'</a:t>
            </a:r>
            <a:r>
              <a:rPr lang="en-US"/>
              <a:t>SMYTHE</a:t>
            </a:r>
            <a:r>
              <a:rPr lang="en-US">
                <a:latin typeface="Courier New" pitchFamily="49" charset="0"/>
              </a:rPr>
              <a:t>'</a:t>
            </a:r>
            <a:r>
              <a:rPr lang="en-US"/>
              <a:t>) clause. Presumably, the intention is to find the employee whose name is Smythe. The statement seems to be correct but selects no rows when executed. </a:t>
            </a:r>
          </a:p>
          <a:p>
            <a:pPr lvl="1" defTabSz="377825">
              <a:tabLst>
                <a:tab pos="442913" algn="l"/>
              </a:tabLst>
            </a:pPr>
            <a:r>
              <a:rPr lang="en-US"/>
              <a:t>The problem is that Smythe is misspelled. There is no employee named Smythe. So the subquery returns no rows. The outer query takes the results of the subquery (null) and uses these results in its WHERE clause. The outer query finds no employee with a job title equal to null and so returns no rows.</a:t>
            </a:r>
          </a:p>
          <a:p>
            <a:pPr lvl="1" defTabSz="377825">
              <a:tabLst>
                <a:tab pos="442913" algn="l"/>
              </a:tabLst>
            </a:pPr>
            <a:endParaRPr lang="en-US"/>
          </a:p>
          <a:p>
            <a:pPr lvl="1" defTabSz="377825">
              <a:tabLst>
                <a:tab pos="442913" algn="l"/>
              </a:tabLst>
            </a:pPr>
            <a:endParaRPr lang="en-US"/>
          </a:p>
          <a:p>
            <a:pPr lvl="1" defTabSz="377825">
              <a:tabLst>
                <a:tab pos="442913" algn="l"/>
              </a:tabLst>
            </a:pPr>
            <a:endParaRPr lang="en-US"/>
          </a:p>
          <a:p>
            <a:pPr lvl="1" defTabSz="377825">
              <a:tabLst>
                <a:tab pos="442913" algn="l"/>
              </a:tabLst>
            </a:pPr>
            <a:endParaRPr lang="en-US"/>
          </a:p>
          <a:p>
            <a:pPr defTabSz="377825">
              <a:tabLst>
                <a:tab pos="442913" algn="l"/>
              </a:tabLst>
            </a:pPr>
            <a:endParaRPr lang="en-US" b="0">
              <a:latin typeface="Times New Roman" pitchFamily="18" charset="0"/>
            </a:endParaRPr>
          </a:p>
        </p:txBody>
      </p:sp>
    </p:spTree>
    <p:extLst>
      <p:ext uri="{BB962C8B-B14F-4D97-AF65-F5344CB8AC3E}">
        <p14:creationId xmlns:p14="http://schemas.microsoft.com/office/powerpoint/2010/main" val="11014610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Rot="1" noChangeAspect="1" noChangeArrowheads="1" noTextEdit="1"/>
          </p:cNvSpPr>
          <p:nvPr>
            <p:ph type="sldImg"/>
          </p:nvPr>
        </p:nvSpPr>
        <p:spPr>
          <a:xfrm>
            <a:off x="474663" y="161925"/>
            <a:ext cx="5864225" cy="4397375"/>
          </a:xfrm>
          <a:ln cap="flat"/>
        </p:spPr>
      </p:sp>
      <p:sp>
        <p:nvSpPr>
          <p:cNvPr id="32771" name="Rectangle 3"/>
          <p:cNvSpPr>
            <a:spLocks noGrp="1" noChangeArrowheads="1"/>
          </p:cNvSpPr>
          <p:nvPr>
            <p:ph type="body" idx="1"/>
          </p:nvPr>
        </p:nvSpPr>
        <p:spPr>
          <a:noFill/>
          <a:ln/>
        </p:spPr>
        <p:txBody>
          <a:bodyPr/>
          <a:lstStyle/>
          <a:p>
            <a:pPr>
              <a:tabLst>
                <a:tab pos="285750" algn="l"/>
                <a:tab pos="1289050" algn="l"/>
              </a:tabLst>
            </a:pPr>
            <a:r>
              <a:rPr lang="en-US"/>
              <a:t>Multiple-Row Subqueries</a:t>
            </a:r>
          </a:p>
          <a:p>
            <a:pPr lvl="1">
              <a:tabLst>
                <a:tab pos="285750" algn="l"/>
                <a:tab pos="1289050" algn="l"/>
              </a:tabLst>
            </a:pPr>
            <a:r>
              <a:rPr lang="en-US"/>
              <a:t>Subqueries that return more than one row are called </a:t>
            </a:r>
            <a:r>
              <a:rPr lang="en-US" i="1">
                <a:solidFill>
                  <a:srgbClr val="FC0128"/>
                </a:solidFill>
              </a:rPr>
              <a:t>multiple-row subqueries</a:t>
            </a:r>
            <a:r>
              <a:rPr lang="en-US">
                <a:solidFill>
                  <a:srgbClr val="FC0128"/>
                </a:solidFill>
              </a:rPr>
              <a:t>.</a:t>
            </a:r>
            <a:r>
              <a:rPr lang="en-US"/>
              <a:t> You use a multiple-row operator, instead of a single-row operator, with a multiple-row subquery. The multiple-row operator expects one or more values. </a:t>
            </a:r>
          </a:p>
          <a:p>
            <a:pPr lvl="1">
              <a:tabLst>
                <a:tab pos="285750" algn="l"/>
                <a:tab pos="1289050" algn="l"/>
              </a:tabLst>
            </a:pPr>
            <a:endParaRPr lang="en-US"/>
          </a:p>
          <a:p>
            <a:pPr lvl="1">
              <a:tabLst>
                <a:tab pos="285750" algn="l"/>
                <a:tab pos="1289050" algn="l"/>
              </a:tabLst>
            </a:pPr>
            <a:endParaRPr lang="en-US"/>
          </a:p>
          <a:p>
            <a:pPr lvl="1">
              <a:tabLst>
                <a:tab pos="285750" algn="l"/>
                <a:tab pos="1289050" algn="l"/>
              </a:tabLst>
            </a:pPr>
            <a:endParaRPr lang="en-US"/>
          </a:p>
          <a:p>
            <a:pPr lvl="1">
              <a:tabLst>
                <a:tab pos="285750" algn="l"/>
                <a:tab pos="1289050" algn="l"/>
              </a:tabLst>
            </a:pPr>
            <a:endParaRPr lang="en-US"/>
          </a:p>
          <a:p>
            <a:pPr>
              <a:tabLst>
                <a:tab pos="285750" algn="l"/>
                <a:tab pos="1289050" algn="l"/>
              </a:tabLst>
            </a:pPr>
            <a:endParaRPr lang="en-US"/>
          </a:p>
          <a:p>
            <a:pPr>
              <a:tabLst>
                <a:tab pos="285750" algn="l"/>
                <a:tab pos="1289050" algn="l"/>
              </a:tabLst>
            </a:pPr>
            <a:r>
              <a:rPr lang="en-US"/>
              <a:t>Example</a:t>
            </a:r>
          </a:p>
          <a:p>
            <a:pPr lvl="1">
              <a:tabLst>
                <a:tab pos="285750" algn="l"/>
                <a:tab pos="1289050" algn="l"/>
              </a:tabLst>
            </a:pPr>
            <a:r>
              <a:rPr lang="en-US"/>
              <a:t>Find the employees who earn the same salary as the minimum salary for departments.</a:t>
            </a:r>
          </a:p>
          <a:p>
            <a:pPr lvl="1">
              <a:tabLst>
                <a:tab pos="285750" algn="l"/>
                <a:tab pos="1289050" algn="l"/>
              </a:tabLst>
            </a:pPr>
            <a:r>
              <a:rPr lang="en-US"/>
              <a:t>The inner query is executed first, producing a query result containing three rows: 800, 950, 1300. The main query block is then processed and uses the values returned by the inner query to complete its search condition. In fact, the main query would look like the following to the Oracle Server:</a:t>
            </a:r>
          </a:p>
          <a:p>
            <a:pPr>
              <a:tabLst>
                <a:tab pos="285750" algn="l"/>
                <a:tab pos="1289050" algn="l"/>
              </a:tabLst>
            </a:pPr>
            <a:endParaRPr lang="en-US" b="0">
              <a:latin typeface="Times New Roman" pitchFamily="18" charset="0"/>
            </a:endParaRPr>
          </a:p>
        </p:txBody>
      </p:sp>
      <p:grpSp>
        <p:nvGrpSpPr>
          <p:cNvPr id="32774" name="Group 6"/>
          <p:cNvGrpSpPr>
            <a:grpSpLocks/>
          </p:cNvGrpSpPr>
          <p:nvPr/>
        </p:nvGrpSpPr>
        <p:grpSpPr bwMode="auto">
          <a:xfrm>
            <a:off x="617538" y="5613400"/>
            <a:ext cx="5643562" cy="1001713"/>
            <a:chOff x="389" y="3536"/>
            <a:chExt cx="3555" cy="631"/>
          </a:xfrm>
        </p:grpSpPr>
        <p:sp>
          <p:nvSpPr>
            <p:cNvPr id="32772" name="Rectangle 4"/>
            <p:cNvSpPr>
              <a:spLocks noChangeArrowheads="1"/>
            </p:cNvSpPr>
            <p:nvPr/>
          </p:nvSpPr>
          <p:spPr bwMode="auto">
            <a:xfrm>
              <a:off x="389" y="3536"/>
              <a:ext cx="3555" cy="631"/>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73" name="Rectangle 5"/>
            <p:cNvSpPr>
              <a:spLocks noChangeArrowheads="1"/>
            </p:cNvSpPr>
            <p:nvPr/>
          </p:nvSpPr>
          <p:spPr bwMode="auto">
            <a:xfrm>
              <a:off x="399" y="3563"/>
              <a:ext cx="2287" cy="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defTabSz="422275">
                <a:lnSpc>
                  <a:spcPct val="100000"/>
                </a:lnSpc>
                <a:spcBef>
                  <a:spcPct val="0"/>
                </a:spcBef>
                <a:spcAft>
                  <a:spcPct val="24000"/>
                </a:spcAft>
              </a:pPr>
              <a:r>
                <a:rPr lang="en-US" sz="1100">
                  <a:solidFill>
                    <a:schemeClr val="tx1"/>
                  </a:solidFill>
                  <a:latin typeface="Courier New" pitchFamily="49" charset="0"/>
                </a:rPr>
                <a:t>SQL&gt; SELECT  	ename, sal, deptno</a:t>
              </a:r>
              <a:br>
                <a:rPr lang="en-US" sz="1100">
                  <a:solidFill>
                    <a:schemeClr val="tx1"/>
                  </a:solidFill>
                  <a:latin typeface="Courier New" pitchFamily="49" charset="0"/>
                </a:rPr>
              </a:br>
              <a:r>
                <a:rPr lang="en-US" sz="1100">
                  <a:solidFill>
                    <a:schemeClr val="tx1"/>
                  </a:solidFill>
                  <a:latin typeface="Courier New" pitchFamily="49" charset="0"/>
                </a:rPr>
                <a:t>  2  FROM    	emp</a:t>
              </a:r>
              <a:br>
                <a:rPr lang="en-US" sz="1100">
                  <a:solidFill>
                    <a:schemeClr val="tx1"/>
                  </a:solidFill>
                  <a:latin typeface="Courier New" pitchFamily="49" charset="0"/>
                </a:rPr>
              </a:br>
              <a:r>
                <a:rPr lang="en-US" sz="1100">
                  <a:solidFill>
                    <a:schemeClr val="tx1"/>
                  </a:solidFill>
                  <a:latin typeface="Courier New" pitchFamily="49" charset="0"/>
                </a:rPr>
                <a:t>  3  WHERE   	sal IN (SELECT    MIN(sal)</a:t>
              </a:r>
              <a:br>
                <a:rPr lang="en-US" sz="1100">
                  <a:solidFill>
                    <a:schemeClr val="tx1"/>
                  </a:solidFill>
                  <a:latin typeface="Courier New" pitchFamily="49" charset="0"/>
                </a:rPr>
              </a:br>
              <a:r>
                <a:rPr lang="en-US" sz="1100">
                  <a:solidFill>
                    <a:schemeClr val="tx1"/>
                  </a:solidFill>
                  <a:latin typeface="Courier New" pitchFamily="49" charset="0"/>
                </a:rPr>
                <a:t>  4				  FROM     emp</a:t>
              </a:r>
              <a:br>
                <a:rPr lang="en-US" sz="1100">
                  <a:solidFill>
                    <a:schemeClr val="tx1"/>
                  </a:solidFill>
                  <a:latin typeface="Courier New" pitchFamily="49" charset="0"/>
                </a:rPr>
              </a:br>
              <a:r>
                <a:rPr lang="en-US" sz="1100">
                  <a:solidFill>
                    <a:schemeClr val="tx1"/>
                  </a:solidFill>
                  <a:latin typeface="Courier New" pitchFamily="49" charset="0"/>
                </a:rPr>
                <a:t>  5				  GROUP BY deptno);</a:t>
              </a:r>
            </a:p>
          </p:txBody>
        </p:sp>
      </p:grpSp>
      <p:grpSp>
        <p:nvGrpSpPr>
          <p:cNvPr id="32777" name="Group 9"/>
          <p:cNvGrpSpPr>
            <a:grpSpLocks/>
          </p:cNvGrpSpPr>
          <p:nvPr/>
        </p:nvGrpSpPr>
        <p:grpSpPr bwMode="auto">
          <a:xfrm>
            <a:off x="612775" y="7670800"/>
            <a:ext cx="5645150" cy="647700"/>
            <a:chOff x="386" y="4832"/>
            <a:chExt cx="3556" cy="408"/>
          </a:xfrm>
        </p:grpSpPr>
        <p:sp>
          <p:nvSpPr>
            <p:cNvPr id="32775" name="Rectangle 7"/>
            <p:cNvSpPr>
              <a:spLocks noChangeArrowheads="1"/>
            </p:cNvSpPr>
            <p:nvPr/>
          </p:nvSpPr>
          <p:spPr bwMode="auto">
            <a:xfrm>
              <a:off x="386" y="4832"/>
              <a:ext cx="3556" cy="408"/>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76" name="Rectangle 8"/>
            <p:cNvSpPr>
              <a:spLocks noChangeArrowheads="1"/>
            </p:cNvSpPr>
            <p:nvPr/>
          </p:nvSpPr>
          <p:spPr bwMode="auto">
            <a:xfrm>
              <a:off x="403" y="4852"/>
              <a:ext cx="2123" cy="3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defTabSz="422275">
                <a:lnSpc>
                  <a:spcPct val="100000"/>
                </a:lnSpc>
                <a:spcBef>
                  <a:spcPct val="0"/>
                </a:spcBef>
                <a:spcAft>
                  <a:spcPct val="24000"/>
                </a:spcAft>
              </a:pPr>
              <a:r>
                <a:rPr lang="en-US" sz="1100">
                  <a:solidFill>
                    <a:schemeClr val="tx1"/>
                  </a:solidFill>
                  <a:latin typeface="Courier New" pitchFamily="49" charset="0"/>
                </a:rPr>
                <a:t>SQL&gt; SELECT   ename, sal, deptno</a:t>
              </a:r>
              <a:br>
                <a:rPr lang="en-US" sz="1100">
                  <a:solidFill>
                    <a:schemeClr val="tx1"/>
                  </a:solidFill>
                  <a:latin typeface="Courier New" pitchFamily="49" charset="0"/>
                </a:rPr>
              </a:br>
              <a:r>
                <a:rPr lang="en-US" sz="1100">
                  <a:solidFill>
                    <a:schemeClr val="tx1"/>
                  </a:solidFill>
                  <a:latin typeface="Courier New" pitchFamily="49" charset="0"/>
                </a:rPr>
                <a:t>  2  FROM     emp</a:t>
              </a:r>
              <a:br>
                <a:rPr lang="en-US" sz="1100">
                  <a:solidFill>
                    <a:schemeClr val="tx1"/>
                  </a:solidFill>
                  <a:latin typeface="Courier New" pitchFamily="49" charset="0"/>
                </a:rPr>
              </a:br>
              <a:r>
                <a:rPr lang="en-US" sz="1100">
                  <a:solidFill>
                    <a:schemeClr val="tx1"/>
                  </a:solidFill>
                  <a:latin typeface="Courier New" pitchFamily="49" charset="0"/>
                </a:rPr>
                <a:t>  3  WHERE    sal IN (800, 950, 1300);</a:t>
              </a:r>
            </a:p>
          </p:txBody>
        </p:sp>
      </p:grpSp>
    </p:spTree>
    <p:extLst>
      <p:ext uri="{BB962C8B-B14F-4D97-AF65-F5344CB8AC3E}">
        <p14:creationId xmlns:p14="http://schemas.microsoft.com/office/powerpoint/2010/main" val="27591646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Rot="1" noChangeAspect="1" noChangeArrowheads="1" noTextEdit="1"/>
          </p:cNvSpPr>
          <p:nvPr>
            <p:ph type="sldImg"/>
          </p:nvPr>
        </p:nvSpPr>
        <p:spPr>
          <a:xfrm>
            <a:off x="474663" y="161925"/>
            <a:ext cx="5864225" cy="4397375"/>
          </a:xfrm>
          <a:ln cap="flat"/>
        </p:spPr>
      </p:sp>
      <p:sp>
        <p:nvSpPr>
          <p:cNvPr id="34819" name="Rectangle 3"/>
          <p:cNvSpPr>
            <a:spLocks noGrp="1" noChangeArrowheads="1"/>
          </p:cNvSpPr>
          <p:nvPr>
            <p:ph type="body" idx="1"/>
          </p:nvPr>
        </p:nvSpPr>
        <p:spPr>
          <a:noFill/>
          <a:ln/>
        </p:spPr>
        <p:txBody>
          <a:bodyPr/>
          <a:lstStyle/>
          <a:p>
            <a:r>
              <a:rPr lang="en-US"/>
              <a:t>Multiple-Row Subqueries (continued)</a:t>
            </a:r>
          </a:p>
          <a:p>
            <a:pPr lvl="1"/>
            <a:r>
              <a:rPr lang="en-US"/>
              <a:t>The </a:t>
            </a:r>
            <a:r>
              <a:rPr lang="en-US">
                <a:solidFill>
                  <a:srgbClr val="FC0128"/>
                </a:solidFill>
              </a:rPr>
              <a:t>ANY </a:t>
            </a:r>
            <a:r>
              <a:rPr lang="en-US"/>
              <a:t>operator (and its synonym SOME operator) compares a value to </a:t>
            </a:r>
            <a:r>
              <a:rPr lang="en-US" i="1"/>
              <a:t>each</a:t>
            </a:r>
            <a:r>
              <a:rPr lang="en-US" b="1" i="1"/>
              <a:t> </a:t>
            </a:r>
            <a:r>
              <a:rPr lang="en-US"/>
              <a:t>value returned by a subquery. The slide example displays employees whose salary is less than any clerk and who are not clerks. The maximum salary that a clerk earns is $1300. The SQL statement displays all the employees who are not clerks but earn less than $1300. </a:t>
            </a:r>
          </a:p>
          <a:p>
            <a:pPr lvl="1"/>
            <a:r>
              <a:rPr lang="en-US"/>
              <a:t>&lt;ANY means less than the maximum. &gt;ANY means more than the minimum. =ANY is equivalent to IN.</a:t>
            </a:r>
          </a:p>
          <a:p>
            <a:pPr lvl="1"/>
            <a:endParaRPr lang="en-US"/>
          </a:p>
          <a:p>
            <a:pPr lvl="1"/>
            <a:endParaRPr lang="en-US"/>
          </a:p>
          <a:p>
            <a:pPr lvl="1"/>
            <a:endParaRPr lang="en-US"/>
          </a:p>
          <a:p>
            <a:pPr lvl="1"/>
            <a:endParaRPr lang="en-US"/>
          </a:p>
          <a:p>
            <a:pPr lvl="1"/>
            <a:endParaRPr lang="en-US"/>
          </a:p>
          <a:p>
            <a:pPr lvl="1"/>
            <a:endParaRPr lang="en-US"/>
          </a:p>
          <a:p>
            <a:pPr lvl="1"/>
            <a:endParaRPr lang="en-US"/>
          </a:p>
          <a:p>
            <a:pPr lvl="1"/>
            <a:endParaRPr lang="en-US"/>
          </a:p>
          <a:p>
            <a:r>
              <a:rPr lang="en-US">
                <a:solidFill>
                  <a:schemeClr val="accent2"/>
                </a:solidFill>
              </a:rPr>
              <a:t>Class Management Note</a:t>
            </a:r>
          </a:p>
          <a:p>
            <a:pPr lvl="1"/>
            <a:r>
              <a:rPr lang="en-US">
                <a:solidFill>
                  <a:schemeClr val="accent2"/>
                </a:solidFill>
              </a:rPr>
              <a:t>When using SOME or ANY, you often use the DISTINCT keyword to prevent rows from being selected several times.</a:t>
            </a:r>
            <a:r>
              <a:rPr lang="en-US"/>
              <a:t>  </a:t>
            </a:r>
          </a:p>
        </p:txBody>
      </p:sp>
    </p:spTree>
    <p:extLst>
      <p:ext uri="{BB962C8B-B14F-4D97-AF65-F5344CB8AC3E}">
        <p14:creationId xmlns:p14="http://schemas.microsoft.com/office/powerpoint/2010/main" val="11260701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ChangeArrowheads="1" noTextEdit="1"/>
          </p:cNvSpPr>
          <p:nvPr>
            <p:ph type="sldImg"/>
          </p:nvPr>
        </p:nvSpPr>
        <p:spPr>
          <a:xfrm>
            <a:off x="474663" y="161925"/>
            <a:ext cx="5864225" cy="4397375"/>
          </a:xfrm>
          <a:ln cap="flat"/>
        </p:spPr>
      </p:sp>
      <p:sp>
        <p:nvSpPr>
          <p:cNvPr id="36867" name="Rectangle 3"/>
          <p:cNvSpPr>
            <a:spLocks noGrp="1" noChangeArrowheads="1"/>
          </p:cNvSpPr>
          <p:nvPr>
            <p:ph type="body" idx="1"/>
          </p:nvPr>
        </p:nvSpPr>
        <p:spPr>
          <a:noFill/>
          <a:ln/>
        </p:spPr>
        <p:txBody>
          <a:bodyPr/>
          <a:lstStyle/>
          <a:p>
            <a:r>
              <a:rPr lang="en-US"/>
              <a:t>Multiple-Row Subqueries (continued)</a:t>
            </a:r>
          </a:p>
          <a:p>
            <a:pPr lvl="1"/>
            <a:r>
              <a:rPr lang="en-US"/>
              <a:t>The </a:t>
            </a:r>
            <a:r>
              <a:rPr lang="en-US">
                <a:solidFill>
                  <a:srgbClr val="FC0128"/>
                </a:solidFill>
              </a:rPr>
              <a:t>ALL </a:t>
            </a:r>
            <a:r>
              <a:rPr lang="en-US"/>
              <a:t>operator compares a value to </a:t>
            </a:r>
            <a:r>
              <a:rPr lang="en-US" i="1"/>
              <a:t>every</a:t>
            </a:r>
            <a:r>
              <a:rPr lang="en-US"/>
              <a:t> value returned by a subquery. The slide example displays employees whose salary is greater than the average salaries of all the departments. The highest average salary of a department is $2916.66, so the query returns those employees whose salary is greater than $2916.66. </a:t>
            </a:r>
          </a:p>
          <a:p>
            <a:pPr lvl="1"/>
            <a:r>
              <a:rPr lang="en-US"/>
              <a:t>&gt;ALL means more than the maximum and &lt;ALL means less than the minimum.</a:t>
            </a:r>
          </a:p>
          <a:p>
            <a:pPr lvl="1"/>
            <a:r>
              <a:rPr lang="en-US"/>
              <a:t>The NOT operator can be used with IN, ANY, and ALL operators.</a:t>
            </a:r>
          </a:p>
        </p:txBody>
      </p:sp>
    </p:spTree>
    <p:extLst>
      <p:ext uri="{BB962C8B-B14F-4D97-AF65-F5344CB8AC3E}">
        <p14:creationId xmlns:p14="http://schemas.microsoft.com/office/powerpoint/2010/main" val="15884789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ChangeArrowheads="1"/>
          </p:cNvSpPr>
          <p:nvPr/>
        </p:nvSpPr>
        <p:spPr bwMode="auto">
          <a:xfrm>
            <a:off x="3860800" y="0"/>
            <a:ext cx="2959100"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15" name="Rectangle 3"/>
          <p:cNvSpPr>
            <a:spLocks noChangeArrowheads="1"/>
          </p:cNvSpPr>
          <p:nvPr/>
        </p:nvSpPr>
        <p:spPr bwMode="auto">
          <a:xfrm>
            <a:off x="-3175" y="0"/>
            <a:ext cx="2955925" cy="460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16" name="Rectangle 4"/>
          <p:cNvSpPr>
            <a:spLocks noGrp="1" noChangeArrowheads="1"/>
          </p:cNvSpPr>
          <p:nvPr>
            <p:ph type="body" idx="1"/>
          </p:nvPr>
        </p:nvSpPr>
        <p:spPr>
          <a:noFill/>
          <a:ln/>
        </p:spPr>
        <p:txBody>
          <a:bodyPr/>
          <a:lstStyle/>
          <a:p>
            <a:pPr>
              <a:tabLst/>
            </a:pPr>
            <a:r>
              <a:rPr lang="en-US"/>
              <a:t>Summary</a:t>
            </a:r>
          </a:p>
          <a:p>
            <a:pPr lvl="1">
              <a:tabLst/>
            </a:pPr>
            <a:r>
              <a:rPr lang="en-US"/>
              <a:t>A subquery is a SELECT statement that is embedded in a clause of another SQL statement. Subqueries are useful when a query is based on unknown criteria.</a:t>
            </a:r>
          </a:p>
          <a:p>
            <a:pPr lvl="1">
              <a:tabLst/>
            </a:pPr>
            <a:r>
              <a:rPr lang="en-US"/>
              <a:t>Subqueries have the following characteristics:</a:t>
            </a:r>
          </a:p>
          <a:p>
            <a:pPr lvl="2">
              <a:tabLst/>
            </a:pPr>
            <a:r>
              <a:rPr lang="en-US"/>
              <a:t>Can pass one row of data to a main statement that contains a single-row operator, such as =, &lt;&gt;, &gt;, &gt;=, &lt;, or &lt;=</a:t>
            </a:r>
          </a:p>
          <a:p>
            <a:pPr lvl="2">
              <a:tabLst/>
            </a:pPr>
            <a:r>
              <a:rPr lang="en-US"/>
              <a:t>Can pass multiple rows of data to a main statement that contains a multiple-row operator, such as IN</a:t>
            </a:r>
          </a:p>
          <a:p>
            <a:pPr lvl="2">
              <a:tabLst/>
            </a:pPr>
            <a:r>
              <a:rPr lang="en-US"/>
              <a:t>Are processed first by the Oracle Server, and the WHERE or HAVING clause uses the results</a:t>
            </a:r>
          </a:p>
          <a:p>
            <a:pPr lvl="2">
              <a:tabLst/>
            </a:pPr>
            <a:r>
              <a:rPr lang="en-US"/>
              <a:t>Can contain group functions</a:t>
            </a:r>
          </a:p>
          <a:p>
            <a:pPr>
              <a:tabLst/>
            </a:pPr>
            <a:endParaRPr lang="en-US" b="0">
              <a:latin typeface="Times New Roman" pitchFamily="18" charset="0"/>
            </a:endParaRPr>
          </a:p>
        </p:txBody>
      </p:sp>
      <p:sp>
        <p:nvSpPr>
          <p:cNvPr id="38917" name="Rectangle 5"/>
          <p:cNvSpPr>
            <a:spLocks noGrp="1" noRot="1" noChangeAspect="1" noChangeArrowheads="1" noTextEdit="1"/>
          </p:cNvSpPr>
          <p:nvPr>
            <p:ph type="sldImg"/>
          </p:nvPr>
        </p:nvSpPr>
        <p:spPr>
          <a:xfrm>
            <a:off x="474663" y="161925"/>
            <a:ext cx="5864225" cy="4397375"/>
          </a:xfrm>
          <a:ln cap="flat"/>
        </p:spPr>
      </p:sp>
    </p:spTree>
    <p:extLst>
      <p:ext uri="{BB962C8B-B14F-4D97-AF65-F5344CB8AC3E}">
        <p14:creationId xmlns:p14="http://schemas.microsoft.com/office/powerpoint/2010/main" val="20792084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Rot="1" noChangeAspect="1" noChangeArrowheads="1" noTextEdit="1"/>
          </p:cNvSpPr>
          <p:nvPr>
            <p:ph type="sldImg"/>
          </p:nvPr>
        </p:nvSpPr>
        <p:spPr>
          <a:xfrm>
            <a:off x="473075" y="195263"/>
            <a:ext cx="5892800" cy="4419600"/>
          </a:xfrm>
          <a:ln cap="flat"/>
        </p:spPr>
      </p:sp>
      <p:sp>
        <p:nvSpPr>
          <p:cNvPr id="40963" name="Rectangle 3"/>
          <p:cNvSpPr>
            <a:spLocks noGrp="1" noChangeArrowheads="1"/>
          </p:cNvSpPr>
          <p:nvPr>
            <p:ph type="body" idx="1"/>
          </p:nvPr>
        </p:nvSpPr>
        <p:spPr>
          <a:xfrm>
            <a:off x="444500" y="4811713"/>
            <a:ext cx="5932488" cy="3367087"/>
          </a:xfrm>
          <a:noFill/>
          <a:ln/>
        </p:spPr>
        <p:txBody>
          <a:bodyPr/>
          <a:lstStyle/>
          <a:p>
            <a:pPr defTabSz="387350">
              <a:tabLst>
                <a:tab pos="449263" algn="l"/>
              </a:tabLst>
            </a:pPr>
            <a:r>
              <a:rPr lang="en-US"/>
              <a:t>Practice Overview</a:t>
            </a:r>
          </a:p>
          <a:p>
            <a:pPr lvl="1" defTabSz="387350">
              <a:tabLst>
                <a:tab pos="449263" algn="l"/>
              </a:tabLst>
            </a:pPr>
            <a:r>
              <a:rPr lang="en-US"/>
              <a:t>In this practice, you will write complex queries using nested SELECT statements.</a:t>
            </a:r>
          </a:p>
          <a:p>
            <a:pPr defTabSz="387350">
              <a:tabLst>
                <a:tab pos="449263" algn="l"/>
              </a:tabLst>
            </a:pPr>
            <a:r>
              <a:rPr lang="en-US"/>
              <a:t>Paper-Based Questions</a:t>
            </a:r>
          </a:p>
          <a:p>
            <a:pPr lvl="1" defTabSz="387350">
              <a:tabLst>
                <a:tab pos="449263" algn="l"/>
              </a:tabLst>
            </a:pPr>
            <a:r>
              <a:rPr lang="en-US"/>
              <a:t>You may want to consider creating the inner query first for these questions. Make sure that it runs and produces the data that you anticipate before coding the outer query.</a:t>
            </a:r>
          </a:p>
        </p:txBody>
      </p:sp>
      <p:grpSp>
        <p:nvGrpSpPr>
          <p:cNvPr id="40975" name="Group 15"/>
          <p:cNvGrpSpPr>
            <a:grpSpLocks/>
          </p:cNvGrpSpPr>
          <p:nvPr/>
        </p:nvGrpSpPr>
        <p:grpSpPr bwMode="auto">
          <a:xfrm>
            <a:off x="109538" y="5330825"/>
            <a:ext cx="285750" cy="301625"/>
            <a:chOff x="69" y="3358"/>
            <a:chExt cx="180" cy="190"/>
          </a:xfrm>
        </p:grpSpPr>
        <p:sp>
          <p:nvSpPr>
            <p:cNvPr id="40964" name="Freeform 4"/>
            <p:cNvSpPr>
              <a:spLocks/>
            </p:cNvSpPr>
            <p:nvPr/>
          </p:nvSpPr>
          <p:spPr bwMode="auto">
            <a:xfrm>
              <a:off x="69" y="3358"/>
              <a:ext cx="180" cy="183"/>
            </a:xfrm>
            <a:custGeom>
              <a:avLst/>
              <a:gdLst>
                <a:gd name="T0" fmla="*/ 179 w 180"/>
                <a:gd name="T1" fmla="*/ 182 h 183"/>
                <a:gd name="T2" fmla="*/ 179 w 180"/>
                <a:gd name="T3" fmla="*/ 0 h 183"/>
                <a:gd name="T4" fmla="*/ 0 w 180"/>
                <a:gd name="T5" fmla="*/ 0 h 183"/>
                <a:gd name="T6" fmla="*/ 0 w 180"/>
                <a:gd name="T7" fmla="*/ 182 h 183"/>
                <a:gd name="T8" fmla="*/ 179 w 180"/>
                <a:gd name="T9" fmla="*/ 182 h 183"/>
              </a:gdLst>
              <a:ahLst/>
              <a:cxnLst>
                <a:cxn ang="0">
                  <a:pos x="T0" y="T1"/>
                </a:cxn>
                <a:cxn ang="0">
                  <a:pos x="T2" y="T3"/>
                </a:cxn>
                <a:cxn ang="0">
                  <a:pos x="T4" y="T5"/>
                </a:cxn>
                <a:cxn ang="0">
                  <a:pos x="T6" y="T7"/>
                </a:cxn>
                <a:cxn ang="0">
                  <a:pos x="T8" y="T9"/>
                </a:cxn>
              </a:cxnLst>
              <a:rect l="0" t="0" r="r" b="b"/>
              <a:pathLst>
                <a:path w="180" h="183">
                  <a:moveTo>
                    <a:pt x="179" y="182"/>
                  </a:moveTo>
                  <a:lnTo>
                    <a:pt x="179" y="0"/>
                  </a:lnTo>
                  <a:lnTo>
                    <a:pt x="0" y="0"/>
                  </a:lnTo>
                  <a:lnTo>
                    <a:pt x="0" y="182"/>
                  </a:lnTo>
                  <a:lnTo>
                    <a:pt x="179" y="182"/>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965" name="Freeform 5"/>
            <p:cNvSpPr>
              <a:spLocks/>
            </p:cNvSpPr>
            <p:nvPr/>
          </p:nvSpPr>
          <p:spPr bwMode="auto">
            <a:xfrm>
              <a:off x="150" y="3531"/>
              <a:ext cx="27" cy="17"/>
            </a:xfrm>
            <a:custGeom>
              <a:avLst/>
              <a:gdLst>
                <a:gd name="T0" fmla="*/ 26 w 27"/>
                <a:gd name="T1" fmla="*/ 16 h 17"/>
                <a:gd name="T2" fmla="*/ 26 w 27"/>
                <a:gd name="T3" fmla="*/ 0 h 17"/>
                <a:gd name="T4" fmla="*/ 0 w 27"/>
                <a:gd name="T5" fmla="*/ 0 h 17"/>
                <a:gd name="T6" fmla="*/ 0 w 27"/>
                <a:gd name="T7" fmla="*/ 16 h 17"/>
                <a:gd name="T8" fmla="*/ 26 w 27"/>
                <a:gd name="T9" fmla="*/ 16 h 17"/>
              </a:gdLst>
              <a:ahLst/>
              <a:cxnLst>
                <a:cxn ang="0">
                  <a:pos x="T0" y="T1"/>
                </a:cxn>
                <a:cxn ang="0">
                  <a:pos x="T2" y="T3"/>
                </a:cxn>
                <a:cxn ang="0">
                  <a:pos x="T4" y="T5"/>
                </a:cxn>
                <a:cxn ang="0">
                  <a:pos x="T6" y="T7"/>
                </a:cxn>
                <a:cxn ang="0">
                  <a:pos x="T8" y="T9"/>
                </a:cxn>
              </a:cxnLst>
              <a:rect l="0" t="0" r="r" b="b"/>
              <a:pathLst>
                <a:path w="27" h="17">
                  <a:moveTo>
                    <a:pt x="26" y="16"/>
                  </a:moveTo>
                  <a:lnTo>
                    <a:pt x="26" y="0"/>
                  </a:lnTo>
                  <a:lnTo>
                    <a:pt x="0" y="0"/>
                  </a:lnTo>
                  <a:lnTo>
                    <a:pt x="0" y="16"/>
                  </a:lnTo>
                  <a:lnTo>
                    <a:pt x="26" y="16"/>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966" name="Freeform 6"/>
            <p:cNvSpPr>
              <a:spLocks/>
            </p:cNvSpPr>
            <p:nvPr/>
          </p:nvSpPr>
          <p:spPr bwMode="auto">
            <a:xfrm>
              <a:off x="91" y="3411"/>
              <a:ext cx="33" cy="20"/>
            </a:xfrm>
            <a:custGeom>
              <a:avLst/>
              <a:gdLst>
                <a:gd name="T0" fmla="*/ 0 w 33"/>
                <a:gd name="T1" fmla="*/ 0 h 20"/>
                <a:gd name="T2" fmla="*/ 26 w 33"/>
                <a:gd name="T3" fmla="*/ 19 h 20"/>
                <a:gd name="T4" fmla="*/ 32 w 33"/>
                <a:gd name="T5" fmla="*/ 8 h 20"/>
                <a:gd name="T6" fmla="*/ 0 w 33"/>
                <a:gd name="T7" fmla="*/ 0 h 20"/>
              </a:gdLst>
              <a:ahLst/>
              <a:cxnLst>
                <a:cxn ang="0">
                  <a:pos x="T0" y="T1"/>
                </a:cxn>
                <a:cxn ang="0">
                  <a:pos x="T2" y="T3"/>
                </a:cxn>
                <a:cxn ang="0">
                  <a:pos x="T4" y="T5"/>
                </a:cxn>
                <a:cxn ang="0">
                  <a:pos x="T6" y="T7"/>
                </a:cxn>
              </a:cxnLst>
              <a:rect l="0" t="0" r="r" b="b"/>
              <a:pathLst>
                <a:path w="33" h="20">
                  <a:moveTo>
                    <a:pt x="0" y="0"/>
                  </a:moveTo>
                  <a:lnTo>
                    <a:pt x="26" y="19"/>
                  </a:lnTo>
                  <a:lnTo>
                    <a:pt x="32" y="8"/>
                  </a:lnTo>
                  <a:lnTo>
                    <a:pt x="0"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967" name="Freeform 7"/>
            <p:cNvSpPr>
              <a:spLocks/>
            </p:cNvSpPr>
            <p:nvPr/>
          </p:nvSpPr>
          <p:spPr bwMode="auto">
            <a:xfrm>
              <a:off x="203" y="3411"/>
              <a:ext cx="33" cy="20"/>
            </a:xfrm>
            <a:custGeom>
              <a:avLst/>
              <a:gdLst>
                <a:gd name="T0" fmla="*/ 32 w 33"/>
                <a:gd name="T1" fmla="*/ 0 h 20"/>
                <a:gd name="T2" fmla="*/ 5 w 33"/>
                <a:gd name="T3" fmla="*/ 19 h 20"/>
                <a:gd name="T4" fmla="*/ 0 w 33"/>
                <a:gd name="T5" fmla="*/ 9 h 20"/>
                <a:gd name="T6" fmla="*/ 32 w 33"/>
                <a:gd name="T7" fmla="*/ 0 h 20"/>
              </a:gdLst>
              <a:ahLst/>
              <a:cxnLst>
                <a:cxn ang="0">
                  <a:pos x="T0" y="T1"/>
                </a:cxn>
                <a:cxn ang="0">
                  <a:pos x="T2" y="T3"/>
                </a:cxn>
                <a:cxn ang="0">
                  <a:pos x="T4" y="T5"/>
                </a:cxn>
                <a:cxn ang="0">
                  <a:pos x="T6" y="T7"/>
                </a:cxn>
              </a:cxnLst>
              <a:rect l="0" t="0" r="r" b="b"/>
              <a:pathLst>
                <a:path w="33" h="20">
                  <a:moveTo>
                    <a:pt x="32" y="0"/>
                  </a:moveTo>
                  <a:lnTo>
                    <a:pt x="5" y="19"/>
                  </a:lnTo>
                  <a:lnTo>
                    <a:pt x="0" y="9"/>
                  </a:lnTo>
                  <a:lnTo>
                    <a:pt x="32"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968" name="Freeform 8"/>
            <p:cNvSpPr>
              <a:spLocks/>
            </p:cNvSpPr>
            <p:nvPr/>
          </p:nvSpPr>
          <p:spPr bwMode="auto">
            <a:xfrm>
              <a:off x="87" y="3448"/>
              <a:ext cx="36" cy="20"/>
            </a:xfrm>
            <a:custGeom>
              <a:avLst/>
              <a:gdLst>
                <a:gd name="T0" fmla="*/ 0 w 36"/>
                <a:gd name="T1" fmla="*/ 19 h 20"/>
                <a:gd name="T2" fmla="*/ 35 w 36"/>
                <a:gd name="T3" fmla="*/ 15 h 20"/>
                <a:gd name="T4" fmla="*/ 32 w 36"/>
                <a:gd name="T5" fmla="*/ 0 h 20"/>
                <a:gd name="T6" fmla="*/ 0 w 36"/>
                <a:gd name="T7" fmla="*/ 19 h 20"/>
              </a:gdLst>
              <a:ahLst/>
              <a:cxnLst>
                <a:cxn ang="0">
                  <a:pos x="T0" y="T1"/>
                </a:cxn>
                <a:cxn ang="0">
                  <a:pos x="T2" y="T3"/>
                </a:cxn>
                <a:cxn ang="0">
                  <a:pos x="T4" y="T5"/>
                </a:cxn>
                <a:cxn ang="0">
                  <a:pos x="T6" y="T7"/>
                </a:cxn>
              </a:cxnLst>
              <a:rect l="0" t="0" r="r" b="b"/>
              <a:pathLst>
                <a:path w="36" h="20">
                  <a:moveTo>
                    <a:pt x="0" y="19"/>
                  </a:moveTo>
                  <a:lnTo>
                    <a:pt x="35" y="15"/>
                  </a:lnTo>
                  <a:lnTo>
                    <a:pt x="32" y="0"/>
                  </a:lnTo>
                  <a:lnTo>
                    <a:pt x="0" y="19"/>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969" name="Freeform 9"/>
            <p:cNvSpPr>
              <a:spLocks/>
            </p:cNvSpPr>
            <p:nvPr/>
          </p:nvSpPr>
          <p:spPr bwMode="auto">
            <a:xfrm>
              <a:off x="204" y="3449"/>
              <a:ext cx="35" cy="20"/>
            </a:xfrm>
            <a:custGeom>
              <a:avLst/>
              <a:gdLst>
                <a:gd name="T0" fmla="*/ 34 w 35"/>
                <a:gd name="T1" fmla="*/ 19 h 20"/>
                <a:gd name="T2" fmla="*/ 0 w 35"/>
                <a:gd name="T3" fmla="*/ 16 h 20"/>
                <a:gd name="T4" fmla="*/ 2 w 35"/>
                <a:gd name="T5" fmla="*/ 0 h 20"/>
                <a:gd name="T6" fmla="*/ 34 w 35"/>
                <a:gd name="T7" fmla="*/ 19 h 20"/>
              </a:gdLst>
              <a:ahLst/>
              <a:cxnLst>
                <a:cxn ang="0">
                  <a:pos x="T0" y="T1"/>
                </a:cxn>
                <a:cxn ang="0">
                  <a:pos x="T2" y="T3"/>
                </a:cxn>
                <a:cxn ang="0">
                  <a:pos x="T4" y="T5"/>
                </a:cxn>
                <a:cxn ang="0">
                  <a:pos x="T6" y="T7"/>
                </a:cxn>
              </a:cxnLst>
              <a:rect l="0" t="0" r="r" b="b"/>
              <a:pathLst>
                <a:path w="35" h="20">
                  <a:moveTo>
                    <a:pt x="34" y="19"/>
                  </a:moveTo>
                  <a:lnTo>
                    <a:pt x="0" y="16"/>
                  </a:lnTo>
                  <a:lnTo>
                    <a:pt x="2" y="0"/>
                  </a:lnTo>
                  <a:lnTo>
                    <a:pt x="34" y="19"/>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970" name="Freeform 10"/>
            <p:cNvSpPr>
              <a:spLocks/>
            </p:cNvSpPr>
            <p:nvPr/>
          </p:nvSpPr>
          <p:spPr bwMode="auto">
            <a:xfrm>
              <a:off x="114" y="3373"/>
              <a:ext cx="27" cy="29"/>
            </a:xfrm>
            <a:custGeom>
              <a:avLst/>
              <a:gdLst>
                <a:gd name="T0" fmla="*/ 0 w 27"/>
                <a:gd name="T1" fmla="*/ 0 h 29"/>
                <a:gd name="T2" fmla="*/ 15 w 27"/>
                <a:gd name="T3" fmla="*/ 28 h 29"/>
                <a:gd name="T4" fmla="*/ 26 w 27"/>
                <a:gd name="T5" fmla="*/ 21 h 29"/>
                <a:gd name="T6" fmla="*/ 0 w 27"/>
                <a:gd name="T7" fmla="*/ 0 h 29"/>
              </a:gdLst>
              <a:ahLst/>
              <a:cxnLst>
                <a:cxn ang="0">
                  <a:pos x="T0" y="T1"/>
                </a:cxn>
                <a:cxn ang="0">
                  <a:pos x="T2" y="T3"/>
                </a:cxn>
                <a:cxn ang="0">
                  <a:pos x="T4" y="T5"/>
                </a:cxn>
                <a:cxn ang="0">
                  <a:pos x="T6" y="T7"/>
                </a:cxn>
              </a:cxnLst>
              <a:rect l="0" t="0" r="r" b="b"/>
              <a:pathLst>
                <a:path w="27" h="29">
                  <a:moveTo>
                    <a:pt x="0" y="0"/>
                  </a:moveTo>
                  <a:lnTo>
                    <a:pt x="15" y="28"/>
                  </a:lnTo>
                  <a:lnTo>
                    <a:pt x="26" y="21"/>
                  </a:lnTo>
                  <a:lnTo>
                    <a:pt x="0"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971" name="Freeform 11"/>
            <p:cNvSpPr>
              <a:spLocks/>
            </p:cNvSpPr>
            <p:nvPr/>
          </p:nvSpPr>
          <p:spPr bwMode="auto">
            <a:xfrm>
              <a:off x="180" y="3375"/>
              <a:ext cx="27" cy="31"/>
            </a:xfrm>
            <a:custGeom>
              <a:avLst/>
              <a:gdLst>
                <a:gd name="T0" fmla="*/ 26 w 27"/>
                <a:gd name="T1" fmla="*/ 0 h 31"/>
                <a:gd name="T2" fmla="*/ 11 w 27"/>
                <a:gd name="T3" fmla="*/ 30 h 31"/>
                <a:gd name="T4" fmla="*/ 0 w 27"/>
                <a:gd name="T5" fmla="*/ 22 h 31"/>
                <a:gd name="T6" fmla="*/ 26 w 27"/>
                <a:gd name="T7" fmla="*/ 0 h 31"/>
              </a:gdLst>
              <a:ahLst/>
              <a:cxnLst>
                <a:cxn ang="0">
                  <a:pos x="T0" y="T1"/>
                </a:cxn>
                <a:cxn ang="0">
                  <a:pos x="T2" y="T3"/>
                </a:cxn>
                <a:cxn ang="0">
                  <a:pos x="T4" y="T5"/>
                </a:cxn>
                <a:cxn ang="0">
                  <a:pos x="T6" y="T7"/>
                </a:cxn>
              </a:cxnLst>
              <a:rect l="0" t="0" r="r" b="b"/>
              <a:pathLst>
                <a:path w="27" h="31">
                  <a:moveTo>
                    <a:pt x="26" y="0"/>
                  </a:moveTo>
                  <a:lnTo>
                    <a:pt x="11" y="30"/>
                  </a:lnTo>
                  <a:lnTo>
                    <a:pt x="0" y="22"/>
                  </a:lnTo>
                  <a:lnTo>
                    <a:pt x="26"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972" name="Freeform 12"/>
            <p:cNvSpPr>
              <a:spLocks/>
            </p:cNvSpPr>
            <p:nvPr/>
          </p:nvSpPr>
          <p:spPr bwMode="auto">
            <a:xfrm>
              <a:off x="154" y="3365"/>
              <a:ext cx="18" cy="28"/>
            </a:xfrm>
            <a:custGeom>
              <a:avLst/>
              <a:gdLst>
                <a:gd name="T0" fmla="*/ 7 w 18"/>
                <a:gd name="T1" fmla="*/ 0 h 28"/>
                <a:gd name="T2" fmla="*/ 0 w 18"/>
                <a:gd name="T3" fmla="*/ 27 h 28"/>
                <a:gd name="T4" fmla="*/ 17 w 18"/>
                <a:gd name="T5" fmla="*/ 26 h 28"/>
                <a:gd name="T6" fmla="*/ 7 w 18"/>
                <a:gd name="T7" fmla="*/ 0 h 28"/>
              </a:gdLst>
              <a:ahLst/>
              <a:cxnLst>
                <a:cxn ang="0">
                  <a:pos x="T0" y="T1"/>
                </a:cxn>
                <a:cxn ang="0">
                  <a:pos x="T2" y="T3"/>
                </a:cxn>
                <a:cxn ang="0">
                  <a:pos x="T4" y="T5"/>
                </a:cxn>
                <a:cxn ang="0">
                  <a:pos x="T6" y="T7"/>
                </a:cxn>
              </a:cxnLst>
              <a:rect l="0" t="0" r="r" b="b"/>
              <a:pathLst>
                <a:path w="18" h="28">
                  <a:moveTo>
                    <a:pt x="7" y="0"/>
                  </a:moveTo>
                  <a:lnTo>
                    <a:pt x="0" y="27"/>
                  </a:lnTo>
                  <a:lnTo>
                    <a:pt x="17" y="26"/>
                  </a:lnTo>
                  <a:lnTo>
                    <a:pt x="7" y="0"/>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973" name="Freeform 13"/>
            <p:cNvSpPr>
              <a:spLocks/>
            </p:cNvSpPr>
            <p:nvPr/>
          </p:nvSpPr>
          <p:spPr bwMode="auto">
            <a:xfrm>
              <a:off x="129" y="3410"/>
              <a:ext cx="68" cy="114"/>
            </a:xfrm>
            <a:custGeom>
              <a:avLst/>
              <a:gdLst>
                <a:gd name="T0" fmla="*/ 22 w 68"/>
                <a:gd name="T1" fmla="*/ 113 h 114"/>
                <a:gd name="T2" fmla="*/ 23 w 68"/>
                <a:gd name="T3" fmla="*/ 93 h 114"/>
                <a:gd name="T4" fmla="*/ 21 w 68"/>
                <a:gd name="T5" fmla="*/ 90 h 114"/>
                <a:gd name="T6" fmla="*/ 15 w 68"/>
                <a:gd name="T7" fmla="*/ 82 h 114"/>
                <a:gd name="T8" fmla="*/ 9 w 68"/>
                <a:gd name="T9" fmla="*/ 71 h 114"/>
                <a:gd name="T10" fmla="*/ 4 w 68"/>
                <a:gd name="T11" fmla="*/ 57 h 114"/>
                <a:gd name="T12" fmla="*/ 0 w 68"/>
                <a:gd name="T13" fmla="*/ 41 h 114"/>
                <a:gd name="T14" fmla="*/ 1 w 68"/>
                <a:gd name="T15" fmla="*/ 26 h 114"/>
                <a:gd name="T16" fmla="*/ 8 w 68"/>
                <a:gd name="T17" fmla="*/ 11 h 114"/>
                <a:gd name="T18" fmla="*/ 23 w 68"/>
                <a:gd name="T19" fmla="*/ 0 h 114"/>
                <a:gd name="T20" fmla="*/ 43 w 68"/>
                <a:gd name="T21" fmla="*/ 0 h 114"/>
                <a:gd name="T22" fmla="*/ 46 w 68"/>
                <a:gd name="T23" fmla="*/ 0 h 114"/>
                <a:gd name="T24" fmla="*/ 51 w 68"/>
                <a:gd name="T25" fmla="*/ 4 h 114"/>
                <a:gd name="T26" fmla="*/ 57 w 68"/>
                <a:gd name="T27" fmla="*/ 10 h 114"/>
                <a:gd name="T28" fmla="*/ 63 w 68"/>
                <a:gd name="T29" fmla="*/ 19 h 114"/>
                <a:gd name="T30" fmla="*/ 67 w 68"/>
                <a:gd name="T31" fmla="*/ 31 h 114"/>
                <a:gd name="T32" fmla="*/ 66 w 68"/>
                <a:gd name="T33" fmla="*/ 47 h 114"/>
                <a:gd name="T34" fmla="*/ 59 w 68"/>
                <a:gd name="T35" fmla="*/ 67 h 114"/>
                <a:gd name="T36" fmla="*/ 43 w 68"/>
                <a:gd name="T37" fmla="*/ 90 h 114"/>
                <a:gd name="T38" fmla="*/ 43 w 68"/>
                <a:gd name="T39" fmla="*/ 113 h 114"/>
                <a:gd name="T40" fmla="*/ 22 w 68"/>
                <a:gd name="T41" fmla="*/ 113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68" h="114">
                  <a:moveTo>
                    <a:pt x="22" y="113"/>
                  </a:moveTo>
                  <a:lnTo>
                    <a:pt x="23" y="93"/>
                  </a:lnTo>
                  <a:lnTo>
                    <a:pt x="21" y="90"/>
                  </a:lnTo>
                  <a:lnTo>
                    <a:pt x="15" y="82"/>
                  </a:lnTo>
                  <a:lnTo>
                    <a:pt x="9" y="71"/>
                  </a:lnTo>
                  <a:lnTo>
                    <a:pt x="4" y="57"/>
                  </a:lnTo>
                  <a:lnTo>
                    <a:pt x="0" y="41"/>
                  </a:lnTo>
                  <a:lnTo>
                    <a:pt x="1" y="26"/>
                  </a:lnTo>
                  <a:lnTo>
                    <a:pt x="8" y="11"/>
                  </a:lnTo>
                  <a:lnTo>
                    <a:pt x="23" y="0"/>
                  </a:lnTo>
                  <a:lnTo>
                    <a:pt x="43" y="0"/>
                  </a:lnTo>
                  <a:lnTo>
                    <a:pt x="46" y="0"/>
                  </a:lnTo>
                  <a:lnTo>
                    <a:pt x="51" y="4"/>
                  </a:lnTo>
                  <a:lnTo>
                    <a:pt x="57" y="10"/>
                  </a:lnTo>
                  <a:lnTo>
                    <a:pt x="63" y="19"/>
                  </a:lnTo>
                  <a:lnTo>
                    <a:pt x="67" y="31"/>
                  </a:lnTo>
                  <a:lnTo>
                    <a:pt x="66" y="47"/>
                  </a:lnTo>
                  <a:lnTo>
                    <a:pt x="59" y="67"/>
                  </a:lnTo>
                  <a:lnTo>
                    <a:pt x="43" y="90"/>
                  </a:lnTo>
                  <a:lnTo>
                    <a:pt x="43" y="113"/>
                  </a:lnTo>
                  <a:lnTo>
                    <a:pt x="22" y="113"/>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974" name="Freeform 14"/>
            <p:cNvSpPr>
              <a:spLocks/>
            </p:cNvSpPr>
            <p:nvPr/>
          </p:nvSpPr>
          <p:spPr bwMode="auto">
            <a:xfrm>
              <a:off x="156" y="3431"/>
              <a:ext cx="17" cy="85"/>
            </a:xfrm>
            <a:custGeom>
              <a:avLst/>
              <a:gdLst>
                <a:gd name="T0" fmla="*/ 4 w 17"/>
                <a:gd name="T1" fmla="*/ 0 h 85"/>
                <a:gd name="T2" fmla="*/ 6 w 17"/>
                <a:gd name="T3" fmla="*/ 5 h 85"/>
                <a:gd name="T4" fmla="*/ 2 w 17"/>
                <a:gd name="T5" fmla="*/ 6 h 85"/>
                <a:gd name="T6" fmla="*/ 2 w 17"/>
                <a:gd name="T7" fmla="*/ 76 h 85"/>
                <a:gd name="T8" fmla="*/ 0 w 17"/>
                <a:gd name="T9" fmla="*/ 77 h 85"/>
                <a:gd name="T10" fmla="*/ 0 w 17"/>
                <a:gd name="T11" fmla="*/ 84 h 85"/>
                <a:gd name="T12" fmla="*/ 2 w 17"/>
                <a:gd name="T13" fmla="*/ 84 h 85"/>
                <a:gd name="T14" fmla="*/ 4 w 17"/>
                <a:gd name="T15" fmla="*/ 84 h 85"/>
                <a:gd name="T16" fmla="*/ 6 w 17"/>
                <a:gd name="T17" fmla="*/ 84 h 85"/>
                <a:gd name="T18" fmla="*/ 9 w 17"/>
                <a:gd name="T19" fmla="*/ 83 h 85"/>
                <a:gd name="T20" fmla="*/ 13 w 17"/>
                <a:gd name="T21" fmla="*/ 83 h 85"/>
                <a:gd name="T22" fmla="*/ 16 w 17"/>
                <a:gd name="T23" fmla="*/ 82 h 85"/>
                <a:gd name="T24" fmla="*/ 16 w 17"/>
                <a:gd name="T25" fmla="*/ 80 h 85"/>
                <a:gd name="T26" fmla="*/ 16 w 17"/>
                <a:gd name="T27" fmla="*/ 77 h 85"/>
                <a:gd name="T28" fmla="*/ 16 w 17"/>
                <a:gd name="T29" fmla="*/ 46 h 85"/>
                <a:gd name="T30" fmla="*/ 13 w 17"/>
                <a:gd name="T31" fmla="*/ 45 h 85"/>
                <a:gd name="T32" fmla="*/ 13 w 17"/>
                <a:gd name="T33" fmla="*/ 38 h 85"/>
                <a:gd name="T34" fmla="*/ 13 w 17"/>
                <a:gd name="T35" fmla="*/ 4 h 85"/>
                <a:gd name="T36" fmla="*/ 4 w 17"/>
                <a:gd name="T37" fmla="*/ 0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7" h="85">
                  <a:moveTo>
                    <a:pt x="4" y="0"/>
                  </a:moveTo>
                  <a:lnTo>
                    <a:pt x="6" y="5"/>
                  </a:lnTo>
                  <a:lnTo>
                    <a:pt x="2" y="6"/>
                  </a:lnTo>
                  <a:lnTo>
                    <a:pt x="2" y="76"/>
                  </a:lnTo>
                  <a:lnTo>
                    <a:pt x="0" y="77"/>
                  </a:lnTo>
                  <a:lnTo>
                    <a:pt x="0" y="84"/>
                  </a:lnTo>
                  <a:lnTo>
                    <a:pt x="2" y="84"/>
                  </a:lnTo>
                  <a:lnTo>
                    <a:pt x="4" y="84"/>
                  </a:lnTo>
                  <a:lnTo>
                    <a:pt x="6" y="84"/>
                  </a:lnTo>
                  <a:lnTo>
                    <a:pt x="9" y="83"/>
                  </a:lnTo>
                  <a:lnTo>
                    <a:pt x="13" y="83"/>
                  </a:lnTo>
                  <a:lnTo>
                    <a:pt x="16" y="82"/>
                  </a:lnTo>
                  <a:lnTo>
                    <a:pt x="16" y="80"/>
                  </a:lnTo>
                  <a:lnTo>
                    <a:pt x="16" y="77"/>
                  </a:lnTo>
                  <a:lnTo>
                    <a:pt x="16" y="46"/>
                  </a:lnTo>
                  <a:lnTo>
                    <a:pt x="13" y="45"/>
                  </a:lnTo>
                  <a:lnTo>
                    <a:pt x="13" y="38"/>
                  </a:lnTo>
                  <a:lnTo>
                    <a:pt x="13" y="4"/>
                  </a:lnTo>
                  <a:lnTo>
                    <a:pt x="4" y="0"/>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379936567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6" name="Rectangle 2"/>
          <p:cNvSpPr>
            <a:spLocks noGrp="1" noChangeArrowheads="1"/>
          </p:cNvSpPr>
          <p:nvPr>
            <p:ph type="body" idx="1"/>
          </p:nvPr>
        </p:nvSpPr>
        <p:spPr>
          <a:noFill/>
          <a:ln/>
        </p:spPr>
        <p:txBody>
          <a:bodyPr/>
          <a:lstStyle/>
          <a:p>
            <a:pPr>
              <a:tabLst>
                <a:tab pos="1122363" algn="l"/>
                <a:tab pos="2246313" algn="l"/>
              </a:tabLst>
            </a:pPr>
            <a:endParaRPr lang="en-US" altLang="en-US"/>
          </a:p>
          <a:p>
            <a:pPr>
              <a:tabLst>
                <a:tab pos="1122363" algn="l"/>
                <a:tab pos="2246313" algn="l"/>
              </a:tabLst>
            </a:pPr>
            <a:endParaRPr lang="en-US" altLang="en-US"/>
          </a:p>
          <a:p>
            <a:pPr>
              <a:tabLst>
                <a:tab pos="1122363" algn="l"/>
                <a:tab pos="2246313" algn="l"/>
              </a:tabLst>
            </a:pPr>
            <a:endParaRPr lang="en-US" altLang="en-US"/>
          </a:p>
          <a:p>
            <a:pPr>
              <a:tabLst>
                <a:tab pos="1122363" algn="l"/>
                <a:tab pos="2246313" algn="l"/>
              </a:tabLst>
            </a:pPr>
            <a:endParaRPr lang="en-US" altLang="en-US"/>
          </a:p>
          <a:p>
            <a:pPr>
              <a:tabLst>
                <a:tab pos="1122363" algn="l"/>
                <a:tab pos="2246313" algn="l"/>
              </a:tabLst>
            </a:pPr>
            <a:endParaRPr lang="en-US" altLang="en-US"/>
          </a:p>
          <a:p>
            <a:pPr>
              <a:tabLst>
                <a:tab pos="1122363" algn="l"/>
                <a:tab pos="2246313" algn="l"/>
              </a:tabLst>
            </a:pPr>
            <a:endParaRPr lang="en-US" altLang="en-US"/>
          </a:p>
          <a:p>
            <a:pPr>
              <a:tabLst>
                <a:tab pos="1122363" algn="l"/>
                <a:tab pos="2246313" algn="l"/>
              </a:tabLst>
            </a:pPr>
            <a:endParaRPr lang="en-US" altLang="en-US"/>
          </a:p>
          <a:p>
            <a:pPr>
              <a:tabLst>
                <a:tab pos="1122363" algn="l"/>
                <a:tab pos="2246313" algn="l"/>
              </a:tabLst>
            </a:pPr>
            <a:endParaRPr lang="en-US" altLang="en-US"/>
          </a:p>
          <a:p>
            <a:pPr>
              <a:tabLst>
                <a:tab pos="1122363" algn="l"/>
                <a:tab pos="2246313" algn="l"/>
              </a:tabLst>
            </a:pPr>
            <a:endParaRPr lang="en-US" altLang="en-US"/>
          </a:p>
          <a:p>
            <a:pPr>
              <a:tabLst>
                <a:tab pos="1122363" algn="l"/>
                <a:tab pos="2246313" algn="l"/>
              </a:tabLst>
            </a:pPr>
            <a:endParaRPr lang="en-US" altLang="en-US"/>
          </a:p>
          <a:p>
            <a:pPr>
              <a:tabLst>
                <a:tab pos="1122363" algn="l"/>
                <a:tab pos="2246313" algn="l"/>
              </a:tabLst>
            </a:pPr>
            <a:endParaRPr lang="en-US" altLang="en-US"/>
          </a:p>
          <a:p>
            <a:pPr>
              <a:tabLst>
                <a:tab pos="1122363" algn="l"/>
                <a:tab pos="2246313" algn="l"/>
              </a:tabLst>
            </a:pPr>
            <a:endParaRPr lang="en-US" altLang="en-US"/>
          </a:p>
          <a:p>
            <a:pPr>
              <a:tabLst>
                <a:tab pos="1122363" algn="l"/>
                <a:tab pos="2246313" algn="l"/>
              </a:tabLst>
            </a:pPr>
            <a:endParaRPr lang="en-US" altLang="en-US" sz="1200">
              <a:solidFill>
                <a:schemeClr val="accent2"/>
              </a:solidFill>
            </a:endParaRPr>
          </a:p>
          <a:p>
            <a:pPr>
              <a:tabLst>
                <a:tab pos="1122363" algn="l"/>
                <a:tab pos="2246313" algn="l"/>
              </a:tabLst>
            </a:pPr>
            <a:r>
              <a:rPr lang="en-US" altLang="en-US" sz="1200">
                <a:solidFill>
                  <a:schemeClr val="accent2"/>
                </a:solidFill>
              </a:rPr>
              <a:t>Schedule:	Timing	Topic</a:t>
            </a:r>
          </a:p>
          <a:p>
            <a:pPr lvl="1">
              <a:tabLst>
                <a:tab pos="1122363" algn="l"/>
                <a:tab pos="2246313" algn="l"/>
              </a:tabLst>
            </a:pPr>
            <a:r>
              <a:rPr lang="en-US" altLang="en-US">
                <a:solidFill>
                  <a:schemeClr val="accent2"/>
                </a:solidFill>
              </a:rPr>
              <a:t>	20 minutes	Lecture</a:t>
            </a:r>
          </a:p>
          <a:p>
            <a:pPr lvl="1">
              <a:tabLst>
                <a:tab pos="1122363" algn="l"/>
                <a:tab pos="2246313" algn="l"/>
              </a:tabLst>
            </a:pPr>
            <a:r>
              <a:rPr lang="en-US" altLang="en-US">
                <a:solidFill>
                  <a:schemeClr val="accent2"/>
                </a:solidFill>
              </a:rPr>
              <a:t>	20 minutes	Practice</a:t>
            </a:r>
          </a:p>
          <a:p>
            <a:pPr lvl="1">
              <a:tabLst>
                <a:tab pos="1122363" algn="l"/>
                <a:tab pos="2246313" algn="l"/>
              </a:tabLst>
            </a:pPr>
            <a:r>
              <a:rPr lang="en-US" altLang="en-US">
                <a:solidFill>
                  <a:schemeClr val="accent2"/>
                </a:solidFill>
              </a:rPr>
              <a:t>	40 minutes	Total</a:t>
            </a:r>
          </a:p>
        </p:txBody>
      </p:sp>
      <p:sp>
        <p:nvSpPr>
          <p:cNvPr id="6147" name="Rectangle 3"/>
          <p:cNvSpPr>
            <a:spLocks noGrp="1" noRot="1" noChangeAspect="1" noChangeArrowheads="1" noTextEdit="1"/>
          </p:cNvSpPr>
          <p:nvPr>
            <p:ph type="sldImg"/>
          </p:nvPr>
        </p:nvSpPr>
        <p:spPr>
          <a:xfrm>
            <a:off x="469900" y="155575"/>
            <a:ext cx="5872163" cy="4403725"/>
          </a:xfrm>
          <a:ln cap="flat"/>
        </p:spPr>
      </p:sp>
    </p:spTree>
    <p:extLst>
      <p:ext uri="{BB962C8B-B14F-4D97-AF65-F5344CB8AC3E}">
        <p14:creationId xmlns:p14="http://schemas.microsoft.com/office/powerpoint/2010/main" val="366342272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ChangeArrowheads="1"/>
          </p:cNvSpPr>
          <p:nvPr/>
        </p:nvSpPr>
        <p:spPr bwMode="auto">
          <a:xfrm>
            <a:off x="3860800" y="0"/>
            <a:ext cx="295910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95" name="Rectangle 3"/>
          <p:cNvSpPr>
            <a:spLocks noChangeArrowheads="1"/>
          </p:cNvSpPr>
          <p:nvPr/>
        </p:nvSpPr>
        <p:spPr bwMode="auto">
          <a:xfrm>
            <a:off x="-3175" y="0"/>
            <a:ext cx="2955925"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8196" name="Rectangle 4"/>
          <p:cNvSpPr>
            <a:spLocks noGrp="1" noChangeArrowheads="1"/>
          </p:cNvSpPr>
          <p:nvPr>
            <p:ph type="body" idx="1"/>
          </p:nvPr>
        </p:nvSpPr>
        <p:spPr>
          <a:xfrm>
            <a:off x="422275" y="4765675"/>
            <a:ext cx="5995988" cy="3749675"/>
          </a:xfrm>
          <a:noFill/>
          <a:ln/>
        </p:spPr>
        <p:txBody>
          <a:bodyPr/>
          <a:lstStyle/>
          <a:p>
            <a:pPr>
              <a:tabLst/>
            </a:pPr>
            <a:r>
              <a:rPr lang="en-US" altLang="en-US"/>
              <a:t>Lesson Aim</a:t>
            </a:r>
          </a:p>
          <a:p>
            <a:pPr lvl="1">
              <a:tabLst/>
            </a:pPr>
            <a:r>
              <a:rPr lang="en-US" altLang="en-US"/>
              <a:t>In this lesson, you will learn to create and use views. You will also learn to query the relevant data dictionary object to retrieve information about views.</a:t>
            </a:r>
          </a:p>
        </p:txBody>
      </p:sp>
      <p:sp>
        <p:nvSpPr>
          <p:cNvPr id="8197" name="Rectangle 5"/>
          <p:cNvSpPr>
            <a:spLocks noGrp="1" noRot="1" noChangeAspect="1" noChangeArrowheads="1" noTextEdit="1"/>
          </p:cNvSpPr>
          <p:nvPr>
            <p:ph type="sldImg"/>
          </p:nvPr>
        </p:nvSpPr>
        <p:spPr>
          <a:xfrm>
            <a:off x="471488" y="157163"/>
            <a:ext cx="5870575" cy="4402137"/>
          </a:xfrm>
          <a:ln cap="flat"/>
        </p:spPr>
      </p:sp>
    </p:spTree>
    <p:extLst>
      <p:ext uri="{BB962C8B-B14F-4D97-AF65-F5344CB8AC3E}">
        <p14:creationId xmlns:p14="http://schemas.microsoft.com/office/powerpoint/2010/main" val="309791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body" idx="1"/>
          </p:nvPr>
        </p:nvSpPr>
        <p:spPr>
          <a:ln/>
        </p:spPr>
        <p:txBody>
          <a:bodyPr/>
          <a:lstStyle/>
          <a:p>
            <a:pPr>
              <a:tabLst/>
            </a:pPr>
            <a:endParaRPr lang="en-US" altLang="en-US"/>
          </a:p>
        </p:txBody>
      </p:sp>
      <p:sp>
        <p:nvSpPr>
          <p:cNvPr id="10243" name="Rectangle 3"/>
          <p:cNvSpPr>
            <a:spLocks noGrp="1" noRot="1" noChangeAspect="1" noChangeArrowheads="1" noTextEdit="1"/>
          </p:cNvSpPr>
          <p:nvPr>
            <p:ph type="sldImg"/>
          </p:nvPr>
        </p:nvSpPr>
        <p:spPr>
          <a:xfrm>
            <a:off x="471488" y="157163"/>
            <a:ext cx="5870575" cy="4402137"/>
          </a:xfrm>
          <a:ln cap="flat"/>
        </p:spPr>
      </p:sp>
    </p:spTree>
    <p:extLst>
      <p:ext uri="{BB962C8B-B14F-4D97-AF65-F5344CB8AC3E}">
        <p14:creationId xmlns:p14="http://schemas.microsoft.com/office/powerpoint/2010/main" val="140610060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ChangeArrowheads="1"/>
          </p:cNvSpPr>
          <p:nvPr/>
        </p:nvSpPr>
        <p:spPr bwMode="auto">
          <a:xfrm>
            <a:off x="3860800" y="0"/>
            <a:ext cx="295910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91" name="Rectangle 3"/>
          <p:cNvSpPr>
            <a:spLocks noChangeArrowheads="1"/>
          </p:cNvSpPr>
          <p:nvPr/>
        </p:nvSpPr>
        <p:spPr bwMode="auto">
          <a:xfrm>
            <a:off x="-3175" y="0"/>
            <a:ext cx="2955925"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92" name="Rectangle 4"/>
          <p:cNvSpPr>
            <a:spLocks noGrp="1" noChangeArrowheads="1"/>
          </p:cNvSpPr>
          <p:nvPr>
            <p:ph type="body" idx="1"/>
          </p:nvPr>
        </p:nvSpPr>
        <p:spPr>
          <a:xfrm>
            <a:off x="422275" y="4765675"/>
            <a:ext cx="5995988" cy="3749675"/>
          </a:xfrm>
          <a:noFill/>
          <a:ln/>
        </p:spPr>
        <p:txBody>
          <a:bodyPr/>
          <a:lstStyle/>
          <a:p>
            <a:r>
              <a:rPr lang="en-US" altLang="en-US"/>
              <a:t>What Is a View?</a:t>
            </a:r>
          </a:p>
          <a:p>
            <a:pPr lvl="1"/>
            <a:r>
              <a:rPr lang="en-US" altLang="en-US"/>
              <a:t>You can present logical subsets or combinations of data by creating views of tables. </a:t>
            </a:r>
            <a:r>
              <a:rPr lang="en-US" altLang="en-US">
                <a:latin typeface="Times" charset="0"/>
              </a:rPr>
              <a:t>A </a:t>
            </a:r>
            <a:r>
              <a:rPr lang="en-US" altLang="en-US">
                <a:solidFill>
                  <a:srgbClr val="FC0128"/>
                </a:solidFill>
                <a:latin typeface="Times" charset="0"/>
              </a:rPr>
              <a:t>view </a:t>
            </a:r>
            <a:r>
              <a:rPr lang="en-US" altLang="en-US">
                <a:latin typeface="Times" charset="0"/>
              </a:rPr>
              <a:t>is a logical table based on a table or another view. A view contains no data of its own but is like a window through which data from tables can be viewed or changed. The tables on which a view is based are called </a:t>
            </a:r>
            <a:r>
              <a:rPr lang="en-US" altLang="en-US" i="1">
                <a:solidFill>
                  <a:srgbClr val="FC0128"/>
                </a:solidFill>
                <a:latin typeface="Times" charset="0"/>
              </a:rPr>
              <a:t>base tables</a:t>
            </a:r>
            <a:r>
              <a:rPr lang="en-US" altLang="en-US">
                <a:solidFill>
                  <a:srgbClr val="FC0128"/>
                </a:solidFill>
                <a:latin typeface="Times" charset="0"/>
              </a:rPr>
              <a:t>.</a:t>
            </a:r>
            <a:r>
              <a:rPr lang="en-US" altLang="en-US">
                <a:latin typeface="Times" charset="0"/>
              </a:rPr>
              <a:t> The view is stored as a SELECT statement in the data dictionary.</a:t>
            </a:r>
          </a:p>
          <a:p>
            <a:endParaRPr lang="en-US" altLang="en-US" b="0">
              <a:latin typeface="Times" charset="0"/>
            </a:endParaRPr>
          </a:p>
        </p:txBody>
      </p:sp>
      <p:sp>
        <p:nvSpPr>
          <p:cNvPr id="12293" name="Rectangle 5"/>
          <p:cNvSpPr>
            <a:spLocks noGrp="1" noRot="1" noChangeAspect="1" noChangeArrowheads="1" noTextEdit="1"/>
          </p:cNvSpPr>
          <p:nvPr>
            <p:ph type="sldImg"/>
          </p:nvPr>
        </p:nvSpPr>
        <p:spPr>
          <a:xfrm>
            <a:off x="471488" y="157163"/>
            <a:ext cx="5870575" cy="4402137"/>
          </a:xfrm>
          <a:ln cap="flat"/>
        </p:spPr>
      </p:sp>
    </p:spTree>
    <p:extLst>
      <p:ext uri="{BB962C8B-B14F-4D97-AF65-F5344CB8AC3E}">
        <p14:creationId xmlns:p14="http://schemas.microsoft.com/office/powerpoint/2010/main" val="263148927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ChangeArrowheads="1"/>
          </p:cNvSpPr>
          <p:nvPr/>
        </p:nvSpPr>
        <p:spPr bwMode="auto">
          <a:xfrm>
            <a:off x="3860800" y="0"/>
            <a:ext cx="295910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39" name="Rectangle 3"/>
          <p:cNvSpPr>
            <a:spLocks noChangeArrowheads="1"/>
          </p:cNvSpPr>
          <p:nvPr/>
        </p:nvSpPr>
        <p:spPr bwMode="auto">
          <a:xfrm>
            <a:off x="-3175" y="0"/>
            <a:ext cx="2955925"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40" name="Rectangle 4"/>
          <p:cNvSpPr>
            <a:spLocks noGrp="1" noChangeArrowheads="1"/>
          </p:cNvSpPr>
          <p:nvPr>
            <p:ph type="body" idx="1"/>
          </p:nvPr>
        </p:nvSpPr>
        <p:spPr>
          <a:noFill/>
          <a:ln/>
        </p:spPr>
        <p:txBody>
          <a:bodyPr/>
          <a:lstStyle/>
          <a:p>
            <a:r>
              <a:rPr lang="en-US" altLang="en-US"/>
              <a:t>Advantages of Views</a:t>
            </a:r>
          </a:p>
          <a:p>
            <a:pPr lvl="2"/>
            <a:r>
              <a:rPr lang="en-US" altLang="en-US"/>
              <a:t>Views restrict access to the database because the view can display a selective portion of the database.</a:t>
            </a:r>
          </a:p>
          <a:p>
            <a:pPr lvl="2"/>
            <a:r>
              <a:rPr lang="en-US" altLang="en-US"/>
              <a:t>Views allow users to make simple queries to retrieve the results from complicated queries. For example, views allow users to query information from multiple tables without knowing how to write a join statement.</a:t>
            </a:r>
          </a:p>
          <a:p>
            <a:pPr lvl="2"/>
            <a:r>
              <a:rPr lang="en-US" altLang="en-US"/>
              <a:t>Views provide data independence for ad hoc users and application programs. One view can be used to retrieve data from several tables.</a:t>
            </a:r>
          </a:p>
          <a:p>
            <a:pPr lvl="2"/>
            <a:r>
              <a:rPr lang="en-US" altLang="en-US"/>
              <a:t>Views provide groups of users access to data according to their particular criteria.</a:t>
            </a:r>
          </a:p>
          <a:p>
            <a:pPr lvl="1"/>
            <a:r>
              <a:rPr lang="en-US" altLang="en-US"/>
              <a:t>For more information, see</a:t>
            </a:r>
            <a:br>
              <a:rPr lang="en-US" altLang="en-US"/>
            </a:br>
            <a:r>
              <a:rPr lang="en-US" altLang="en-US" i="1"/>
              <a:t>Oracle Server SQL Reference, </a:t>
            </a:r>
            <a:r>
              <a:rPr lang="en-US" altLang="en-US"/>
              <a:t>Release 8, “CREATE VIEW.”</a:t>
            </a:r>
          </a:p>
          <a:p>
            <a:endParaRPr lang="en-US" altLang="en-US" b="0">
              <a:latin typeface="Times New Roman" pitchFamily="18" charset="0"/>
            </a:endParaRPr>
          </a:p>
        </p:txBody>
      </p:sp>
      <p:sp>
        <p:nvSpPr>
          <p:cNvPr id="14341" name="Rectangle 5"/>
          <p:cNvSpPr>
            <a:spLocks noGrp="1" noRot="1" noChangeAspect="1" noChangeArrowheads="1" noTextEdit="1"/>
          </p:cNvSpPr>
          <p:nvPr>
            <p:ph type="sldImg"/>
          </p:nvPr>
        </p:nvSpPr>
        <p:spPr>
          <a:xfrm>
            <a:off x="469900" y="155575"/>
            <a:ext cx="5872163" cy="4403725"/>
          </a:xfrm>
          <a:ln cap="flat"/>
        </p:spPr>
      </p:sp>
      <p:grpSp>
        <p:nvGrpSpPr>
          <p:cNvPr id="14355" name="Group 19"/>
          <p:cNvGrpSpPr>
            <a:grpSpLocks/>
          </p:cNvGrpSpPr>
          <p:nvPr/>
        </p:nvGrpSpPr>
        <p:grpSpPr bwMode="auto">
          <a:xfrm>
            <a:off x="166688" y="6599238"/>
            <a:ext cx="293687" cy="290512"/>
            <a:chOff x="105" y="4157"/>
            <a:chExt cx="185" cy="183"/>
          </a:xfrm>
        </p:grpSpPr>
        <p:sp>
          <p:nvSpPr>
            <p:cNvPr id="14342" name="Freeform 6"/>
            <p:cNvSpPr>
              <a:spLocks/>
            </p:cNvSpPr>
            <p:nvPr/>
          </p:nvSpPr>
          <p:spPr bwMode="auto">
            <a:xfrm>
              <a:off x="105" y="4157"/>
              <a:ext cx="176" cy="177"/>
            </a:xfrm>
            <a:custGeom>
              <a:avLst/>
              <a:gdLst>
                <a:gd name="T0" fmla="*/ 175 w 176"/>
                <a:gd name="T1" fmla="*/ 176 h 177"/>
                <a:gd name="T2" fmla="*/ 175 w 176"/>
                <a:gd name="T3" fmla="*/ 0 h 177"/>
                <a:gd name="T4" fmla="*/ 0 w 176"/>
                <a:gd name="T5" fmla="*/ 0 h 177"/>
                <a:gd name="T6" fmla="*/ 0 w 176"/>
                <a:gd name="T7" fmla="*/ 176 h 177"/>
                <a:gd name="T8" fmla="*/ 175 w 176"/>
                <a:gd name="T9" fmla="*/ 176 h 177"/>
              </a:gdLst>
              <a:ahLst/>
              <a:cxnLst>
                <a:cxn ang="0">
                  <a:pos x="T0" y="T1"/>
                </a:cxn>
                <a:cxn ang="0">
                  <a:pos x="T2" y="T3"/>
                </a:cxn>
                <a:cxn ang="0">
                  <a:pos x="T4" y="T5"/>
                </a:cxn>
                <a:cxn ang="0">
                  <a:pos x="T6" y="T7"/>
                </a:cxn>
                <a:cxn ang="0">
                  <a:pos x="T8" y="T9"/>
                </a:cxn>
              </a:cxnLst>
              <a:rect l="0" t="0" r="r" b="b"/>
              <a:pathLst>
                <a:path w="176" h="177">
                  <a:moveTo>
                    <a:pt x="175" y="176"/>
                  </a:moveTo>
                  <a:lnTo>
                    <a:pt x="175" y="0"/>
                  </a:lnTo>
                  <a:lnTo>
                    <a:pt x="0" y="0"/>
                  </a:lnTo>
                  <a:lnTo>
                    <a:pt x="0" y="176"/>
                  </a:lnTo>
                  <a:lnTo>
                    <a:pt x="175" y="176"/>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43" name="Freeform 7"/>
            <p:cNvSpPr>
              <a:spLocks/>
            </p:cNvSpPr>
            <p:nvPr/>
          </p:nvSpPr>
          <p:spPr bwMode="auto">
            <a:xfrm>
              <a:off x="165" y="4223"/>
              <a:ext cx="71" cy="37"/>
            </a:xfrm>
            <a:custGeom>
              <a:avLst/>
              <a:gdLst>
                <a:gd name="T0" fmla="*/ 70 w 71"/>
                <a:gd name="T1" fmla="*/ 7 h 37"/>
                <a:gd name="T2" fmla="*/ 66 w 71"/>
                <a:gd name="T3" fmla="*/ 0 h 37"/>
                <a:gd name="T4" fmla="*/ 0 w 71"/>
                <a:gd name="T5" fmla="*/ 29 h 37"/>
                <a:gd name="T6" fmla="*/ 3 w 71"/>
                <a:gd name="T7" fmla="*/ 36 h 37"/>
                <a:gd name="T8" fmla="*/ 70 w 71"/>
                <a:gd name="T9" fmla="*/ 7 h 37"/>
              </a:gdLst>
              <a:ahLst/>
              <a:cxnLst>
                <a:cxn ang="0">
                  <a:pos x="T0" y="T1"/>
                </a:cxn>
                <a:cxn ang="0">
                  <a:pos x="T2" y="T3"/>
                </a:cxn>
                <a:cxn ang="0">
                  <a:pos x="T4" y="T5"/>
                </a:cxn>
                <a:cxn ang="0">
                  <a:pos x="T6" y="T7"/>
                </a:cxn>
                <a:cxn ang="0">
                  <a:pos x="T8" y="T9"/>
                </a:cxn>
              </a:cxnLst>
              <a:rect l="0" t="0" r="r" b="b"/>
              <a:pathLst>
                <a:path w="71" h="37">
                  <a:moveTo>
                    <a:pt x="70" y="7"/>
                  </a:moveTo>
                  <a:lnTo>
                    <a:pt x="66" y="0"/>
                  </a:lnTo>
                  <a:lnTo>
                    <a:pt x="0" y="29"/>
                  </a:lnTo>
                  <a:lnTo>
                    <a:pt x="3" y="36"/>
                  </a:lnTo>
                  <a:lnTo>
                    <a:pt x="70" y="7"/>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44" name="Freeform 8"/>
            <p:cNvSpPr>
              <a:spLocks/>
            </p:cNvSpPr>
            <p:nvPr/>
          </p:nvSpPr>
          <p:spPr bwMode="auto">
            <a:xfrm>
              <a:off x="174" y="4239"/>
              <a:ext cx="69" cy="37"/>
            </a:xfrm>
            <a:custGeom>
              <a:avLst/>
              <a:gdLst>
                <a:gd name="T0" fmla="*/ 68 w 69"/>
                <a:gd name="T1" fmla="*/ 7 h 37"/>
                <a:gd name="T2" fmla="*/ 65 w 69"/>
                <a:gd name="T3" fmla="*/ 0 h 37"/>
                <a:gd name="T4" fmla="*/ 0 w 69"/>
                <a:gd name="T5" fmla="*/ 29 h 37"/>
                <a:gd name="T6" fmla="*/ 3 w 69"/>
                <a:gd name="T7" fmla="*/ 36 h 37"/>
                <a:gd name="T8" fmla="*/ 68 w 69"/>
                <a:gd name="T9" fmla="*/ 7 h 37"/>
              </a:gdLst>
              <a:ahLst/>
              <a:cxnLst>
                <a:cxn ang="0">
                  <a:pos x="T0" y="T1"/>
                </a:cxn>
                <a:cxn ang="0">
                  <a:pos x="T2" y="T3"/>
                </a:cxn>
                <a:cxn ang="0">
                  <a:pos x="T4" y="T5"/>
                </a:cxn>
                <a:cxn ang="0">
                  <a:pos x="T6" y="T7"/>
                </a:cxn>
                <a:cxn ang="0">
                  <a:pos x="T8" y="T9"/>
                </a:cxn>
              </a:cxnLst>
              <a:rect l="0" t="0" r="r" b="b"/>
              <a:pathLst>
                <a:path w="69" h="37">
                  <a:moveTo>
                    <a:pt x="68" y="7"/>
                  </a:moveTo>
                  <a:lnTo>
                    <a:pt x="65" y="0"/>
                  </a:lnTo>
                  <a:lnTo>
                    <a:pt x="0" y="29"/>
                  </a:lnTo>
                  <a:lnTo>
                    <a:pt x="3" y="36"/>
                  </a:lnTo>
                  <a:lnTo>
                    <a:pt x="68" y="7"/>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45" name="Freeform 9"/>
            <p:cNvSpPr>
              <a:spLocks/>
            </p:cNvSpPr>
            <p:nvPr/>
          </p:nvSpPr>
          <p:spPr bwMode="auto">
            <a:xfrm>
              <a:off x="180" y="4255"/>
              <a:ext cx="68" cy="35"/>
            </a:xfrm>
            <a:custGeom>
              <a:avLst/>
              <a:gdLst>
                <a:gd name="T0" fmla="*/ 67 w 68"/>
                <a:gd name="T1" fmla="*/ 6 h 35"/>
                <a:gd name="T2" fmla="*/ 64 w 68"/>
                <a:gd name="T3" fmla="*/ 0 h 35"/>
                <a:gd name="T4" fmla="*/ 0 w 68"/>
                <a:gd name="T5" fmla="*/ 27 h 35"/>
                <a:gd name="T6" fmla="*/ 2 w 68"/>
                <a:gd name="T7" fmla="*/ 34 h 35"/>
                <a:gd name="T8" fmla="*/ 67 w 68"/>
                <a:gd name="T9" fmla="*/ 6 h 35"/>
              </a:gdLst>
              <a:ahLst/>
              <a:cxnLst>
                <a:cxn ang="0">
                  <a:pos x="T0" y="T1"/>
                </a:cxn>
                <a:cxn ang="0">
                  <a:pos x="T2" y="T3"/>
                </a:cxn>
                <a:cxn ang="0">
                  <a:pos x="T4" y="T5"/>
                </a:cxn>
                <a:cxn ang="0">
                  <a:pos x="T6" y="T7"/>
                </a:cxn>
                <a:cxn ang="0">
                  <a:pos x="T8" y="T9"/>
                </a:cxn>
              </a:cxnLst>
              <a:rect l="0" t="0" r="r" b="b"/>
              <a:pathLst>
                <a:path w="68" h="35">
                  <a:moveTo>
                    <a:pt x="67" y="6"/>
                  </a:moveTo>
                  <a:lnTo>
                    <a:pt x="64" y="0"/>
                  </a:lnTo>
                  <a:lnTo>
                    <a:pt x="0" y="27"/>
                  </a:lnTo>
                  <a:lnTo>
                    <a:pt x="2" y="34"/>
                  </a:lnTo>
                  <a:lnTo>
                    <a:pt x="67" y="6"/>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46" name="Freeform 10"/>
            <p:cNvSpPr>
              <a:spLocks/>
            </p:cNvSpPr>
            <p:nvPr/>
          </p:nvSpPr>
          <p:spPr bwMode="auto">
            <a:xfrm>
              <a:off x="188" y="4272"/>
              <a:ext cx="70" cy="35"/>
            </a:xfrm>
            <a:custGeom>
              <a:avLst/>
              <a:gdLst>
                <a:gd name="T0" fmla="*/ 69 w 70"/>
                <a:gd name="T1" fmla="*/ 6 h 35"/>
                <a:gd name="T2" fmla="*/ 65 w 70"/>
                <a:gd name="T3" fmla="*/ 0 h 35"/>
                <a:gd name="T4" fmla="*/ 0 w 70"/>
                <a:gd name="T5" fmla="*/ 27 h 35"/>
                <a:gd name="T6" fmla="*/ 3 w 70"/>
                <a:gd name="T7" fmla="*/ 34 h 35"/>
                <a:gd name="T8" fmla="*/ 69 w 70"/>
                <a:gd name="T9" fmla="*/ 6 h 35"/>
              </a:gdLst>
              <a:ahLst/>
              <a:cxnLst>
                <a:cxn ang="0">
                  <a:pos x="T0" y="T1"/>
                </a:cxn>
                <a:cxn ang="0">
                  <a:pos x="T2" y="T3"/>
                </a:cxn>
                <a:cxn ang="0">
                  <a:pos x="T4" y="T5"/>
                </a:cxn>
                <a:cxn ang="0">
                  <a:pos x="T6" y="T7"/>
                </a:cxn>
                <a:cxn ang="0">
                  <a:pos x="T8" y="T9"/>
                </a:cxn>
              </a:cxnLst>
              <a:rect l="0" t="0" r="r" b="b"/>
              <a:pathLst>
                <a:path w="70" h="35">
                  <a:moveTo>
                    <a:pt x="69" y="6"/>
                  </a:moveTo>
                  <a:lnTo>
                    <a:pt x="65" y="0"/>
                  </a:lnTo>
                  <a:lnTo>
                    <a:pt x="0" y="27"/>
                  </a:lnTo>
                  <a:lnTo>
                    <a:pt x="3" y="34"/>
                  </a:lnTo>
                  <a:lnTo>
                    <a:pt x="69" y="6"/>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47" name="Freeform 11"/>
            <p:cNvSpPr>
              <a:spLocks/>
            </p:cNvSpPr>
            <p:nvPr/>
          </p:nvSpPr>
          <p:spPr bwMode="auto">
            <a:xfrm>
              <a:off x="196" y="4287"/>
              <a:ext cx="69" cy="38"/>
            </a:xfrm>
            <a:custGeom>
              <a:avLst/>
              <a:gdLst>
                <a:gd name="T0" fmla="*/ 68 w 69"/>
                <a:gd name="T1" fmla="*/ 7 h 38"/>
                <a:gd name="T2" fmla="*/ 65 w 69"/>
                <a:gd name="T3" fmla="*/ 0 h 38"/>
                <a:gd name="T4" fmla="*/ 0 w 69"/>
                <a:gd name="T5" fmla="*/ 29 h 38"/>
                <a:gd name="T6" fmla="*/ 3 w 69"/>
                <a:gd name="T7" fmla="*/ 37 h 38"/>
                <a:gd name="T8" fmla="*/ 68 w 69"/>
                <a:gd name="T9" fmla="*/ 7 h 38"/>
              </a:gdLst>
              <a:ahLst/>
              <a:cxnLst>
                <a:cxn ang="0">
                  <a:pos x="T0" y="T1"/>
                </a:cxn>
                <a:cxn ang="0">
                  <a:pos x="T2" y="T3"/>
                </a:cxn>
                <a:cxn ang="0">
                  <a:pos x="T4" y="T5"/>
                </a:cxn>
                <a:cxn ang="0">
                  <a:pos x="T6" y="T7"/>
                </a:cxn>
                <a:cxn ang="0">
                  <a:pos x="T8" y="T9"/>
                </a:cxn>
              </a:cxnLst>
              <a:rect l="0" t="0" r="r" b="b"/>
              <a:pathLst>
                <a:path w="69" h="38">
                  <a:moveTo>
                    <a:pt x="68" y="7"/>
                  </a:moveTo>
                  <a:lnTo>
                    <a:pt x="65" y="0"/>
                  </a:lnTo>
                  <a:lnTo>
                    <a:pt x="0" y="29"/>
                  </a:lnTo>
                  <a:lnTo>
                    <a:pt x="3" y="37"/>
                  </a:lnTo>
                  <a:lnTo>
                    <a:pt x="68" y="7"/>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48" name="Freeform 12"/>
            <p:cNvSpPr>
              <a:spLocks/>
            </p:cNvSpPr>
            <p:nvPr/>
          </p:nvSpPr>
          <p:spPr bwMode="auto">
            <a:xfrm>
              <a:off x="125" y="4186"/>
              <a:ext cx="121" cy="58"/>
            </a:xfrm>
            <a:custGeom>
              <a:avLst/>
              <a:gdLst>
                <a:gd name="T0" fmla="*/ 120 w 121"/>
                <a:gd name="T1" fmla="*/ 7 h 58"/>
                <a:gd name="T2" fmla="*/ 118 w 121"/>
                <a:gd name="T3" fmla="*/ 0 h 58"/>
                <a:gd name="T4" fmla="*/ 0 w 121"/>
                <a:gd name="T5" fmla="*/ 50 h 58"/>
                <a:gd name="T6" fmla="*/ 2 w 121"/>
                <a:gd name="T7" fmla="*/ 57 h 58"/>
                <a:gd name="T8" fmla="*/ 120 w 121"/>
                <a:gd name="T9" fmla="*/ 7 h 58"/>
              </a:gdLst>
              <a:ahLst/>
              <a:cxnLst>
                <a:cxn ang="0">
                  <a:pos x="T0" y="T1"/>
                </a:cxn>
                <a:cxn ang="0">
                  <a:pos x="T2" y="T3"/>
                </a:cxn>
                <a:cxn ang="0">
                  <a:pos x="T4" y="T5"/>
                </a:cxn>
                <a:cxn ang="0">
                  <a:pos x="T6" y="T7"/>
                </a:cxn>
                <a:cxn ang="0">
                  <a:pos x="T8" y="T9"/>
                </a:cxn>
              </a:cxnLst>
              <a:rect l="0" t="0" r="r" b="b"/>
              <a:pathLst>
                <a:path w="121" h="58">
                  <a:moveTo>
                    <a:pt x="120" y="7"/>
                  </a:moveTo>
                  <a:lnTo>
                    <a:pt x="118" y="0"/>
                  </a:lnTo>
                  <a:lnTo>
                    <a:pt x="0" y="50"/>
                  </a:lnTo>
                  <a:lnTo>
                    <a:pt x="2" y="57"/>
                  </a:lnTo>
                  <a:lnTo>
                    <a:pt x="120" y="7"/>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49" name="Freeform 13"/>
            <p:cNvSpPr>
              <a:spLocks/>
            </p:cNvSpPr>
            <p:nvPr/>
          </p:nvSpPr>
          <p:spPr bwMode="auto">
            <a:xfrm>
              <a:off x="109" y="4174"/>
              <a:ext cx="123" cy="59"/>
            </a:xfrm>
            <a:custGeom>
              <a:avLst/>
              <a:gdLst>
                <a:gd name="T0" fmla="*/ 122 w 123"/>
                <a:gd name="T1" fmla="*/ 7 h 59"/>
                <a:gd name="T2" fmla="*/ 119 w 123"/>
                <a:gd name="T3" fmla="*/ 0 h 59"/>
                <a:gd name="T4" fmla="*/ 0 w 123"/>
                <a:gd name="T5" fmla="*/ 51 h 59"/>
                <a:gd name="T6" fmla="*/ 2 w 123"/>
                <a:gd name="T7" fmla="*/ 58 h 59"/>
                <a:gd name="T8" fmla="*/ 122 w 123"/>
                <a:gd name="T9" fmla="*/ 7 h 59"/>
              </a:gdLst>
              <a:ahLst/>
              <a:cxnLst>
                <a:cxn ang="0">
                  <a:pos x="T0" y="T1"/>
                </a:cxn>
                <a:cxn ang="0">
                  <a:pos x="T2" y="T3"/>
                </a:cxn>
                <a:cxn ang="0">
                  <a:pos x="T4" y="T5"/>
                </a:cxn>
                <a:cxn ang="0">
                  <a:pos x="T6" y="T7"/>
                </a:cxn>
                <a:cxn ang="0">
                  <a:pos x="T8" y="T9"/>
                </a:cxn>
              </a:cxnLst>
              <a:rect l="0" t="0" r="r" b="b"/>
              <a:pathLst>
                <a:path w="123" h="59">
                  <a:moveTo>
                    <a:pt x="122" y="7"/>
                  </a:moveTo>
                  <a:lnTo>
                    <a:pt x="119" y="0"/>
                  </a:lnTo>
                  <a:lnTo>
                    <a:pt x="0" y="51"/>
                  </a:lnTo>
                  <a:lnTo>
                    <a:pt x="2" y="58"/>
                  </a:lnTo>
                  <a:lnTo>
                    <a:pt x="122" y="7"/>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50" name="Freeform 14"/>
            <p:cNvSpPr>
              <a:spLocks/>
            </p:cNvSpPr>
            <p:nvPr/>
          </p:nvSpPr>
          <p:spPr bwMode="auto">
            <a:xfrm>
              <a:off x="236" y="4188"/>
              <a:ext cx="54" cy="104"/>
            </a:xfrm>
            <a:custGeom>
              <a:avLst/>
              <a:gdLst>
                <a:gd name="T0" fmla="*/ 46 w 54"/>
                <a:gd name="T1" fmla="*/ 103 h 104"/>
                <a:gd name="T2" fmla="*/ 53 w 54"/>
                <a:gd name="T3" fmla="*/ 100 h 104"/>
                <a:gd name="T4" fmla="*/ 7 w 54"/>
                <a:gd name="T5" fmla="*/ 0 h 104"/>
                <a:gd name="T6" fmla="*/ 0 w 54"/>
                <a:gd name="T7" fmla="*/ 2 h 104"/>
                <a:gd name="T8" fmla="*/ 46 w 54"/>
                <a:gd name="T9" fmla="*/ 103 h 104"/>
              </a:gdLst>
              <a:ahLst/>
              <a:cxnLst>
                <a:cxn ang="0">
                  <a:pos x="T0" y="T1"/>
                </a:cxn>
                <a:cxn ang="0">
                  <a:pos x="T2" y="T3"/>
                </a:cxn>
                <a:cxn ang="0">
                  <a:pos x="T4" y="T5"/>
                </a:cxn>
                <a:cxn ang="0">
                  <a:pos x="T6" y="T7"/>
                </a:cxn>
                <a:cxn ang="0">
                  <a:pos x="T8" y="T9"/>
                </a:cxn>
              </a:cxnLst>
              <a:rect l="0" t="0" r="r" b="b"/>
              <a:pathLst>
                <a:path w="54" h="104">
                  <a:moveTo>
                    <a:pt x="46" y="103"/>
                  </a:moveTo>
                  <a:lnTo>
                    <a:pt x="53" y="100"/>
                  </a:lnTo>
                  <a:lnTo>
                    <a:pt x="7" y="0"/>
                  </a:lnTo>
                  <a:lnTo>
                    <a:pt x="0" y="2"/>
                  </a:lnTo>
                  <a:lnTo>
                    <a:pt x="46" y="103"/>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51" name="Freeform 15"/>
            <p:cNvSpPr>
              <a:spLocks/>
            </p:cNvSpPr>
            <p:nvPr/>
          </p:nvSpPr>
          <p:spPr bwMode="auto">
            <a:xfrm>
              <a:off x="125" y="4233"/>
              <a:ext cx="53" cy="107"/>
            </a:xfrm>
            <a:custGeom>
              <a:avLst/>
              <a:gdLst>
                <a:gd name="T0" fmla="*/ 45 w 53"/>
                <a:gd name="T1" fmla="*/ 106 h 107"/>
                <a:gd name="T2" fmla="*/ 52 w 53"/>
                <a:gd name="T3" fmla="*/ 102 h 107"/>
                <a:gd name="T4" fmla="*/ 6 w 53"/>
                <a:gd name="T5" fmla="*/ 0 h 107"/>
                <a:gd name="T6" fmla="*/ 0 w 53"/>
                <a:gd name="T7" fmla="*/ 4 h 107"/>
                <a:gd name="T8" fmla="*/ 45 w 53"/>
                <a:gd name="T9" fmla="*/ 106 h 107"/>
              </a:gdLst>
              <a:ahLst/>
              <a:cxnLst>
                <a:cxn ang="0">
                  <a:pos x="T0" y="T1"/>
                </a:cxn>
                <a:cxn ang="0">
                  <a:pos x="T2" y="T3"/>
                </a:cxn>
                <a:cxn ang="0">
                  <a:pos x="T4" y="T5"/>
                </a:cxn>
                <a:cxn ang="0">
                  <a:pos x="T6" y="T7"/>
                </a:cxn>
                <a:cxn ang="0">
                  <a:pos x="T8" y="T9"/>
                </a:cxn>
              </a:cxnLst>
              <a:rect l="0" t="0" r="r" b="b"/>
              <a:pathLst>
                <a:path w="53" h="107">
                  <a:moveTo>
                    <a:pt x="45" y="106"/>
                  </a:moveTo>
                  <a:lnTo>
                    <a:pt x="52" y="102"/>
                  </a:lnTo>
                  <a:lnTo>
                    <a:pt x="6" y="0"/>
                  </a:lnTo>
                  <a:lnTo>
                    <a:pt x="0" y="4"/>
                  </a:lnTo>
                  <a:lnTo>
                    <a:pt x="45" y="106"/>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52" name="Freeform 16"/>
            <p:cNvSpPr>
              <a:spLocks/>
            </p:cNvSpPr>
            <p:nvPr/>
          </p:nvSpPr>
          <p:spPr bwMode="auto">
            <a:xfrm>
              <a:off x="105" y="4225"/>
              <a:ext cx="57" cy="115"/>
            </a:xfrm>
            <a:custGeom>
              <a:avLst/>
              <a:gdLst>
                <a:gd name="T0" fmla="*/ 49 w 57"/>
                <a:gd name="T1" fmla="*/ 114 h 115"/>
                <a:gd name="T2" fmla="*/ 56 w 57"/>
                <a:gd name="T3" fmla="*/ 111 h 115"/>
                <a:gd name="T4" fmla="*/ 5 w 57"/>
                <a:gd name="T5" fmla="*/ 0 h 115"/>
                <a:gd name="T6" fmla="*/ 0 w 57"/>
                <a:gd name="T7" fmla="*/ 2 h 115"/>
                <a:gd name="T8" fmla="*/ 49 w 57"/>
                <a:gd name="T9" fmla="*/ 114 h 115"/>
              </a:gdLst>
              <a:ahLst/>
              <a:cxnLst>
                <a:cxn ang="0">
                  <a:pos x="T0" y="T1"/>
                </a:cxn>
                <a:cxn ang="0">
                  <a:pos x="T2" y="T3"/>
                </a:cxn>
                <a:cxn ang="0">
                  <a:pos x="T4" y="T5"/>
                </a:cxn>
                <a:cxn ang="0">
                  <a:pos x="T6" y="T7"/>
                </a:cxn>
                <a:cxn ang="0">
                  <a:pos x="T8" y="T9"/>
                </a:cxn>
              </a:cxnLst>
              <a:rect l="0" t="0" r="r" b="b"/>
              <a:pathLst>
                <a:path w="57" h="115">
                  <a:moveTo>
                    <a:pt x="49" y="114"/>
                  </a:moveTo>
                  <a:lnTo>
                    <a:pt x="56" y="111"/>
                  </a:lnTo>
                  <a:lnTo>
                    <a:pt x="5" y="0"/>
                  </a:lnTo>
                  <a:lnTo>
                    <a:pt x="0" y="2"/>
                  </a:lnTo>
                  <a:lnTo>
                    <a:pt x="49" y="114"/>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53" name="Freeform 17"/>
            <p:cNvSpPr>
              <a:spLocks/>
            </p:cNvSpPr>
            <p:nvPr/>
          </p:nvSpPr>
          <p:spPr bwMode="auto">
            <a:xfrm>
              <a:off x="108" y="4225"/>
              <a:ext cx="27" cy="18"/>
            </a:xfrm>
            <a:custGeom>
              <a:avLst/>
              <a:gdLst>
                <a:gd name="T0" fmla="*/ 22 w 27"/>
                <a:gd name="T1" fmla="*/ 17 h 18"/>
                <a:gd name="T2" fmla="*/ 26 w 27"/>
                <a:gd name="T3" fmla="*/ 10 h 18"/>
                <a:gd name="T4" fmla="*/ 4 w 27"/>
                <a:gd name="T5" fmla="*/ 0 h 18"/>
                <a:gd name="T6" fmla="*/ 0 w 27"/>
                <a:gd name="T7" fmla="*/ 6 h 18"/>
                <a:gd name="T8" fmla="*/ 22 w 27"/>
                <a:gd name="T9" fmla="*/ 17 h 18"/>
              </a:gdLst>
              <a:ahLst/>
              <a:cxnLst>
                <a:cxn ang="0">
                  <a:pos x="T0" y="T1"/>
                </a:cxn>
                <a:cxn ang="0">
                  <a:pos x="T2" y="T3"/>
                </a:cxn>
                <a:cxn ang="0">
                  <a:pos x="T4" y="T5"/>
                </a:cxn>
                <a:cxn ang="0">
                  <a:pos x="T6" y="T7"/>
                </a:cxn>
                <a:cxn ang="0">
                  <a:pos x="T8" y="T9"/>
                </a:cxn>
              </a:cxnLst>
              <a:rect l="0" t="0" r="r" b="b"/>
              <a:pathLst>
                <a:path w="27" h="18">
                  <a:moveTo>
                    <a:pt x="22" y="17"/>
                  </a:moveTo>
                  <a:lnTo>
                    <a:pt x="26" y="10"/>
                  </a:lnTo>
                  <a:lnTo>
                    <a:pt x="4" y="0"/>
                  </a:lnTo>
                  <a:lnTo>
                    <a:pt x="0" y="6"/>
                  </a:lnTo>
                  <a:lnTo>
                    <a:pt x="22" y="17"/>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54" name="Freeform 18"/>
            <p:cNvSpPr>
              <a:spLocks/>
            </p:cNvSpPr>
            <p:nvPr/>
          </p:nvSpPr>
          <p:spPr bwMode="auto">
            <a:xfrm>
              <a:off x="215" y="4181"/>
              <a:ext cx="28" cy="18"/>
            </a:xfrm>
            <a:custGeom>
              <a:avLst/>
              <a:gdLst>
                <a:gd name="T0" fmla="*/ 23 w 28"/>
                <a:gd name="T1" fmla="*/ 17 h 18"/>
                <a:gd name="T2" fmla="*/ 27 w 28"/>
                <a:gd name="T3" fmla="*/ 10 h 18"/>
                <a:gd name="T4" fmla="*/ 4 w 28"/>
                <a:gd name="T5" fmla="*/ 0 h 18"/>
                <a:gd name="T6" fmla="*/ 0 w 28"/>
                <a:gd name="T7" fmla="*/ 5 h 18"/>
                <a:gd name="T8" fmla="*/ 23 w 28"/>
                <a:gd name="T9" fmla="*/ 17 h 18"/>
              </a:gdLst>
              <a:ahLst/>
              <a:cxnLst>
                <a:cxn ang="0">
                  <a:pos x="T0" y="T1"/>
                </a:cxn>
                <a:cxn ang="0">
                  <a:pos x="T2" y="T3"/>
                </a:cxn>
                <a:cxn ang="0">
                  <a:pos x="T4" y="T5"/>
                </a:cxn>
                <a:cxn ang="0">
                  <a:pos x="T6" y="T7"/>
                </a:cxn>
                <a:cxn ang="0">
                  <a:pos x="T8" y="T9"/>
                </a:cxn>
              </a:cxnLst>
              <a:rect l="0" t="0" r="r" b="b"/>
              <a:pathLst>
                <a:path w="28" h="18">
                  <a:moveTo>
                    <a:pt x="23" y="17"/>
                  </a:moveTo>
                  <a:lnTo>
                    <a:pt x="27" y="10"/>
                  </a:lnTo>
                  <a:lnTo>
                    <a:pt x="4" y="0"/>
                  </a:lnTo>
                  <a:lnTo>
                    <a:pt x="0" y="5"/>
                  </a:lnTo>
                  <a:lnTo>
                    <a:pt x="23" y="17"/>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11030036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ChangeArrowheads="1"/>
          </p:cNvSpPr>
          <p:nvPr/>
        </p:nvSpPr>
        <p:spPr bwMode="auto">
          <a:xfrm>
            <a:off x="3860800" y="0"/>
            <a:ext cx="295910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387" name="Rectangle 3"/>
          <p:cNvSpPr>
            <a:spLocks noChangeArrowheads="1"/>
          </p:cNvSpPr>
          <p:nvPr/>
        </p:nvSpPr>
        <p:spPr bwMode="auto">
          <a:xfrm>
            <a:off x="-3175" y="0"/>
            <a:ext cx="2955925"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388" name="Rectangle 4"/>
          <p:cNvSpPr>
            <a:spLocks noGrp="1" noChangeArrowheads="1"/>
          </p:cNvSpPr>
          <p:nvPr>
            <p:ph type="body" idx="1"/>
          </p:nvPr>
        </p:nvSpPr>
        <p:spPr>
          <a:noFill/>
          <a:ln/>
        </p:spPr>
        <p:txBody>
          <a:bodyPr/>
          <a:lstStyle/>
          <a:p>
            <a:r>
              <a:rPr lang="en-US" altLang="en-US"/>
              <a:t>Simple Views Versus Complex Views</a:t>
            </a:r>
          </a:p>
          <a:p>
            <a:pPr lvl="1"/>
            <a:r>
              <a:rPr lang="en-US" altLang="en-US"/>
              <a:t>There are two classifications for views: simple and complex. The basic difference is related to the DML (insert, update, and delete) operations. </a:t>
            </a:r>
          </a:p>
          <a:p>
            <a:pPr lvl="2"/>
            <a:r>
              <a:rPr lang="en-US" altLang="en-US"/>
              <a:t>A </a:t>
            </a:r>
            <a:r>
              <a:rPr lang="en-US" altLang="en-US" i="1">
                <a:solidFill>
                  <a:srgbClr val="FC0128"/>
                </a:solidFill>
              </a:rPr>
              <a:t>simple view</a:t>
            </a:r>
            <a:r>
              <a:rPr lang="en-US" altLang="en-US">
                <a:solidFill>
                  <a:srgbClr val="FC0128"/>
                </a:solidFill>
              </a:rPr>
              <a:t> </a:t>
            </a:r>
            <a:r>
              <a:rPr lang="en-US" altLang="en-US"/>
              <a:t>is one that:</a:t>
            </a:r>
          </a:p>
          <a:p>
            <a:pPr lvl="3"/>
            <a:r>
              <a:rPr lang="en-US" altLang="en-US"/>
              <a:t>Derives data from only one table</a:t>
            </a:r>
          </a:p>
          <a:p>
            <a:pPr lvl="3"/>
            <a:r>
              <a:rPr lang="en-US" altLang="en-US"/>
              <a:t>Contains no functions or groups of data</a:t>
            </a:r>
          </a:p>
          <a:p>
            <a:pPr lvl="3"/>
            <a:r>
              <a:rPr lang="en-US" altLang="en-US"/>
              <a:t>Can perform DML through the view</a:t>
            </a:r>
          </a:p>
          <a:p>
            <a:pPr lvl="2"/>
            <a:r>
              <a:rPr lang="en-US" altLang="en-US"/>
              <a:t>A </a:t>
            </a:r>
            <a:r>
              <a:rPr lang="en-US" altLang="en-US" i="1">
                <a:solidFill>
                  <a:srgbClr val="FC0128"/>
                </a:solidFill>
              </a:rPr>
              <a:t>complex view</a:t>
            </a:r>
            <a:r>
              <a:rPr lang="en-US" altLang="en-US">
                <a:solidFill>
                  <a:srgbClr val="FC0128"/>
                </a:solidFill>
              </a:rPr>
              <a:t> </a:t>
            </a:r>
            <a:r>
              <a:rPr lang="en-US" altLang="en-US"/>
              <a:t>is the one that: </a:t>
            </a:r>
          </a:p>
          <a:p>
            <a:pPr lvl="3"/>
            <a:r>
              <a:rPr lang="en-US" altLang="en-US"/>
              <a:t>Derives data from many tables</a:t>
            </a:r>
          </a:p>
          <a:p>
            <a:pPr lvl="3"/>
            <a:r>
              <a:rPr lang="en-US" altLang="en-US"/>
              <a:t>Contains functions or groups of data</a:t>
            </a:r>
          </a:p>
          <a:p>
            <a:pPr lvl="3"/>
            <a:r>
              <a:rPr lang="en-US" altLang="en-US"/>
              <a:t>Does not always allow DML through the view </a:t>
            </a:r>
          </a:p>
          <a:p>
            <a:endParaRPr lang="en-US" altLang="en-US" b="0">
              <a:latin typeface="Times New Roman" pitchFamily="18" charset="0"/>
            </a:endParaRPr>
          </a:p>
        </p:txBody>
      </p:sp>
      <p:sp>
        <p:nvSpPr>
          <p:cNvPr id="16389" name="Rectangle 5"/>
          <p:cNvSpPr>
            <a:spLocks noGrp="1" noRot="1" noChangeAspect="1" noChangeArrowheads="1" noTextEdit="1"/>
          </p:cNvSpPr>
          <p:nvPr>
            <p:ph type="sldImg"/>
          </p:nvPr>
        </p:nvSpPr>
        <p:spPr>
          <a:xfrm>
            <a:off x="469900" y="155575"/>
            <a:ext cx="5872163" cy="4403725"/>
          </a:xfrm>
          <a:ln cap="flat"/>
        </p:spPr>
      </p:sp>
    </p:spTree>
    <p:extLst>
      <p:ext uri="{BB962C8B-B14F-4D97-AF65-F5344CB8AC3E}">
        <p14:creationId xmlns:p14="http://schemas.microsoft.com/office/powerpoint/2010/main" val="39245637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body" idx="1"/>
          </p:nvPr>
        </p:nvSpPr>
        <p:spPr>
          <a:xfrm>
            <a:off x="409575" y="4765675"/>
            <a:ext cx="6156325" cy="3749675"/>
          </a:xfrm>
          <a:noFill/>
          <a:ln/>
        </p:spPr>
        <p:txBody>
          <a:bodyPr/>
          <a:lstStyle/>
          <a:p>
            <a:r>
              <a:rPr lang="en-US" altLang="en-US"/>
              <a:t>Creating a View</a:t>
            </a:r>
          </a:p>
          <a:p>
            <a:pPr lvl="1"/>
            <a:r>
              <a:rPr lang="en-US" altLang="en-US"/>
              <a:t>You can create a view by embedding a subquery within the </a:t>
            </a:r>
            <a:r>
              <a:rPr lang="en-US" altLang="en-US">
                <a:solidFill>
                  <a:srgbClr val="FC0128"/>
                </a:solidFill>
              </a:rPr>
              <a:t>CREATE VIEW </a:t>
            </a:r>
            <a:r>
              <a:rPr lang="en-US" altLang="en-US"/>
              <a:t>statement. </a:t>
            </a:r>
          </a:p>
          <a:p>
            <a:pPr lvl="1"/>
            <a:r>
              <a:rPr lang="en-US" altLang="en-US"/>
              <a:t>In the syntax:</a:t>
            </a:r>
          </a:p>
          <a:p>
            <a:pPr lvl="1"/>
            <a:r>
              <a:rPr lang="en-US" altLang="en-US"/>
              <a:t>	OR REPLACE		re-creates the view if it already exists</a:t>
            </a:r>
          </a:p>
          <a:p>
            <a:pPr lvl="1"/>
            <a:r>
              <a:rPr lang="en-US" altLang="en-US"/>
              <a:t>	FORCE			creates the view regardless of whether or not the base tables exist</a:t>
            </a:r>
          </a:p>
          <a:p>
            <a:pPr lvl="1"/>
            <a:r>
              <a:rPr lang="en-US" altLang="en-US"/>
              <a:t>	NOFORCE			creates the view only if the base tables exist (This is the default.)</a:t>
            </a:r>
          </a:p>
          <a:p>
            <a:pPr lvl="1"/>
            <a:r>
              <a:rPr lang="en-US" altLang="en-US"/>
              <a:t>	</a:t>
            </a:r>
            <a:r>
              <a:rPr lang="en-US" altLang="en-US" i="1"/>
              <a:t>view</a:t>
            </a:r>
            <a:r>
              <a:rPr lang="en-US" altLang="en-US"/>
              <a:t>				is the name of the view</a:t>
            </a:r>
          </a:p>
          <a:p>
            <a:pPr lvl="1"/>
            <a:r>
              <a:rPr lang="en-US" altLang="en-US"/>
              <a:t>	</a:t>
            </a:r>
            <a:r>
              <a:rPr lang="en-US" altLang="en-US" i="1"/>
              <a:t>alias</a:t>
            </a:r>
            <a:r>
              <a:rPr lang="en-US" altLang="en-US"/>
              <a:t>				specifies names for the expressions selected by the view’s query (The 					number of aliases must match the number of expressions selected by 					the view.)</a:t>
            </a:r>
          </a:p>
          <a:p>
            <a:pPr lvl="1"/>
            <a:r>
              <a:rPr lang="en-US" altLang="en-US"/>
              <a:t>	</a:t>
            </a:r>
            <a:r>
              <a:rPr lang="en-US" altLang="en-US" i="1"/>
              <a:t>subquery</a:t>
            </a:r>
            <a:r>
              <a:rPr lang="en-US" altLang="en-US"/>
              <a:t>			is a complete SELECT statement (You can use aliases for the columns 					in the SELECT list.)</a:t>
            </a:r>
          </a:p>
          <a:p>
            <a:pPr lvl="1"/>
            <a:r>
              <a:rPr lang="en-US" altLang="en-US"/>
              <a:t>	WITH CHECK OPTION	specifies that only rows accessible to the view can be inserted or 					updated</a:t>
            </a:r>
          </a:p>
          <a:p>
            <a:pPr lvl="1"/>
            <a:r>
              <a:rPr lang="en-US" altLang="en-US"/>
              <a:t>	</a:t>
            </a:r>
            <a:r>
              <a:rPr lang="en-US" altLang="en-US" i="1"/>
              <a:t>constraint			</a:t>
            </a:r>
            <a:r>
              <a:rPr lang="en-US" altLang="en-US"/>
              <a:t>is the name assigned to the CHECK OPTION constraint</a:t>
            </a:r>
          </a:p>
          <a:p>
            <a:pPr lvl="1"/>
            <a:r>
              <a:rPr lang="en-US" altLang="en-US"/>
              <a:t>	WITH READ ONLY	ensures that no DML operations can be performed on this view</a:t>
            </a:r>
          </a:p>
          <a:p>
            <a:endParaRPr lang="en-US" altLang="en-US" b="0">
              <a:latin typeface="Times New Roman" pitchFamily="18" charset="0"/>
            </a:endParaRPr>
          </a:p>
        </p:txBody>
      </p:sp>
      <p:sp>
        <p:nvSpPr>
          <p:cNvPr id="18435" name="Rectangle 3"/>
          <p:cNvSpPr>
            <a:spLocks noGrp="1" noRot="1" noChangeAspect="1" noChangeArrowheads="1" noTextEdit="1"/>
          </p:cNvSpPr>
          <p:nvPr>
            <p:ph type="sldImg"/>
          </p:nvPr>
        </p:nvSpPr>
        <p:spPr>
          <a:xfrm>
            <a:off x="469900" y="155575"/>
            <a:ext cx="5872163" cy="4403725"/>
          </a:xfrm>
          <a:ln cap="flat"/>
        </p:spPr>
      </p:sp>
    </p:spTree>
    <p:extLst>
      <p:ext uri="{BB962C8B-B14F-4D97-AF65-F5344CB8AC3E}">
        <p14:creationId xmlns:p14="http://schemas.microsoft.com/office/powerpoint/2010/main" val="42467902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Rot="1" noChangeAspect="1" noChangeArrowheads="1" noTextEdit="1"/>
          </p:cNvSpPr>
          <p:nvPr>
            <p:ph type="sldImg"/>
          </p:nvPr>
        </p:nvSpPr>
        <p:spPr>
          <a:xfrm>
            <a:off x="471488" y="157163"/>
            <a:ext cx="5870575" cy="4402137"/>
          </a:xfrm>
          <a:ln cap="flat"/>
        </p:spPr>
      </p:sp>
      <p:sp>
        <p:nvSpPr>
          <p:cNvPr id="20483" name="Rectangle 3"/>
          <p:cNvSpPr>
            <a:spLocks noGrp="1" noChangeArrowheads="1"/>
          </p:cNvSpPr>
          <p:nvPr>
            <p:ph type="body" idx="1"/>
          </p:nvPr>
        </p:nvSpPr>
        <p:spPr>
          <a:noFill/>
          <a:ln/>
        </p:spPr>
        <p:txBody>
          <a:bodyPr/>
          <a:lstStyle/>
          <a:p>
            <a:pPr>
              <a:tabLst/>
            </a:pPr>
            <a:r>
              <a:rPr lang="en-US" altLang="en-US"/>
              <a:t>Creating a View (continued)</a:t>
            </a:r>
          </a:p>
          <a:p>
            <a:pPr lvl="1">
              <a:tabLst/>
            </a:pPr>
            <a:r>
              <a:rPr lang="en-US" altLang="en-US"/>
              <a:t>The example on the slide creates a view that contains the employee number, name, and job title for all the employees in department 10. </a:t>
            </a:r>
          </a:p>
          <a:p>
            <a:pPr lvl="1">
              <a:tabLst/>
            </a:pPr>
            <a:r>
              <a:rPr lang="en-US" altLang="en-US"/>
              <a:t>You can display the structure of the view by using the SQL*Plus DESCRIBE command.</a:t>
            </a:r>
          </a:p>
          <a:p>
            <a:pPr lvl="1">
              <a:spcBef>
                <a:spcPct val="65000"/>
              </a:spcBef>
              <a:tabLst/>
            </a:pPr>
            <a:r>
              <a:rPr lang="en-US" altLang="en-US"/>
              <a:t>   </a:t>
            </a:r>
            <a:r>
              <a:rPr lang="en-US" altLang="en-US">
                <a:latin typeface="Courier New" pitchFamily="49" charset="0"/>
              </a:rPr>
              <a:t>Name                            Null?    Type</a:t>
            </a:r>
            <a:endParaRPr lang="en-US" altLang="en-US" b="1">
              <a:latin typeface="Courier New" pitchFamily="49" charset="0"/>
            </a:endParaRPr>
          </a:p>
          <a:p>
            <a:pPr lvl="1">
              <a:spcBef>
                <a:spcPct val="0"/>
              </a:spcBef>
              <a:tabLst/>
            </a:pPr>
            <a:r>
              <a:rPr lang="en-US" altLang="en-US">
                <a:latin typeface="Courier New" pitchFamily="49" charset="0"/>
              </a:rPr>
              <a:t> ------------------------------- -------- ------------</a:t>
            </a:r>
          </a:p>
          <a:p>
            <a:pPr lvl="1">
              <a:spcBef>
                <a:spcPct val="0"/>
              </a:spcBef>
              <a:tabLst/>
            </a:pPr>
            <a:r>
              <a:rPr lang="en-US" altLang="en-US">
                <a:latin typeface="Courier New" pitchFamily="49" charset="0"/>
              </a:rPr>
              <a:t> EMPNO                           NOT NULL NUMBER(4)</a:t>
            </a:r>
          </a:p>
          <a:p>
            <a:pPr lvl="1">
              <a:spcBef>
                <a:spcPct val="0"/>
              </a:spcBef>
              <a:tabLst/>
            </a:pPr>
            <a:r>
              <a:rPr lang="en-US" altLang="en-US">
                <a:latin typeface="Courier New" pitchFamily="49" charset="0"/>
              </a:rPr>
              <a:t> ENAME                                    VARCHAR2(10)</a:t>
            </a:r>
          </a:p>
          <a:p>
            <a:pPr lvl="1">
              <a:spcBef>
                <a:spcPct val="0"/>
              </a:spcBef>
              <a:tabLst/>
            </a:pPr>
            <a:r>
              <a:rPr lang="en-US" altLang="en-US">
                <a:latin typeface="Courier New" pitchFamily="49" charset="0"/>
              </a:rPr>
              <a:t> JOB                                      VARCHAR2(9)</a:t>
            </a:r>
            <a:endParaRPr lang="en-US" altLang="en-US"/>
          </a:p>
          <a:p>
            <a:pPr lvl="1">
              <a:tabLst/>
            </a:pPr>
            <a:endParaRPr lang="en-US" altLang="en-US" sz="400"/>
          </a:p>
          <a:p>
            <a:pPr lvl="1">
              <a:tabLst/>
            </a:pPr>
            <a:r>
              <a:rPr lang="en-US" altLang="en-US"/>
              <a:t>Guidelines for creating a view:</a:t>
            </a:r>
          </a:p>
          <a:p>
            <a:pPr lvl="2">
              <a:tabLst/>
            </a:pPr>
            <a:r>
              <a:rPr lang="en-US" altLang="en-US"/>
              <a:t>The subquery that defines a view can contain complex SELECT syntax, including joins, groups, and subqueries.</a:t>
            </a:r>
          </a:p>
          <a:p>
            <a:pPr lvl="2">
              <a:tabLst/>
            </a:pPr>
            <a:r>
              <a:rPr lang="en-US" altLang="en-US"/>
              <a:t>The subquery that defines the view cannot contain an ORDER BY clause. The ORDER BY clause is specified when you retrieve data from the view.</a:t>
            </a:r>
          </a:p>
          <a:p>
            <a:pPr lvl="2">
              <a:tabLst/>
            </a:pPr>
            <a:r>
              <a:rPr lang="en-US" altLang="en-US"/>
              <a:t>If you do not specify a constraint name for a view created with the CHECK OPTION, the system will assign a default name in the format SYS_C</a:t>
            </a:r>
            <a:r>
              <a:rPr lang="en-US" altLang="en-US" i="1"/>
              <a:t>n</a:t>
            </a:r>
            <a:r>
              <a:rPr lang="en-US" altLang="en-US"/>
              <a:t>.</a:t>
            </a:r>
          </a:p>
          <a:p>
            <a:pPr lvl="2">
              <a:tabLst/>
            </a:pPr>
            <a:r>
              <a:rPr lang="en-US" altLang="en-US"/>
              <a:t>You can use the OR REPLACE option to change the definition of the view without dropping and re-creating it or regranting object privileges previously granted on it.  </a:t>
            </a:r>
          </a:p>
        </p:txBody>
      </p:sp>
      <p:sp>
        <p:nvSpPr>
          <p:cNvPr id="20484" name="Rectangle 4"/>
          <p:cNvSpPr>
            <a:spLocks noChangeArrowheads="1"/>
          </p:cNvSpPr>
          <p:nvPr/>
        </p:nvSpPr>
        <p:spPr bwMode="auto">
          <a:xfrm>
            <a:off x="615950" y="5649913"/>
            <a:ext cx="5619750" cy="950912"/>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180947461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Rot="1" noChangeAspect="1" noChangeArrowheads="1" noTextEdit="1"/>
          </p:cNvSpPr>
          <p:nvPr>
            <p:ph type="sldImg"/>
          </p:nvPr>
        </p:nvSpPr>
        <p:spPr>
          <a:xfrm>
            <a:off x="469900" y="155575"/>
            <a:ext cx="5872163" cy="4403725"/>
          </a:xfrm>
          <a:ln cap="flat"/>
        </p:spPr>
      </p:sp>
      <p:sp>
        <p:nvSpPr>
          <p:cNvPr id="22531" name="Rectangle 3"/>
          <p:cNvSpPr>
            <a:spLocks noGrp="1" noChangeArrowheads="1"/>
          </p:cNvSpPr>
          <p:nvPr>
            <p:ph type="body" idx="1"/>
          </p:nvPr>
        </p:nvSpPr>
        <p:spPr>
          <a:noFill/>
          <a:ln/>
        </p:spPr>
        <p:txBody>
          <a:bodyPr/>
          <a:lstStyle/>
          <a:p>
            <a:r>
              <a:rPr lang="en-US" altLang="en-US"/>
              <a:t>Creating a View (continued)</a:t>
            </a:r>
          </a:p>
          <a:p>
            <a:pPr lvl="1"/>
            <a:r>
              <a:rPr lang="en-US" altLang="en-US"/>
              <a:t>You can control the column names by including column aliases within the subquery. </a:t>
            </a:r>
          </a:p>
          <a:p>
            <a:pPr lvl="1"/>
            <a:r>
              <a:rPr lang="en-US" altLang="en-US"/>
              <a:t>The example on the slide c</a:t>
            </a:r>
            <a:r>
              <a:rPr lang="en-US" altLang="en-US">
                <a:latin typeface="Times" charset="0"/>
              </a:rPr>
              <a:t>reates a view containing the employee number (empno) with the alias EMPLOYEE_NUMBER, name (ename) with the alias NAME, and salary (sal) with the alias SALARY for department 30. </a:t>
            </a:r>
          </a:p>
          <a:p>
            <a:pPr lvl="1"/>
            <a:r>
              <a:rPr lang="en-US" altLang="en-US">
                <a:latin typeface="Times" charset="0"/>
              </a:rPr>
              <a:t>Alternatively, you can control the column names by including column aliases in the CREATE VIEW clause. </a:t>
            </a:r>
          </a:p>
        </p:txBody>
      </p:sp>
    </p:spTree>
    <p:extLst>
      <p:ext uri="{BB962C8B-B14F-4D97-AF65-F5344CB8AC3E}">
        <p14:creationId xmlns:p14="http://schemas.microsoft.com/office/powerpoint/2010/main" val="170060277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noChangeAspect="1" noChangeArrowheads="1" noTextEdit="1"/>
          </p:cNvSpPr>
          <p:nvPr>
            <p:ph type="sldImg"/>
          </p:nvPr>
        </p:nvSpPr>
        <p:spPr>
          <a:xfrm>
            <a:off x="469900" y="155575"/>
            <a:ext cx="5872163" cy="4403725"/>
          </a:xfrm>
          <a:ln cap="flat"/>
        </p:spPr>
      </p:sp>
      <p:sp>
        <p:nvSpPr>
          <p:cNvPr id="24579" name="Rectangle 3"/>
          <p:cNvSpPr>
            <a:spLocks noGrp="1" noChangeArrowheads="1"/>
          </p:cNvSpPr>
          <p:nvPr>
            <p:ph type="body" idx="1"/>
          </p:nvPr>
        </p:nvSpPr>
        <p:spPr>
          <a:noFill/>
          <a:ln/>
        </p:spPr>
        <p:txBody>
          <a:bodyPr/>
          <a:lstStyle/>
          <a:p>
            <a:r>
              <a:rPr lang="en-US" altLang="en-US"/>
              <a:t>Retrieving Data from a View</a:t>
            </a:r>
          </a:p>
          <a:p>
            <a:pPr lvl="1"/>
            <a:r>
              <a:rPr lang="en-US" altLang="en-US"/>
              <a:t>You can retrieve data from a view as you would from any table. You can either display the contents of the entire view or just view specific rows and columns.</a:t>
            </a:r>
          </a:p>
        </p:txBody>
      </p:sp>
    </p:spTree>
    <p:extLst>
      <p:ext uri="{BB962C8B-B14F-4D97-AF65-F5344CB8AC3E}">
        <p14:creationId xmlns:p14="http://schemas.microsoft.com/office/powerpoint/2010/main" val="13253227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Rot="1" noChangeAspect="1" noChangeArrowheads="1" noTextEdit="1"/>
          </p:cNvSpPr>
          <p:nvPr>
            <p:ph type="sldImg"/>
          </p:nvPr>
        </p:nvSpPr>
        <p:spPr>
          <a:xfrm>
            <a:off x="469900" y="155575"/>
            <a:ext cx="5872163" cy="4403725"/>
          </a:xfrm>
          <a:ln cap="flat"/>
        </p:spPr>
      </p:sp>
      <p:sp>
        <p:nvSpPr>
          <p:cNvPr id="26627" name="Rectangle 3"/>
          <p:cNvSpPr>
            <a:spLocks noChangeArrowheads="1"/>
          </p:cNvSpPr>
          <p:nvPr/>
        </p:nvSpPr>
        <p:spPr bwMode="auto">
          <a:xfrm>
            <a:off x="784225" y="4629150"/>
            <a:ext cx="180975" cy="5000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628" name="Rectangle 4"/>
          <p:cNvSpPr>
            <a:spLocks noChangeArrowheads="1"/>
          </p:cNvSpPr>
          <p:nvPr/>
        </p:nvSpPr>
        <p:spPr bwMode="auto">
          <a:xfrm>
            <a:off x="409575" y="4765675"/>
            <a:ext cx="5995988" cy="3749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lgn="l" defTabSz="401638">
              <a:spcBef>
                <a:spcPct val="0"/>
              </a:spcBef>
              <a:tabLst>
                <a:tab pos="457200" algn="l"/>
              </a:tabLst>
              <a:defRPr sz="2400">
                <a:solidFill>
                  <a:schemeClr val="tx1"/>
                </a:solidFill>
                <a:latin typeface="Times New Roman" pitchFamily="18" charset="0"/>
              </a:defRPr>
            </a:lvl1pPr>
            <a:lvl2pPr marL="114300" algn="l" defTabSz="401638">
              <a:spcBef>
                <a:spcPct val="0"/>
              </a:spcBef>
              <a:tabLst>
                <a:tab pos="457200" algn="l"/>
              </a:tabLst>
              <a:defRPr sz="2400">
                <a:solidFill>
                  <a:schemeClr val="tx1"/>
                </a:solidFill>
                <a:latin typeface="Times New Roman" pitchFamily="18" charset="0"/>
              </a:defRPr>
            </a:lvl2pPr>
            <a:lvl3pPr marL="450850" indent="-217488" algn="l" defTabSz="401638">
              <a:spcBef>
                <a:spcPct val="0"/>
              </a:spcBef>
              <a:tabLst>
                <a:tab pos="457200" algn="l"/>
              </a:tabLst>
              <a:defRPr sz="2400">
                <a:solidFill>
                  <a:schemeClr val="tx1"/>
                </a:solidFill>
                <a:latin typeface="Times New Roman" pitchFamily="18" charset="0"/>
              </a:defRPr>
            </a:lvl3pPr>
            <a:lvl4pPr marL="852488" indent="-217488" algn="l" defTabSz="401638">
              <a:spcBef>
                <a:spcPct val="0"/>
              </a:spcBef>
              <a:tabLst>
                <a:tab pos="457200" algn="l"/>
              </a:tabLst>
              <a:defRPr sz="2400">
                <a:solidFill>
                  <a:schemeClr val="tx1"/>
                </a:solidFill>
                <a:latin typeface="Times New Roman" pitchFamily="18" charset="0"/>
              </a:defRPr>
            </a:lvl4pPr>
            <a:lvl5pPr marL="5815013" algn="l" defTabSz="401638">
              <a:spcBef>
                <a:spcPct val="0"/>
              </a:spcBef>
              <a:tabLst>
                <a:tab pos="457200" algn="l"/>
              </a:tabLst>
              <a:defRPr sz="2400">
                <a:solidFill>
                  <a:schemeClr val="tx1"/>
                </a:solidFill>
                <a:latin typeface="Times New Roman" pitchFamily="18" charset="0"/>
              </a:defRPr>
            </a:lvl5pPr>
            <a:lvl6pPr marL="6272213" defTabSz="401638" fontAlgn="base">
              <a:spcBef>
                <a:spcPct val="0"/>
              </a:spcBef>
              <a:spcAft>
                <a:spcPct val="0"/>
              </a:spcAft>
              <a:tabLst>
                <a:tab pos="457200" algn="l"/>
              </a:tabLst>
              <a:defRPr sz="2400">
                <a:solidFill>
                  <a:schemeClr val="tx1"/>
                </a:solidFill>
                <a:latin typeface="Times New Roman" pitchFamily="18" charset="0"/>
              </a:defRPr>
            </a:lvl6pPr>
            <a:lvl7pPr marL="6729413" defTabSz="401638" fontAlgn="base">
              <a:spcBef>
                <a:spcPct val="0"/>
              </a:spcBef>
              <a:spcAft>
                <a:spcPct val="0"/>
              </a:spcAft>
              <a:tabLst>
                <a:tab pos="457200" algn="l"/>
              </a:tabLst>
              <a:defRPr sz="2400">
                <a:solidFill>
                  <a:schemeClr val="tx1"/>
                </a:solidFill>
                <a:latin typeface="Times New Roman" pitchFamily="18" charset="0"/>
              </a:defRPr>
            </a:lvl7pPr>
            <a:lvl8pPr marL="7186613" defTabSz="401638" fontAlgn="base">
              <a:spcBef>
                <a:spcPct val="0"/>
              </a:spcBef>
              <a:spcAft>
                <a:spcPct val="0"/>
              </a:spcAft>
              <a:tabLst>
                <a:tab pos="457200" algn="l"/>
              </a:tabLst>
              <a:defRPr sz="2400">
                <a:solidFill>
                  <a:schemeClr val="tx1"/>
                </a:solidFill>
                <a:latin typeface="Times New Roman" pitchFamily="18" charset="0"/>
              </a:defRPr>
            </a:lvl8pPr>
            <a:lvl9pPr marL="7643813" defTabSz="401638" fontAlgn="base">
              <a:spcBef>
                <a:spcPct val="0"/>
              </a:spcBef>
              <a:spcAft>
                <a:spcPct val="0"/>
              </a:spcAft>
              <a:tabLst>
                <a:tab pos="457200" algn="l"/>
              </a:tabLst>
              <a:defRPr sz="2400">
                <a:solidFill>
                  <a:schemeClr val="tx1"/>
                </a:solidFill>
                <a:latin typeface="Times New Roman" pitchFamily="18" charset="0"/>
              </a:defRPr>
            </a:lvl9pPr>
          </a:lstStyle>
          <a:p>
            <a:pPr>
              <a:lnSpc>
                <a:spcPct val="100000"/>
              </a:lnSpc>
              <a:spcBef>
                <a:spcPct val="30000"/>
              </a:spcBef>
            </a:pPr>
            <a:r>
              <a:rPr lang="en-US" altLang="en-US" sz="1100">
                <a:latin typeface="Arial" pitchFamily="34" charset="0"/>
              </a:rPr>
              <a:t>Views in the Data Dictionary</a:t>
            </a:r>
          </a:p>
          <a:p>
            <a:pPr lvl="1">
              <a:lnSpc>
                <a:spcPct val="100000"/>
              </a:lnSpc>
              <a:spcBef>
                <a:spcPct val="30000"/>
              </a:spcBef>
            </a:pPr>
            <a:r>
              <a:rPr lang="en-US" altLang="en-US" sz="1100" b="0"/>
              <a:t>Once your view has been created, you can query the data dictionary table called USER_VIEWS to see the name of the view and the view definition. The text of the SELECT statement that constitutes your view is stored in a LONG column.</a:t>
            </a:r>
          </a:p>
          <a:p>
            <a:pPr>
              <a:lnSpc>
                <a:spcPct val="100000"/>
              </a:lnSpc>
              <a:spcBef>
                <a:spcPct val="30000"/>
              </a:spcBef>
            </a:pPr>
            <a:r>
              <a:rPr lang="en-US" altLang="en-US" sz="1100">
                <a:latin typeface="Arial" pitchFamily="34" charset="0"/>
              </a:rPr>
              <a:t>Data Access Using Views</a:t>
            </a:r>
          </a:p>
          <a:p>
            <a:pPr lvl="1">
              <a:lnSpc>
                <a:spcPct val="100000"/>
              </a:lnSpc>
              <a:spcBef>
                <a:spcPct val="30000"/>
              </a:spcBef>
            </a:pPr>
            <a:r>
              <a:rPr lang="en-US" altLang="en-US" sz="1100" b="0"/>
              <a:t>When you access data, using a view, the Oracle Server performs the following operations:</a:t>
            </a:r>
          </a:p>
          <a:p>
            <a:pPr lvl="2">
              <a:lnSpc>
                <a:spcPct val="100000"/>
              </a:lnSpc>
              <a:spcBef>
                <a:spcPct val="30000"/>
              </a:spcBef>
            </a:pPr>
            <a:r>
              <a:rPr lang="en-US" altLang="en-US" sz="1100" b="0"/>
              <a:t>1.	Retrieves the view definition from the data dictionary table </a:t>
            </a:r>
            <a:r>
              <a:rPr lang="en-US" altLang="en-US" sz="1100" b="0">
                <a:solidFill>
                  <a:srgbClr val="FC0128"/>
                </a:solidFill>
              </a:rPr>
              <a:t>USER_VIEWS.</a:t>
            </a:r>
            <a:endParaRPr lang="en-US" altLang="en-US" sz="1100" b="0"/>
          </a:p>
          <a:p>
            <a:pPr lvl="2">
              <a:lnSpc>
                <a:spcPct val="100000"/>
              </a:lnSpc>
              <a:spcBef>
                <a:spcPct val="30000"/>
              </a:spcBef>
            </a:pPr>
            <a:r>
              <a:rPr lang="en-US" altLang="en-US" sz="1100" b="0"/>
              <a:t>2. 	Checks access privileges for the view base table.</a:t>
            </a:r>
          </a:p>
          <a:p>
            <a:pPr lvl="2">
              <a:lnSpc>
                <a:spcPct val="100000"/>
              </a:lnSpc>
              <a:spcBef>
                <a:spcPct val="30000"/>
              </a:spcBef>
            </a:pPr>
            <a:r>
              <a:rPr lang="en-US" altLang="en-US" sz="1100" b="0"/>
              <a:t>3. 	Converts the view query into an equivalent operation on the underlying base table or tables. In 	other words, data is retrieved from, or an update made to, the base table(s).  </a:t>
            </a:r>
          </a:p>
          <a:p>
            <a:pPr>
              <a:lnSpc>
                <a:spcPct val="100000"/>
              </a:lnSpc>
              <a:spcBef>
                <a:spcPct val="30000"/>
              </a:spcBef>
            </a:pPr>
            <a:endParaRPr lang="en-US" altLang="en-US" sz="1100">
              <a:latin typeface="Arial" pitchFamily="34" charset="0"/>
            </a:endParaRPr>
          </a:p>
          <a:p>
            <a:pPr>
              <a:lnSpc>
                <a:spcPct val="100000"/>
              </a:lnSpc>
              <a:spcBef>
                <a:spcPct val="30000"/>
              </a:spcBef>
            </a:pPr>
            <a:endParaRPr lang="en-US" altLang="en-US" sz="1100">
              <a:latin typeface="Arial" pitchFamily="34" charset="0"/>
            </a:endParaRPr>
          </a:p>
          <a:p>
            <a:pPr>
              <a:lnSpc>
                <a:spcPct val="100000"/>
              </a:lnSpc>
              <a:spcBef>
                <a:spcPct val="30000"/>
              </a:spcBef>
            </a:pPr>
            <a:endParaRPr lang="en-US" altLang="en-US" sz="1100">
              <a:latin typeface="Arial" pitchFamily="34" charset="0"/>
            </a:endParaRPr>
          </a:p>
          <a:p>
            <a:pPr>
              <a:lnSpc>
                <a:spcPct val="100000"/>
              </a:lnSpc>
              <a:spcBef>
                <a:spcPct val="30000"/>
              </a:spcBef>
            </a:pPr>
            <a:endParaRPr lang="en-US" altLang="en-US" sz="1100">
              <a:latin typeface="Arial" pitchFamily="34" charset="0"/>
            </a:endParaRPr>
          </a:p>
          <a:p>
            <a:pPr>
              <a:lnSpc>
                <a:spcPct val="100000"/>
              </a:lnSpc>
              <a:spcBef>
                <a:spcPct val="30000"/>
              </a:spcBef>
            </a:pPr>
            <a:r>
              <a:rPr lang="en-US" altLang="en-US" sz="1100">
                <a:solidFill>
                  <a:schemeClr val="accent2"/>
                </a:solidFill>
                <a:latin typeface="Arial" pitchFamily="34" charset="0"/>
              </a:rPr>
              <a:t>Class Management Note</a:t>
            </a:r>
          </a:p>
          <a:p>
            <a:pPr lvl="1">
              <a:lnSpc>
                <a:spcPct val="100000"/>
              </a:lnSpc>
              <a:spcBef>
                <a:spcPct val="30000"/>
              </a:spcBef>
            </a:pPr>
            <a:r>
              <a:rPr lang="en-US" altLang="en-US" sz="1100" b="0">
                <a:solidFill>
                  <a:schemeClr val="accent2"/>
                </a:solidFill>
              </a:rPr>
              <a:t>The view text is stored in a column of LONG data type. You may need to set ARRAYSIZE to a smaller value or increase the value of LONG to view the text.</a:t>
            </a:r>
            <a:r>
              <a:rPr lang="en-US" altLang="en-US" sz="1100" b="0"/>
              <a:t> </a:t>
            </a:r>
          </a:p>
        </p:txBody>
      </p:sp>
      <p:sp>
        <p:nvSpPr>
          <p:cNvPr id="26629" name="Rectangle 5"/>
          <p:cNvSpPr>
            <a:spLocks noGrp="1" noChangeArrowheads="1"/>
          </p:cNvSpPr>
          <p:nvPr>
            <p:ph type="body" idx="1"/>
          </p:nvPr>
        </p:nvSpPr>
        <p:spPr>
          <a:noFill/>
          <a:ln/>
        </p:spPr>
        <p:txBody>
          <a:bodyPr/>
          <a:lstStyle/>
          <a:p>
            <a:r>
              <a:rPr lang="en-US" altLang="en-US"/>
              <a:t>Views in the Data Dictionary</a:t>
            </a:r>
          </a:p>
        </p:txBody>
      </p:sp>
    </p:spTree>
    <p:extLst>
      <p:ext uri="{BB962C8B-B14F-4D97-AF65-F5344CB8AC3E}">
        <p14:creationId xmlns:p14="http://schemas.microsoft.com/office/powerpoint/2010/main" val="95634463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ChangeArrowheads="1"/>
          </p:cNvSpPr>
          <p:nvPr/>
        </p:nvSpPr>
        <p:spPr bwMode="auto">
          <a:xfrm>
            <a:off x="3860800" y="0"/>
            <a:ext cx="295910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675" name="Rectangle 3"/>
          <p:cNvSpPr>
            <a:spLocks noChangeArrowheads="1"/>
          </p:cNvSpPr>
          <p:nvPr/>
        </p:nvSpPr>
        <p:spPr bwMode="auto">
          <a:xfrm>
            <a:off x="-3175" y="0"/>
            <a:ext cx="2955925"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676" name="Rectangle 4"/>
          <p:cNvSpPr>
            <a:spLocks noGrp="1" noChangeArrowheads="1"/>
          </p:cNvSpPr>
          <p:nvPr>
            <p:ph type="body" idx="1"/>
          </p:nvPr>
        </p:nvSpPr>
        <p:spPr>
          <a:noFill/>
          <a:ln/>
        </p:spPr>
        <p:txBody>
          <a:bodyPr/>
          <a:lstStyle/>
          <a:p>
            <a:pPr>
              <a:tabLst/>
            </a:pPr>
            <a:r>
              <a:rPr lang="en-US" altLang="en-US"/>
              <a:t>Modifying a View</a:t>
            </a:r>
          </a:p>
          <a:p>
            <a:pPr lvl="1">
              <a:tabLst/>
            </a:pPr>
            <a:r>
              <a:rPr lang="en-US" altLang="en-US"/>
              <a:t>The OR REPLACE option allows a view to be created even if one exists with this name already, thus replacing the old version of the view for its owner. This means that the view can be altered without dropping, re-creating, and regranting object privileges.</a:t>
            </a:r>
          </a:p>
          <a:p>
            <a:pPr lvl="1">
              <a:tabLst/>
            </a:pPr>
            <a:r>
              <a:rPr lang="en-US" altLang="en-US" b="1"/>
              <a:t>Note:</a:t>
            </a:r>
            <a:r>
              <a:rPr lang="en-US" altLang="en-US"/>
              <a:t> When assigning column aliases in the CREATE VIEW clause, remember that the aliases are listed in the same order as the columns in the subquery.</a:t>
            </a:r>
          </a:p>
          <a:p>
            <a:pPr lvl="1">
              <a:tabLst/>
            </a:pPr>
            <a:endParaRPr lang="en-US" altLang="en-US"/>
          </a:p>
          <a:p>
            <a:pPr lvl="1">
              <a:tabLst/>
            </a:pPr>
            <a:endParaRPr lang="en-US" altLang="en-US"/>
          </a:p>
          <a:p>
            <a:pPr lvl="1">
              <a:tabLst/>
            </a:pPr>
            <a:endParaRPr lang="en-US" altLang="en-US"/>
          </a:p>
          <a:p>
            <a:pPr lvl="1">
              <a:tabLst/>
            </a:pPr>
            <a:endParaRPr lang="en-US" altLang="en-US"/>
          </a:p>
          <a:p>
            <a:pPr lvl="1">
              <a:tabLst/>
            </a:pPr>
            <a:endParaRPr lang="en-US" altLang="en-US"/>
          </a:p>
          <a:p>
            <a:pPr lvl="1">
              <a:tabLst/>
            </a:pPr>
            <a:endParaRPr lang="en-US" altLang="en-US"/>
          </a:p>
          <a:p>
            <a:pPr>
              <a:tabLst/>
            </a:pPr>
            <a:r>
              <a:rPr lang="en-US" altLang="en-US">
                <a:solidFill>
                  <a:schemeClr val="accent2"/>
                </a:solidFill>
              </a:rPr>
              <a:t>Class Management Note</a:t>
            </a:r>
          </a:p>
          <a:p>
            <a:pPr lvl="1">
              <a:tabLst/>
            </a:pPr>
            <a:r>
              <a:rPr lang="en-US" altLang="en-US">
                <a:solidFill>
                  <a:schemeClr val="accent2"/>
                </a:solidFill>
              </a:rPr>
              <a:t>The OR REPLACE option started with Oracle7. With earlier versions of Oracle, if the view needed to be changed, it had to be dropped and re-created.</a:t>
            </a:r>
          </a:p>
          <a:p>
            <a:pPr lvl="1">
              <a:tabLst/>
            </a:pPr>
            <a:r>
              <a:rPr lang="en-US" altLang="en-US">
                <a:solidFill>
                  <a:schemeClr val="accent2"/>
                </a:solidFill>
              </a:rPr>
              <a:t>Demo: </a:t>
            </a:r>
            <a:r>
              <a:rPr lang="en-US" altLang="en-US" i="1">
                <a:solidFill>
                  <a:schemeClr val="accent2"/>
                </a:solidFill>
              </a:rPr>
              <a:t>l12emp.sql</a:t>
            </a:r>
          </a:p>
          <a:p>
            <a:pPr lvl="1">
              <a:tabLst/>
            </a:pPr>
            <a:r>
              <a:rPr lang="en-US" altLang="en-US">
                <a:solidFill>
                  <a:schemeClr val="accent2"/>
                </a:solidFill>
              </a:rPr>
              <a:t>Purpose: To illustrate creating a view using aliases.</a:t>
            </a:r>
          </a:p>
          <a:p>
            <a:pPr>
              <a:tabLst/>
            </a:pPr>
            <a:endParaRPr lang="en-US" altLang="en-US" b="0">
              <a:solidFill>
                <a:schemeClr val="accent2"/>
              </a:solidFill>
              <a:latin typeface="Times New Roman" pitchFamily="18" charset="0"/>
            </a:endParaRPr>
          </a:p>
        </p:txBody>
      </p:sp>
      <p:sp>
        <p:nvSpPr>
          <p:cNvPr id="28677" name="Rectangle 5"/>
          <p:cNvSpPr>
            <a:spLocks noGrp="1" noRot="1" noChangeAspect="1" noChangeArrowheads="1" noTextEdit="1"/>
          </p:cNvSpPr>
          <p:nvPr>
            <p:ph type="sldImg"/>
          </p:nvPr>
        </p:nvSpPr>
        <p:spPr>
          <a:xfrm>
            <a:off x="471488" y="157163"/>
            <a:ext cx="5870575" cy="4402137"/>
          </a:xfrm>
          <a:ln cap="flat"/>
        </p:spPr>
      </p:sp>
    </p:spTree>
    <p:extLst>
      <p:ext uri="{BB962C8B-B14F-4D97-AF65-F5344CB8AC3E}">
        <p14:creationId xmlns:p14="http://schemas.microsoft.com/office/powerpoint/2010/main" val="112672694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Rot="1" noChangeAspect="1" noChangeArrowheads="1" noTextEdit="1"/>
          </p:cNvSpPr>
          <p:nvPr>
            <p:ph type="sldImg"/>
          </p:nvPr>
        </p:nvSpPr>
        <p:spPr>
          <a:xfrm>
            <a:off x="471488" y="157163"/>
            <a:ext cx="5870575" cy="4402137"/>
          </a:xfrm>
          <a:ln cap="flat"/>
        </p:spPr>
      </p:sp>
      <p:sp>
        <p:nvSpPr>
          <p:cNvPr id="30723" name="Rectangle 3"/>
          <p:cNvSpPr>
            <a:spLocks noGrp="1" noChangeArrowheads="1"/>
          </p:cNvSpPr>
          <p:nvPr>
            <p:ph type="body" idx="1"/>
          </p:nvPr>
        </p:nvSpPr>
        <p:spPr>
          <a:noFill/>
          <a:ln/>
        </p:spPr>
        <p:txBody>
          <a:bodyPr/>
          <a:lstStyle/>
          <a:p>
            <a:pPr>
              <a:tabLst/>
            </a:pPr>
            <a:r>
              <a:rPr lang="en-US" altLang="en-US"/>
              <a:t>Creating a Complex View</a:t>
            </a:r>
          </a:p>
          <a:p>
            <a:pPr lvl="1">
              <a:tabLst/>
            </a:pPr>
            <a:r>
              <a:rPr lang="en-US" altLang="en-US"/>
              <a:t>The example on the slide creates a complex view of the department names, minimum salary, maximum salary, and average salary by the department. Note that alternative names have been specified for the view. This is a requirement if any column of the view is derived from a function or an expression.</a:t>
            </a:r>
          </a:p>
          <a:p>
            <a:pPr lvl="1">
              <a:tabLst/>
            </a:pPr>
            <a:r>
              <a:rPr lang="en-US" altLang="en-US"/>
              <a:t>You can view the structure of the view by using the SQL*Plus DESCRIBE command. Display the contents of the view by issuing a SELECT statement.  </a:t>
            </a:r>
          </a:p>
        </p:txBody>
      </p:sp>
      <p:sp>
        <p:nvSpPr>
          <p:cNvPr id="30724" name="Rectangle 4"/>
          <p:cNvSpPr>
            <a:spLocks noChangeArrowheads="1"/>
          </p:cNvSpPr>
          <p:nvPr/>
        </p:nvSpPr>
        <p:spPr bwMode="auto">
          <a:xfrm>
            <a:off x="623888" y="6132513"/>
            <a:ext cx="5611812" cy="4318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725" name="Rectangle 5"/>
          <p:cNvSpPr>
            <a:spLocks noChangeArrowheads="1"/>
          </p:cNvSpPr>
          <p:nvPr/>
        </p:nvSpPr>
        <p:spPr bwMode="auto">
          <a:xfrm>
            <a:off x="577850" y="6107113"/>
            <a:ext cx="2276475"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gn="l" defTabSz="869950">
              <a:spcBef>
                <a:spcPct val="0"/>
              </a:spcBef>
              <a:defRPr sz="2400">
                <a:solidFill>
                  <a:schemeClr val="tx1"/>
                </a:solidFill>
                <a:latin typeface="Times New Roman" pitchFamily="18" charset="0"/>
              </a:defRPr>
            </a:lvl1pPr>
            <a:lvl2pPr marL="446088" algn="l" defTabSz="869950">
              <a:spcBef>
                <a:spcPct val="0"/>
              </a:spcBef>
              <a:defRPr sz="2400">
                <a:solidFill>
                  <a:schemeClr val="tx1"/>
                </a:solidFill>
                <a:latin typeface="Times New Roman" pitchFamily="18" charset="0"/>
              </a:defRPr>
            </a:lvl2pPr>
            <a:lvl3pPr marL="892175" algn="l" defTabSz="869950">
              <a:spcBef>
                <a:spcPct val="0"/>
              </a:spcBef>
              <a:defRPr sz="2400">
                <a:solidFill>
                  <a:schemeClr val="tx1"/>
                </a:solidFill>
                <a:latin typeface="Times New Roman" pitchFamily="18" charset="0"/>
              </a:defRPr>
            </a:lvl3pPr>
            <a:lvl4pPr marL="1338263" algn="l" defTabSz="869950">
              <a:spcBef>
                <a:spcPct val="0"/>
              </a:spcBef>
              <a:defRPr sz="2400">
                <a:solidFill>
                  <a:schemeClr val="tx1"/>
                </a:solidFill>
                <a:latin typeface="Times New Roman" pitchFamily="18" charset="0"/>
              </a:defRPr>
            </a:lvl4pPr>
            <a:lvl5pPr marL="1781175" algn="l" defTabSz="869950">
              <a:spcBef>
                <a:spcPct val="0"/>
              </a:spcBef>
              <a:defRPr sz="2400">
                <a:solidFill>
                  <a:schemeClr val="tx1"/>
                </a:solidFill>
                <a:latin typeface="Times New Roman" pitchFamily="18" charset="0"/>
              </a:defRPr>
            </a:lvl5pPr>
            <a:lvl6pPr marL="2238375" defTabSz="869950" fontAlgn="base">
              <a:spcBef>
                <a:spcPct val="0"/>
              </a:spcBef>
              <a:spcAft>
                <a:spcPct val="0"/>
              </a:spcAft>
              <a:defRPr sz="2400">
                <a:solidFill>
                  <a:schemeClr val="tx1"/>
                </a:solidFill>
                <a:latin typeface="Times New Roman" pitchFamily="18" charset="0"/>
              </a:defRPr>
            </a:lvl6pPr>
            <a:lvl7pPr marL="2695575" defTabSz="869950" fontAlgn="base">
              <a:spcBef>
                <a:spcPct val="0"/>
              </a:spcBef>
              <a:spcAft>
                <a:spcPct val="0"/>
              </a:spcAft>
              <a:defRPr sz="2400">
                <a:solidFill>
                  <a:schemeClr val="tx1"/>
                </a:solidFill>
                <a:latin typeface="Times New Roman" pitchFamily="18" charset="0"/>
              </a:defRPr>
            </a:lvl7pPr>
            <a:lvl8pPr marL="3152775" defTabSz="869950" fontAlgn="base">
              <a:spcBef>
                <a:spcPct val="0"/>
              </a:spcBef>
              <a:spcAft>
                <a:spcPct val="0"/>
              </a:spcAft>
              <a:defRPr sz="2400">
                <a:solidFill>
                  <a:schemeClr val="tx1"/>
                </a:solidFill>
                <a:latin typeface="Times New Roman" pitchFamily="18" charset="0"/>
              </a:defRPr>
            </a:lvl8pPr>
            <a:lvl9pPr marL="3609975" defTabSz="869950" fontAlgn="base">
              <a:spcBef>
                <a:spcPct val="0"/>
              </a:spcBef>
              <a:spcAft>
                <a:spcPct val="0"/>
              </a:spcAft>
              <a:defRPr sz="2400">
                <a:solidFill>
                  <a:schemeClr val="tx1"/>
                </a:solidFill>
                <a:latin typeface="Times New Roman" pitchFamily="18" charset="0"/>
              </a:defRPr>
            </a:lvl9pPr>
          </a:lstStyle>
          <a:p>
            <a:pPr>
              <a:lnSpc>
                <a:spcPct val="100000"/>
              </a:lnSpc>
              <a:spcBef>
                <a:spcPct val="30000"/>
              </a:spcBef>
            </a:pPr>
            <a:r>
              <a:rPr lang="en-US" altLang="en-US" sz="1100">
                <a:latin typeface="Courier New" pitchFamily="49" charset="0"/>
              </a:rPr>
              <a:t>SQL&gt; SELECT  * </a:t>
            </a:r>
          </a:p>
          <a:p>
            <a:pPr>
              <a:lnSpc>
                <a:spcPct val="100000"/>
              </a:lnSpc>
              <a:spcBef>
                <a:spcPct val="30000"/>
              </a:spcBef>
            </a:pPr>
            <a:r>
              <a:rPr lang="en-US" altLang="en-US" sz="1100">
                <a:latin typeface="Courier New" pitchFamily="49" charset="0"/>
              </a:rPr>
              <a:t>  2  FROM    dept_sum_vu;</a:t>
            </a:r>
          </a:p>
        </p:txBody>
      </p:sp>
      <p:sp>
        <p:nvSpPr>
          <p:cNvPr id="30726" name="Rectangle 6"/>
          <p:cNvSpPr>
            <a:spLocks noChangeArrowheads="1"/>
          </p:cNvSpPr>
          <p:nvPr/>
        </p:nvSpPr>
        <p:spPr bwMode="auto">
          <a:xfrm>
            <a:off x="617538" y="6646863"/>
            <a:ext cx="5618162" cy="116205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727" name="Rectangle 7"/>
          <p:cNvSpPr>
            <a:spLocks noChangeArrowheads="1"/>
          </p:cNvSpPr>
          <p:nvPr/>
        </p:nvSpPr>
        <p:spPr bwMode="auto">
          <a:xfrm>
            <a:off x="606425" y="6680200"/>
            <a:ext cx="3870325" cy="1133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gn="l" defTabSz="869950">
              <a:spcBef>
                <a:spcPct val="0"/>
              </a:spcBef>
              <a:defRPr sz="2400">
                <a:solidFill>
                  <a:schemeClr val="tx1"/>
                </a:solidFill>
                <a:latin typeface="Times New Roman" pitchFamily="18" charset="0"/>
              </a:defRPr>
            </a:lvl1pPr>
            <a:lvl2pPr marL="446088" algn="l" defTabSz="869950">
              <a:spcBef>
                <a:spcPct val="0"/>
              </a:spcBef>
              <a:defRPr sz="2400">
                <a:solidFill>
                  <a:schemeClr val="tx1"/>
                </a:solidFill>
                <a:latin typeface="Times New Roman" pitchFamily="18" charset="0"/>
              </a:defRPr>
            </a:lvl2pPr>
            <a:lvl3pPr marL="892175" algn="l" defTabSz="869950">
              <a:spcBef>
                <a:spcPct val="0"/>
              </a:spcBef>
              <a:defRPr sz="2400">
                <a:solidFill>
                  <a:schemeClr val="tx1"/>
                </a:solidFill>
                <a:latin typeface="Times New Roman" pitchFamily="18" charset="0"/>
              </a:defRPr>
            </a:lvl3pPr>
            <a:lvl4pPr marL="1338263" algn="l" defTabSz="869950">
              <a:spcBef>
                <a:spcPct val="0"/>
              </a:spcBef>
              <a:defRPr sz="2400">
                <a:solidFill>
                  <a:schemeClr val="tx1"/>
                </a:solidFill>
                <a:latin typeface="Times New Roman" pitchFamily="18" charset="0"/>
              </a:defRPr>
            </a:lvl4pPr>
            <a:lvl5pPr marL="1781175" algn="l" defTabSz="869950">
              <a:spcBef>
                <a:spcPct val="0"/>
              </a:spcBef>
              <a:defRPr sz="2400">
                <a:solidFill>
                  <a:schemeClr val="tx1"/>
                </a:solidFill>
                <a:latin typeface="Times New Roman" pitchFamily="18" charset="0"/>
              </a:defRPr>
            </a:lvl5pPr>
            <a:lvl6pPr marL="2238375" defTabSz="869950" fontAlgn="base">
              <a:spcBef>
                <a:spcPct val="0"/>
              </a:spcBef>
              <a:spcAft>
                <a:spcPct val="0"/>
              </a:spcAft>
              <a:defRPr sz="2400">
                <a:solidFill>
                  <a:schemeClr val="tx1"/>
                </a:solidFill>
                <a:latin typeface="Times New Roman" pitchFamily="18" charset="0"/>
              </a:defRPr>
            </a:lvl6pPr>
            <a:lvl7pPr marL="2695575" defTabSz="869950" fontAlgn="base">
              <a:spcBef>
                <a:spcPct val="0"/>
              </a:spcBef>
              <a:spcAft>
                <a:spcPct val="0"/>
              </a:spcAft>
              <a:defRPr sz="2400">
                <a:solidFill>
                  <a:schemeClr val="tx1"/>
                </a:solidFill>
                <a:latin typeface="Times New Roman" pitchFamily="18" charset="0"/>
              </a:defRPr>
            </a:lvl7pPr>
            <a:lvl8pPr marL="3152775" defTabSz="869950" fontAlgn="base">
              <a:spcBef>
                <a:spcPct val="0"/>
              </a:spcBef>
              <a:spcAft>
                <a:spcPct val="0"/>
              </a:spcAft>
              <a:defRPr sz="2400">
                <a:solidFill>
                  <a:schemeClr val="tx1"/>
                </a:solidFill>
                <a:latin typeface="Times New Roman" pitchFamily="18" charset="0"/>
              </a:defRPr>
            </a:lvl8pPr>
            <a:lvl9pPr marL="3609975" defTabSz="869950" fontAlgn="base">
              <a:spcBef>
                <a:spcPct val="0"/>
              </a:spcBef>
              <a:spcAft>
                <a:spcPct val="0"/>
              </a:spcAft>
              <a:defRPr sz="2400">
                <a:solidFill>
                  <a:schemeClr val="tx1"/>
                </a:solidFill>
                <a:latin typeface="Times New Roman" pitchFamily="18" charset="0"/>
              </a:defRPr>
            </a:lvl9pPr>
          </a:lstStyle>
          <a:p>
            <a:pPr>
              <a:lnSpc>
                <a:spcPct val="100000"/>
              </a:lnSpc>
              <a:spcBef>
                <a:spcPct val="30000"/>
              </a:spcBef>
            </a:pPr>
            <a:r>
              <a:rPr lang="en-US" altLang="en-US" sz="1100" b="0">
                <a:latin typeface="Courier New" pitchFamily="49" charset="0"/>
              </a:rPr>
              <a:t>NAME              MINSAL    MAXSAL    AVGSAL</a:t>
            </a:r>
          </a:p>
          <a:p>
            <a:pPr>
              <a:lnSpc>
                <a:spcPct val="100000"/>
              </a:lnSpc>
              <a:spcBef>
                <a:spcPct val="30000"/>
              </a:spcBef>
            </a:pPr>
            <a:r>
              <a:rPr lang="en-US" altLang="en-US" sz="1100" b="0">
                <a:latin typeface="Courier New" pitchFamily="49" charset="0"/>
              </a:rPr>
              <a:t>-------------- --------- --------- ---------</a:t>
            </a:r>
          </a:p>
          <a:p>
            <a:pPr>
              <a:lnSpc>
                <a:spcPct val="100000"/>
              </a:lnSpc>
              <a:spcBef>
                <a:spcPct val="30000"/>
              </a:spcBef>
            </a:pPr>
            <a:r>
              <a:rPr lang="en-US" altLang="en-US" sz="1100" b="0">
                <a:latin typeface="Courier New" pitchFamily="49" charset="0"/>
              </a:rPr>
              <a:t>ACCOUNTING          1300      5000 2916.6667</a:t>
            </a:r>
          </a:p>
          <a:p>
            <a:pPr>
              <a:lnSpc>
                <a:spcPct val="100000"/>
              </a:lnSpc>
              <a:spcBef>
                <a:spcPct val="30000"/>
              </a:spcBef>
            </a:pPr>
            <a:r>
              <a:rPr lang="en-US" altLang="en-US" sz="1100" b="0">
                <a:latin typeface="Courier New" pitchFamily="49" charset="0"/>
              </a:rPr>
              <a:t>RESEARCH             800      3000      2175</a:t>
            </a:r>
          </a:p>
          <a:p>
            <a:pPr>
              <a:lnSpc>
                <a:spcPct val="100000"/>
              </a:lnSpc>
              <a:spcBef>
                <a:spcPct val="30000"/>
              </a:spcBef>
            </a:pPr>
            <a:r>
              <a:rPr lang="en-US" altLang="en-US" sz="1100" b="0">
                <a:latin typeface="Courier New" pitchFamily="49" charset="0"/>
              </a:rPr>
              <a:t>SALES                950      2850 1566.6667</a:t>
            </a:r>
          </a:p>
        </p:txBody>
      </p:sp>
    </p:spTree>
    <p:extLst>
      <p:ext uri="{BB962C8B-B14F-4D97-AF65-F5344CB8AC3E}">
        <p14:creationId xmlns:p14="http://schemas.microsoft.com/office/powerpoint/2010/main" val="238745113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body" idx="1"/>
          </p:nvPr>
        </p:nvSpPr>
        <p:spPr>
          <a:noFill/>
          <a:ln/>
        </p:spPr>
        <p:txBody>
          <a:bodyPr/>
          <a:lstStyle/>
          <a:p>
            <a:pPr>
              <a:tabLst/>
            </a:pPr>
            <a:r>
              <a:rPr lang="en-US" altLang="en-US"/>
              <a:t>Performing DML Operations on a View</a:t>
            </a:r>
          </a:p>
          <a:p>
            <a:pPr lvl="1">
              <a:tabLst/>
            </a:pPr>
            <a:r>
              <a:rPr lang="en-US" altLang="en-US"/>
              <a:t>You can perform DML operations on data through a view if those operations follow certain rules.</a:t>
            </a:r>
          </a:p>
          <a:p>
            <a:pPr lvl="1">
              <a:tabLst/>
            </a:pPr>
            <a:r>
              <a:rPr lang="en-US" altLang="en-US"/>
              <a:t>You can remove a row from a view unless it contains any of the following:</a:t>
            </a:r>
          </a:p>
          <a:p>
            <a:pPr lvl="2">
              <a:tabLst/>
            </a:pPr>
            <a:r>
              <a:rPr lang="en-US" altLang="en-US"/>
              <a:t>Group functions</a:t>
            </a:r>
          </a:p>
          <a:p>
            <a:pPr lvl="2">
              <a:tabLst/>
            </a:pPr>
            <a:r>
              <a:rPr lang="en-US" altLang="en-US"/>
              <a:t>A GROUP BY clause</a:t>
            </a:r>
          </a:p>
          <a:p>
            <a:pPr lvl="2">
              <a:tabLst/>
            </a:pPr>
            <a:r>
              <a:rPr lang="en-US" altLang="en-US"/>
              <a:t>The DISTINCT keyword</a:t>
            </a:r>
          </a:p>
          <a:p>
            <a:pPr>
              <a:tabLst/>
            </a:pPr>
            <a:endParaRPr lang="en-US" altLang="en-US" b="0">
              <a:latin typeface="Times New Roman" pitchFamily="18" charset="0"/>
            </a:endParaRPr>
          </a:p>
        </p:txBody>
      </p:sp>
      <p:sp>
        <p:nvSpPr>
          <p:cNvPr id="32771" name="Rectangle 3"/>
          <p:cNvSpPr>
            <a:spLocks noGrp="1" noRot="1" noChangeAspect="1" noChangeArrowheads="1" noTextEdit="1"/>
          </p:cNvSpPr>
          <p:nvPr>
            <p:ph type="sldImg"/>
          </p:nvPr>
        </p:nvSpPr>
        <p:spPr>
          <a:xfrm>
            <a:off x="471488" y="157163"/>
            <a:ext cx="5870575" cy="4402137"/>
          </a:xfrm>
          <a:ln cap="flat"/>
        </p:spPr>
      </p:sp>
    </p:spTree>
    <p:extLst>
      <p:ext uri="{BB962C8B-B14F-4D97-AF65-F5344CB8AC3E}">
        <p14:creationId xmlns:p14="http://schemas.microsoft.com/office/powerpoint/2010/main" val="324830842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body" idx="1"/>
          </p:nvPr>
        </p:nvSpPr>
        <p:spPr>
          <a:xfrm>
            <a:off x="411163" y="4679950"/>
            <a:ext cx="6057900" cy="3924300"/>
          </a:xfrm>
          <a:noFill/>
          <a:ln/>
        </p:spPr>
        <p:txBody>
          <a:bodyPr/>
          <a:lstStyle/>
          <a:p>
            <a:pPr>
              <a:lnSpc>
                <a:spcPct val="90000"/>
              </a:lnSpc>
              <a:tabLst/>
            </a:pPr>
            <a:r>
              <a:rPr lang="en-US" altLang="en-US"/>
              <a:t>Performing DML Operations on a View (continued)</a:t>
            </a:r>
          </a:p>
          <a:p>
            <a:pPr lvl="1">
              <a:lnSpc>
                <a:spcPct val="90000"/>
              </a:lnSpc>
              <a:tabLst/>
            </a:pPr>
            <a:r>
              <a:rPr lang="en-US" altLang="en-US"/>
              <a:t>You can modify data in a view unless it contains any of the conditions mentioned in the previous slide and any of the following:</a:t>
            </a:r>
          </a:p>
          <a:p>
            <a:pPr lvl="2">
              <a:lnSpc>
                <a:spcPct val="90000"/>
              </a:lnSpc>
              <a:tabLst/>
            </a:pPr>
            <a:r>
              <a:rPr lang="en-US" altLang="en-US"/>
              <a:t>Columns defined by expressions—for example, SALARY * 12</a:t>
            </a:r>
          </a:p>
          <a:p>
            <a:pPr lvl="2">
              <a:lnSpc>
                <a:spcPct val="90000"/>
              </a:lnSpc>
              <a:tabLst/>
            </a:pPr>
            <a:r>
              <a:rPr lang="en-US" altLang="en-US"/>
              <a:t>The ROWNUM pseudocolumn</a:t>
            </a:r>
          </a:p>
          <a:p>
            <a:pPr lvl="1">
              <a:lnSpc>
                <a:spcPct val="90000"/>
              </a:lnSpc>
              <a:tabLst/>
            </a:pPr>
            <a:r>
              <a:rPr lang="en-US" altLang="en-US"/>
              <a:t>You can add data through a view unless it contains any of the above and there are NOT NULL columns, without a default value, in the base table that are not selected by the view. All required values must be </a:t>
            </a:r>
            <a:r>
              <a:rPr lang="en-US" altLang="en-US">
                <a:latin typeface="Times" charset="0"/>
              </a:rPr>
              <a:t>present in the view. Remember that you are adding values directly into the underlying table </a:t>
            </a:r>
            <a:r>
              <a:rPr lang="en-US" altLang="en-US" i="1">
                <a:latin typeface="Times" charset="0"/>
              </a:rPr>
              <a:t>through </a:t>
            </a:r>
            <a:r>
              <a:rPr lang="en-US" altLang="en-US">
                <a:latin typeface="Times" charset="0"/>
              </a:rPr>
              <a:t>the view.</a:t>
            </a:r>
          </a:p>
          <a:p>
            <a:pPr lvl="1">
              <a:lnSpc>
                <a:spcPct val="90000"/>
              </a:lnSpc>
              <a:tabLst/>
            </a:pPr>
            <a:r>
              <a:rPr lang="en-US" altLang="en-US"/>
              <a:t>For more information, see </a:t>
            </a:r>
            <a:br>
              <a:rPr lang="en-US" altLang="en-US"/>
            </a:br>
            <a:r>
              <a:rPr lang="en-US" altLang="en-US" i="1"/>
              <a:t>0racle8 Server SQL Reference, </a:t>
            </a:r>
            <a:r>
              <a:rPr lang="en-US" altLang="en-US"/>
              <a:t>Release 8</a:t>
            </a:r>
            <a:r>
              <a:rPr lang="en-US" altLang="en-US" i="1"/>
              <a:t>,</a:t>
            </a:r>
            <a:r>
              <a:rPr lang="en-US" altLang="en-US"/>
              <a:t> “CREATE VIEW.” </a:t>
            </a:r>
          </a:p>
          <a:p>
            <a:pPr>
              <a:lnSpc>
                <a:spcPct val="90000"/>
              </a:lnSpc>
              <a:spcBef>
                <a:spcPct val="20000"/>
              </a:spcBef>
              <a:tabLst/>
            </a:pPr>
            <a:r>
              <a:rPr lang="en-US" altLang="en-US">
                <a:solidFill>
                  <a:schemeClr val="accent2"/>
                </a:solidFill>
              </a:rPr>
              <a:t>Class Management Note</a:t>
            </a:r>
            <a:endParaRPr lang="en-US" altLang="en-US"/>
          </a:p>
          <a:p>
            <a:pPr lvl="1">
              <a:lnSpc>
                <a:spcPct val="90000"/>
              </a:lnSpc>
              <a:spcBef>
                <a:spcPct val="20000"/>
              </a:spcBef>
              <a:tabLst/>
            </a:pPr>
            <a:r>
              <a:rPr lang="en-US" altLang="en-US">
                <a:solidFill>
                  <a:schemeClr val="accent2"/>
                </a:solidFill>
              </a:rPr>
              <a:t>Oracle7.3 and Oracle8 allow you, with some restrictions, to modify views that involve joins. The restrictions for DML operations described above also apply to join views. Any UPDATE, INSERT, or DELETE statement on a join view can modify only one underlying base table. If at least one column in the subquery join has a unique index, then it may be possible to modify one base table in a join view. You can query USER_UPDATABLE_COLUMNS to see whether the columns in a join view are updatable.</a:t>
            </a:r>
            <a:endParaRPr lang="en-US" altLang="en-US">
              <a:latin typeface="Times" charset="0"/>
            </a:endParaRPr>
          </a:p>
          <a:p>
            <a:pPr lvl="1">
              <a:lnSpc>
                <a:spcPct val="90000"/>
              </a:lnSpc>
              <a:spcBef>
                <a:spcPct val="20000"/>
              </a:spcBef>
              <a:tabLst/>
            </a:pPr>
            <a:r>
              <a:rPr lang="en-US" altLang="en-US">
                <a:solidFill>
                  <a:schemeClr val="accent2"/>
                </a:solidFill>
              </a:rPr>
              <a:t>(For Page 12-16)</a:t>
            </a:r>
            <a:endParaRPr lang="en-US" altLang="en-US"/>
          </a:p>
          <a:p>
            <a:pPr lvl="1">
              <a:lnSpc>
                <a:spcPct val="90000"/>
              </a:lnSpc>
              <a:spcBef>
                <a:spcPct val="20000"/>
              </a:spcBef>
              <a:tabLst/>
            </a:pPr>
            <a:r>
              <a:rPr lang="en-US" altLang="en-US">
                <a:solidFill>
                  <a:schemeClr val="accent2"/>
                </a:solidFill>
              </a:rPr>
              <a:t>If the user does not supply a constraint name, the system assigns a name in the form SYS_C</a:t>
            </a:r>
            <a:r>
              <a:rPr lang="en-US" altLang="en-US" i="1">
                <a:solidFill>
                  <a:schemeClr val="accent2"/>
                </a:solidFill>
              </a:rPr>
              <a:t>n, </a:t>
            </a:r>
            <a:r>
              <a:rPr lang="en-US" altLang="en-US">
                <a:solidFill>
                  <a:schemeClr val="accent2"/>
                </a:solidFill>
              </a:rPr>
              <a:t>where </a:t>
            </a:r>
            <a:r>
              <a:rPr lang="en-US" altLang="en-US" i="1">
                <a:solidFill>
                  <a:schemeClr val="accent2"/>
                </a:solidFill>
              </a:rPr>
              <a:t>n</a:t>
            </a:r>
            <a:r>
              <a:rPr lang="en-US" altLang="en-US">
                <a:solidFill>
                  <a:schemeClr val="accent2"/>
                </a:solidFill>
              </a:rPr>
              <a:t> is an integer that makes the constraint name unique within the system.</a:t>
            </a:r>
          </a:p>
          <a:p>
            <a:pPr lvl="1">
              <a:lnSpc>
                <a:spcPct val="90000"/>
              </a:lnSpc>
              <a:spcBef>
                <a:spcPct val="20000"/>
              </a:spcBef>
              <a:tabLst/>
            </a:pPr>
            <a:r>
              <a:rPr lang="en-US" altLang="en-US">
                <a:solidFill>
                  <a:schemeClr val="accent2"/>
                </a:solidFill>
              </a:rPr>
              <a:t>Demo: </a:t>
            </a:r>
            <a:r>
              <a:rPr lang="en-US" altLang="en-US" i="1">
                <a:solidFill>
                  <a:schemeClr val="accent2"/>
                </a:solidFill>
              </a:rPr>
              <a:t>l12vu1.sql</a:t>
            </a:r>
            <a:r>
              <a:rPr lang="en-US" altLang="en-US">
                <a:solidFill>
                  <a:schemeClr val="accent2"/>
                </a:solidFill>
              </a:rPr>
              <a:t>, </a:t>
            </a:r>
            <a:r>
              <a:rPr lang="en-US" altLang="en-US" i="1">
                <a:solidFill>
                  <a:schemeClr val="accent2"/>
                </a:solidFill>
              </a:rPr>
              <a:t>l12vu2.sql</a:t>
            </a:r>
          </a:p>
          <a:p>
            <a:pPr lvl="1">
              <a:lnSpc>
                <a:spcPct val="90000"/>
              </a:lnSpc>
              <a:spcBef>
                <a:spcPct val="20000"/>
              </a:spcBef>
              <a:tabLst/>
            </a:pPr>
            <a:r>
              <a:rPr lang="en-US" altLang="en-US">
                <a:solidFill>
                  <a:schemeClr val="accent2"/>
                </a:solidFill>
              </a:rPr>
              <a:t>Purpose: To illustrate creating views with and without the CHECK OPTION.</a:t>
            </a:r>
          </a:p>
        </p:txBody>
      </p:sp>
      <p:sp>
        <p:nvSpPr>
          <p:cNvPr id="34819" name="Rectangle 3"/>
          <p:cNvSpPr>
            <a:spLocks noGrp="1" noRot="1" noChangeAspect="1" noChangeArrowheads="1" noTextEdit="1"/>
          </p:cNvSpPr>
          <p:nvPr>
            <p:ph type="sldImg"/>
          </p:nvPr>
        </p:nvSpPr>
        <p:spPr>
          <a:xfrm>
            <a:off x="471488" y="157163"/>
            <a:ext cx="5870575" cy="4402137"/>
          </a:xfrm>
          <a:ln cap="flat"/>
        </p:spPr>
      </p:sp>
      <p:grpSp>
        <p:nvGrpSpPr>
          <p:cNvPr id="34833" name="Group 17"/>
          <p:cNvGrpSpPr>
            <a:grpSpLocks/>
          </p:cNvGrpSpPr>
          <p:nvPr/>
        </p:nvGrpSpPr>
        <p:grpSpPr bwMode="auto">
          <a:xfrm>
            <a:off x="171450" y="6359525"/>
            <a:ext cx="293688" cy="292100"/>
            <a:chOff x="108" y="4006"/>
            <a:chExt cx="185" cy="184"/>
          </a:xfrm>
        </p:grpSpPr>
        <p:sp>
          <p:nvSpPr>
            <p:cNvPr id="34820" name="Freeform 4"/>
            <p:cNvSpPr>
              <a:spLocks/>
            </p:cNvSpPr>
            <p:nvPr/>
          </p:nvSpPr>
          <p:spPr bwMode="auto">
            <a:xfrm>
              <a:off x="108" y="4006"/>
              <a:ext cx="176" cy="177"/>
            </a:xfrm>
            <a:custGeom>
              <a:avLst/>
              <a:gdLst>
                <a:gd name="T0" fmla="*/ 175 w 176"/>
                <a:gd name="T1" fmla="*/ 176 h 177"/>
                <a:gd name="T2" fmla="*/ 175 w 176"/>
                <a:gd name="T3" fmla="*/ 0 h 177"/>
                <a:gd name="T4" fmla="*/ 0 w 176"/>
                <a:gd name="T5" fmla="*/ 0 h 177"/>
                <a:gd name="T6" fmla="*/ 0 w 176"/>
                <a:gd name="T7" fmla="*/ 176 h 177"/>
                <a:gd name="T8" fmla="*/ 175 w 176"/>
                <a:gd name="T9" fmla="*/ 176 h 177"/>
              </a:gdLst>
              <a:ahLst/>
              <a:cxnLst>
                <a:cxn ang="0">
                  <a:pos x="T0" y="T1"/>
                </a:cxn>
                <a:cxn ang="0">
                  <a:pos x="T2" y="T3"/>
                </a:cxn>
                <a:cxn ang="0">
                  <a:pos x="T4" y="T5"/>
                </a:cxn>
                <a:cxn ang="0">
                  <a:pos x="T6" y="T7"/>
                </a:cxn>
                <a:cxn ang="0">
                  <a:pos x="T8" y="T9"/>
                </a:cxn>
              </a:cxnLst>
              <a:rect l="0" t="0" r="r" b="b"/>
              <a:pathLst>
                <a:path w="176" h="177">
                  <a:moveTo>
                    <a:pt x="175" y="176"/>
                  </a:moveTo>
                  <a:lnTo>
                    <a:pt x="175" y="0"/>
                  </a:lnTo>
                  <a:lnTo>
                    <a:pt x="0" y="0"/>
                  </a:lnTo>
                  <a:lnTo>
                    <a:pt x="0" y="176"/>
                  </a:lnTo>
                  <a:lnTo>
                    <a:pt x="175" y="176"/>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1" name="Freeform 5"/>
            <p:cNvSpPr>
              <a:spLocks/>
            </p:cNvSpPr>
            <p:nvPr/>
          </p:nvSpPr>
          <p:spPr bwMode="auto">
            <a:xfrm>
              <a:off x="168" y="4073"/>
              <a:ext cx="70" cy="37"/>
            </a:xfrm>
            <a:custGeom>
              <a:avLst/>
              <a:gdLst>
                <a:gd name="T0" fmla="*/ 69 w 70"/>
                <a:gd name="T1" fmla="*/ 7 h 37"/>
                <a:gd name="T2" fmla="*/ 65 w 70"/>
                <a:gd name="T3" fmla="*/ 0 h 37"/>
                <a:gd name="T4" fmla="*/ 0 w 70"/>
                <a:gd name="T5" fmla="*/ 29 h 37"/>
                <a:gd name="T6" fmla="*/ 3 w 70"/>
                <a:gd name="T7" fmla="*/ 36 h 37"/>
                <a:gd name="T8" fmla="*/ 69 w 70"/>
                <a:gd name="T9" fmla="*/ 7 h 37"/>
              </a:gdLst>
              <a:ahLst/>
              <a:cxnLst>
                <a:cxn ang="0">
                  <a:pos x="T0" y="T1"/>
                </a:cxn>
                <a:cxn ang="0">
                  <a:pos x="T2" y="T3"/>
                </a:cxn>
                <a:cxn ang="0">
                  <a:pos x="T4" y="T5"/>
                </a:cxn>
                <a:cxn ang="0">
                  <a:pos x="T6" y="T7"/>
                </a:cxn>
                <a:cxn ang="0">
                  <a:pos x="T8" y="T9"/>
                </a:cxn>
              </a:cxnLst>
              <a:rect l="0" t="0" r="r" b="b"/>
              <a:pathLst>
                <a:path w="70" h="37">
                  <a:moveTo>
                    <a:pt x="69" y="7"/>
                  </a:moveTo>
                  <a:lnTo>
                    <a:pt x="65" y="0"/>
                  </a:lnTo>
                  <a:lnTo>
                    <a:pt x="0" y="29"/>
                  </a:lnTo>
                  <a:lnTo>
                    <a:pt x="3" y="36"/>
                  </a:lnTo>
                  <a:lnTo>
                    <a:pt x="69" y="7"/>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2" name="Freeform 6"/>
            <p:cNvSpPr>
              <a:spLocks/>
            </p:cNvSpPr>
            <p:nvPr/>
          </p:nvSpPr>
          <p:spPr bwMode="auto">
            <a:xfrm>
              <a:off x="177" y="4089"/>
              <a:ext cx="69" cy="36"/>
            </a:xfrm>
            <a:custGeom>
              <a:avLst/>
              <a:gdLst>
                <a:gd name="T0" fmla="*/ 68 w 69"/>
                <a:gd name="T1" fmla="*/ 6 h 36"/>
                <a:gd name="T2" fmla="*/ 65 w 69"/>
                <a:gd name="T3" fmla="*/ 0 h 36"/>
                <a:gd name="T4" fmla="*/ 0 w 69"/>
                <a:gd name="T5" fmla="*/ 28 h 36"/>
                <a:gd name="T6" fmla="*/ 3 w 69"/>
                <a:gd name="T7" fmla="*/ 35 h 36"/>
                <a:gd name="T8" fmla="*/ 68 w 69"/>
                <a:gd name="T9" fmla="*/ 6 h 36"/>
              </a:gdLst>
              <a:ahLst/>
              <a:cxnLst>
                <a:cxn ang="0">
                  <a:pos x="T0" y="T1"/>
                </a:cxn>
                <a:cxn ang="0">
                  <a:pos x="T2" y="T3"/>
                </a:cxn>
                <a:cxn ang="0">
                  <a:pos x="T4" y="T5"/>
                </a:cxn>
                <a:cxn ang="0">
                  <a:pos x="T6" y="T7"/>
                </a:cxn>
                <a:cxn ang="0">
                  <a:pos x="T8" y="T9"/>
                </a:cxn>
              </a:cxnLst>
              <a:rect l="0" t="0" r="r" b="b"/>
              <a:pathLst>
                <a:path w="69" h="36">
                  <a:moveTo>
                    <a:pt x="68" y="6"/>
                  </a:moveTo>
                  <a:lnTo>
                    <a:pt x="65" y="0"/>
                  </a:lnTo>
                  <a:lnTo>
                    <a:pt x="0" y="28"/>
                  </a:lnTo>
                  <a:lnTo>
                    <a:pt x="3" y="35"/>
                  </a:lnTo>
                  <a:lnTo>
                    <a:pt x="68" y="6"/>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3" name="Freeform 7"/>
            <p:cNvSpPr>
              <a:spLocks/>
            </p:cNvSpPr>
            <p:nvPr/>
          </p:nvSpPr>
          <p:spPr bwMode="auto">
            <a:xfrm>
              <a:off x="183" y="4105"/>
              <a:ext cx="68" cy="35"/>
            </a:xfrm>
            <a:custGeom>
              <a:avLst/>
              <a:gdLst>
                <a:gd name="T0" fmla="*/ 67 w 68"/>
                <a:gd name="T1" fmla="*/ 6 h 35"/>
                <a:gd name="T2" fmla="*/ 64 w 68"/>
                <a:gd name="T3" fmla="*/ 0 h 35"/>
                <a:gd name="T4" fmla="*/ 0 w 68"/>
                <a:gd name="T5" fmla="*/ 27 h 35"/>
                <a:gd name="T6" fmla="*/ 2 w 68"/>
                <a:gd name="T7" fmla="*/ 34 h 35"/>
                <a:gd name="T8" fmla="*/ 67 w 68"/>
                <a:gd name="T9" fmla="*/ 6 h 35"/>
              </a:gdLst>
              <a:ahLst/>
              <a:cxnLst>
                <a:cxn ang="0">
                  <a:pos x="T0" y="T1"/>
                </a:cxn>
                <a:cxn ang="0">
                  <a:pos x="T2" y="T3"/>
                </a:cxn>
                <a:cxn ang="0">
                  <a:pos x="T4" y="T5"/>
                </a:cxn>
                <a:cxn ang="0">
                  <a:pos x="T6" y="T7"/>
                </a:cxn>
                <a:cxn ang="0">
                  <a:pos x="T8" y="T9"/>
                </a:cxn>
              </a:cxnLst>
              <a:rect l="0" t="0" r="r" b="b"/>
              <a:pathLst>
                <a:path w="68" h="35">
                  <a:moveTo>
                    <a:pt x="67" y="6"/>
                  </a:moveTo>
                  <a:lnTo>
                    <a:pt x="64" y="0"/>
                  </a:lnTo>
                  <a:lnTo>
                    <a:pt x="0" y="27"/>
                  </a:lnTo>
                  <a:lnTo>
                    <a:pt x="2" y="34"/>
                  </a:lnTo>
                  <a:lnTo>
                    <a:pt x="67" y="6"/>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4" name="Freeform 8"/>
            <p:cNvSpPr>
              <a:spLocks/>
            </p:cNvSpPr>
            <p:nvPr/>
          </p:nvSpPr>
          <p:spPr bwMode="auto">
            <a:xfrm>
              <a:off x="191" y="4121"/>
              <a:ext cx="70" cy="36"/>
            </a:xfrm>
            <a:custGeom>
              <a:avLst/>
              <a:gdLst>
                <a:gd name="T0" fmla="*/ 69 w 70"/>
                <a:gd name="T1" fmla="*/ 6 h 36"/>
                <a:gd name="T2" fmla="*/ 65 w 70"/>
                <a:gd name="T3" fmla="*/ 0 h 36"/>
                <a:gd name="T4" fmla="*/ 0 w 70"/>
                <a:gd name="T5" fmla="*/ 28 h 36"/>
                <a:gd name="T6" fmla="*/ 3 w 70"/>
                <a:gd name="T7" fmla="*/ 35 h 36"/>
                <a:gd name="T8" fmla="*/ 69 w 70"/>
                <a:gd name="T9" fmla="*/ 6 h 36"/>
              </a:gdLst>
              <a:ahLst/>
              <a:cxnLst>
                <a:cxn ang="0">
                  <a:pos x="T0" y="T1"/>
                </a:cxn>
                <a:cxn ang="0">
                  <a:pos x="T2" y="T3"/>
                </a:cxn>
                <a:cxn ang="0">
                  <a:pos x="T4" y="T5"/>
                </a:cxn>
                <a:cxn ang="0">
                  <a:pos x="T6" y="T7"/>
                </a:cxn>
                <a:cxn ang="0">
                  <a:pos x="T8" y="T9"/>
                </a:cxn>
              </a:cxnLst>
              <a:rect l="0" t="0" r="r" b="b"/>
              <a:pathLst>
                <a:path w="70" h="36">
                  <a:moveTo>
                    <a:pt x="69" y="6"/>
                  </a:moveTo>
                  <a:lnTo>
                    <a:pt x="65" y="0"/>
                  </a:lnTo>
                  <a:lnTo>
                    <a:pt x="0" y="28"/>
                  </a:lnTo>
                  <a:lnTo>
                    <a:pt x="3" y="35"/>
                  </a:lnTo>
                  <a:lnTo>
                    <a:pt x="69" y="6"/>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5" name="Freeform 9"/>
            <p:cNvSpPr>
              <a:spLocks/>
            </p:cNvSpPr>
            <p:nvPr/>
          </p:nvSpPr>
          <p:spPr bwMode="auto">
            <a:xfrm>
              <a:off x="198" y="4137"/>
              <a:ext cx="70" cy="38"/>
            </a:xfrm>
            <a:custGeom>
              <a:avLst/>
              <a:gdLst>
                <a:gd name="T0" fmla="*/ 69 w 70"/>
                <a:gd name="T1" fmla="*/ 7 h 38"/>
                <a:gd name="T2" fmla="*/ 65 w 70"/>
                <a:gd name="T3" fmla="*/ 0 h 38"/>
                <a:gd name="T4" fmla="*/ 0 w 70"/>
                <a:gd name="T5" fmla="*/ 29 h 38"/>
                <a:gd name="T6" fmla="*/ 3 w 70"/>
                <a:gd name="T7" fmla="*/ 37 h 38"/>
                <a:gd name="T8" fmla="*/ 69 w 70"/>
                <a:gd name="T9" fmla="*/ 7 h 38"/>
              </a:gdLst>
              <a:ahLst/>
              <a:cxnLst>
                <a:cxn ang="0">
                  <a:pos x="T0" y="T1"/>
                </a:cxn>
                <a:cxn ang="0">
                  <a:pos x="T2" y="T3"/>
                </a:cxn>
                <a:cxn ang="0">
                  <a:pos x="T4" y="T5"/>
                </a:cxn>
                <a:cxn ang="0">
                  <a:pos x="T6" y="T7"/>
                </a:cxn>
                <a:cxn ang="0">
                  <a:pos x="T8" y="T9"/>
                </a:cxn>
              </a:cxnLst>
              <a:rect l="0" t="0" r="r" b="b"/>
              <a:pathLst>
                <a:path w="70" h="38">
                  <a:moveTo>
                    <a:pt x="69" y="7"/>
                  </a:moveTo>
                  <a:lnTo>
                    <a:pt x="65" y="0"/>
                  </a:lnTo>
                  <a:lnTo>
                    <a:pt x="0" y="29"/>
                  </a:lnTo>
                  <a:lnTo>
                    <a:pt x="3" y="37"/>
                  </a:lnTo>
                  <a:lnTo>
                    <a:pt x="69" y="7"/>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6" name="Freeform 10"/>
            <p:cNvSpPr>
              <a:spLocks/>
            </p:cNvSpPr>
            <p:nvPr/>
          </p:nvSpPr>
          <p:spPr bwMode="auto">
            <a:xfrm>
              <a:off x="128" y="4036"/>
              <a:ext cx="121" cy="58"/>
            </a:xfrm>
            <a:custGeom>
              <a:avLst/>
              <a:gdLst>
                <a:gd name="T0" fmla="*/ 120 w 121"/>
                <a:gd name="T1" fmla="*/ 7 h 58"/>
                <a:gd name="T2" fmla="*/ 118 w 121"/>
                <a:gd name="T3" fmla="*/ 0 h 58"/>
                <a:gd name="T4" fmla="*/ 0 w 121"/>
                <a:gd name="T5" fmla="*/ 50 h 58"/>
                <a:gd name="T6" fmla="*/ 2 w 121"/>
                <a:gd name="T7" fmla="*/ 57 h 58"/>
                <a:gd name="T8" fmla="*/ 120 w 121"/>
                <a:gd name="T9" fmla="*/ 7 h 58"/>
              </a:gdLst>
              <a:ahLst/>
              <a:cxnLst>
                <a:cxn ang="0">
                  <a:pos x="T0" y="T1"/>
                </a:cxn>
                <a:cxn ang="0">
                  <a:pos x="T2" y="T3"/>
                </a:cxn>
                <a:cxn ang="0">
                  <a:pos x="T4" y="T5"/>
                </a:cxn>
                <a:cxn ang="0">
                  <a:pos x="T6" y="T7"/>
                </a:cxn>
                <a:cxn ang="0">
                  <a:pos x="T8" y="T9"/>
                </a:cxn>
              </a:cxnLst>
              <a:rect l="0" t="0" r="r" b="b"/>
              <a:pathLst>
                <a:path w="121" h="58">
                  <a:moveTo>
                    <a:pt x="120" y="7"/>
                  </a:moveTo>
                  <a:lnTo>
                    <a:pt x="118" y="0"/>
                  </a:lnTo>
                  <a:lnTo>
                    <a:pt x="0" y="50"/>
                  </a:lnTo>
                  <a:lnTo>
                    <a:pt x="2" y="57"/>
                  </a:lnTo>
                  <a:lnTo>
                    <a:pt x="120" y="7"/>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7" name="Freeform 11"/>
            <p:cNvSpPr>
              <a:spLocks/>
            </p:cNvSpPr>
            <p:nvPr/>
          </p:nvSpPr>
          <p:spPr bwMode="auto">
            <a:xfrm>
              <a:off x="112" y="4024"/>
              <a:ext cx="122" cy="59"/>
            </a:xfrm>
            <a:custGeom>
              <a:avLst/>
              <a:gdLst>
                <a:gd name="T0" fmla="*/ 121 w 122"/>
                <a:gd name="T1" fmla="*/ 7 h 59"/>
                <a:gd name="T2" fmla="*/ 118 w 122"/>
                <a:gd name="T3" fmla="*/ 0 h 59"/>
                <a:gd name="T4" fmla="*/ 0 w 122"/>
                <a:gd name="T5" fmla="*/ 51 h 59"/>
                <a:gd name="T6" fmla="*/ 1 w 122"/>
                <a:gd name="T7" fmla="*/ 58 h 59"/>
                <a:gd name="T8" fmla="*/ 121 w 122"/>
                <a:gd name="T9" fmla="*/ 7 h 59"/>
              </a:gdLst>
              <a:ahLst/>
              <a:cxnLst>
                <a:cxn ang="0">
                  <a:pos x="T0" y="T1"/>
                </a:cxn>
                <a:cxn ang="0">
                  <a:pos x="T2" y="T3"/>
                </a:cxn>
                <a:cxn ang="0">
                  <a:pos x="T4" y="T5"/>
                </a:cxn>
                <a:cxn ang="0">
                  <a:pos x="T6" y="T7"/>
                </a:cxn>
                <a:cxn ang="0">
                  <a:pos x="T8" y="T9"/>
                </a:cxn>
              </a:cxnLst>
              <a:rect l="0" t="0" r="r" b="b"/>
              <a:pathLst>
                <a:path w="122" h="59">
                  <a:moveTo>
                    <a:pt x="121" y="7"/>
                  </a:moveTo>
                  <a:lnTo>
                    <a:pt x="118" y="0"/>
                  </a:lnTo>
                  <a:lnTo>
                    <a:pt x="0" y="51"/>
                  </a:lnTo>
                  <a:lnTo>
                    <a:pt x="1" y="58"/>
                  </a:lnTo>
                  <a:lnTo>
                    <a:pt x="121" y="7"/>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8" name="Freeform 12"/>
            <p:cNvSpPr>
              <a:spLocks/>
            </p:cNvSpPr>
            <p:nvPr/>
          </p:nvSpPr>
          <p:spPr bwMode="auto">
            <a:xfrm>
              <a:off x="238" y="4038"/>
              <a:ext cx="55" cy="104"/>
            </a:xfrm>
            <a:custGeom>
              <a:avLst/>
              <a:gdLst>
                <a:gd name="T0" fmla="*/ 46 w 55"/>
                <a:gd name="T1" fmla="*/ 103 h 104"/>
                <a:gd name="T2" fmla="*/ 54 w 55"/>
                <a:gd name="T3" fmla="*/ 100 h 104"/>
                <a:gd name="T4" fmla="*/ 7 w 55"/>
                <a:gd name="T5" fmla="*/ 0 h 104"/>
                <a:gd name="T6" fmla="*/ 0 w 55"/>
                <a:gd name="T7" fmla="*/ 2 h 104"/>
                <a:gd name="T8" fmla="*/ 46 w 55"/>
                <a:gd name="T9" fmla="*/ 103 h 104"/>
              </a:gdLst>
              <a:ahLst/>
              <a:cxnLst>
                <a:cxn ang="0">
                  <a:pos x="T0" y="T1"/>
                </a:cxn>
                <a:cxn ang="0">
                  <a:pos x="T2" y="T3"/>
                </a:cxn>
                <a:cxn ang="0">
                  <a:pos x="T4" y="T5"/>
                </a:cxn>
                <a:cxn ang="0">
                  <a:pos x="T6" y="T7"/>
                </a:cxn>
                <a:cxn ang="0">
                  <a:pos x="T8" y="T9"/>
                </a:cxn>
              </a:cxnLst>
              <a:rect l="0" t="0" r="r" b="b"/>
              <a:pathLst>
                <a:path w="55" h="104">
                  <a:moveTo>
                    <a:pt x="46" y="103"/>
                  </a:moveTo>
                  <a:lnTo>
                    <a:pt x="54" y="100"/>
                  </a:lnTo>
                  <a:lnTo>
                    <a:pt x="7" y="0"/>
                  </a:lnTo>
                  <a:lnTo>
                    <a:pt x="0" y="2"/>
                  </a:lnTo>
                  <a:lnTo>
                    <a:pt x="46" y="103"/>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9" name="Freeform 13"/>
            <p:cNvSpPr>
              <a:spLocks/>
            </p:cNvSpPr>
            <p:nvPr/>
          </p:nvSpPr>
          <p:spPr bwMode="auto">
            <a:xfrm>
              <a:off x="128" y="4083"/>
              <a:ext cx="53" cy="107"/>
            </a:xfrm>
            <a:custGeom>
              <a:avLst/>
              <a:gdLst>
                <a:gd name="T0" fmla="*/ 45 w 53"/>
                <a:gd name="T1" fmla="*/ 106 h 107"/>
                <a:gd name="T2" fmla="*/ 52 w 53"/>
                <a:gd name="T3" fmla="*/ 102 h 107"/>
                <a:gd name="T4" fmla="*/ 6 w 53"/>
                <a:gd name="T5" fmla="*/ 0 h 107"/>
                <a:gd name="T6" fmla="*/ 0 w 53"/>
                <a:gd name="T7" fmla="*/ 4 h 107"/>
                <a:gd name="T8" fmla="*/ 45 w 53"/>
                <a:gd name="T9" fmla="*/ 106 h 107"/>
              </a:gdLst>
              <a:ahLst/>
              <a:cxnLst>
                <a:cxn ang="0">
                  <a:pos x="T0" y="T1"/>
                </a:cxn>
                <a:cxn ang="0">
                  <a:pos x="T2" y="T3"/>
                </a:cxn>
                <a:cxn ang="0">
                  <a:pos x="T4" y="T5"/>
                </a:cxn>
                <a:cxn ang="0">
                  <a:pos x="T6" y="T7"/>
                </a:cxn>
                <a:cxn ang="0">
                  <a:pos x="T8" y="T9"/>
                </a:cxn>
              </a:cxnLst>
              <a:rect l="0" t="0" r="r" b="b"/>
              <a:pathLst>
                <a:path w="53" h="107">
                  <a:moveTo>
                    <a:pt x="45" y="106"/>
                  </a:moveTo>
                  <a:lnTo>
                    <a:pt x="52" y="102"/>
                  </a:lnTo>
                  <a:lnTo>
                    <a:pt x="6" y="0"/>
                  </a:lnTo>
                  <a:lnTo>
                    <a:pt x="0" y="4"/>
                  </a:lnTo>
                  <a:lnTo>
                    <a:pt x="45" y="106"/>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30" name="Freeform 14"/>
            <p:cNvSpPr>
              <a:spLocks/>
            </p:cNvSpPr>
            <p:nvPr/>
          </p:nvSpPr>
          <p:spPr bwMode="auto">
            <a:xfrm>
              <a:off x="108" y="4075"/>
              <a:ext cx="57" cy="115"/>
            </a:xfrm>
            <a:custGeom>
              <a:avLst/>
              <a:gdLst>
                <a:gd name="T0" fmla="*/ 49 w 57"/>
                <a:gd name="T1" fmla="*/ 114 h 115"/>
                <a:gd name="T2" fmla="*/ 56 w 57"/>
                <a:gd name="T3" fmla="*/ 111 h 115"/>
                <a:gd name="T4" fmla="*/ 5 w 57"/>
                <a:gd name="T5" fmla="*/ 0 h 115"/>
                <a:gd name="T6" fmla="*/ 0 w 57"/>
                <a:gd name="T7" fmla="*/ 2 h 115"/>
                <a:gd name="T8" fmla="*/ 49 w 57"/>
                <a:gd name="T9" fmla="*/ 114 h 115"/>
              </a:gdLst>
              <a:ahLst/>
              <a:cxnLst>
                <a:cxn ang="0">
                  <a:pos x="T0" y="T1"/>
                </a:cxn>
                <a:cxn ang="0">
                  <a:pos x="T2" y="T3"/>
                </a:cxn>
                <a:cxn ang="0">
                  <a:pos x="T4" y="T5"/>
                </a:cxn>
                <a:cxn ang="0">
                  <a:pos x="T6" y="T7"/>
                </a:cxn>
                <a:cxn ang="0">
                  <a:pos x="T8" y="T9"/>
                </a:cxn>
              </a:cxnLst>
              <a:rect l="0" t="0" r="r" b="b"/>
              <a:pathLst>
                <a:path w="57" h="115">
                  <a:moveTo>
                    <a:pt x="49" y="114"/>
                  </a:moveTo>
                  <a:lnTo>
                    <a:pt x="56" y="111"/>
                  </a:lnTo>
                  <a:lnTo>
                    <a:pt x="5" y="0"/>
                  </a:lnTo>
                  <a:lnTo>
                    <a:pt x="0" y="2"/>
                  </a:lnTo>
                  <a:lnTo>
                    <a:pt x="49" y="114"/>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31" name="Freeform 15"/>
            <p:cNvSpPr>
              <a:spLocks/>
            </p:cNvSpPr>
            <p:nvPr/>
          </p:nvSpPr>
          <p:spPr bwMode="auto">
            <a:xfrm>
              <a:off x="111" y="4075"/>
              <a:ext cx="27" cy="18"/>
            </a:xfrm>
            <a:custGeom>
              <a:avLst/>
              <a:gdLst>
                <a:gd name="T0" fmla="*/ 22 w 27"/>
                <a:gd name="T1" fmla="*/ 17 h 18"/>
                <a:gd name="T2" fmla="*/ 26 w 27"/>
                <a:gd name="T3" fmla="*/ 10 h 18"/>
                <a:gd name="T4" fmla="*/ 4 w 27"/>
                <a:gd name="T5" fmla="*/ 0 h 18"/>
                <a:gd name="T6" fmla="*/ 0 w 27"/>
                <a:gd name="T7" fmla="*/ 6 h 18"/>
                <a:gd name="T8" fmla="*/ 22 w 27"/>
                <a:gd name="T9" fmla="*/ 17 h 18"/>
              </a:gdLst>
              <a:ahLst/>
              <a:cxnLst>
                <a:cxn ang="0">
                  <a:pos x="T0" y="T1"/>
                </a:cxn>
                <a:cxn ang="0">
                  <a:pos x="T2" y="T3"/>
                </a:cxn>
                <a:cxn ang="0">
                  <a:pos x="T4" y="T5"/>
                </a:cxn>
                <a:cxn ang="0">
                  <a:pos x="T6" y="T7"/>
                </a:cxn>
                <a:cxn ang="0">
                  <a:pos x="T8" y="T9"/>
                </a:cxn>
              </a:cxnLst>
              <a:rect l="0" t="0" r="r" b="b"/>
              <a:pathLst>
                <a:path w="27" h="18">
                  <a:moveTo>
                    <a:pt x="22" y="17"/>
                  </a:moveTo>
                  <a:lnTo>
                    <a:pt x="26" y="10"/>
                  </a:lnTo>
                  <a:lnTo>
                    <a:pt x="4" y="0"/>
                  </a:lnTo>
                  <a:lnTo>
                    <a:pt x="0" y="6"/>
                  </a:lnTo>
                  <a:lnTo>
                    <a:pt x="22" y="17"/>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32" name="Freeform 16"/>
            <p:cNvSpPr>
              <a:spLocks/>
            </p:cNvSpPr>
            <p:nvPr/>
          </p:nvSpPr>
          <p:spPr bwMode="auto">
            <a:xfrm>
              <a:off x="218" y="4031"/>
              <a:ext cx="28" cy="18"/>
            </a:xfrm>
            <a:custGeom>
              <a:avLst/>
              <a:gdLst>
                <a:gd name="T0" fmla="*/ 23 w 28"/>
                <a:gd name="T1" fmla="*/ 17 h 18"/>
                <a:gd name="T2" fmla="*/ 27 w 28"/>
                <a:gd name="T3" fmla="*/ 10 h 18"/>
                <a:gd name="T4" fmla="*/ 4 w 28"/>
                <a:gd name="T5" fmla="*/ 0 h 18"/>
                <a:gd name="T6" fmla="*/ 0 w 28"/>
                <a:gd name="T7" fmla="*/ 5 h 18"/>
                <a:gd name="T8" fmla="*/ 23 w 28"/>
                <a:gd name="T9" fmla="*/ 17 h 18"/>
              </a:gdLst>
              <a:ahLst/>
              <a:cxnLst>
                <a:cxn ang="0">
                  <a:pos x="T0" y="T1"/>
                </a:cxn>
                <a:cxn ang="0">
                  <a:pos x="T2" y="T3"/>
                </a:cxn>
                <a:cxn ang="0">
                  <a:pos x="T4" y="T5"/>
                </a:cxn>
                <a:cxn ang="0">
                  <a:pos x="T6" y="T7"/>
                </a:cxn>
                <a:cxn ang="0">
                  <a:pos x="T8" y="T9"/>
                </a:cxn>
              </a:cxnLst>
              <a:rect l="0" t="0" r="r" b="b"/>
              <a:pathLst>
                <a:path w="28" h="18">
                  <a:moveTo>
                    <a:pt x="23" y="17"/>
                  </a:moveTo>
                  <a:lnTo>
                    <a:pt x="27" y="10"/>
                  </a:lnTo>
                  <a:lnTo>
                    <a:pt x="4" y="0"/>
                  </a:lnTo>
                  <a:lnTo>
                    <a:pt x="0" y="5"/>
                  </a:lnTo>
                  <a:lnTo>
                    <a:pt x="23" y="17"/>
                  </a:lnTo>
                </a:path>
              </a:pathLst>
            </a:custGeom>
            <a:solidFill>
              <a:srgbClr val="FFFF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Tree>
    <p:extLst>
      <p:ext uri="{BB962C8B-B14F-4D97-AF65-F5344CB8AC3E}">
        <p14:creationId xmlns:p14="http://schemas.microsoft.com/office/powerpoint/2010/main" val="34324627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ChangeArrowheads="1" noTextEdit="1"/>
          </p:cNvSpPr>
          <p:nvPr>
            <p:ph type="sldImg"/>
          </p:nvPr>
        </p:nvSpPr>
        <p:spPr>
          <a:xfrm>
            <a:off x="471488" y="157163"/>
            <a:ext cx="5870575" cy="4402137"/>
          </a:xfrm>
          <a:ln cap="flat"/>
        </p:spPr>
      </p:sp>
      <p:sp>
        <p:nvSpPr>
          <p:cNvPr id="36867" name="Rectangle 3"/>
          <p:cNvSpPr>
            <a:spLocks noGrp="1" noChangeArrowheads="1"/>
          </p:cNvSpPr>
          <p:nvPr>
            <p:ph type="body" idx="1"/>
          </p:nvPr>
        </p:nvSpPr>
        <p:spPr>
          <a:noFill/>
          <a:ln/>
        </p:spPr>
        <p:txBody>
          <a:bodyPr/>
          <a:lstStyle/>
          <a:p>
            <a:pPr>
              <a:tabLst/>
            </a:pPr>
            <a:r>
              <a:rPr lang="en-US" altLang="en-US"/>
              <a:t>Using the WITH CHECK OPTION Clause</a:t>
            </a:r>
          </a:p>
          <a:p>
            <a:pPr lvl="1">
              <a:tabLst/>
            </a:pPr>
            <a:r>
              <a:rPr lang="en-US" altLang="en-US"/>
              <a:t>It is possible to perform referential integrity checks through views. You can also enforce constraints at the database level. The view can be used to protect data integrity, but the use is very limited.</a:t>
            </a:r>
          </a:p>
          <a:p>
            <a:pPr lvl="1">
              <a:tabLst/>
            </a:pPr>
            <a:r>
              <a:rPr lang="en-US" altLang="en-US"/>
              <a:t>The </a:t>
            </a:r>
            <a:r>
              <a:rPr lang="en-US" altLang="en-US">
                <a:solidFill>
                  <a:srgbClr val="FC0128"/>
                </a:solidFill>
              </a:rPr>
              <a:t>WITH CHECK OPTION </a:t>
            </a:r>
            <a:r>
              <a:rPr lang="en-US" altLang="en-US"/>
              <a:t>clause specifies that INSERTS and UPDATES performed through the view are not allowed to create rows that the view cannot select, and therefore it allows integrity constraints and data validation checks to be enforced on data being inserted or updated.</a:t>
            </a:r>
          </a:p>
          <a:p>
            <a:pPr lvl="1">
              <a:tabLst/>
            </a:pPr>
            <a:r>
              <a:rPr lang="en-US" altLang="en-US"/>
              <a:t>If there is an attempt to perform DML operations on rows that the view has not selected, an error is displayed, with the constraint name if that has been specified.</a:t>
            </a:r>
          </a:p>
          <a:p>
            <a:pPr lvl="1">
              <a:spcBef>
                <a:spcPct val="65000"/>
              </a:spcBef>
              <a:tabLst/>
            </a:pPr>
            <a:r>
              <a:rPr lang="en-US" altLang="en-US" sz="400">
                <a:latin typeface="Courier New" pitchFamily="49" charset="0"/>
              </a:rPr>
              <a:t> </a:t>
            </a:r>
          </a:p>
          <a:p>
            <a:pPr lvl="1">
              <a:tabLst/>
            </a:pPr>
            <a:r>
              <a:rPr lang="en-US" altLang="en-US" b="1">
                <a:latin typeface="Courier New" pitchFamily="49" charset="0"/>
              </a:rPr>
              <a:t> SQL&gt; UPDATE empvu20</a:t>
            </a:r>
          </a:p>
          <a:p>
            <a:pPr lvl="1">
              <a:spcBef>
                <a:spcPct val="0"/>
              </a:spcBef>
              <a:tabLst/>
            </a:pPr>
            <a:r>
              <a:rPr lang="en-US" altLang="en-US" b="1">
                <a:latin typeface="Courier New" pitchFamily="49" charset="0"/>
              </a:rPr>
              <a:t>   2  SET    deptno = 10</a:t>
            </a:r>
          </a:p>
          <a:p>
            <a:pPr lvl="1">
              <a:spcBef>
                <a:spcPct val="0"/>
              </a:spcBef>
              <a:tabLst/>
            </a:pPr>
            <a:r>
              <a:rPr lang="en-US" altLang="en-US" b="1">
                <a:latin typeface="Courier New" pitchFamily="49" charset="0"/>
              </a:rPr>
              <a:t>   3  WHERE  empno = 7788;</a:t>
            </a:r>
            <a:endParaRPr lang="en-US" altLang="en-US">
              <a:latin typeface="Courier New" pitchFamily="49" charset="0"/>
            </a:endParaRPr>
          </a:p>
          <a:p>
            <a:pPr lvl="1">
              <a:spcBef>
                <a:spcPct val="0"/>
              </a:spcBef>
              <a:tabLst/>
            </a:pPr>
            <a:r>
              <a:rPr lang="en-US" altLang="en-US">
                <a:latin typeface="Courier New" pitchFamily="49" charset="0"/>
              </a:rPr>
              <a:t> update empvu20</a:t>
            </a:r>
          </a:p>
          <a:p>
            <a:pPr lvl="1">
              <a:spcBef>
                <a:spcPct val="0"/>
              </a:spcBef>
              <a:tabLst/>
            </a:pPr>
            <a:r>
              <a:rPr lang="en-US" altLang="en-US">
                <a:latin typeface="Courier New" pitchFamily="49" charset="0"/>
              </a:rPr>
              <a:t>         *</a:t>
            </a:r>
          </a:p>
          <a:p>
            <a:pPr lvl="1">
              <a:spcBef>
                <a:spcPct val="0"/>
              </a:spcBef>
              <a:tabLst/>
            </a:pPr>
            <a:r>
              <a:rPr lang="en-US" altLang="en-US">
                <a:latin typeface="Courier New" pitchFamily="49" charset="0"/>
              </a:rPr>
              <a:t> ERROR at line 1:</a:t>
            </a:r>
          </a:p>
          <a:p>
            <a:pPr lvl="1">
              <a:spcBef>
                <a:spcPct val="0"/>
              </a:spcBef>
              <a:tabLst/>
            </a:pPr>
            <a:r>
              <a:rPr lang="en-US" altLang="en-US">
                <a:latin typeface="Courier New" pitchFamily="49" charset="0"/>
              </a:rPr>
              <a:t> ORA-01402: view WITH CHECK OPTION where-clause violation</a:t>
            </a:r>
          </a:p>
          <a:p>
            <a:pPr lvl="1">
              <a:spcBef>
                <a:spcPct val="65000"/>
              </a:spcBef>
              <a:tabLst/>
            </a:pPr>
            <a:r>
              <a:rPr lang="en-US" altLang="en-US" b="1"/>
              <a:t>Note:</a:t>
            </a:r>
            <a:r>
              <a:rPr lang="en-US" altLang="en-US"/>
              <a:t> No rows are updated because if the department number were to change to 10, the view would no longer be able to see that employee. Therefore, with the WITH CHECK OPTION clause, the view can see only department 20 employees and does not allow the department number for those employees to be changed through the view.</a:t>
            </a:r>
          </a:p>
        </p:txBody>
      </p:sp>
      <p:sp>
        <p:nvSpPr>
          <p:cNvPr id="36868" name="Rectangle 4"/>
          <p:cNvSpPr>
            <a:spLocks noChangeArrowheads="1"/>
          </p:cNvSpPr>
          <p:nvPr/>
        </p:nvSpPr>
        <p:spPr bwMode="auto">
          <a:xfrm>
            <a:off x="617538" y="6386513"/>
            <a:ext cx="5618162" cy="12827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117607393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ChangeArrowheads="1"/>
          </p:cNvSpPr>
          <p:nvPr/>
        </p:nvSpPr>
        <p:spPr bwMode="auto">
          <a:xfrm>
            <a:off x="638175" y="5821363"/>
            <a:ext cx="5881688" cy="1603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lvl1pPr algn="l" defTabSz="869950">
              <a:spcBef>
                <a:spcPct val="0"/>
              </a:spcBef>
              <a:defRPr sz="2400">
                <a:solidFill>
                  <a:schemeClr val="tx1"/>
                </a:solidFill>
                <a:latin typeface="Times New Roman" pitchFamily="18" charset="0"/>
              </a:defRPr>
            </a:lvl1pPr>
            <a:lvl2pPr marL="446088" algn="l" defTabSz="869950">
              <a:spcBef>
                <a:spcPct val="0"/>
              </a:spcBef>
              <a:defRPr sz="2400">
                <a:solidFill>
                  <a:schemeClr val="tx1"/>
                </a:solidFill>
                <a:latin typeface="Times New Roman" pitchFamily="18" charset="0"/>
              </a:defRPr>
            </a:lvl2pPr>
            <a:lvl3pPr marL="892175" algn="l" defTabSz="869950">
              <a:spcBef>
                <a:spcPct val="0"/>
              </a:spcBef>
              <a:defRPr sz="2400">
                <a:solidFill>
                  <a:schemeClr val="tx1"/>
                </a:solidFill>
                <a:latin typeface="Times New Roman" pitchFamily="18" charset="0"/>
              </a:defRPr>
            </a:lvl3pPr>
            <a:lvl4pPr marL="1338263" algn="l" defTabSz="869950">
              <a:spcBef>
                <a:spcPct val="0"/>
              </a:spcBef>
              <a:defRPr sz="2400">
                <a:solidFill>
                  <a:schemeClr val="tx1"/>
                </a:solidFill>
                <a:latin typeface="Times New Roman" pitchFamily="18" charset="0"/>
              </a:defRPr>
            </a:lvl4pPr>
            <a:lvl5pPr marL="1781175" algn="l" defTabSz="869950">
              <a:spcBef>
                <a:spcPct val="0"/>
              </a:spcBef>
              <a:defRPr sz="2400">
                <a:solidFill>
                  <a:schemeClr val="tx1"/>
                </a:solidFill>
                <a:latin typeface="Times New Roman" pitchFamily="18" charset="0"/>
              </a:defRPr>
            </a:lvl5pPr>
            <a:lvl6pPr marL="2238375" defTabSz="869950" fontAlgn="base">
              <a:spcBef>
                <a:spcPct val="0"/>
              </a:spcBef>
              <a:spcAft>
                <a:spcPct val="0"/>
              </a:spcAft>
              <a:defRPr sz="2400">
                <a:solidFill>
                  <a:schemeClr val="tx1"/>
                </a:solidFill>
                <a:latin typeface="Times New Roman" pitchFamily="18" charset="0"/>
              </a:defRPr>
            </a:lvl6pPr>
            <a:lvl7pPr marL="2695575" defTabSz="869950" fontAlgn="base">
              <a:spcBef>
                <a:spcPct val="0"/>
              </a:spcBef>
              <a:spcAft>
                <a:spcPct val="0"/>
              </a:spcAft>
              <a:defRPr sz="2400">
                <a:solidFill>
                  <a:schemeClr val="tx1"/>
                </a:solidFill>
                <a:latin typeface="Times New Roman" pitchFamily="18" charset="0"/>
              </a:defRPr>
            </a:lvl7pPr>
            <a:lvl8pPr marL="3152775" defTabSz="869950" fontAlgn="base">
              <a:spcBef>
                <a:spcPct val="0"/>
              </a:spcBef>
              <a:spcAft>
                <a:spcPct val="0"/>
              </a:spcAft>
              <a:defRPr sz="2400">
                <a:solidFill>
                  <a:schemeClr val="tx1"/>
                </a:solidFill>
                <a:latin typeface="Times New Roman" pitchFamily="18" charset="0"/>
              </a:defRPr>
            </a:lvl8pPr>
            <a:lvl9pPr marL="3609975" defTabSz="869950" fontAlgn="base">
              <a:spcBef>
                <a:spcPct val="0"/>
              </a:spcBef>
              <a:spcAft>
                <a:spcPct val="0"/>
              </a:spcAft>
              <a:defRPr sz="2400">
                <a:solidFill>
                  <a:schemeClr val="tx1"/>
                </a:solidFill>
                <a:latin typeface="Times New Roman" pitchFamily="18" charset="0"/>
              </a:defRPr>
            </a:lvl9pPr>
          </a:lstStyle>
          <a:p>
            <a:pPr>
              <a:lnSpc>
                <a:spcPct val="100000"/>
              </a:lnSpc>
            </a:pPr>
            <a:r>
              <a:rPr lang="en-US" altLang="en-US" sz="1100">
                <a:latin typeface="Courier New" pitchFamily="49" charset="0"/>
              </a:rPr>
              <a:t>SQL&gt; DELETE FROM  empvu10</a:t>
            </a:r>
          </a:p>
          <a:p>
            <a:pPr>
              <a:lnSpc>
                <a:spcPct val="100000"/>
              </a:lnSpc>
            </a:pPr>
            <a:r>
              <a:rPr lang="en-US" altLang="en-US" sz="1100">
                <a:latin typeface="Courier New" pitchFamily="49" charset="0"/>
              </a:rPr>
              <a:t>  2  WHERE	       employee_number = 7782;</a:t>
            </a:r>
          </a:p>
          <a:p>
            <a:pPr>
              <a:lnSpc>
                <a:spcPct val="100000"/>
              </a:lnSpc>
            </a:pPr>
            <a:r>
              <a:rPr lang="en-US" altLang="en-US" sz="1100" b="0">
                <a:latin typeface="Courier New" pitchFamily="49" charset="0"/>
              </a:rPr>
              <a:t>DELETE FROM empvu10</a:t>
            </a:r>
          </a:p>
          <a:p>
            <a:pPr>
              <a:lnSpc>
                <a:spcPct val="100000"/>
              </a:lnSpc>
            </a:pPr>
            <a:r>
              <a:rPr lang="en-US" altLang="en-US" sz="1100" b="0">
                <a:latin typeface="Courier New" pitchFamily="49" charset="0"/>
              </a:rPr>
              <a:t>            *</a:t>
            </a:r>
          </a:p>
          <a:p>
            <a:pPr>
              <a:lnSpc>
                <a:spcPct val="100000"/>
              </a:lnSpc>
            </a:pPr>
            <a:r>
              <a:rPr lang="en-US" altLang="en-US" sz="1100" b="0">
                <a:latin typeface="Courier New" pitchFamily="49" charset="0"/>
              </a:rPr>
              <a:t>ERROR at line 1:</a:t>
            </a:r>
          </a:p>
          <a:p>
            <a:pPr>
              <a:lnSpc>
                <a:spcPct val="100000"/>
              </a:lnSpc>
            </a:pPr>
            <a:r>
              <a:rPr lang="en-US" altLang="en-US" sz="1100" b="0">
                <a:latin typeface="Courier New" pitchFamily="49" charset="0"/>
              </a:rPr>
              <a:t>ORA-01752:Cannot delete from view without exactly one key-preserved </a:t>
            </a:r>
          </a:p>
          <a:p>
            <a:pPr>
              <a:lnSpc>
                <a:spcPct val="100000"/>
              </a:lnSpc>
            </a:pPr>
            <a:r>
              <a:rPr lang="en-US" altLang="en-US" sz="1100" b="0">
                <a:latin typeface="Courier New" pitchFamily="49" charset="0"/>
              </a:rPr>
              <a:t>table</a:t>
            </a:r>
            <a:r>
              <a:rPr lang="en-US" altLang="en-US" sz="1100">
                <a:latin typeface="Courier New" pitchFamily="49" charset="0"/>
              </a:rPr>
              <a:t>	</a:t>
            </a:r>
          </a:p>
          <a:p>
            <a:pPr>
              <a:lnSpc>
                <a:spcPct val="100000"/>
              </a:lnSpc>
            </a:pPr>
            <a:endParaRPr lang="en-US" altLang="en-US" sz="1100">
              <a:latin typeface="Courier New" pitchFamily="49" charset="0"/>
            </a:endParaRPr>
          </a:p>
          <a:p>
            <a:pPr>
              <a:lnSpc>
                <a:spcPct val="100000"/>
              </a:lnSpc>
            </a:pPr>
            <a:endParaRPr lang="en-US" altLang="en-US" sz="1100">
              <a:latin typeface="Courier New" pitchFamily="49" charset="0"/>
            </a:endParaRPr>
          </a:p>
        </p:txBody>
      </p:sp>
      <p:sp>
        <p:nvSpPr>
          <p:cNvPr id="38915" name="Rectangle 3"/>
          <p:cNvSpPr>
            <a:spLocks noChangeArrowheads="1"/>
          </p:cNvSpPr>
          <p:nvPr/>
        </p:nvSpPr>
        <p:spPr bwMode="auto">
          <a:xfrm>
            <a:off x="3860800" y="0"/>
            <a:ext cx="295910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16" name="Rectangle 4"/>
          <p:cNvSpPr>
            <a:spLocks noChangeArrowheads="1"/>
          </p:cNvSpPr>
          <p:nvPr/>
        </p:nvSpPr>
        <p:spPr bwMode="auto">
          <a:xfrm>
            <a:off x="-3175" y="0"/>
            <a:ext cx="2955925"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17" name="Rectangle 5"/>
          <p:cNvSpPr>
            <a:spLocks noGrp="1" noChangeArrowheads="1"/>
          </p:cNvSpPr>
          <p:nvPr>
            <p:ph type="body" idx="1"/>
          </p:nvPr>
        </p:nvSpPr>
        <p:spPr>
          <a:xfrm>
            <a:off x="409575" y="4765675"/>
            <a:ext cx="6110288" cy="3749675"/>
          </a:xfrm>
          <a:noFill/>
          <a:ln/>
        </p:spPr>
        <p:txBody>
          <a:bodyPr/>
          <a:lstStyle/>
          <a:p>
            <a:pPr>
              <a:tabLst/>
            </a:pPr>
            <a:r>
              <a:rPr lang="en-US" altLang="en-US"/>
              <a:t>Denying DML Operations</a:t>
            </a:r>
          </a:p>
          <a:p>
            <a:pPr lvl="1">
              <a:tabLst/>
            </a:pPr>
            <a:r>
              <a:rPr lang="en-US" altLang="en-US"/>
              <a:t>You can ensure that no DML operations occur on your view by creating it with the </a:t>
            </a:r>
            <a:r>
              <a:rPr lang="en-US" altLang="en-US">
                <a:solidFill>
                  <a:srgbClr val="FC0128"/>
                </a:solidFill>
              </a:rPr>
              <a:t>WITH READ ONLY </a:t>
            </a:r>
            <a:r>
              <a:rPr lang="en-US" altLang="en-US"/>
              <a:t>option. The example on the slide modifies the EMPVU10 view to prevent any DML operations on the view. </a:t>
            </a:r>
          </a:p>
          <a:p>
            <a:pPr lvl="1">
              <a:tabLst/>
            </a:pPr>
            <a:r>
              <a:rPr lang="en-US" altLang="en-US"/>
              <a:t>Any attempts to remove a row from the view will result in an error. </a:t>
            </a:r>
          </a:p>
          <a:p>
            <a:pPr lvl="1">
              <a:tabLst/>
            </a:pPr>
            <a:endParaRPr lang="en-US" altLang="en-US"/>
          </a:p>
          <a:p>
            <a:pPr lvl="1">
              <a:tabLst/>
            </a:pPr>
            <a:endParaRPr lang="en-US" altLang="en-US"/>
          </a:p>
          <a:p>
            <a:pPr lvl="1">
              <a:tabLst/>
            </a:pPr>
            <a:endParaRPr lang="en-US" altLang="en-US"/>
          </a:p>
          <a:p>
            <a:pPr lvl="1">
              <a:tabLst/>
            </a:pPr>
            <a:endParaRPr lang="en-US" altLang="en-US"/>
          </a:p>
          <a:p>
            <a:pPr lvl="1">
              <a:tabLst/>
            </a:pPr>
            <a:endParaRPr lang="en-US" altLang="en-US"/>
          </a:p>
          <a:p>
            <a:pPr lvl="1">
              <a:tabLst/>
            </a:pPr>
            <a:endParaRPr lang="en-US" altLang="en-US"/>
          </a:p>
          <a:p>
            <a:pPr lvl="1">
              <a:tabLst/>
            </a:pPr>
            <a:r>
              <a:rPr lang="en-US" altLang="en-US"/>
              <a:t>Any attempts to insert a row or modify a row using the view will result in Oracle Server error -01733: virtual column not allowed here.</a:t>
            </a:r>
          </a:p>
        </p:txBody>
      </p:sp>
      <p:sp>
        <p:nvSpPr>
          <p:cNvPr id="38918" name="Rectangle 6"/>
          <p:cNvSpPr>
            <a:spLocks noGrp="1" noRot="1" noChangeAspect="1" noChangeArrowheads="1" noTextEdit="1"/>
          </p:cNvSpPr>
          <p:nvPr>
            <p:ph type="sldImg"/>
          </p:nvPr>
        </p:nvSpPr>
        <p:spPr>
          <a:xfrm>
            <a:off x="471488" y="157163"/>
            <a:ext cx="5870575" cy="4402137"/>
          </a:xfrm>
          <a:ln cap="flat"/>
        </p:spPr>
      </p:sp>
      <p:sp>
        <p:nvSpPr>
          <p:cNvPr id="38919" name="Rectangle 7"/>
          <p:cNvSpPr>
            <a:spLocks noChangeArrowheads="1"/>
          </p:cNvSpPr>
          <p:nvPr/>
        </p:nvSpPr>
        <p:spPr bwMode="auto">
          <a:xfrm>
            <a:off x="617538" y="5794375"/>
            <a:ext cx="5800725" cy="1268413"/>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215395601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ChangeArrowheads="1"/>
          </p:cNvSpPr>
          <p:nvPr/>
        </p:nvSpPr>
        <p:spPr bwMode="auto">
          <a:xfrm>
            <a:off x="3860800" y="0"/>
            <a:ext cx="2959100"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963" name="Rectangle 3"/>
          <p:cNvSpPr>
            <a:spLocks noChangeArrowheads="1"/>
          </p:cNvSpPr>
          <p:nvPr/>
        </p:nvSpPr>
        <p:spPr bwMode="auto">
          <a:xfrm>
            <a:off x="-3175" y="0"/>
            <a:ext cx="2955925" cy="4587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964" name="Rectangle 4"/>
          <p:cNvSpPr>
            <a:spLocks noGrp="1" noChangeArrowheads="1"/>
          </p:cNvSpPr>
          <p:nvPr>
            <p:ph type="body" idx="1"/>
          </p:nvPr>
        </p:nvSpPr>
        <p:spPr>
          <a:noFill/>
          <a:ln/>
        </p:spPr>
        <p:txBody>
          <a:bodyPr/>
          <a:lstStyle/>
          <a:p>
            <a:pPr>
              <a:tabLst/>
            </a:pPr>
            <a:r>
              <a:rPr lang="en-US" altLang="en-US"/>
              <a:t>Removing a View</a:t>
            </a:r>
          </a:p>
          <a:p>
            <a:pPr lvl="1">
              <a:tabLst/>
            </a:pPr>
            <a:r>
              <a:rPr lang="en-US" altLang="en-US"/>
              <a:t>You use the </a:t>
            </a:r>
            <a:r>
              <a:rPr lang="en-US" altLang="en-US">
                <a:solidFill>
                  <a:srgbClr val="FC0128"/>
                </a:solidFill>
              </a:rPr>
              <a:t>DROP VIEW </a:t>
            </a:r>
            <a:r>
              <a:rPr lang="en-US" altLang="en-US"/>
              <a:t>statement to remove a view. The statement removes the view definition from the database. Dropping views has no effect on the tables on which the view was based. Views or other applications based on deleted views become invalid. Only the creator or a user with the DROP ANY VIEW privilege can remove a view.</a:t>
            </a:r>
          </a:p>
          <a:p>
            <a:pPr lvl="1">
              <a:tabLst/>
            </a:pPr>
            <a:r>
              <a:rPr lang="en-US" altLang="en-US"/>
              <a:t>In the syntax:</a:t>
            </a:r>
          </a:p>
          <a:p>
            <a:pPr lvl="1">
              <a:tabLst/>
            </a:pPr>
            <a:r>
              <a:rPr lang="en-US" altLang="en-US"/>
              <a:t>	</a:t>
            </a:r>
            <a:r>
              <a:rPr lang="en-US" altLang="en-US" i="1"/>
              <a:t>view		</a:t>
            </a:r>
            <a:r>
              <a:rPr lang="en-US" altLang="en-US"/>
              <a:t>is the name of the view</a:t>
            </a:r>
          </a:p>
          <a:p>
            <a:pPr>
              <a:tabLst/>
            </a:pPr>
            <a:endParaRPr lang="en-US" altLang="en-US" b="0">
              <a:latin typeface="Times New Roman" pitchFamily="18" charset="0"/>
            </a:endParaRPr>
          </a:p>
        </p:txBody>
      </p:sp>
      <p:sp>
        <p:nvSpPr>
          <p:cNvPr id="40965" name="Rectangle 5"/>
          <p:cNvSpPr>
            <a:spLocks noGrp="1" noRot="1" noChangeAspect="1" noChangeArrowheads="1" noTextEdit="1"/>
          </p:cNvSpPr>
          <p:nvPr>
            <p:ph type="sldImg"/>
          </p:nvPr>
        </p:nvSpPr>
        <p:spPr>
          <a:xfrm>
            <a:off x="471488" y="157163"/>
            <a:ext cx="5870575" cy="4402137"/>
          </a:xfrm>
          <a:ln cap="flat"/>
        </p:spPr>
      </p:sp>
    </p:spTree>
    <p:extLst>
      <p:ext uri="{BB962C8B-B14F-4D97-AF65-F5344CB8AC3E}">
        <p14:creationId xmlns:p14="http://schemas.microsoft.com/office/powerpoint/2010/main" val="395775422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Rot="1" noChangeAspect="1" noChangeArrowheads="1" noTextEdit="1"/>
          </p:cNvSpPr>
          <p:nvPr>
            <p:ph type="sldImg"/>
          </p:nvPr>
        </p:nvSpPr>
        <p:spPr>
          <a:xfrm>
            <a:off x="469900" y="155575"/>
            <a:ext cx="5872163" cy="4403725"/>
          </a:xfrm>
          <a:ln cap="flat"/>
        </p:spPr>
      </p:sp>
      <p:sp>
        <p:nvSpPr>
          <p:cNvPr id="43011" name="Rectangle 3"/>
          <p:cNvSpPr>
            <a:spLocks noGrp="1" noChangeArrowheads="1"/>
          </p:cNvSpPr>
          <p:nvPr>
            <p:ph type="body" idx="1"/>
          </p:nvPr>
        </p:nvSpPr>
        <p:spPr>
          <a:noFill/>
          <a:ln/>
        </p:spPr>
        <p:txBody>
          <a:bodyPr/>
          <a:lstStyle/>
          <a:p>
            <a:r>
              <a:rPr lang="en-US" altLang="en-US"/>
              <a:t>What Is a View?</a:t>
            </a:r>
          </a:p>
          <a:p>
            <a:pPr lvl="1"/>
            <a:r>
              <a:rPr lang="en-US" altLang="en-US"/>
              <a:t>A view is based on a table or another view and acts as a window through which data on tables can be viewed or changed. A view does not contain data. The definition of the view is stored in the data dictionary. You can see the definition of the view in the USER_VIEWS data dictionary table.</a:t>
            </a:r>
          </a:p>
          <a:p>
            <a:r>
              <a:rPr lang="en-US" altLang="en-US"/>
              <a:t>Advantages of Views</a:t>
            </a:r>
          </a:p>
          <a:p>
            <a:pPr lvl="2"/>
            <a:r>
              <a:rPr lang="en-US" altLang="en-US"/>
              <a:t>Restrict database access</a:t>
            </a:r>
          </a:p>
          <a:p>
            <a:pPr lvl="2"/>
            <a:r>
              <a:rPr lang="en-US" altLang="en-US"/>
              <a:t>Simplify queries</a:t>
            </a:r>
          </a:p>
          <a:p>
            <a:pPr lvl="2"/>
            <a:r>
              <a:rPr lang="en-US" altLang="en-US"/>
              <a:t>Provide data independence</a:t>
            </a:r>
          </a:p>
          <a:p>
            <a:pPr lvl="2"/>
            <a:r>
              <a:rPr lang="en-US" altLang="en-US"/>
              <a:t>Allow multiple views of the same data</a:t>
            </a:r>
          </a:p>
          <a:p>
            <a:pPr lvl="2"/>
            <a:r>
              <a:rPr lang="en-US" altLang="en-US"/>
              <a:t>Remove views without affecting the underlying data</a:t>
            </a:r>
          </a:p>
          <a:p>
            <a:r>
              <a:rPr lang="en-US" altLang="en-US"/>
              <a:t>View Options</a:t>
            </a:r>
          </a:p>
          <a:p>
            <a:pPr lvl="2"/>
            <a:r>
              <a:rPr lang="en-US" altLang="en-US"/>
              <a:t>Can be a simple view based on one table</a:t>
            </a:r>
          </a:p>
          <a:p>
            <a:pPr lvl="2"/>
            <a:r>
              <a:rPr lang="en-US" altLang="en-US"/>
              <a:t>Can be a complex view based on more than one table or can contain groups or functions</a:t>
            </a:r>
          </a:p>
          <a:p>
            <a:pPr lvl="2"/>
            <a:r>
              <a:rPr lang="en-US" altLang="en-US"/>
              <a:t>Can be replaced if one of the same name exists</a:t>
            </a:r>
          </a:p>
          <a:p>
            <a:pPr lvl="2"/>
            <a:r>
              <a:rPr lang="en-US" altLang="en-US"/>
              <a:t>Contain a check constraint</a:t>
            </a:r>
          </a:p>
          <a:p>
            <a:pPr lvl="2"/>
            <a:r>
              <a:rPr lang="en-US" altLang="en-US"/>
              <a:t>Can be read-only</a:t>
            </a:r>
          </a:p>
          <a:p>
            <a:endParaRPr lang="en-US" altLang="en-US" b="0">
              <a:latin typeface="Times New Roman" pitchFamily="18" charset="0"/>
            </a:endParaRPr>
          </a:p>
        </p:txBody>
      </p:sp>
    </p:spTree>
    <p:extLst>
      <p:ext uri="{BB962C8B-B14F-4D97-AF65-F5344CB8AC3E}">
        <p14:creationId xmlns:p14="http://schemas.microsoft.com/office/powerpoint/2010/main" val="274455686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Rot="1" noChangeAspect="1" noChangeArrowheads="1" noTextEdit="1"/>
          </p:cNvSpPr>
          <p:nvPr>
            <p:ph type="sldImg"/>
          </p:nvPr>
        </p:nvSpPr>
        <p:spPr>
          <a:xfrm>
            <a:off x="471488" y="195263"/>
            <a:ext cx="5895975" cy="4421187"/>
          </a:xfrm>
          <a:ln cap="flat"/>
        </p:spPr>
      </p:sp>
      <p:sp>
        <p:nvSpPr>
          <p:cNvPr id="45059" name="Rectangle 3"/>
          <p:cNvSpPr>
            <a:spLocks noGrp="1" noChangeArrowheads="1"/>
          </p:cNvSpPr>
          <p:nvPr>
            <p:ph type="body" idx="1"/>
          </p:nvPr>
        </p:nvSpPr>
        <p:spPr>
          <a:xfrm>
            <a:off x="419100" y="4822825"/>
            <a:ext cx="5932488" cy="3662363"/>
          </a:xfrm>
          <a:noFill/>
          <a:ln/>
        </p:spPr>
        <p:txBody>
          <a:bodyPr/>
          <a:lstStyle/>
          <a:p>
            <a:pPr defTabSz="406400">
              <a:tabLst>
                <a:tab pos="460375" algn="l"/>
              </a:tabLst>
            </a:pPr>
            <a:r>
              <a:rPr lang="en-US" altLang="en-US"/>
              <a:t>Practice Overview</a:t>
            </a:r>
          </a:p>
          <a:p>
            <a:pPr marL="115888" lvl="1" defTabSz="406400">
              <a:tabLst>
                <a:tab pos="460375" algn="l"/>
              </a:tabLst>
            </a:pPr>
            <a:r>
              <a:rPr lang="en-US" altLang="en-US"/>
              <a:t>In this practice, you will create simple and complex views and attempt to perform DML statements on the views.</a:t>
            </a:r>
          </a:p>
          <a:p>
            <a:pPr marL="115888" lvl="1" defTabSz="406400">
              <a:tabLst>
                <a:tab pos="460375" algn="l"/>
              </a:tabLst>
            </a:pPr>
            <a:endParaRPr lang="en-US" altLang="en-US"/>
          </a:p>
          <a:p>
            <a:pPr marL="115888" lvl="1" defTabSz="406400">
              <a:tabLst>
                <a:tab pos="460375" algn="l"/>
              </a:tabLst>
            </a:pPr>
            <a:endParaRPr lang="en-US" altLang="en-US"/>
          </a:p>
          <a:p>
            <a:pPr marL="115888" lvl="1" defTabSz="406400">
              <a:tabLst>
                <a:tab pos="460375" algn="l"/>
              </a:tabLst>
            </a:pPr>
            <a:endParaRPr lang="en-US" altLang="en-US"/>
          </a:p>
          <a:p>
            <a:pPr marL="115888" lvl="1" defTabSz="406400">
              <a:tabLst>
                <a:tab pos="460375" algn="l"/>
              </a:tabLst>
            </a:pPr>
            <a:endParaRPr lang="en-US" altLang="en-US"/>
          </a:p>
          <a:p>
            <a:pPr marL="115888" lvl="1" defTabSz="406400">
              <a:tabLst>
                <a:tab pos="460375" algn="l"/>
              </a:tabLst>
            </a:pPr>
            <a:endParaRPr lang="en-US" altLang="en-US"/>
          </a:p>
          <a:p>
            <a:pPr marL="115888" lvl="1" defTabSz="406400">
              <a:tabLst>
                <a:tab pos="460375" algn="l"/>
              </a:tabLst>
            </a:pPr>
            <a:endParaRPr lang="en-US" altLang="en-US"/>
          </a:p>
          <a:p>
            <a:pPr marL="115888" lvl="1" defTabSz="406400">
              <a:tabLst>
                <a:tab pos="460375" algn="l"/>
              </a:tabLst>
            </a:pPr>
            <a:endParaRPr lang="en-US" altLang="en-US"/>
          </a:p>
          <a:p>
            <a:pPr marL="115888" lvl="1" defTabSz="406400">
              <a:tabLst>
                <a:tab pos="460375" algn="l"/>
              </a:tabLst>
            </a:pPr>
            <a:endParaRPr lang="en-US" altLang="en-US"/>
          </a:p>
          <a:p>
            <a:pPr marL="115888" lvl="1" defTabSz="406400">
              <a:tabLst>
                <a:tab pos="460375" algn="l"/>
              </a:tabLst>
            </a:pPr>
            <a:endParaRPr lang="en-US" altLang="en-US"/>
          </a:p>
          <a:p>
            <a:pPr marL="115888" lvl="1" defTabSz="406400">
              <a:tabLst>
                <a:tab pos="460375" algn="l"/>
              </a:tabLst>
            </a:pPr>
            <a:endParaRPr lang="en-US" altLang="en-US"/>
          </a:p>
          <a:p>
            <a:pPr marL="115888" lvl="1" defTabSz="406400">
              <a:tabLst>
                <a:tab pos="460375" algn="l"/>
              </a:tabLst>
            </a:pPr>
            <a:endParaRPr lang="en-US" altLang="en-US"/>
          </a:p>
          <a:p>
            <a:pPr defTabSz="406400">
              <a:tabLst>
                <a:tab pos="460375" algn="l"/>
              </a:tabLst>
            </a:pPr>
            <a:endParaRPr lang="en-US" altLang="en-US" b="0">
              <a:latin typeface="Times New Roman" pitchFamily="18" charset="0"/>
            </a:endParaRPr>
          </a:p>
        </p:txBody>
      </p:sp>
    </p:spTree>
    <p:extLst>
      <p:ext uri="{BB962C8B-B14F-4D97-AF65-F5344CB8AC3E}">
        <p14:creationId xmlns:p14="http://schemas.microsoft.com/office/powerpoint/2010/main" val="192391593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body" idx="1"/>
          </p:nvPr>
        </p:nvSpPr>
        <p:spPr>
          <a:xfrm>
            <a:off x="368300" y="495300"/>
            <a:ext cx="6186488" cy="7769225"/>
          </a:xfrm>
          <a:noFill/>
          <a:ln/>
        </p:spPr>
        <p:txBody>
          <a:bodyPr/>
          <a:lstStyle/>
          <a:p>
            <a:pPr defTabSz="406400">
              <a:lnSpc>
                <a:spcPct val="112000"/>
              </a:lnSpc>
              <a:spcBef>
                <a:spcPct val="0"/>
              </a:spcBef>
              <a:spcAft>
                <a:spcPct val="24000"/>
              </a:spcAft>
              <a:tabLst>
                <a:tab pos="460375" algn="l"/>
                <a:tab pos="1892300" algn="l"/>
              </a:tabLst>
            </a:pPr>
            <a:r>
              <a:rPr lang="en-US" altLang="en-US"/>
              <a:t>Practice 12</a:t>
            </a:r>
            <a:endParaRPr lang="en-US" altLang="en-US" b="0">
              <a:latin typeface="Times" charset="0"/>
            </a:endParaRPr>
          </a:p>
          <a:p>
            <a:pPr marL="454025" lvl="2" indent="-219075" defTabSz="406400">
              <a:buFontTx/>
              <a:buNone/>
              <a:tabLst>
                <a:tab pos="460375" algn="l"/>
                <a:tab pos="1892300" algn="l"/>
              </a:tabLst>
            </a:pPr>
            <a:r>
              <a:rPr lang="en-US" altLang="en-US"/>
              <a:t>1.	Create a view called EMP_VU based on the employee number, employee name, and</a:t>
            </a:r>
            <a:br>
              <a:rPr lang="en-US" altLang="en-US"/>
            </a:br>
            <a:r>
              <a:rPr lang="en-US" altLang="en-US"/>
              <a:t>	department number from the EMP table. Change the heading for the employee name to</a:t>
            </a:r>
            <a:br>
              <a:rPr lang="en-US" altLang="en-US"/>
            </a:br>
            <a:r>
              <a:rPr lang="en-US" altLang="en-US"/>
              <a:t>	EMPLOYEE.</a:t>
            </a:r>
          </a:p>
          <a:p>
            <a:pPr marL="454025" lvl="2" indent="-219075" defTabSz="406400">
              <a:buFontTx/>
              <a:buNone/>
              <a:tabLst>
                <a:tab pos="460375" algn="l"/>
                <a:tab pos="1892300" algn="l"/>
              </a:tabLst>
            </a:pPr>
            <a:r>
              <a:rPr lang="en-US" altLang="en-US"/>
              <a:t>2.	Display the contents of the EMP_VU view.</a:t>
            </a:r>
            <a:br>
              <a:rPr lang="en-US" altLang="en-US"/>
            </a:br>
            <a:endParaRPr lang="en-US" altLang="en-US" sz="400"/>
          </a:p>
          <a:p>
            <a:pPr defTabSz="406400">
              <a:tabLst>
                <a:tab pos="460375" algn="l"/>
                <a:tab pos="1892300" algn="l"/>
              </a:tabLst>
            </a:pPr>
            <a:r>
              <a:rPr lang="en-US" altLang="en-US" b="0">
                <a:latin typeface="Courier New" pitchFamily="49" charset="0"/>
              </a:rPr>
              <a:t>	  EMPNO EMPLOYEE DEPTNO</a:t>
            </a:r>
          </a:p>
          <a:p>
            <a:pPr defTabSz="406400">
              <a:tabLst>
                <a:tab pos="460375" algn="l"/>
                <a:tab pos="1892300" algn="l"/>
              </a:tabLst>
            </a:pPr>
            <a:r>
              <a:rPr lang="en-US" altLang="en-US" b="0">
                <a:latin typeface="Courier New" pitchFamily="49" charset="0"/>
              </a:rPr>
              <a:t>	  ----- -------- 	------</a:t>
            </a:r>
          </a:p>
          <a:p>
            <a:pPr defTabSz="406400">
              <a:tabLst>
                <a:tab pos="460375" algn="l"/>
                <a:tab pos="1892300" algn="l"/>
              </a:tabLst>
            </a:pPr>
            <a:r>
              <a:rPr lang="en-US" altLang="en-US" b="0">
                <a:latin typeface="Courier New" pitchFamily="49" charset="0"/>
              </a:rPr>
              <a:t>	   7839 KING	    10</a:t>
            </a:r>
            <a:br>
              <a:rPr lang="en-US" altLang="en-US" b="0">
                <a:latin typeface="Courier New" pitchFamily="49" charset="0"/>
              </a:rPr>
            </a:br>
            <a:r>
              <a:rPr lang="en-US" altLang="en-US" b="0">
                <a:latin typeface="Courier New" pitchFamily="49" charset="0"/>
              </a:rPr>
              <a:t>	   7698 BLAKE	    30</a:t>
            </a:r>
            <a:br>
              <a:rPr lang="en-US" altLang="en-US" b="0">
                <a:latin typeface="Courier New" pitchFamily="49" charset="0"/>
              </a:rPr>
            </a:br>
            <a:r>
              <a:rPr lang="en-US" altLang="en-US" b="0">
                <a:latin typeface="Courier New" pitchFamily="49" charset="0"/>
              </a:rPr>
              <a:t>	   7782 CLARK	    10</a:t>
            </a:r>
            <a:br>
              <a:rPr lang="en-US" altLang="en-US" b="0">
                <a:latin typeface="Courier New" pitchFamily="49" charset="0"/>
              </a:rPr>
            </a:br>
            <a:r>
              <a:rPr lang="en-US" altLang="en-US" b="0">
                <a:latin typeface="Courier New" pitchFamily="49" charset="0"/>
              </a:rPr>
              <a:t>	   7566 JONES	    20</a:t>
            </a:r>
            <a:br>
              <a:rPr lang="en-US" altLang="en-US" b="0">
                <a:latin typeface="Courier New" pitchFamily="49" charset="0"/>
              </a:rPr>
            </a:br>
            <a:r>
              <a:rPr lang="en-US" altLang="en-US" b="0">
                <a:latin typeface="Courier New" pitchFamily="49" charset="0"/>
              </a:rPr>
              <a:t>	   7654 MARTIN	    30</a:t>
            </a:r>
            <a:br>
              <a:rPr lang="en-US" altLang="en-US" b="0">
                <a:latin typeface="Courier New" pitchFamily="49" charset="0"/>
              </a:rPr>
            </a:br>
            <a:r>
              <a:rPr lang="en-US" altLang="en-US" b="0">
                <a:latin typeface="Courier New" pitchFamily="49" charset="0"/>
              </a:rPr>
              <a:t>	   7499 ALLEN	    30</a:t>
            </a:r>
            <a:br>
              <a:rPr lang="en-US" altLang="en-US" b="0">
                <a:latin typeface="Courier New" pitchFamily="49" charset="0"/>
              </a:rPr>
            </a:br>
            <a:r>
              <a:rPr lang="en-US" altLang="en-US" b="0">
                <a:latin typeface="Courier New" pitchFamily="49" charset="0"/>
              </a:rPr>
              <a:t>	   7844 TURNER	    30</a:t>
            </a:r>
            <a:br>
              <a:rPr lang="en-US" altLang="en-US" b="0">
                <a:latin typeface="Courier New" pitchFamily="49" charset="0"/>
              </a:rPr>
            </a:br>
            <a:r>
              <a:rPr lang="en-US" altLang="en-US" b="0">
                <a:latin typeface="Courier New" pitchFamily="49" charset="0"/>
              </a:rPr>
              <a:t>	   7900 JAMES	    30</a:t>
            </a:r>
            <a:br>
              <a:rPr lang="en-US" altLang="en-US" b="0">
                <a:latin typeface="Courier New" pitchFamily="49" charset="0"/>
              </a:rPr>
            </a:br>
            <a:r>
              <a:rPr lang="en-US" altLang="en-US" b="0">
                <a:latin typeface="Courier New" pitchFamily="49" charset="0"/>
              </a:rPr>
              <a:t>	   7521 WARD	    30</a:t>
            </a:r>
            <a:br>
              <a:rPr lang="en-US" altLang="en-US" b="0">
                <a:latin typeface="Courier New" pitchFamily="49" charset="0"/>
              </a:rPr>
            </a:br>
            <a:r>
              <a:rPr lang="en-US" altLang="en-US" b="0">
                <a:latin typeface="Courier New" pitchFamily="49" charset="0"/>
              </a:rPr>
              <a:t>	   7902 FORD         20</a:t>
            </a:r>
            <a:br>
              <a:rPr lang="en-US" altLang="en-US" b="0">
                <a:latin typeface="Courier New" pitchFamily="49" charset="0"/>
              </a:rPr>
            </a:br>
            <a:r>
              <a:rPr lang="en-US" altLang="en-US" b="0">
                <a:latin typeface="Courier New" pitchFamily="49" charset="0"/>
              </a:rPr>
              <a:t>	   7369 SMITH        20</a:t>
            </a:r>
            <a:br>
              <a:rPr lang="en-US" altLang="en-US" b="0">
                <a:latin typeface="Courier New" pitchFamily="49" charset="0"/>
              </a:rPr>
            </a:br>
            <a:r>
              <a:rPr lang="en-US" altLang="en-US" b="0">
                <a:latin typeface="Courier New" pitchFamily="49" charset="0"/>
              </a:rPr>
              <a:t>	   7788 SCOTT	    20</a:t>
            </a:r>
            <a:br>
              <a:rPr lang="en-US" altLang="en-US" b="0">
                <a:latin typeface="Courier New" pitchFamily="49" charset="0"/>
              </a:rPr>
            </a:br>
            <a:r>
              <a:rPr lang="en-US" altLang="en-US" b="0">
                <a:latin typeface="Courier New" pitchFamily="49" charset="0"/>
              </a:rPr>
              <a:t>	   7876 ADAMS	    20</a:t>
            </a:r>
            <a:br>
              <a:rPr lang="en-US" altLang="en-US" b="0">
                <a:latin typeface="Courier New" pitchFamily="49" charset="0"/>
              </a:rPr>
            </a:br>
            <a:r>
              <a:rPr lang="en-US" altLang="en-US" b="0">
                <a:latin typeface="Courier New" pitchFamily="49" charset="0"/>
              </a:rPr>
              <a:t>	   7934 MILLER	    10</a:t>
            </a:r>
            <a:br>
              <a:rPr lang="en-US" altLang="en-US" b="0">
                <a:latin typeface="Courier New" pitchFamily="49" charset="0"/>
              </a:rPr>
            </a:br>
            <a:r>
              <a:rPr lang="en-US" altLang="en-US" b="0">
                <a:latin typeface="Courier New" pitchFamily="49" charset="0"/>
              </a:rPr>
              <a:t>	  14 rows selected.</a:t>
            </a:r>
            <a:br>
              <a:rPr lang="en-US" altLang="en-US" b="0">
                <a:latin typeface="Courier New" pitchFamily="49" charset="0"/>
              </a:rPr>
            </a:br>
            <a:endParaRPr lang="en-US" altLang="en-US" sz="400" b="0">
              <a:latin typeface="Times New Roman" pitchFamily="18" charset="0"/>
            </a:endParaRPr>
          </a:p>
          <a:p>
            <a:pPr marL="454025" lvl="2" indent="-219075" defTabSz="406400">
              <a:buFontTx/>
              <a:buNone/>
              <a:tabLst>
                <a:tab pos="460375" algn="l"/>
                <a:tab pos="1892300" algn="l"/>
              </a:tabLst>
            </a:pPr>
            <a:r>
              <a:rPr lang="en-US" altLang="en-US"/>
              <a:t>3.	Select the view name and text from the data dictionary USER_VIEWS.</a:t>
            </a:r>
            <a:br>
              <a:rPr lang="en-US" altLang="en-US"/>
            </a:br>
            <a:endParaRPr lang="en-US" altLang="en-US"/>
          </a:p>
          <a:p>
            <a:pPr defTabSz="406400">
              <a:tabLst>
                <a:tab pos="460375" algn="l"/>
                <a:tab pos="1892300" algn="l"/>
              </a:tabLst>
            </a:pPr>
            <a:r>
              <a:rPr lang="en-US" altLang="en-US" b="0">
                <a:latin typeface="Courier New" pitchFamily="49" charset="0"/>
              </a:rPr>
              <a:t>	  VIEW_NAME   TEXT</a:t>
            </a:r>
            <a:br>
              <a:rPr lang="en-US" altLang="en-US" b="0">
                <a:latin typeface="Courier New" pitchFamily="49" charset="0"/>
              </a:rPr>
            </a:br>
            <a:r>
              <a:rPr lang="en-US" altLang="en-US" b="0">
                <a:latin typeface="Courier New" pitchFamily="49" charset="0"/>
              </a:rPr>
              <a:t>	  ----------- ----------------------------------------</a:t>
            </a:r>
            <a:br>
              <a:rPr lang="en-US" altLang="en-US" b="0">
                <a:latin typeface="Courier New" pitchFamily="49" charset="0"/>
              </a:rPr>
            </a:br>
            <a:r>
              <a:rPr lang="en-US" altLang="en-US" b="0">
                <a:latin typeface="Courier New" pitchFamily="49" charset="0"/>
              </a:rPr>
              <a:t>	  EMP_VU      SELECT empno, ename employee, deptno</a:t>
            </a:r>
            <a:br>
              <a:rPr lang="en-US" altLang="en-US" b="0">
                <a:latin typeface="Courier New" pitchFamily="49" charset="0"/>
              </a:rPr>
            </a:br>
            <a:r>
              <a:rPr lang="en-US" altLang="en-US" b="0">
                <a:latin typeface="Courier New" pitchFamily="49" charset="0"/>
              </a:rPr>
              <a:t>	              FROM emp</a:t>
            </a:r>
          </a:p>
          <a:p>
            <a:pPr marL="115888" lvl="1" defTabSz="406400">
              <a:tabLst>
                <a:tab pos="460375" algn="l"/>
                <a:tab pos="1892300" algn="l"/>
              </a:tabLst>
            </a:pPr>
            <a:endParaRPr lang="en-US" altLang="en-US"/>
          </a:p>
          <a:p>
            <a:pPr marL="454025" lvl="2" indent="-219075" defTabSz="406400">
              <a:buFontTx/>
              <a:buNone/>
              <a:tabLst>
                <a:tab pos="460375" algn="l"/>
                <a:tab pos="1892300" algn="l"/>
              </a:tabLst>
            </a:pPr>
            <a:r>
              <a:rPr lang="en-US" altLang="en-US"/>
              <a:t>4.	Using your view EMP_VU, enter a query to display all employee names and department numbers.</a:t>
            </a:r>
          </a:p>
          <a:p>
            <a:pPr marL="454025" lvl="2" indent="-219075" defTabSz="406400">
              <a:buFontTx/>
              <a:buNone/>
              <a:tabLst>
                <a:tab pos="460375" algn="l"/>
                <a:tab pos="1892300" algn="l"/>
              </a:tabLst>
            </a:pPr>
            <a:endParaRPr lang="en-US" altLang="en-US" sz="400"/>
          </a:p>
          <a:p>
            <a:pPr marL="115888" lvl="1" defTabSz="406400">
              <a:tabLst>
                <a:tab pos="460375" algn="l"/>
                <a:tab pos="1892300" algn="l"/>
              </a:tabLst>
            </a:pPr>
            <a:r>
              <a:rPr lang="en-US" altLang="en-US">
                <a:latin typeface="Courier New" pitchFamily="49" charset="0"/>
              </a:rPr>
              <a:t>	  EMPLOYEE      DEPTNO</a:t>
            </a:r>
          </a:p>
          <a:p>
            <a:pPr marL="115888" lvl="1" defTabSz="406400">
              <a:tabLst>
                <a:tab pos="460375" algn="l"/>
                <a:tab pos="1892300" algn="l"/>
              </a:tabLst>
            </a:pPr>
            <a:r>
              <a:rPr lang="en-US" altLang="en-US">
                <a:latin typeface="Courier New" pitchFamily="49" charset="0"/>
              </a:rPr>
              <a:t>	  ---------- ---------</a:t>
            </a:r>
          </a:p>
          <a:p>
            <a:pPr marL="115888" lvl="1" defTabSz="406400">
              <a:tabLst>
                <a:tab pos="460375" algn="l"/>
                <a:tab pos="1892300" algn="l"/>
              </a:tabLst>
            </a:pPr>
            <a:r>
              <a:rPr lang="en-US" altLang="en-US">
                <a:latin typeface="Courier New" pitchFamily="49" charset="0"/>
              </a:rPr>
              <a:t>	  KING              10</a:t>
            </a:r>
          </a:p>
          <a:p>
            <a:pPr marL="115888" lvl="1" defTabSz="406400">
              <a:tabLst>
                <a:tab pos="460375" algn="l"/>
                <a:tab pos="1892300" algn="l"/>
              </a:tabLst>
            </a:pPr>
            <a:r>
              <a:rPr lang="en-US" altLang="en-US">
                <a:latin typeface="Courier New" pitchFamily="49" charset="0"/>
              </a:rPr>
              <a:t>	  BLAKE             30</a:t>
            </a:r>
          </a:p>
          <a:p>
            <a:pPr marL="115888" lvl="1" defTabSz="406400">
              <a:tabLst>
                <a:tab pos="460375" algn="l"/>
                <a:tab pos="1892300" algn="l"/>
              </a:tabLst>
            </a:pPr>
            <a:r>
              <a:rPr lang="en-US" altLang="en-US">
                <a:latin typeface="Courier New" pitchFamily="49" charset="0"/>
              </a:rPr>
              <a:t>	  CLARK             10</a:t>
            </a:r>
          </a:p>
          <a:p>
            <a:pPr marL="115888" lvl="1" defTabSz="406400">
              <a:tabLst>
                <a:tab pos="460375" algn="l"/>
                <a:tab pos="1892300" algn="l"/>
              </a:tabLst>
            </a:pPr>
            <a:r>
              <a:rPr lang="en-US" altLang="en-US">
                <a:latin typeface="Courier New" pitchFamily="49" charset="0"/>
              </a:rPr>
              <a:t>	  JONES             20</a:t>
            </a:r>
          </a:p>
          <a:p>
            <a:pPr marL="115888" lvl="1" defTabSz="406400">
              <a:tabLst>
                <a:tab pos="460375" algn="l"/>
                <a:tab pos="1892300" algn="l"/>
              </a:tabLst>
            </a:pPr>
            <a:r>
              <a:rPr lang="en-US" altLang="en-US">
                <a:latin typeface="Courier New" pitchFamily="49" charset="0"/>
              </a:rPr>
              <a:t> 	  MARTIN            30</a:t>
            </a:r>
          </a:p>
          <a:p>
            <a:pPr marL="115888" lvl="1" defTabSz="406400">
              <a:tabLst>
                <a:tab pos="460375" algn="l"/>
                <a:tab pos="1892300" algn="l"/>
              </a:tabLst>
            </a:pPr>
            <a:r>
              <a:rPr lang="en-US" altLang="en-US">
                <a:latin typeface="Courier New" pitchFamily="49" charset="0"/>
              </a:rPr>
              <a:t>	  ...</a:t>
            </a:r>
          </a:p>
          <a:p>
            <a:pPr marL="115888" lvl="1" defTabSz="406400">
              <a:tabLst>
                <a:tab pos="460375" algn="l"/>
                <a:tab pos="1892300" algn="l"/>
              </a:tabLst>
            </a:pPr>
            <a:r>
              <a:rPr lang="en-US" altLang="en-US">
                <a:latin typeface="Courier New" pitchFamily="49" charset="0"/>
              </a:rPr>
              <a:t>	  14 rows selected.</a:t>
            </a:r>
          </a:p>
          <a:p>
            <a:pPr defTabSz="406400">
              <a:tabLst>
                <a:tab pos="460375" algn="l"/>
                <a:tab pos="1892300" algn="l"/>
              </a:tabLst>
            </a:pPr>
            <a:r>
              <a:rPr lang="en-US" altLang="en-US" b="0">
                <a:latin typeface="Courier New" pitchFamily="49" charset="0"/>
              </a:rPr>
              <a:t>	  </a:t>
            </a:r>
            <a:br>
              <a:rPr lang="en-US" altLang="en-US" b="0">
                <a:latin typeface="Courier New" pitchFamily="49" charset="0"/>
              </a:rPr>
            </a:br>
            <a:endParaRPr lang="en-US" altLang="en-US" b="0">
              <a:latin typeface="Courier New" pitchFamily="49" charset="0"/>
            </a:endParaRPr>
          </a:p>
        </p:txBody>
      </p:sp>
      <p:sp>
        <p:nvSpPr>
          <p:cNvPr id="47107" name="Rectangle 3"/>
          <p:cNvSpPr>
            <a:spLocks noChangeArrowheads="1"/>
          </p:cNvSpPr>
          <p:nvPr/>
        </p:nvSpPr>
        <p:spPr bwMode="auto">
          <a:xfrm>
            <a:off x="922338" y="4960938"/>
            <a:ext cx="5313362" cy="922337"/>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7108" name="Rectangle 4"/>
          <p:cNvSpPr>
            <a:spLocks noChangeArrowheads="1"/>
          </p:cNvSpPr>
          <p:nvPr/>
        </p:nvSpPr>
        <p:spPr bwMode="auto">
          <a:xfrm>
            <a:off x="922338" y="6310313"/>
            <a:ext cx="5313362" cy="19939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7109" name="Rectangle 5"/>
          <p:cNvSpPr>
            <a:spLocks noChangeArrowheads="1"/>
          </p:cNvSpPr>
          <p:nvPr/>
        </p:nvSpPr>
        <p:spPr bwMode="auto">
          <a:xfrm>
            <a:off x="922338" y="1589088"/>
            <a:ext cx="5313362" cy="3070225"/>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313685957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body" idx="1"/>
          </p:nvPr>
        </p:nvSpPr>
        <p:spPr>
          <a:xfrm>
            <a:off x="368300" y="488950"/>
            <a:ext cx="5932488" cy="7954963"/>
          </a:xfrm>
          <a:noFill/>
          <a:ln/>
        </p:spPr>
        <p:txBody>
          <a:bodyPr/>
          <a:lstStyle/>
          <a:p>
            <a:pPr defTabSz="114300">
              <a:tabLst>
                <a:tab pos="460375" algn="l"/>
                <a:tab pos="3492500" algn="r"/>
              </a:tabLst>
            </a:pPr>
            <a:r>
              <a:rPr lang="en-US" altLang="en-US"/>
              <a:t>Practice 12 (continued)</a:t>
            </a:r>
          </a:p>
          <a:p>
            <a:pPr marL="454025" lvl="2" indent="-219075" defTabSz="114300">
              <a:buFontTx/>
              <a:buNone/>
              <a:tabLst>
                <a:tab pos="460375" algn="l"/>
                <a:tab pos="3492500" algn="r"/>
              </a:tabLst>
            </a:pPr>
            <a:r>
              <a:rPr lang="en-US" altLang="en-US"/>
              <a:t>5.	Create a view named DEPT20 that contains the employee number, employee name, and</a:t>
            </a:r>
            <a:br>
              <a:rPr lang="en-US" altLang="en-US"/>
            </a:br>
            <a:r>
              <a:rPr lang="en-US" altLang="en-US"/>
              <a:t>	department number for all employees in department 20. Label the view column</a:t>
            </a:r>
            <a:br>
              <a:rPr lang="en-US" altLang="en-US"/>
            </a:br>
            <a:r>
              <a:rPr lang="en-US" altLang="en-US"/>
              <a:t>	EMPLOYEE_ID, EMPLOYEE, and DEPARTMENT_ID. Do not allow an employee to be</a:t>
            </a:r>
            <a:br>
              <a:rPr lang="en-US" altLang="en-US"/>
            </a:br>
            <a:r>
              <a:rPr lang="en-US" altLang="en-US"/>
              <a:t>	 reassigned to another department through the view.</a:t>
            </a:r>
          </a:p>
          <a:p>
            <a:pPr marL="454025" lvl="2" indent="-219075" defTabSz="114300">
              <a:buFontTx/>
              <a:buNone/>
              <a:tabLst>
                <a:tab pos="460375" algn="l"/>
                <a:tab pos="3492500" algn="r"/>
              </a:tabLst>
            </a:pPr>
            <a:r>
              <a:rPr lang="en-US" altLang="en-US"/>
              <a:t>6.	Display the structure and contents of the DEPT20 view.</a:t>
            </a:r>
          </a:p>
          <a:p>
            <a:pPr marL="454025" lvl="2" indent="-219075" defTabSz="114300">
              <a:buFontTx/>
              <a:buNone/>
              <a:tabLst>
                <a:tab pos="460375" algn="l"/>
                <a:tab pos="3492500" algn="r"/>
              </a:tabLst>
            </a:pPr>
            <a:endParaRPr lang="en-US" altLang="en-US" sz="500"/>
          </a:p>
          <a:p>
            <a:pPr defTabSz="114300">
              <a:tabLst>
                <a:tab pos="460375" algn="l"/>
                <a:tab pos="3492500" algn="r"/>
              </a:tabLst>
            </a:pPr>
            <a:r>
              <a:rPr lang="en-US" altLang="en-US" b="0">
                <a:latin typeface="Courier New" pitchFamily="49" charset="0"/>
              </a:rPr>
              <a:t>	  Name            Null?    Type</a:t>
            </a:r>
            <a:br>
              <a:rPr lang="en-US" altLang="en-US" b="0">
                <a:latin typeface="Courier New" pitchFamily="49" charset="0"/>
              </a:rPr>
            </a:br>
            <a:r>
              <a:rPr lang="en-US" altLang="en-US" b="0">
                <a:latin typeface="Courier New" pitchFamily="49" charset="0"/>
              </a:rPr>
              <a:t>	  --------------- -------- ------</a:t>
            </a:r>
            <a:br>
              <a:rPr lang="en-US" altLang="en-US" b="0">
                <a:latin typeface="Courier New" pitchFamily="49" charset="0"/>
              </a:rPr>
            </a:br>
            <a:r>
              <a:rPr lang="en-US" altLang="en-US" b="0">
                <a:latin typeface="Courier New" pitchFamily="49" charset="0"/>
              </a:rPr>
              <a:t>	  EMPLOYEE_ID     NOT NULL NUMBER(4)</a:t>
            </a:r>
            <a:br>
              <a:rPr lang="en-US" altLang="en-US" b="0">
                <a:latin typeface="Courier New" pitchFamily="49" charset="0"/>
              </a:rPr>
            </a:br>
            <a:r>
              <a:rPr lang="en-US" altLang="en-US" b="0">
                <a:latin typeface="Courier New" pitchFamily="49" charset="0"/>
              </a:rPr>
              <a:t>	  EMPLOYEE                 VARCHAR2(10)</a:t>
            </a:r>
            <a:br>
              <a:rPr lang="en-US" altLang="en-US" b="0">
                <a:latin typeface="Courier New" pitchFamily="49" charset="0"/>
              </a:rPr>
            </a:br>
            <a:r>
              <a:rPr lang="en-US" altLang="en-US" b="0">
                <a:latin typeface="Courier New" pitchFamily="49" charset="0"/>
              </a:rPr>
              <a:t>	  DEPARTMENT_ID   NOT NULL NUMBER(2)</a:t>
            </a:r>
            <a:br>
              <a:rPr lang="en-US" altLang="en-US" b="0">
                <a:latin typeface="Courier New" pitchFamily="49" charset="0"/>
              </a:rPr>
            </a:br>
            <a:endParaRPr lang="en-US" altLang="en-US">
              <a:latin typeface="Courier New" pitchFamily="49" charset="0"/>
            </a:endParaRPr>
          </a:p>
          <a:p>
            <a:pPr defTabSz="114300">
              <a:tabLst>
                <a:tab pos="460375" algn="l"/>
                <a:tab pos="3492500" algn="r"/>
              </a:tabLst>
            </a:pPr>
            <a:r>
              <a:rPr lang="en-US" altLang="en-US" b="0">
                <a:latin typeface="Courier New" pitchFamily="49" charset="0"/>
              </a:rPr>
              <a:t>	  EMPLOYEE_ID EMPLOYEE DEPARTMENT_ID</a:t>
            </a:r>
            <a:br>
              <a:rPr lang="en-US" altLang="en-US" b="0">
                <a:latin typeface="Courier New" pitchFamily="49" charset="0"/>
              </a:rPr>
            </a:br>
            <a:r>
              <a:rPr lang="en-US" altLang="en-US" b="0">
                <a:latin typeface="Courier New" pitchFamily="49" charset="0"/>
              </a:rPr>
              <a:t>	  ----------- -------- -------------</a:t>
            </a:r>
            <a:br>
              <a:rPr lang="en-US" altLang="en-US" b="0">
                <a:latin typeface="Courier New" pitchFamily="49" charset="0"/>
              </a:rPr>
            </a:br>
            <a:r>
              <a:rPr lang="en-US" altLang="en-US" b="0">
                <a:latin typeface="Courier New" pitchFamily="49" charset="0"/>
              </a:rPr>
              <a:t>	         7566 JONES	20</a:t>
            </a:r>
            <a:br>
              <a:rPr lang="en-US" altLang="en-US" b="0">
                <a:latin typeface="Courier New" pitchFamily="49" charset="0"/>
              </a:rPr>
            </a:br>
            <a:r>
              <a:rPr lang="en-US" altLang="en-US" b="0">
                <a:latin typeface="Courier New" pitchFamily="49" charset="0"/>
              </a:rPr>
              <a:t>	         7902 FORD	20</a:t>
            </a:r>
            <a:br>
              <a:rPr lang="en-US" altLang="en-US" b="0">
                <a:latin typeface="Courier New" pitchFamily="49" charset="0"/>
              </a:rPr>
            </a:br>
            <a:r>
              <a:rPr lang="en-US" altLang="en-US" b="0">
                <a:latin typeface="Courier New" pitchFamily="49" charset="0"/>
              </a:rPr>
              <a:t>	         7369 SMITH	20</a:t>
            </a:r>
            <a:br>
              <a:rPr lang="en-US" altLang="en-US" b="0">
                <a:latin typeface="Courier New" pitchFamily="49" charset="0"/>
              </a:rPr>
            </a:br>
            <a:r>
              <a:rPr lang="en-US" altLang="en-US" b="0">
                <a:latin typeface="Courier New" pitchFamily="49" charset="0"/>
              </a:rPr>
              <a:t>	         7788 SCOTT	20</a:t>
            </a:r>
            <a:br>
              <a:rPr lang="en-US" altLang="en-US" b="0">
                <a:latin typeface="Courier New" pitchFamily="49" charset="0"/>
              </a:rPr>
            </a:br>
            <a:r>
              <a:rPr lang="en-US" altLang="en-US" b="0">
                <a:latin typeface="Courier New" pitchFamily="49" charset="0"/>
              </a:rPr>
              <a:t>	         7876 ADAMS	20</a:t>
            </a:r>
          </a:p>
          <a:p>
            <a:pPr marL="454025" lvl="2" indent="-219075" defTabSz="114300">
              <a:buFontTx/>
              <a:buNone/>
              <a:tabLst>
                <a:tab pos="460375" algn="l"/>
                <a:tab pos="3492500" algn="r"/>
              </a:tabLst>
            </a:pPr>
            <a:endParaRPr lang="en-US" altLang="en-US"/>
          </a:p>
          <a:p>
            <a:pPr marL="454025" lvl="2" indent="-219075" defTabSz="114300">
              <a:buFontTx/>
              <a:buNone/>
              <a:tabLst>
                <a:tab pos="460375" algn="l"/>
                <a:tab pos="3492500" algn="r"/>
              </a:tabLst>
            </a:pPr>
            <a:r>
              <a:rPr lang="en-US" altLang="en-US"/>
              <a:t>7.	Attempt to reassign Smith to department 30.</a:t>
            </a:r>
          </a:p>
          <a:p>
            <a:pPr marL="115888" lvl="1" defTabSz="114300">
              <a:tabLst>
                <a:tab pos="460375" algn="l"/>
                <a:tab pos="3492500" algn="r"/>
              </a:tabLst>
            </a:pPr>
            <a:r>
              <a:rPr lang="en-US" altLang="en-US"/>
              <a:t>If you have time, complete the following exercise:</a:t>
            </a:r>
          </a:p>
          <a:p>
            <a:pPr marL="454025" lvl="2" indent="-219075" defTabSz="114300">
              <a:buFontTx/>
              <a:buNone/>
              <a:tabLst>
                <a:tab pos="460375" algn="l"/>
                <a:tab pos="3492500" algn="r"/>
              </a:tabLst>
            </a:pPr>
            <a:r>
              <a:rPr lang="en-US" altLang="en-US"/>
              <a:t>8.	Create a view called SALARY_VU based on the employee name, department name, salary, 			and salary grade for all employees. Label the columns Employee, Department, Salary, and</a:t>
            </a:r>
            <a:br>
              <a:rPr lang="en-US" altLang="en-US"/>
            </a:br>
            <a:r>
              <a:rPr lang="en-US" altLang="en-US"/>
              <a:t>	Grade, respectively.</a:t>
            </a:r>
          </a:p>
        </p:txBody>
      </p:sp>
      <p:sp>
        <p:nvSpPr>
          <p:cNvPr id="49155" name="Rectangle 3"/>
          <p:cNvSpPr>
            <a:spLocks noChangeArrowheads="1"/>
          </p:cNvSpPr>
          <p:nvPr/>
        </p:nvSpPr>
        <p:spPr bwMode="auto">
          <a:xfrm>
            <a:off x="922338" y="2792413"/>
            <a:ext cx="5313362" cy="13843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156" name="Rectangle 4"/>
          <p:cNvSpPr>
            <a:spLocks noChangeArrowheads="1"/>
          </p:cNvSpPr>
          <p:nvPr/>
        </p:nvSpPr>
        <p:spPr bwMode="auto">
          <a:xfrm>
            <a:off x="922338" y="1662113"/>
            <a:ext cx="5313362" cy="1028700"/>
          </a:xfrm>
          <a:prstGeom prst="rect">
            <a:avLst/>
          </a:prstGeom>
          <a:noFill/>
          <a:ln w="1270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extLst>
      <p:ext uri="{BB962C8B-B14F-4D97-AF65-F5344CB8AC3E}">
        <p14:creationId xmlns:p14="http://schemas.microsoft.com/office/powerpoint/2010/main" val="373794531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w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3074" name="Rectangle 2"/>
          <p:cNvSpPr>
            <a:spLocks noChangeArrowheads="1"/>
          </p:cNvSpPr>
          <p:nvPr/>
        </p:nvSpPr>
        <p:spPr bwMode="hidden">
          <a:xfrm>
            <a:off x="0" y="0"/>
            <a:ext cx="8648700" cy="6038850"/>
          </a:xfrm>
          <a:prstGeom prst="rect">
            <a:avLst/>
          </a:prstGeom>
          <a:gradFill rotWithShape="0">
            <a:gsLst>
              <a:gs pos="0">
                <a:srgbClr val="000066"/>
              </a:gs>
              <a:gs pos="100000">
                <a:srgbClr val="660033"/>
              </a:gs>
            </a:gsLst>
            <a:lin ang="27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3075" name="Picture 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634163" y="6335713"/>
            <a:ext cx="1604962" cy="17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76" name="Rectangle 4"/>
          <p:cNvSpPr>
            <a:spLocks noChangeArrowheads="1"/>
          </p:cNvSpPr>
          <p:nvPr/>
        </p:nvSpPr>
        <p:spPr bwMode="auto">
          <a:xfrm>
            <a:off x="2420938" y="6311900"/>
            <a:ext cx="41021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a:lnSpc>
                <a:spcPct val="100000"/>
              </a:lnSpc>
              <a:spcBef>
                <a:spcPct val="0"/>
              </a:spcBef>
            </a:pPr>
            <a:r>
              <a:rPr lang="en-US" sz="1200" b="0">
                <a:solidFill>
                  <a:srgbClr val="0066FF"/>
                </a:solidFill>
                <a:latin typeface="Arial" pitchFamily="34" charset="0"/>
              </a:rPr>
              <a:t>Copyright </a:t>
            </a:r>
            <a:r>
              <a:rPr lang="en-US" sz="1200" b="0">
                <a:solidFill>
                  <a:srgbClr val="0066FF"/>
                </a:solidFill>
                <a:latin typeface="Symbol" pitchFamily="18" charset="2"/>
              </a:rPr>
              <a:t>Ó</a:t>
            </a:r>
            <a:r>
              <a:rPr lang="en-US" sz="1200" b="0">
                <a:solidFill>
                  <a:srgbClr val="0066FF"/>
                </a:solidFill>
                <a:latin typeface="Arial" pitchFamily="34" charset="0"/>
              </a:rPr>
              <a:t> Oracle Corporation, 1998. All rights reserved.</a:t>
            </a:r>
          </a:p>
        </p:txBody>
      </p:sp>
      <p:sp>
        <p:nvSpPr>
          <p:cNvPr id="3077" name="Rectangle 5"/>
          <p:cNvSpPr>
            <a:spLocks noGrp="1" noChangeArrowheads="1"/>
          </p:cNvSpPr>
          <p:nvPr>
            <p:ph type="ctrTitle" sz="quarter"/>
          </p:nvPr>
        </p:nvSpPr>
        <p:spPr>
          <a:xfrm>
            <a:off x="927100" y="2667000"/>
            <a:ext cx="7302500" cy="1181100"/>
          </a:xfrm>
        </p:spPr>
        <p:txBody>
          <a:bodyPr/>
          <a:lstStyle>
            <a:lvl1pPr>
              <a:defRPr/>
            </a:lvl1pPr>
          </a:lstStyle>
          <a:p>
            <a:pPr lvl="0"/>
            <a:r>
              <a:rPr lang="en-US" noProof="0"/>
              <a:t>Click to edit Master title style</a:t>
            </a:r>
          </a:p>
        </p:txBody>
      </p:sp>
      <p:sp>
        <p:nvSpPr>
          <p:cNvPr id="3078" name="Rectangle 6"/>
          <p:cNvSpPr>
            <a:spLocks noGrp="1" noChangeArrowheads="1"/>
          </p:cNvSpPr>
          <p:nvPr>
            <p:ph type="subTitle" sz="quarter" idx="1"/>
          </p:nvPr>
        </p:nvSpPr>
        <p:spPr>
          <a:xfrm>
            <a:off x="914400" y="3886200"/>
            <a:ext cx="7327900" cy="641350"/>
          </a:xfrm>
        </p:spPr>
        <p:txBody>
          <a:bodyPr/>
          <a:lstStyle>
            <a:lvl1pPr algn="ctr" defTabSz="914400">
              <a:tabLst/>
              <a:defRPr/>
            </a:lvl1pPr>
          </a:lstStyle>
          <a:p>
            <a:pPr lvl="0"/>
            <a:r>
              <a:rPr lang="en-US" noProof="0"/>
              <a:t>Click to edit Master subtitle style</a:t>
            </a:r>
          </a:p>
        </p:txBody>
      </p:sp>
      <p:sp>
        <p:nvSpPr>
          <p:cNvPr id="3079" name="Rectangle 7"/>
          <p:cNvSpPr>
            <a:spLocks noChangeArrowheads="1"/>
          </p:cNvSpPr>
          <p:nvPr/>
        </p:nvSpPr>
        <p:spPr bwMode="hidden">
          <a:xfrm>
            <a:off x="4064000" y="1104900"/>
            <a:ext cx="1028700" cy="1028700"/>
          </a:xfrm>
          <a:prstGeom prst="rect">
            <a:avLst/>
          </a:prstGeom>
          <a:gradFill rotWithShape="0">
            <a:gsLst>
              <a:gs pos="0">
                <a:srgbClr val="660033">
                  <a:gamma/>
                  <a:shade val="69804"/>
                  <a:invGamma/>
                </a:srgbClr>
              </a:gs>
              <a:gs pos="100000">
                <a:srgbClr val="660033"/>
              </a:gs>
            </a:gsLst>
            <a:lin ang="2700000" scaled="1"/>
          </a:gradFill>
          <a:ln>
            <a:noFill/>
          </a:ln>
          <a:effectLst>
            <a:outerShdw dist="53882" dir="2700000" algn="ctr" rotWithShape="0">
              <a:srgbClr val="000000"/>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en-US"/>
          </a:p>
        </p:txBody>
      </p:sp>
      <p:sp>
        <p:nvSpPr>
          <p:cNvPr id="3080" name="Rectangle 8"/>
          <p:cNvSpPr>
            <a:spLocks noChangeArrowheads="1"/>
          </p:cNvSpPr>
          <p:nvPr/>
        </p:nvSpPr>
        <p:spPr bwMode="gray">
          <a:xfrm>
            <a:off x="4268788" y="1154113"/>
            <a:ext cx="608012" cy="1006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nSpc>
                <a:spcPct val="100000"/>
              </a:lnSpc>
              <a:spcBef>
                <a:spcPct val="0"/>
              </a:spcBef>
            </a:pPr>
            <a:r>
              <a:rPr lang="en-US" sz="6000">
                <a:solidFill>
                  <a:srgbClr val="FFCC66"/>
                </a:solidFill>
                <a:effectLst>
                  <a:outerShdw blurRad="38100" dist="38100" dir="2700000" algn="tl">
                    <a:srgbClr val="000000"/>
                  </a:outerShdw>
                </a:effectLst>
                <a:latin typeface="Arial" pitchFamily="34" charset="0"/>
              </a:rPr>
              <a:t>6</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Slide Number Placeholder 4"/>
          <p:cNvSpPr>
            <a:spLocks noGrp="1"/>
          </p:cNvSpPr>
          <p:nvPr>
            <p:ph type="sldNum" sz="quarter" idx="11"/>
          </p:nvPr>
        </p:nvSpPr>
        <p:spPr/>
        <p:txBody>
          <a:bodyPr/>
          <a:lstStyle>
            <a:lvl1pPr>
              <a:defRPr/>
            </a:lvl1pPr>
          </a:lstStyle>
          <a:p>
            <a:fld id="{05ACF4A5-6698-4880-B278-4B5F31BF7F8B}" type="slidenum">
              <a:rPr lang="en-US"/>
              <a:pPr/>
              <a:t>‹#›</a:t>
            </a:fld>
            <a:endParaRPr lang="en-US"/>
          </a:p>
        </p:txBody>
      </p:sp>
    </p:spTree>
    <p:extLst>
      <p:ext uri="{BB962C8B-B14F-4D97-AF65-F5344CB8AC3E}">
        <p14:creationId xmlns:p14="http://schemas.microsoft.com/office/powerpoint/2010/main" val="3779378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Slide Number Placeholder 4"/>
          <p:cNvSpPr>
            <a:spLocks noGrp="1"/>
          </p:cNvSpPr>
          <p:nvPr>
            <p:ph type="sldNum" sz="quarter" idx="11"/>
          </p:nvPr>
        </p:nvSpPr>
        <p:spPr/>
        <p:txBody>
          <a:bodyPr/>
          <a:lstStyle>
            <a:lvl1pPr>
              <a:defRPr/>
            </a:lvl1pPr>
          </a:lstStyle>
          <a:p>
            <a:fld id="{79996930-B3A2-4DBE-8365-1086CB5D1E2E}" type="slidenum">
              <a:rPr lang="en-US"/>
              <a:pPr/>
              <a:t>‹#›</a:t>
            </a:fld>
            <a:endParaRPr lang="en-US"/>
          </a:p>
        </p:txBody>
      </p:sp>
    </p:spTree>
    <p:extLst>
      <p:ext uri="{BB962C8B-B14F-4D97-AF65-F5344CB8AC3E}">
        <p14:creationId xmlns:p14="http://schemas.microsoft.com/office/powerpoint/2010/main" val="38887838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60425" y="1795463"/>
            <a:ext cx="3616325" cy="2165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795463"/>
            <a:ext cx="3616325" cy="216535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endParaRPr lang="en-US"/>
          </a:p>
        </p:txBody>
      </p:sp>
      <p:sp>
        <p:nvSpPr>
          <p:cNvPr id="6" name="Slide Number Placeholder 5"/>
          <p:cNvSpPr>
            <a:spLocks noGrp="1"/>
          </p:cNvSpPr>
          <p:nvPr>
            <p:ph type="sldNum" sz="quarter" idx="11"/>
          </p:nvPr>
        </p:nvSpPr>
        <p:spPr/>
        <p:txBody>
          <a:bodyPr/>
          <a:lstStyle>
            <a:lvl1pPr>
              <a:defRPr/>
            </a:lvl1pPr>
          </a:lstStyle>
          <a:p>
            <a:fld id="{CC9A3905-20B2-4C78-95C8-08F0ADCD6D2E}" type="slidenum">
              <a:rPr lang="en-US"/>
              <a:pPr/>
              <a:t>‹#›</a:t>
            </a:fld>
            <a:endParaRPr lang="en-US"/>
          </a:p>
        </p:txBody>
      </p:sp>
    </p:spTree>
    <p:extLst>
      <p:ext uri="{BB962C8B-B14F-4D97-AF65-F5344CB8AC3E}">
        <p14:creationId xmlns:p14="http://schemas.microsoft.com/office/powerpoint/2010/main" val="10993864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endParaRPr lang="en-US"/>
          </a:p>
        </p:txBody>
      </p:sp>
      <p:sp>
        <p:nvSpPr>
          <p:cNvPr id="8" name="Slide Number Placeholder 7"/>
          <p:cNvSpPr>
            <a:spLocks noGrp="1"/>
          </p:cNvSpPr>
          <p:nvPr>
            <p:ph type="sldNum" sz="quarter" idx="11"/>
          </p:nvPr>
        </p:nvSpPr>
        <p:spPr/>
        <p:txBody>
          <a:bodyPr/>
          <a:lstStyle>
            <a:lvl1pPr>
              <a:defRPr/>
            </a:lvl1pPr>
          </a:lstStyle>
          <a:p>
            <a:fld id="{113E810D-E4B5-4F84-BEE5-056370278FB5}" type="slidenum">
              <a:rPr lang="en-US"/>
              <a:pPr/>
              <a:t>‹#›</a:t>
            </a:fld>
            <a:endParaRPr lang="en-US"/>
          </a:p>
        </p:txBody>
      </p:sp>
    </p:spTree>
    <p:extLst>
      <p:ext uri="{BB962C8B-B14F-4D97-AF65-F5344CB8AC3E}">
        <p14:creationId xmlns:p14="http://schemas.microsoft.com/office/powerpoint/2010/main" val="32668828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endParaRPr lang="en-US"/>
          </a:p>
        </p:txBody>
      </p:sp>
      <p:sp>
        <p:nvSpPr>
          <p:cNvPr id="4" name="Slide Number Placeholder 3"/>
          <p:cNvSpPr>
            <a:spLocks noGrp="1"/>
          </p:cNvSpPr>
          <p:nvPr>
            <p:ph type="sldNum" sz="quarter" idx="11"/>
          </p:nvPr>
        </p:nvSpPr>
        <p:spPr/>
        <p:txBody>
          <a:bodyPr/>
          <a:lstStyle>
            <a:lvl1pPr>
              <a:defRPr/>
            </a:lvl1pPr>
          </a:lstStyle>
          <a:p>
            <a:fld id="{7A030698-EA59-4A39-8B18-07621770C462}" type="slidenum">
              <a:rPr lang="en-US"/>
              <a:pPr/>
              <a:t>‹#›</a:t>
            </a:fld>
            <a:endParaRPr lang="en-US"/>
          </a:p>
        </p:txBody>
      </p:sp>
    </p:spTree>
    <p:extLst>
      <p:ext uri="{BB962C8B-B14F-4D97-AF65-F5344CB8AC3E}">
        <p14:creationId xmlns:p14="http://schemas.microsoft.com/office/powerpoint/2010/main" val="23627116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Slide Number Placeholder 2"/>
          <p:cNvSpPr>
            <a:spLocks noGrp="1"/>
          </p:cNvSpPr>
          <p:nvPr>
            <p:ph type="sldNum" sz="quarter" idx="11"/>
          </p:nvPr>
        </p:nvSpPr>
        <p:spPr/>
        <p:txBody>
          <a:bodyPr/>
          <a:lstStyle>
            <a:lvl1pPr>
              <a:defRPr/>
            </a:lvl1pPr>
          </a:lstStyle>
          <a:p>
            <a:fld id="{362D448D-B9C7-490D-AD54-13E78894F5B6}" type="slidenum">
              <a:rPr lang="en-US"/>
              <a:pPr/>
              <a:t>‹#›</a:t>
            </a:fld>
            <a:endParaRPr lang="en-US"/>
          </a:p>
        </p:txBody>
      </p:sp>
    </p:spTree>
    <p:extLst>
      <p:ext uri="{BB962C8B-B14F-4D97-AF65-F5344CB8AC3E}">
        <p14:creationId xmlns:p14="http://schemas.microsoft.com/office/powerpoint/2010/main" val="31629995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Slide Number Placeholder 5"/>
          <p:cNvSpPr>
            <a:spLocks noGrp="1"/>
          </p:cNvSpPr>
          <p:nvPr>
            <p:ph type="sldNum" sz="quarter" idx="11"/>
          </p:nvPr>
        </p:nvSpPr>
        <p:spPr/>
        <p:txBody>
          <a:bodyPr/>
          <a:lstStyle>
            <a:lvl1pPr>
              <a:defRPr/>
            </a:lvl1pPr>
          </a:lstStyle>
          <a:p>
            <a:fld id="{B6AE993C-9359-48F6-8880-96379AA3B560}" type="slidenum">
              <a:rPr lang="en-US"/>
              <a:pPr/>
              <a:t>‹#›</a:t>
            </a:fld>
            <a:endParaRPr lang="en-US"/>
          </a:p>
        </p:txBody>
      </p:sp>
    </p:spTree>
    <p:extLst>
      <p:ext uri="{BB962C8B-B14F-4D97-AF65-F5344CB8AC3E}">
        <p14:creationId xmlns:p14="http://schemas.microsoft.com/office/powerpoint/2010/main" val="27437098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Slide Number Placeholder 5"/>
          <p:cNvSpPr>
            <a:spLocks noGrp="1"/>
          </p:cNvSpPr>
          <p:nvPr>
            <p:ph type="sldNum" sz="quarter" idx="11"/>
          </p:nvPr>
        </p:nvSpPr>
        <p:spPr/>
        <p:txBody>
          <a:bodyPr/>
          <a:lstStyle>
            <a:lvl1pPr>
              <a:defRPr/>
            </a:lvl1pPr>
          </a:lstStyle>
          <a:p>
            <a:fld id="{ABB77C21-41A5-44DD-8EA4-562777707E89}" type="slidenum">
              <a:rPr lang="en-US"/>
              <a:pPr/>
              <a:t>‹#›</a:t>
            </a:fld>
            <a:endParaRPr lang="en-US"/>
          </a:p>
        </p:txBody>
      </p:sp>
    </p:spTree>
    <p:extLst>
      <p:ext uri="{BB962C8B-B14F-4D97-AF65-F5344CB8AC3E}">
        <p14:creationId xmlns:p14="http://schemas.microsoft.com/office/powerpoint/2010/main" val="25614970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Slide Number Placeholder 4"/>
          <p:cNvSpPr>
            <a:spLocks noGrp="1"/>
          </p:cNvSpPr>
          <p:nvPr>
            <p:ph type="sldNum" sz="quarter" idx="11"/>
          </p:nvPr>
        </p:nvSpPr>
        <p:spPr/>
        <p:txBody>
          <a:bodyPr/>
          <a:lstStyle>
            <a:lvl1pPr>
              <a:defRPr/>
            </a:lvl1pPr>
          </a:lstStyle>
          <a:p>
            <a:fld id="{2D6B0387-EFC4-4894-8C64-C00EFF02CE21}" type="slidenum">
              <a:rPr lang="en-US"/>
              <a:pPr/>
              <a:t>‹#›</a:t>
            </a:fld>
            <a:endParaRPr lang="en-US"/>
          </a:p>
        </p:txBody>
      </p:sp>
    </p:spTree>
    <p:extLst>
      <p:ext uri="{BB962C8B-B14F-4D97-AF65-F5344CB8AC3E}">
        <p14:creationId xmlns:p14="http://schemas.microsoft.com/office/powerpoint/2010/main" val="9344253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399213" y="511175"/>
            <a:ext cx="1846262" cy="34496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60425" y="511175"/>
            <a:ext cx="5386388" cy="34496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endParaRPr lang="en-US"/>
          </a:p>
        </p:txBody>
      </p:sp>
      <p:sp>
        <p:nvSpPr>
          <p:cNvPr id="5" name="Slide Number Placeholder 4"/>
          <p:cNvSpPr>
            <a:spLocks noGrp="1"/>
          </p:cNvSpPr>
          <p:nvPr>
            <p:ph type="sldNum" sz="quarter" idx="11"/>
          </p:nvPr>
        </p:nvSpPr>
        <p:spPr/>
        <p:txBody>
          <a:bodyPr/>
          <a:lstStyle>
            <a:lvl1pPr>
              <a:defRPr/>
            </a:lvl1pPr>
          </a:lstStyle>
          <a:p>
            <a:fld id="{A6379B3F-4D7C-452B-85FD-8B970530F696}" type="slidenum">
              <a:rPr lang="en-US"/>
              <a:pPr/>
              <a:t>‹#›</a:t>
            </a:fld>
            <a:endParaRPr lang="en-US"/>
          </a:p>
        </p:txBody>
      </p:sp>
    </p:spTree>
    <p:extLst>
      <p:ext uri="{BB962C8B-B14F-4D97-AF65-F5344CB8AC3E}">
        <p14:creationId xmlns:p14="http://schemas.microsoft.com/office/powerpoint/2010/main" val="19259790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wmf"/><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000080"/>
            </a:gs>
            <a:gs pos="100000">
              <a:srgbClr val="000080">
                <a:gamma/>
                <a:shade val="49804"/>
                <a:invGamma/>
              </a:srgbClr>
            </a:gs>
          </a:gsLst>
          <a:lin ang="2700000" scaled="1"/>
        </a:gra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l">
              <a:lnSpc>
                <a:spcPct val="100000"/>
              </a:lnSpc>
              <a:spcBef>
                <a:spcPct val="0"/>
              </a:spcBef>
              <a:defRPr sz="1400" b="0">
                <a:solidFill>
                  <a:schemeClr val="tx1"/>
                </a:solidFill>
                <a:latin typeface="Times New Roman" pitchFamily="18" charset="0"/>
              </a:defRPr>
            </a:lvl1pPr>
          </a:lstStyle>
          <a:p>
            <a:endParaRPr lang="en-US"/>
          </a:p>
        </p:txBody>
      </p:sp>
      <p:sp>
        <p:nvSpPr>
          <p:cNvPr id="1027" name="Rectangle 3"/>
          <p:cNvSpPr>
            <a:spLocks noChangeArrowheads="1"/>
          </p:cNvSpPr>
          <p:nvPr/>
        </p:nvSpPr>
        <p:spPr bwMode="hidden">
          <a:xfrm>
            <a:off x="0" y="0"/>
            <a:ext cx="8648700" cy="6038850"/>
          </a:xfrm>
          <a:prstGeom prst="rect">
            <a:avLst/>
          </a:prstGeom>
          <a:gradFill rotWithShape="0">
            <a:gsLst>
              <a:gs pos="0">
                <a:srgbClr val="000066"/>
              </a:gs>
              <a:gs pos="100000">
                <a:srgbClr val="660033"/>
              </a:gs>
            </a:gsLst>
            <a:lin ang="27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8" name="Rectangle 4"/>
          <p:cNvSpPr>
            <a:spLocks noGrp="1" noChangeArrowheads="1"/>
          </p:cNvSpPr>
          <p:nvPr>
            <p:ph type="title"/>
          </p:nvPr>
        </p:nvSpPr>
        <p:spPr bwMode="auto">
          <a:xfrm>
            <a:off x="922338" y="511175"/>
            <a:ext cx="7299325" cy="881063"/>
          </a:xfrm>
          <a:prstGeom prst="rect">
            <a:avLst/>
          </a:prstGeom>
          <a:noFill/>
          <a:ln>
            <a:noFill/>
          </a:ln>
          <a:effectLst>
            <a:outerShdw dist="53882"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2075" tIns="46038" rIns="92075" bIns="46038" numCol="1" anchor="t" anchorCtr="0" compatLnSpc="1">
            <a:prstTxWarp prst="textNoShape">
              <a:avLst/>
            </a:prstTxWarp>
          </a:bodyPr>
          <a:lstStyle/>
          <a:p>
            <a:pPr lvl="0"/>
            <a:r>
              <a:rPr lang="en-US"/>
              <a:t>Click to edit Master title style</a:t>
            </a:r>
          </a:p>
        </p:txBody>
      </p:sp>
      <p:sp>
        <p:nvSpPr>
          <p:cNvPr id="1029" name="Rectangle 5"/>
          <p:cNvSpPr>
            <a:spLocks noGrp="1" noChangeArrowheads="1"/>
          </p:cNvSpPr>
          <p:nvPr>
            <p:ph type="body" idx="1"/>
          </p:nvPr>
        </p:nvSpPr>
        <p:spPr bwMode="auto">
          <a:xfrm>
            <a:off x="860425" y="1795463"/>
            <a:ext cx="7385050" cy="2165350"/>
          </a:xfrm>
          <a:prstGeom prst="rect">
            <a:avLst/>
          </a:prstGeom>
          <a:noFill/>
          <a:ln>
            <a:noFill/>
          </a:ln>
          <a:effectLst>
            <a:outerShdw dist="53882"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vert="horz" wrap="square" lIns="92075" tIns="46038" rIns="92075" bIns="46038" numCol="1" anchor="t" anchorCtr="0" compatLnSpc="1">
            <a:prstTxWarp prst="textNoShape">
              <a:avLst/>
            </a:prstTxWarp>
            <a:spAutoFit/>
          </a:bodyPr>
          <a:lstStyle/>
          <a:p>
            <a:pPr lvl="0"/>
            <a:endParaRPr lang="en-US"/>
          </a:p>
          <a:p>
            <a:pPr lvl="1"/>
            <a:r>
              <a:rPr lang="en-US"/>
              <a:t>First Level</a:t>
            </a:r>
          </a:p>
          <a:p>
            <a:pPr lvl="2"/>
            <a:r>
              <a:rPr lang="en-US"/>
              <a:t>Second Level</a:t>
            </a:r>
          </a:p>
          <a:p>
            <a:pPr lvl="0"/>
            <a:r>
              <a:rPr lang="en-US"/>
              <a:t>	</a:t>
            </a:r>
          </a:p>
        </p:txBody>
      </p:sp>
      <p:sp>
        <p:nvSpPr>
          <p:cNvPr id="1030" name="Rectangle 6"/>
          <p:cNvSpPr>
            <a:spLocks noChangeArrowheads="1"/>
          </p:cNvSpPr>
          <p:nvPr/>
        </p:nvSpPr>
        <p:spPr bwMode="auto">
          <a:xfrm>
            <a:off x="815975" y="6294438"/>
            <a:ext cx="504825" cy="2746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a:lnSpc>
                <a:spcPct val="100000"/>
              </a:lnSpc>
              <a:spcBef>
                <a:spcPct val="0"/>
              </a:spcBef>
            </a:pPr>
            <a:r>
              <a:rPr lang="en-US" sz="1200" b="0">
                <a:solidFill>
                  <a:srgbClr val="0066FF"/>
                </a:solidFill>
                <a:latin typeface="Arial" pitchFamily="34" charset="0"/>
              </a:rPr>
              <a:t>6-</a:t>
            </a:r>
            <a:fld id="{48E3AE75-2A0C-4D4A-BB94-76247D49E58A}" type="slidenum">
              <a:rPr lang="en-US" sz="1200" b="0">
                <a:solidFill>
                  <a:srgbClr val="0066FF"/>
                </a:solidFill>
                <a:latin typeface="Arial" pitchFamily="34" charset="0"/>
              </a:rPr>
              <a:pPr algn="l">
                <a:lnSpc>
                  <a:spcPct val="100000"/>
                </a:lnSpc>
                <a:spcBef>
                  <a:spcPct val="0"/>
                </a:spcBef>
              </a:pPr>
              <a:t>‹#›</a:t>
            </a:fld>
            <a:endParaRPr lang="en-US" sz="1200" b="0">
              <a:solidFill>
                <a:srgbClr val="0066FF"/>
              </a:solidFill>
              <a:latin typeface="Arial" pitchFamily="34" charset="0"/>
            </a:endParaRPr>
          </a:p>
        </p:txBody>
      </p:sp>
      <p:pic>
        <p:nvPicPr>
          <p:cNvPr id="1031" name="Picture 7"/>
          <p:cNvPicPr>
            <a:picLocks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6634163" y="6335713"/>
            <a:ext cx="1604962" cy="17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32" name="Rectangle 8"/>
          <p:cNvSpPr>
            <a:spLocks noChangeArrowheads="1"/>
          </p:cNvSpPr>
          <p:nvPr/>
        </p:nvSpPr>
        <p:spPr bwMode="auto">
          <a:xfrm>
            <a:off x="2420938" y="6311900"/>
            <a:ext cx="4102100" cy="2746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a:lnSpc>
                <a:spcPct val="100000"/>
              </a:lnSpc>
              <a:spcBef>
                <a:spcPct val="0"/>
              </a:spcBef>
            </a:pPr>
            <a:r>
              <a:rPr lang="en-US" sz="1200" b="0">
                <a:solidFill>
                  <a:srgbClr val="0066FF"/>
                </a:solidFill>
                <a:latin typeface="Arial" pitchFamily="34" charset="0"/>
              </a:rPr>
              <a:t>Copyright </a:t>
            </a:r>
            <a:r>
              <a:rPr lang="en-US" sz="1200" b="0">
                <a:solidFill>
                  <a:srgbClr val="0066FF"/>
                </a:solidFill>
                <a:latin typeface="Symbol" pitchFamily="18" charset="2"/>
              </a:rPr>
              <a:t>Ó</a:t>
            </a:r>
            <a:r>
              <a:rPr lang="en-US" sz="1200" b="0">
                <a:solidFill>
                  <a:srgbClr val="0066FF"/>
                </a:solidFill>
                <a:latin typeface="Arial" pitchFamily="34" charset="0"/>
              </a:rPr>
              <a:t> Oracle Corporation, 1998. All rights reserved.</a:t>
            </a:r>
          </a:p>
        </p:txBody>
      </p:sp>
      <p:sp>
        <p:nvSpPr>
          <p:cNvPr id="1033" name="Rectangle 9"/>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lvl1pPr algn="r">
              <a:lnSpc>
                <a:spcPct val="100000"/>
              </a:lnSpc>
              <a:spcBef>
                <a:spcPct val="0"/>
              </a:spcBef>
              <a:defRPr sz="1400" b="0">
                <a:solidFill>
                  <a:schemeClr val="tx1"/>
                </a:solidFill>
                <a:latin typeface="Times New Roman" pitchFamily="18" charset="0"/>
              </a:defRPr>
            </a:lvl1pPr>
          </a:lstStyle>
          <a:p>
            <a:fld id="{70DC3632-825E-49FF-AE86-F12D5BF470DF}" type="slidenum">
              <a:rPr lang="en-US"/>
              <a:pPr/>
              <a:t>‹#›</a:t>
            </a:fld>
            <a:endParaRPr lang="en-US"/>
          </a:p>
        </p:txBody>
      </p:sp>
    </p:spTree>
  </p:cSld>
  <p:clrMap bg1="dk2" tx1="lt1" bg2="dk1"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3600" b="1">
          <a:solidFill>
            <a:srgbClr val="FFCC66"/>
          </a:solidFill>
          <a:latin typeface="+mj-lt"/>
          <a:ea typeface="+mj-ea"/>
          <a:cs typeface="+mj-cs"/>
        </a:defRPr>
      </a:lvl1pPr>
      <a:lvl2pPr algn="ctr" rtl="0" eaLnBrk="0" fontAlgn="base" hangingPunct="0">
        <a:spcBef>
          <a:spcPct val="0"/>
        </a:spcBef>
        <a:spcAft>
          <a:spcPct val="0"/>
        </a:spcAft>
        <a:defRPr sz="3600" b="1">
          <a:solidFill>
            <a:srgbClr val="FFCC66"/>
          </a:solidFill>
          <a:latin typeface="Arial" pitchFamily="34" charset="0"/>
        </a:defRPr>
      </a:lvl2pPr>
      <a:lvl3pPr algn="ctr" rtl="0" eaLnBrk="0" fontAlgn="base" hangingPunct="0">
        <a:spcBef>
          <a:spcPct val="0"/>
        </a:spcBef>
        <a:spcAft>
          <a:spcPct val="0"/>
        </a:spcAft>
        <a:defRPr sz="3600" b="1">
          <a:solidFill>
            <a:srgbClr val="FFCC66"/>
          </a:solidFill>
          <a:latin typeface="Arial" pitchFamily="34" charset="0"/>
        </a:defRPr>
      </a:lvl3pPr>
      <a:lvl4pPr algn="ctr" rtl="0" eaLnBrk="0" fontAlgn="base" hangingPunct="0">
        <a:spcBef>
          <a:spcPct val="0"/>
        </a:spcBef>
        <a:spcAft>
          <a:spcPct val="0"/>
        </a:spcAft>
        <a:defRPr sz="3600" b="1">
          <a:solidFill>
            <a:srgbClr val="FFCC66"/>
          </a:solidFill>
          <a:latin typeface="Arial" pitchFamily="34" charset="0"/>
        </a:defRPr>
      </a:lvl4pPr>
      <a:lvl5pPr algn="ctr" rtl="0" eaLnBrk="0" fontAlgn="base" hangingPunct="0">
        <a:spcBef>
          <a:spcPct val="0"/>
        </a:spcBef>
        <a:spcAft>
          <a:spcPct val="0"/>
        </a:spcAft>
        <a:defRPr sz="3600" b="1">
          <a:solidFill>
            <a:srgbClr val="FFCC66"/>
          </a:solidFill>
          <a:latin typeface="Arial" pitchFamily="34" charset="0"/>
        </a:defRPr>
      </a:lvl5pPr>
      <a:lvl6pPr marL="457200" algn="ctr" rtl="0" eaLnBrk="0" fontAlgn="base" hangingPunct="0">
        <a:spcBef>
          <a:spcPct val="0"/>
        </a:spcBef>
        <a:spcAft>
          <a:spcPct val="0"/>
        </a:spcAft>
        <a:defRPr sz="3600" b="1">
          <a:solidFill>
            <a:srgbClr val="FFCC66"/>
          </a:solidFill>
          <a:latin typeface="Arial" pitchFamily="34" charset="0"/>
        </a:defRPr>
      </a:lvl6pPr>
      <a:lvl7pPr marL="914400" algn="ctr" rtl="0" eaLnBrk="0" fontAlgn="base" hangingPunct="0">
        <a:spcBef>
          <a:spcPct val="0"/>
        </a:spcBef>
        <a:spcAft>
          <a:spcPct val="0"/>
        </a:spcAft>
        <a:defRPr sz="3600" b="1">
          <a:solidFill>
            <a:srgbClr val="FFCC66"/>
          </a:solidFill>
          <a:latin typeface="Arial" pitchFamily="34" charset="0"/>
        </a:defRPr>
      </a:lvl7pPr>
      <a:lvl8pPr marL="1371600" algn="ctr" rtl="0" eaLnBrk="0" fontAlgn="base" hangingPunct="0">
        <a:spcBef>
          <a:spcPct val="0"/>
        </a:spcBef>
        <a:spcAft>
          <a:spcPct val="0"/>
        </a:spcAft>
        <a:defRPr sz="3600" b="1">
          <a:solidFill>
            <a:srgbClr val="FFCC66"/>
          </a:solidFill>
          <a:latin typeface="Arial" pitchFamily="34" charset="0"/>
        </a:defRPr>
      </a:lvl8pPr>
      <a:lvl9pPr marL="1828800" algn="ctr" rtl="0" eaLnBrk="0" fontAlgn="base" hangingPunct="0">
        <a:spcBef>
          <a:spcPct val="0"/>
        </a:spcBef>
        <a:spcAft>
          <a:spcPct val="0"/>
        </a:spcAft>
        <a:defRPr sz="3600" b="1">
          <a:solidFill>
            <a:srgbClr val="FFCC66"/>
          </a:solidFill>
          <a:latin typeface="Arial" pitchFamily="34" charset="0"/>
        </a:defRPr>
      </a:lvl9pPr>
    </p:titleStyle>
    <p:bodyStyle>
      <a:lvl1pPr algn="l" defTabSz="346075" rtl="0" eaLnBrk="0" fontAlgn="base" hangingPunct="0">
        <a:lnSpc>
          <a:spcPct val="95000"/>
        </a:lnSpc>
        <a:spcBef>
          <a:spcPct val="35000"/>
        </a:spcBef>
        <a:spcAft>
          <a:spcPct val="0"/>
        </a:spcAft>
        <a:tabLst>
          <a:tab pos="571500" algn="l"/>
        </a:tabLst>
        <a:defRPr sz="2800" b="1">
          <a:solidFill>
            <a:srgbClr val="FFFFCC"/>
          </a:solidFill>
          <a:effectLst>
            <a:outerShdw blurRad="38100" dist="38100" dir="2700000" algn="tl">
              <a:srgbClr val="000000"/>
            </a:outerShdw>
          </a:effectLst>
          <a:latin typeface="+mn-lt"/>
          <a:ea typeface="+mn-ea"/>
          <a:cs typeface="+mn-cs"/>
        </a:defRPr>
      </a:lvl1pPr>
      <a:lvl2pPr marL="341313" indent="-227013" algn="l" defTabSz="346075" rtl="0" eaLnBrk="0" fontAlgn="base" hangingPunct="0">
        <a:lnSpc>
          <a:spcPct val="95000"/>
        </a:lnSpc>
        <a:spcBef>
          <a:spcPct val="35000"/>
        </a:spcBef>
        <a:spcAft>
          <a:spcPct val="0"/>
        </a:spcAft>
        <a:buClr>
          <a:srgbClr val="FFCC66"/>
        </a:buClr>
        <a:buSzPct val="100000"/>
        <a:buChar char="•"/>
        <a:tabLst>
          <a:tab pos="571500" algn="l"/>
        </a:tabLst>
        <a:defRPr sz="2800" b="1">
          <a:solidFill>
            <a:srgbClr val="F8F8D3"/>
          </a:solidFill>
          <a:latin typeface="+mn-lt"/>
        </a:defRPr>
      </a:lvl2pPr>
      <a:lvl3pPr marL="741363" indent="-285750" algn="l" defTabSz="346075" rtl="0" eaLnBrk="0" fontAlgn="base" hangingPunct="0">
        <a:lnSpc>
          <a:spcPct val="95000"/>
        </a:lnSpc>
        <a:spcBef>
          <a:spcPct val="35000"/>
        </a:spcBef>
        <a:spcAft>
          <a:spcPct val="0"/>
        </a:spcAft>
        <a:buClr>
          <a:srgbClr val="FFCC66"/>
        </a:buClr>
        <a:buSzPct val="90000"/>
        <a:buChar char="–"/>
        <a:tabLst>
          <a:tab pos="571500" algn="l"/>
        </a:tabLst>
        <a:defRPr sz="2800" b="1">
          <a:solidFill>
            <a:srgbClr val="F8F8D3"/>
          </a:solidFill>
          <a:latin typeface="+mn-lt"/>
        </a:defRPr>
      </a:lvl3pPr>
      <a:lvl4pPr marL="1600200" indent="-228600" algn="l" defTabSz="346075" rtl="0" eaLnBrk="0" fontAlgn="base" hangingPunct="0">
        <a:spcBef>
          <a:spcPct val="20000"/>
        </a:spcBef>
        <a:spcAft>
          <a:spcPct val="0"/>
        </a:spcAft>
        <a:buChar char="–"/>
        <a:tabLst>
          <a:tab pos="571500" algn="l"/>
        </a:tabLst>
        <a:defRPr sz="2000">
          <a:solidFill>
            <a:schemeClr val="tx1"/>
          </a:solidFill>
          <a:latin typeface="Times New Roman" pitchFamily="18" charset="0"/>
        </a:defRPr>
      </a:lvl4pPr>
      <a:lvl5pPr marL="2057400" indent="-228600" algn="l" defTabSz="346075" rtl="0" eaLnBrk="0" fontAlgn="base" hangingPunct="0">
        <a:spcBef>
          <a:spcPct val="20000"/>
        </a:spcBef>
        <a:spcAft>
          <a:spcPct val="0"/>
        </a:spcAft>
        <a:buChar char="•"/>
        <a:tabLst>
          <a:tab pos="571500" algn="l"/>
        </a:tabLst>
        <a:defRPr sz="2000">
          <a:solidFill>
            <a:schemeClr val="tx1"/>
          </a:solidFill>
          <a:latin typeface="Times New Roman" pitchFamily="18" charset="0"/>
        </a:defRPr>
      </a:lvl5pPr>
      <a:lvl6pPr marL="2514600" indent="-228600" algn="l" defTabSz="346075" rtl="0" eaLnBrk="0" fontAlgn="base" hangingPunct="0">
        <a:spcBef>
          <a:spcPct val="20000"/>
        </a:spcBef>
        <a:spcAft>
          <a:spcPct val="0"/>
        </a:spcAft>
        <a:buChar char="•"/>
        <a:tabLst>
          <a:tab pos="571500" algn="l"/>
        </a:tabLst>
        <a:defRPr sz="2000">
          <a:solidFill>
            <a:schemeClr val="tx1"/>
          </a:solidFill>
          <a:latin typeface="Times New Roman" pitchFamily="18" charset="0"/>
        </a:defRPr>
      </a:lvl6pPr>
      <a:lvl7pPr marL="2971800" indent="-228600" algn="l" defTabSz="346075" rtl="0" eaLnBrk="0" fontAlgn="base" hangingPunct="0">
        <a:spcBef>
          <a:spcPct val="20000"/>
        </a:spcBef>
        <a:spcAft>
          <a:spcPct val="0"/>
        </a:spcAft>
        <a:buChar char="•"/>
        <a:tabLst>
          <a:tab pos="571500" algn="l"/>
        </a:tabLst>
        <a:defRPr sz="2000">
          <a:solidFill>
            <a:schemeClr val="tx1"/>
          </a:solidFill>
          <a:latin typeface="Times New Roman" pitchFamily="18" charset="0"/>
        </a:defRPr>
      </a:lvl7pPr>
      <a:lvl8pPr marL="3429000" indent="-228600" algn="l" defTabSz="346075" rtl="0" eaLnBrk="0" fontAlgn="base" hangingPunct="0">
        <a:spcBef>
          <a:spcPct val="20000"/>
        </a:spcBef>
        <a:spcAft>
          <a:spcPct val="0"/>
        </a:spcAft>
        <a:buChar char="•"/>
        <a:tabLst>
          <a:tab pos="571500" algn="l"/>
        </a:tabLst>
        <a:defRPr sz="2000">
          <a:solidFill>
            <a:schemeClr val="tx1"/>
          </a:solidFill>
          <a:latin typeface="Times New Roman" pitchFamily="18" charset="0"/>
        </a:defRPr>
      </a:lvl8pPr>
      <a:lvl9pPr marL="3886200" indent="-228600" algn="l" defTabSz="346075" rtl="0" eaLnBrk="0" fontAlgn="base" hangingPunct="0">
        <a:spcBef>
          <a:spcPct val="20000"/>
        </a:spcBef>
        <a:spcAft>
          <a:spcPct val="0"/>
        </a:spcAft>
        <a:buChar char="•"/>
        <a:tabLst>
          <a:tab pos="571500" algn="l"/>
        </a:tabLst>
        <a:defRPr sz="2000">
          <a:solidFill>
            <a:schemeClr val="tx1"/>
          </a:solidFill>
          <a:latin typeface="Times New Roman"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noFill/>
          <a:ln/>
        </p:spPr>
        <p:txBody>
          <a:bodyPr/>
          <a:lstStyle/>
          <a:p>
            <a:r>
              <a:rPr lang="en-US" sz="4000"/>
              <a:t>Subqueries</a:t>
            </a:r>
          </a:p>
        </p:txBody>
      </p:sp>
      <p:sp>
        <p:nvSpPr>
          <p:cNvPr id="5123" name="Rectangle 3"/>
          <p:cNvSpPr>
            <a:spLocks noGrp="1" noChangeArrowheads="1"/>
          </p:cNvSpPr>
          <p:nvPr>
            <p:ph type="subTitle" idx="1"/>
          </p:nvPr>
        </p:nvSpPr>
        <p:spPr>
          <a:noFill/>
          <a:ln/>
        </p:spPr>
        <p:txBody>
          <a:bodyPr/>
          <a:lstStyle/>
          <a:p>
            <a:pPr>
              <a:lnSpc>
                <a:spcPct val="100000"/>
              </a:lnSpc>
              <a:spcBef>
                <a:spcPct val="0"/>
              </a:spcBef>
            </a:pPr>
            <a:r>
              <a:rPr lang="en-US" sz="3600">
                <a:solidFill>
                  <a:srgbClr val="FFCC66"/>
                </a:solidFill>
                <a:effectLst/>
              </a:rPr>
              <a:t> </a:t>
            </a:r>
          </a:p>
        </p:txBody>
      </p:sp>
    </p:spTree>
  </p:cSld>
  <p:clrMapOvr>
    <a:overrideClrMapping bg1="dk2" tx1="lt1" bg2="dk1" tx2="lt2" accent1="accent1" accent2="accent2" accent3="accent3" accent4="accent4" accent5="accent5" accent6="accent6" hlink="hlink" folHlink="folHlink"/>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noFill/>
          <a:ln/>
        </p:spPr>
        <p:txBody>
          <a:bodyPr/>
          <a:lstStyle/>
          <a:p>
            <a:r>
              <a:rPr lang="en-US"/>
              <a:t>Objectives</a:t>
            </a:r>
          </a:p>
        </p:txBody>
      </p:sp>
      <p:sp>
        <p:nvSpPr>
          <p:cNvPr id="7171" name="Rectangle 3"/>
          <p:cNvSpPr>
            <a:spLocks noGrp="1" noChangeArrowheads="1"/>
          </p:cNvSpPr>
          <p:nvPr>
            <p:ph type="body" idx="1"/>
          </p:nvPr>
        </p:nvSpPr>
        <p:spPr>
          <a:xfrm>
            <a:off x="860425" y="1795463"/>
            <a:ext cx="7385050" cy="3940175"/>
          </a:xfrm>
          <a:noFill/>
          <a:ln/>
        </p:spPr>
        <p:txBody>
          <a:bodyPr/>
          <a:lstStyle/>
          <a:p>
            <a:r>
              <a:rPr lang="en-US"/>
              <a:t>After completing this lesson, you should be able to do the following:</a:t>
            </a:r>
          </a:p>
          <a:p>
            <a:pPr lvl="1"/>
            <a:r>
              <a:rPr lang="en-US"/>
              <a:t>Describe the types of problems that subqueries can solve</a:t>
            </a:r>
          </a:p>
          <a:p>
            <a:pPr lvl="1"/>
            <a:r>
              <a:rPr lang="en-US"/>
              <a:t>Define subqueries</a:t>
            </a:r>
          </a:p>
          <a:p>
            <a:pPr lvl="1"/>
            <a:r>
              <a:rPr lang="en-US"/>
              <a:t>List the types of subqueries</a:t>
            </a:r>
          </a:p>
          <a:p>
            <a:pPr lvl="1"/>
            <a:r>
              <a:rPr lang="en-US"/>
              <a:t>Write single-row and multiple-row subqueries</a:t>
            </a:r>
          </a:p>
        </p:txBody>
      </p:sp>
    </p:spTree>
  </p:cSld>
  <p:clrMapOvr>
    <a:masterClrMapping/>
  </p:clrMapOvr>
  <p:transition spd="slow"/>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noFill/>
          <a:ln/>
        </p:spPr>
        <p:txBody>
          <a:bodyPr/>
          <a:lstStyle/>
          <a:p>
            <a:r>
              <a:rPr lang="en-US"/>
              <a:t>Using a Subquery </a:t>
            </a:r>
            <a:br>
              <a:rPr lang="en-US"/>
            </a:br>
            <a:r>
              <a:rPr lang="en-US"/>
              <a:t>to Solve a Problem</a:t>
            </a:r>
          </a:p>
        </p:txBody>
      </p:sp>
      <p:sp>
        <p:nvSpPr>
          <p:cNvPr id="9219" name="Rectangle 3"/>
          <p:cNvSpPr>
            <a:spLocks noGrp="1" noChangeArrowheads="1"/>
          </p:cNvSpPr>
          <p:nvPr>
            <p:ph type="body" idx="1"/>
          </p:nvPr>
        </p:nvSpPr>
        <p:spPr>
          <a:xfrm>
            <a:off x="912813" y="1795463"/>
            <a:ext cx="7385050" cy="457200"/>
          </a:xfrm>
          <a:noFill/>
          <a:ln/>
        </p:spPr>
        <p:txBody>
          <a:bodyPr/>
          <a:lstStyle/>
          <a:p>
            <a:pPr algn="ctr" defTabSz="914400">
              <a:lnSpc>
                <a:spcPct val="100000"/>
              </a:lnSpc>
              <a:spcBef>
                <a:spcPct val="0"/>
              </a:spcBef>
              <a:tabLst/>
            </a:pPr>
            <a:r>
              <a:rPr lang="en-US" sz="2400"/>
              <a:t>“Who has a salary greater than Jones’?”</a:t>
            </a:r>
          </a:p>
        </p:txBody>
      </p:sp>
      <p:grpSp>
        <p:nvGrpSpPr>
          <p:cNvPr id="9222" name="Group 6"/>
          <p:cNvGrpSpPr>
            <a:grpSpLocks/>
          </p:cNvGrpSpPr>
          <p:nvPr/>
        </p:nvGrpSpPr>
        <p:grpSpPr bwMode="auto">
          <a:xfrm>
            <a:off x="1277938" y="4170363"/>
            <a:ext cx="847725" cy="736600"/>
            <a:chOff x="805" y="2627"/>
            <a:chExt cx="534" cy="464"/>
          </a:xfrm>
        </p:grpSpPr>
        <p:sp>
          <p:nvSpPr>
            <p:cNvPr id="9220" name="Freeform 4"/>
            <p:cNvSpPr>
              <a:spLocks/>
            </p:cNvSpPr>
            <p:nvPr/>
          </p:nvSpPr>
          <p:spPr bwMode="auto">
            <a:xfrm>
              <a:off x="805" y="2633"/>
              <a:ext cx="525" cy="458"/>
            </a:xfrm>
            <a:custGeom>
              <a:avLst/>
              <a:gdLst>
                <a:gd name="T0" fmla="*/ 190 w 525"/>
                <a:gd name="T1" fmla="*/ 136 h 458"/>
                <a:gd name="T2" fmla="*/ 199 w 525"/>
                <a:gd name="T3" fmla="*/ 206 h 458"/>
                <a:gd name="T4" fmla="*/ 220 w 525"/>
                <a:gd name="T5" fmla="*/ 268 h 458"/>
                <a:gd name="T6" fmla="*/ 254 w 525"/>
                <a:gd name="T7" fmla="*/ 313 h 458"/>
                <a:gd name="T8" fmla="*/ 295 w 525"/>
                <a:gd name="T9" fmla="*/ 345 h 458"/>
                <a:gd name="T10" fmla="*/ 346 w 525"/>
                <a:gd name="T11" fmla="*/ 355 h 458"/>
                <a:gd name="T12" fmla="*/ 401 w 525"/>
                <a:gd name="T13" fmla="*/ 346 h 458"/>
                <a:gd name="T14" fmla="*/ 462 w 525"/>
                <a:gd name="T15" fmla="*/ 310 h 458"/>
                <a:gd name="T16" fmla="*/ 524 w 525"/>
                <a:gd name="T17" fmla="*/ 249 h 458"/>
                <a:gd name="T18" fmla="*/ 508 w 525"/>
                <a:gd name="T19" fmla="*/ 273 h 458"/>
                <a:gd name="T20" fmla="*/ 465 w 525"/>
                <a:gd name="T21" fmla="*/ 322 h 458"/>
                <a:gd name="T22" fmla="*/ 403 w 525"/>
                <a:gd name="T23" fmla="*/ 384 h 458"/>
                <a:gd name="T24" fmla="*/ 330 w 525"/>
                <a:gd name="T25" fmla="*/ 435 h 458"/>
                <a:gd name="T26" fmla="*/ 255 w 525"/>
                <a:gd name="T27" fmla="*/ 457 h 458"/>
                <a:gd name="T28" fmla="*/ 181 w 525"/>
                <a:gd name="T29" fmla="*/ 430 h 458"/>
                <a:gd name="T30" fmla="*/ 120 w 525"/>
                <a:gd name="T31" fmla="*/ 336 h 458"/>
                <a:gd name="T32" fmla="*/ 79 w 525"/>
                <a:gd name="T33" fmla="*/ 150 h 458"/>
                <a:gd name="T34" fmla="*/ 0 w 525"/>
                <a:gd name="T35" fmla="*/ 164 h 458"/>
                <a:gd name="T36" fmla="*/ 155 w 525"/>
                <a:gd name="T37" fmla="*/ 0 h 458"/>
                <a:gd name="T38" fmla="*/ 252 w 525"/>
                <a:gd name="T39" fmla="*/ 121 h 458"/>
                <a:gd name="T40" fmla="*/ 190 w 525"/>
                <a:gd name="T41" fmla="*/ 136 h 4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25" h="458">
                  <a:moveTo>
                    <a:pt x="190" y="136"/>
                  </a:moveTo>
                  <a:lnTo>
                    <a:pt x="199" y="206"/>
                  </a:lnTo>
                  <a:lnTo>
                    <a:pt x="220" y="268"/>
                  </a:lnTo>
                  <a:lnTo>
                    <a:pt x="254" y="313"/>
                  </a:lnTo>
                  <a:lnTo>
                    <a:pt x="295" y="345"/>
                  </a:lnTo>
                  <a:lnTo>
                    <a:pt x="346" y="355"/>
                  </a:lnTo>
                  <a:lnTo>
                    <a:pt x="401" y="346"/>
                  </a:lnTo>
                  <a:lnTo>
                    <a:pt x="462" y="310"/>
                  </a:lnTo>
                  <a:lnTo>
                    <a:pt x="524" y="249"/>
                  </a:lnTo>
                  <a:lnTo>
                    <a:pt x="508" y="273"/>
                  </a:lnTo>
                  <a:lnTo>
                    <a:pt x="465" y="322"/>
                  </a:lnTo>
                  <a:lnTo>
                    <a:pt x="403" y="384"/>
                  </a:lnTo>
                  <a:lnTo>
                    <a:pt x="330" y="435"/>
                  </a:lnTo>
                  <a:lnTo>
                    <a:pt x="255" y="457"/>
                  </a:lnTo>
                  <a:lnTo>
                    <a:pt x="181" y="430"/>
                  </a:lnTo>
                  <a:lnTo>
                    <a:pt x="120" y="336"/>
                  </a:lnTo>
                  <a:lnTo>
                    <a:pt x="79" y="150"/>
                  </a:lnTo>
                  <a:lnTo>
                    <a:pt x="0" y="164"/>
                  </a:lnTo>
                  <a:lnTo>
                    <a:pt x="155" y="0"/>
                  </a:lnTo>
                  <a:lnTo>
                    <a:pt x="252" y="121"/>
                  </a:lnTo>
                  <a:lnTo>
                    <a:pt x="190" y="136"/>
                  </a:lnTo>
                </a:path>
              </a:pathLst>
            </a:custGeom>
            <a:solidFill>
              <a:schemeClr val="bg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1" name="Freeform 5"/>
            <p:cNvSpPr>
              <a:spLocks/>
            </p:cNvSpPr>
            <p:nvPr/>
          </p:nvSpPr>
          <p:spPr bwMode="auto">
            <a:xfrm>
              <a:off x="813" y="2627"/>
              <a:ext cx="526" cy="459"/>
            </a:xfrm>
            <a:custGeom>
              <a:avLst/>
              <a:gdLst>
                <a:gd name="T0" fmla="*/ 190 w 526"/>
                <a:gd name="T1" fmla="*/ 137 h 459"/>
                <a:gd name="T2" fmla="*/ 200 w 526"/>
                <a:gd name="T3" fmla="*/ 208 h 459"/>
                <a:gd name="T4" fmla="*/ 221 w 526"/>
                <a:gd name="T5" fmla="*/ 268 h 459"/>
                <a:gd name="T6" fmla="*/ 254 w 526"/>
                <a:gd name="T7" fmla="*/ 315 h 459"/>
                <a:gd name="T8" fmla="*/ 296 w 526"/>
                <a:gd name="T9" fmla="*/ 344 h 459"/>
                <a:gd name="T10" fmla="*/ 347 w 526"/>
                <a:gd name="T11" fmla="*/ 354 h 459"/>
                <a:gd name="T12" fmla="*/ 403 w 526"/>
                <a:gd name="T13" fmla="*/ 345 h 459"/>
                <a:gd name="T14" fmla="*/ 464 w 526"/>
                <a:gd name="T15" fmla="*/ 309 h 459"/>
                <a:gd name="T16" fmla="*/ 525 w 526"/>
                <a:gd name="T17" fmla="*/ 249 h 459"/>
                <a:gd name="T18" fmla="*/ 510 w 526"/>
                <a:gd name="T19" fmla="*/ 271 h 459"/>
                <a:gd name="T20" fmla="*/ 467 w 526"/>
                <a:gd name="T21" fmla="*/ 322 h 459"/>
                <a:gd name="T22" fmla="*/ 405 w 526"/>
                <a:gd name="T23" fmla="*/ 384 h 459"/>
                <a:gd name="T24" fmla="*/ 331 w 526"/>
                <a:gd name="T25" fmla="*/ 435 h 459"/>
                <a:gd name="T26" fmla="*/ 256 w 526"/>
                <a:gd name="T27" fmla="*/ 458 h 459"/>
                <a:gd name="T28" fmla="*/ 182 w 526"/>
                <a:gd name="T29" fmla="*/ 431 h 459"/>
                <a:gd name="T30" fmla="*/ 122 w 526"/>
                <a:gd name="T31" fmla="*/ 335 h 459"/>
                <a:gd name="T32" fmla="*/ 80 w 526"/>
                <a:gd name="T33" fmla="*/ 153 h 459"/>
                <a:gd name="T34" fmla="*/ 0 w 526"/>
                <a:gd name="T35" fmla="*/ 166 h 459"/>
                <a:gd name="T36" fmla="*/ 157 w 526"/>
                <a:gd name="T37" fmla="*/ 0 h 459"/>
                <a:gd name="T38" fmla="*/ 253 w 526"/>
                <a:gd name="T39" fmla="*/ 122 h 459"/>
                <a:gd name="T40" fmla="*/ 190 w 526"/>
                <a:gd name="T41" fmla="*/ 137 h 4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26" h="459">
                  <a:moveTo>
                    <a:pt x="190" y="137"/>
                  </a:moveTo>
                  <a:lnTo>
                    <a:pt x="200" y="208"/>
                  </a:lnTo>
                  <a:lnTo>
                    <a:pt x="221" y="268"/>
                  </a:lnTo>
                  <a:lnTo>
                    <a:pt x="254" y="315"/>
                  </a:lnTo>
                  <a:lnTo>
                    <a:pt x="296" y="344"/>
                  </a:lnTo>
                  <a:lnTo>
                    <a:pt x="347" y="354"/>
                  </a:lnTo>
                  <a:lnTo>
                    <a:pt x="403" y="345"/>
                  </a:lnTo>
                  <a:lnTo>
                    <a:pt x="464" y="309"/>
                  </a:lnTo>
                  <a:lnTo>
                    <a:pt x="525" y="249"/>
                  </a:lnTo>
                  <a:lnTo>
                    <a:pt x="510" y="271"/>
                  </a:lnTo>
                  <a:lnTo>
                    <a:pt x="467" y="322"/>
                  </a:lnTo>
                  <a:lnTo>
                    <a:pt x="405" y="384"/>
                  </a:lnTo>
                  <a:lnTo>
                    <a:pt x="331" y="435"/>
                  </a:lnTo>
                  <a:lnTo>
                    <a:pt x="256" y="458"/>
                  </a:lnTo>
                  <a:lnTo>
                    <a:pt x="182" y="431"/>
                  </a:lnTo>
                  <a:lnTo>
                    <a:pt x="122" y="335"/>
                  </a:lnTo>
                  <a:lnTo>
                    <a:pt x="80" y="153"/>
                  </a:lnTo>
                  <a:lnTo>
                    <a:pt x="0" y="166"/>
                  </a:lnTo>
                  <a:lnTo>
                    <a:pt x="157" y="0"/>
                  </a:lnTo>
                  <a:lnTo>
                    <a:pt x="253" y="122"/>
                  </a:lnTo>
                  <a:lnTo>
                    <a:pt x="190" y="137"/>
                  </a:lnTo>
                </a:path>
              </a:pathLst>
            </a:custGeom>
            <a:solidFill>
              <a:schemeClr val="tx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9223" name="Rectangle 7"/>
          <p:cNvSpPr>
            <a:spLocks noChangeArrowheads="1"/>
          </p:cNvSpPr>
          <p:nvPr/>
        </p:nvSpPr>
        <p:spPr bwMode="blackWhite">
          <a:xfrm>
            <a:off x="949325" y="2395538"/>
            <a:ext cx="7315200" cy="3479800"/>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anchor="ctr"/>
          <a:lstStyle/>
          <a:p>
            <a:endParaRPr lang="en-US"/>
          </a:p>
        </p:txBody>
      </p:sp>
      <p:sp>
        <p:nvSpPr>
          <p:cNvPr id="9224" name="Rectangle 8"/>
          <p:cNvSpPr>
            <a:spLocks noChangeArrowheads="1"/>
          </p:cNvSpPr>
          <p:nvPr/>
        </p:nvSpPr>
        <p:spPr bwMode="auto">
          <a:xfrm>
            <a:off x="2224088" y="3074988"/>
            <a:ext cx="5881687"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l">
              <a:lnSpc>
                <a:spcPct val="100000"/>
              </a:lnSpc>
              <a:spcBef>
                <a:spcPct val="0"/>
              </a:spcBef>
            </a:pPr>
            <a:r>
              <a:rPr lang="en-US" sz="2200">
                <a:solidFill>
                  <a:srgbClr val="000000"/>
                </a:solidFill>
                <a:latin typeface="Arial" pitchFamily="34" charset="0"/>
              </a:rPr>
              <a:t>“Which employees have a salary greater than Jones’ salary?”</a:t>
            </a:r>
          </a:p>
        </p:txBody>
      </p:sp>
      <p:sp>
        <p:nvSpPr>
          <p:cNvPr id="9225" name="Oval 9"/>
          <p:cNvSpPr>
            <a:spLocks noChangeArrowheads="1"/>
          </p:cNvSpPr>
          <p:nvPr/>
        </p:nvSpPr>
        <p:spPr bwMode="auto">
          <a:xfrm>
            <a:off x="1025525" y="2954338"/>
            <a:ext cx="1117600" cy="1079500"/>
          </a:xfrm>
          <a:prstGeom prst="ellipse">
            <a:avLst/>
          </a:prstGeom>
          <a:solidFill>
            <a:srgbClr val="FFCC66"/>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226" name="Rectangle 10"/>
          <p:cNvSpPr>
            <a:spLocks noChangeArrowheads="1"/>
          </p:cNvSpPr>
          <p:nvPr/>
        </p:nvSpPr>
        <p:spPr bwMode="auto">
          <a:xfrm>
            <a:off x="1136650" y="2524125"/>
            <a:ext cx="14287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a:lnSpc>
                <a:spcPct val="100000"/>
              </a:lnSpc>
              <a:spcBef>
                <a:spcPct val="0"/>
              </a:spcBef>
            </a:pPr>
            <a:r>
              <a:rPr lang="en-US" sz="1800">
                <a:solidFill>
                  <a:srgbClr val="000000"/>
                </a:solidFill>
                <a:latin typeface="Arial" pitchFamily="34" charset="0"/>
              </a:rPr>
              <a:t>Main Query</a:t>
            </a:r>
          </a:p>
        </p:txBody>
      </p:sp>
      <p:sp>
        <p:nvSpPr>
          <p:cNvPr id="9227" name="Freeform 11"/>
          <p:cNvSpPr>
            <a:spLocks/>
          </p:cNvSpPr>
          <p:nvPr/>
        </p:nvSpPr>
        <p:spPr bwMode="auto">
          <a:xfrm>
            <a:off x="1446213" y="3049588"/>
            <a:ext cx="242887" cy="760412"/>
          </a:xfrm>
          <a:custGeom>
            <a:avLst/>
            <a:gdLst>
              <a:gd name="T0" fmla="*/ 123 w 153"/>
              <a:gd name="T1" fmla="*/ 269 h 479"/>
              <a:gd name="T2" fmla="*/ 138 w 153"/>
              <a:gd name="T3" fmla="*/ 198 h 479"/>
              <a:gd name="T4" fmla="*/ 151 w 153"/>
              <a:gd name="T5" fmla="*/ 162 h 479"/>
              <a:gd name="T6" fmla="*/ 147 w 153"/>
              <a:gd name="T7" fmla="*/ 148 h 479"/>
              <a:gd name="T8" fmla="*/ 141 w 153"/>
              <a:gd name="T9" fmla="*/ 128 h 479"/>
              <a:gd name="T10" fmla="*/ 135 w 153"/>
              <a:gd name="T11" fmla="*/ 108 h 479"/>
              <a:gd name="T12" fmla="*/ 125 w 153"/>
              <a:gd name="T13" fmla="*/ 96 h 479"/>
              <a:gd name="T14" fmla="*/ 111 w 153"/>
              <a:gd name="T15" fmla="*/ 85 h 479"/>
              <a:gd name="T16" fmla="*/ 97 w 153"/>
              <a:gd name="T17" fmla="*/ 76 h 479"/>
              <a:gd name="T18" fmla="*/ 87 w 153"/>
              <a:gd name="T19" fmla="*/ 70 h 479"/>
              <a:gd name="T20" fmla="*/ 91 w 153"/>
              <a:gd name="T21" fmla="*/ 64 h 479"/>
              <a:gd name="T22" fmla="*/ 92 w 153"/>
              <a:gd name="T23" fmla="*/ 45 h 479"/>
              <a:gd name="T24" fmla="*/ 94 w 153"/>
              <a:gd name="T25" fmla="*/ 38 h 479"/>
              <a:gd name="T26" fmla="*/ 95 w 153"/>
              <a:gd name="T27" fmla="*/ 29 h 479"/>
              <a:gd name="T28" fmla="*/ 94 w 153"/>
              <a:gd name="T29" fmla="*/ 19 h 479"/>
              <a:gd name="T30" fmla="*/ 89 w 153"/>
              <a:gd name="T31" fmla="*/ 12 h 479"/>
              <a:gd name="T32" fmla="*/ 87 w 153"/>
              <a:gd name="T33" fmla="*/ 8 h 479"/>
              <a:gd name="T34" fmla="*/ 86 w 153"/>
              <a:gd name="T35" fmla="*/ 7 h 479"/>
              <a:gd name="T36" fmla="*/ 82 w 153"/>
              <a:gd name="T37" fmla="*/ 4 h 479"/>
              <a:gd name="T38" fmla="*/ 70 w 153"/>
              <a:gd name="T39" fmla="*/ 0 h 479"/>
              <a:gd name="T40" fmla="*/ 59 w 153"/>
              <a:gd name="T41" fmla="*/ 0 h 479"/>
              <a:gd name="T42" fmla="*/ 53 w 153"/>
              <a:gd name="T43" fmla="*/ 2 h 479"/>
              <a:gd name="T44" fmla="*/ 47 w 153"/>
              <a:gd name="T45" fmla="*/ 8 h 479"/>
              <a:gd name="T46" fmla="*/ 40 w 153"/>
              <a:gd name="T47" fmla="*/ 15 h 479"/>
              <a:gd name="T48" fmla="*/ 39 w 153"/>
              <a:gd name="T49" fmla="*/ 27 h 479"/>
              <a:gd name="T50" fmla="*/ 40 w 153"/>
              <a:gd name="T51" fmla="*/ 42 h 479"/>
              <a:gd name="T52" fmla="*/ 42 w 153"/>
              <a:gd name="T53" fmla="*/ 52 h 479"/>
              <a:gd name="T54" fmla="*/ 51 w 153"/>
              <a:gd name="T55" fmla="*/ 61 h 479"/>
              <a:gd name="T56" fmla="*/ 51 w 153"/>
              <a:gd name="T57" fmla="*/ 70 h 479"/>
              <a:gd name="T58" fmla="*/ 39 w 153"/>
              <a:gd name="T59" fmla="*/ 76 h 479"/>
              <a:gd name="T60" fmla="*/ 24 w 153"/>
              <a:gd name="T61" fmla="*/ 87 h 479"/>
              <a:gd name="T62" fmla="*/ 13 w 153"/>
              <a:gd name="T63" fmla="*/ 95 h 479"/>
              <a:gd name="T64" fmla="*/ 10 w 153"/>
              <a:gd name="T65" fmla="*/ 103 h 479"/>
              <a:gd name="T66" fmla="*/ 8 w 153"/>
              <a:gd name="T67" fmla="*/ 124 h 479"/>
              <a:gd name="T68" fmla="*/ 5 w 153"/>
              <a:gd name="T69" fmla="*/ 153 h 479"/>
              <a:gd name="T70" fmla="*/ 2 w 153"/>
              <a:gd name="T71" fmla="*/ 176 h 479"/>
              <a:gd name="T72" fmla="*/ 1 w 153"/>
              <a:gd name="T73" fmla="*/ 187 h 479"/>
              <a:gd name="T74" fmla="*/ 0 w 153"/>
              <a:gd name="T75" fmla="*/ 207 h 479"/>
              <a:gd name="T76" fmla="*/ 0 w 153"/>
              <a:gd name="T77" fmla="*/ 232 h 479"/>
              <a:gd name="T78" fmla="*/ 0 w 153"/>
              <a:gd name="T79" fmla="*/ 256 h 479"/>
              <a:gd name="T80" fmla="*/ 4 w 153"/>
              <a:gd name="T81" fmla="*/ 266 h 479"/>
              <a:gd name="T82" fmla="*/ 9 w 153"/>
              <a:gd name="T83" fmla="*/ 269 h 479"/>
              <a:gd name="T84" fmla="*/ 14 w 153"/>
              <a:gd name="T85" fmla="*/ 270 h 479"/>
              <a:gd name="T86" fmla="*/ 17 w 153"/>
              <a:gd name="T87" fmla="*/ 270 h 479"/>
              <a:gd name="T88" fmla="*/ 16 w 153"/>
              <a:gd name="T89" fmla="*/ 263 h 479"/>
              <a:gd name="T90" fmla="*/ 23 w 153"/>
              <a:gd name="T91" fmla="*/ 264 h 479"/>
              <a:gd name="T92" fmla="*/ 21 w 153"/>
              <a:gd name="T93" fmla="*/ 349 h 479"/>
              <a:gd name="T94" fmla="*/ 18 w 153"/>
              <a:gd name="T95" fmla="*/ 440 h 479"/>
              <a:gd name="T96" fmla="*/ 39 w 153"/>
              <a:gd name="T97" fmla="*/ 452 h 479"/>
              <a:gd name="T98" fmla="*/ 70 w 153"/>
              <a:gd name="T99" fmla="*/ 453 h 479"/>
              <a:gd name="T100" fmla="*/ 74 w 153"/>
              <a:gd name="T101" fmla="*/ 460 h 479"/>
              <a:gd name="T102" fmla="*/ 81 w 153"/>
              <a:gd name="T103" fmla="*/ 468 h 479"/>
              <a:gd name="T104" fmla="*/ 87 w 153"/>
              <a:gd name="T105" fmla="*/ 475 h 479"/>
              <a:gd name="T106" fmla="*/ 93 w 153"/>
              <a:gd name="T107" fmla="*/ 478 h 479"/>
              <a:gd name="T108" fmla="*/ 100 w 153"/>
              <a:gd name="T109" fmla="*/ 477 h 479"/>
              <a:gd name="T110" fmla="*/ 106 w 153"/>
              <a:gd name="T111" fmla="*/ 475 h 479"/>
              <a:gd name="T112" fmla="*/ 109 w 153"/>
              <a:gd name="T113" fmla="*/ 474 h 479"/>
              <a:gd name="T114" fmla="*/ 104 w 153"/>
              <a:gd name="T115" fmla="*/ 457 h 479"/>
              <a:gd name="T116" fmla="*/ 114 w 153"/>
              <a:gd name="T117" fmla="*/ 354 h 479"/>
              <a:gd name="T118" fmla="*/ 121 w 153"/>
              <a:gd name="T119" fmla="*/ 247 h 4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53" h="479">
                <a:moveTo>
                  <a:pt x="121" y="247"/>
                </a:moveTo>
                <a:lnTo>
                  <a:pt x="123" y="269"/>
                </a:lnTo>
                <a:lnTo>
                  <a:pt x="143" y="243"/>
                </a:lnTo>
                <a:lnTo>
                  <a:pt x="138" y="198"/>
                </a:lnTo>
                <a:lnTo>
                  <a:pt x="152" y="164"/>
                </a:lnTo>
                <a:lnTo>
                  <a:pt x="151" y="162"/>
                </a:lnTo>
                <a:lnTo>
                  <a:pt x="150" y="157"/>
                </a:lnTo>
                <a:lnTo>
                  <a:pt x="147" y="148"/>
                </a:lnTo>
                <a:lnTo>
                  <a:pt x="145" y="138"/>
                </a:lnTo>
                <a:lnTo>
                  <a:pt x="141" y="128"/>
                </a:lnTo>
                <a:lnTo>
                  <a:pt x="138" y="117"/>
                </a:lnTo>
                <a:lnTo>
                  <a:pt x="135" y="108"/>
                </a:lnTo>
                <a:lnTo>
                  <a:pt x="130" y="102"/>
                </a:lnTo>
                <a:lnTo>
                  <a:pt x="125" y="96"/>
                </a:lnTo>
                <a:lnTo>
                  <a:pt x="119" y="90"/>
                </a:lnTo>
                <a:lnTo>
                  <a:pt x="111" y="85"/>
                </a:lnTo>
                <a:lnTo>
                  <a:pt x="103" y="80"/>
                </a:lnTo>
                <a:lnTo>
                  <a:pt x="97" y="76"/>
                </a:lnTo>
                <a:lnTo>
                  <a:pt x="91" y="72"/>
                </a:lnTo>
                <a:lnTo>
                  <a:pt x="87" y="70"/>
                </a:lnTo>
                <a:lnTo>
                  <a:pt x="86" y="69"/>
                </a:lnTo>
                <a:lnTo>
                  <a:pt x="91" y="64"/>
                </a:lnTo>
                <a:lnTo>
                  <a:pt x="92" y="46"/>
                </a:lnTo>
                <a:lnTo>
                  <a:pt x="92" y="45"/>
                </a:lnTo>
                <a:lnTo>
                  <a:pt x="93" y="42"/>
                </a:lnTo>
                <a:lnTo>
                  <a:pt x="94" y="38"/>
                </a:lnTo>
                <a:lnTo>
                  <a:pt x="95" y="34"/>
                </a:lnTo>
                <a:lnTo>
                  <a:pt x="95" y="29"/>
                </a:lnTo>
                <a:lnTo>
                  <a:pt x="95" y="24"/>
                </a:lnTo>
                <a:lnTo>
                  <a:pt x="94" y="19"/>
                </a:lnTo>
                <a:lnTo>
                  <a:pt x="92" y="15"/>
                </a:lnTo>
                <a:lnTo>
                  <a:pt x="89" y="12"/>
                </a:lnTo>
                <a:lnTo>
                  <a:pt x="87" y="10"/>
                </a:lnTo>
                <a:lnTo>
                  <a:pt x="87" y="8"/>
                </a:lnTo>
                <a:lnTo>
                  <a:pt x="87" y="8"/>
                </a:lnTo>
                <a:lnTo>
                  <a:pt x="86" y="7"/>
                </a:lnTo>
                <a:lnTo>
                  <a:pt x="85" y="6"/>
                </a:lnTo>
                <a:lnTo>
                  <a:pt x="82" y="4"/>
                </a:lnTo>
                <a:lnTo>
                  <a:pt x="77" y="3"/>
                </a:lnTo>
                <a:lnTo>
                  <a:pt x="70" y="0"/>
                </a:lnTo>
                <a:lnTo>
                  <a:pt x="64" y="0"/>
                </a:lnTo>
                <a:lnTo>
                  <a:pt x="59" y="0"/>
                </a:lnTo>
                <a:lnTo>
                  <a:pt x="56" y="0"/>
                </a:lnTo>
                <a:lnTo>
                  <a:pt x="53" y="2"/>
                </a:lnTo>
                <a:lnTo>
                  <a:pt x="50" y="5"/>
                </a:lnTo>
                <a:lnTo>
                  <a:pt x="47" y="8"/>
                </a:lnTo>
                <a:lnTo>
                  <a:pt x="43" y="11"/>
                </a:lnTo>
                <a:lnTo>
                  <a:pt x="40" y="15"/>
                </a:lnTo>
                <a:lnTo>
                  <a:pt x="39" y="21"/>
                </a:lnTo>
                <a:lnTo>
                  <a:pt x="39" y="27"/>
                </a:lnTo>
                <a:lnTo>
                  <a:pt x="39" y="35"/>
                </a:lnTo>
                <a:lnTo>
                  <a:pt x="40" y="42"/>
                </a:lnTo>
                <a:lnTo>
                  <a:pt x="41" y="48"/>
                </a:lnTo>
                <a:lnTo>
                  <a:pt x="42" y="52"/>
                </a:lnTo>
                <a:lnTo>
                  <a:pt x="43" y="54"/>
                </a:lnTo>
                <a:lnTo>
                  <a:pt x="51" y="61"/>
                </a:lnTo>
                <a:lnTo>
                  <a:pt x="53" y="69"/>
                </a:lnTo>
                <a:lnTo>
                  <a:pt x="51" y="70"/>
                </a:lnTo>
                <a:lnTo>
                  <a:pt x="46" y="73"/>
                </a:lnTo>
                <a:lnTo>
                  <a:pt x="39" y="76"/>
                </a:lnTo>
                <a:lnTo>
                  <a:pt x="32" y="81"/>
                </a:lnTo>
                <a:lnTo>
                  <a:pt x="24" y="87"/>
                </a:lnTo>
                <a:lnTo>
                  <a:pt x="18" y="91"/>
                </a:lnTo>
                <a:lnTo>
                  <a:pt x="13" y="95"/>
                </a:lnTo>
                <a:lnTo>
                  <a:pt x="11" y="98"/>
                </a:lnTo>
                <a:lnTo>
                  <a:pt x="10" y="103"/>
                </a:lnTo>
                <a:lnTo>
                  <a:pt x="10" y="112"/>
                </a:lnTo>
                <a:lnTo>
                  <a:pt x="8" y="124"/>
                </a:lnTo>
                <a:lnTo>
                  <a:pt x="6" y="138"/>
                </a:lnTo>
                <a:lnTo>
                  <a:pt x="5" y="153"/>
                </a:lnTo>
                <a:lnTo>
                  <a:pt x="3" y="166"/>
                </a:lnTo>
                <a:lnTo>
                  <a:pt x="2" y="176"/>
                </a:lnTo>
                <a:lnTo>
                  <a:pt x="2" y="183"/>
                </a:lnTo>
                <a:lnTo>
                  <a:pt x="1" y="187"/>
                </a:lnTo>
                <a:lnTo>
                  <a:pt x="1" y="196"/>
                </a:lnTo>
                <a:lnTo>
                  <a:pt x="0" y="207"/>
                </a:lnTo>
                <a:lnTo>
                  <a:pt x="0" y="219"/>
                </a:lnTo>
                <a:lnTo>
                  <a:pt x="0" y="232"/>
                </a:lnTo>
                <a:lnTo>
                  <a:pt x="0" y="244"/>
                </a:lnTo>
                <a:lnTo>
                  <a:pt x="0" y="256"/>
                </a:lnTo>
                <a:lnTo>
                  <a:pt x="2" y="264"/>
                </a:lnTo>
                <a:lnTo>
                  <a:pt x="4" y="266"/>
                </a:lnTo>
                <a:lnTo>
                  <a:pt x="6" y="268"/>
                </a:lnTo>
                <a:lnTo>
                  <a:pt x="9" y="269"/>
                </a:lnTo>
                <a:lnTo>
                  <a:pt x="11" y="270"/>
                </a:lnTo>
                <a:lnTo>
                  <a:pt x="14" y="270"/>
                </a:lnTo>
                <a:lnTo>
                  <a:pt x="16" y="270"/>
                </a:lnTo>
                <a:lnTo>
                  <a:pt x="17" y="270"/>
                </a:lnTo>
                <a:lnTo>
                  <a:pt x="18" y="270"/>
                </a:lnTo>
                <a:lnTo>
                  <a:pt x="16" y="263"/>
                </a:lnTo>
                <a:lnTo>
                  <a:pt x="10" y="258"/>
                </a:lnTo>
                <a:lnTo>
                  <a:pt x="23" y="264"/>
                </a:lnTo>
                <a:lnTo>
                  <a:pt x="19" y="328"/>
                </a:lnTo>
                <a:lnTo>
                  <a:pt x="21" y="349"/>
                </a:lnTo>
                <a:lnTo>
                  <a:pt x="40" y="422"/>
                </a:lnTo>
                <a:lnTo>
                  <a:pt x="18" y="440"/>
                </a:lnTo>
                <a:lnTo>
                  <a:pt x="15" y="452"/>
                </a:lnTo>
                <a:lnTo>
                  <a:pt x="39" y="452"/>
                </a:lnTo>
                <a:lnTo>
                  <a:pt x="69" y="452"/>
                </a:lnTo>
                <a:lnTo>
                  <a:pt x="70" y="453"/>
                </a:lnTo>
                <a:lnTo>
                  <a:pt x="71" y="456"/>
                </a:lnTo>
                <a:lnTo>
                  <a:pt x="74" y="460"/>
                </a:lnTo>
                <a:lnTo>
                  <a:pt x="77" y="464"/>
                </a:lnTo>
                <a:lnTo>
                  <a:pt x="81" y="468"/>
                </a:lnTo>
                <a:lnTo>
                  <a:pt x="84" y="472"/>
                </a:lnTo>
                <a:lnTo>
                  <a:pt x="87" y="475"/>
                </a:lnTo>
                <a:lnTo>
                  <a:pt x="91" y="477"/>
                </a:lnTo>
                <a:lnTo>
                  <a:pt x="93" y="478"/>
                </a:lnTo>
                <a:lnTo>
                  <a:pt x="97" y="478"/>
                </a:lnTo>
                <a:lnTo>
                  <a:pt x="100" y="477"/>
                </a:lnTo>
                <a:lnTo>
                  <a:pt x="103" y="476"/>
                </a:lnTo>
                <a:lnTo>
                  <a:pt x="106" y="475"/>
                </a:lnTo>
                <a:lnTo>
                  <a:pt x="108" y="475"/>
                </a:lnTo>
                <a:lnTo>
                  <a:pt x="109" y="474"/>
                </a:lnTo>
                <a:lnTo>
                  <a:pt x="110" y="474"/>
                </a:lnTo>
                <a:lnTo>
                  <a:pt x="104" y="457"/>
                </a:lnTo>
                <a:lnTo>
                  <a:pt x="97" y="438"/>
                </a:lnTo>
                <a:lnTo>
                  <a:pt x="114" y="354"/>
                </a:lnTo>
                <a:lnTo>
                  <a:pt x="118" y="276"/>
                </a:lnTo>
                <a:lnTo>
                  <a:pt x="121" y="247"/>
                </a:lnTo>
              </a:path>
            </a:pathLst>
          </a:custGeom>
          <a:solidFill>
            <a:schemeClr val="bg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8" name="Freeform 12"/>
          <p:cNvSpPr>
            <a:spLocks/>
          </p:cNvSpPr>
          <p:nvPr/>
        </p:nvSpPr>
        <p:spPr bwMode="auto">
          <a:xfrm>
            <a:off x="1260475" y="3059113"/>
            <a:ext cx="233363" cy="714375"/>
          </a:xfrm>
          <a:custGeom>
            <a:avLst/>
            <a:gdLst>
              <a:gd name="T0" fmla="*/ 70 w 147"/>
              <a:gd name="T1" fmla="*/ 212 h 450"/>
              <a:gd name="T2" fmla="*/ 70 w 147"/>
              <a:gd name="T3" fmla="*/ 212 h 450"/>
              <a:gd name="T4" fmla="*/ 72 w 147"/>
              <a:gd name="T5" fmla="*/ 211 h 450"/>
              <a:gd name="T6" fmla="*/ 72 w 147"/>
              <a:gd name="T7" fmla="*/ 211 h 450"/>
              <a:gd name="T8" fmla="*/ 134 w 147"/>
              <a:gd name="T9" fmla="*/ 423 h 450"/>
              <a:gd name="T10" fmla="*/ 111 w 147"/>
              <a:gd name="T11" fmla="*/ 395 h 450"/>
              <a:gd name="T12" fmla="*/ 116 w 147"/>
              <a:gd name="T13" fmla="*/ 332 h 450"/>
              <a:gd name="T14" fmla="*/ 119 w 147"/>
              <a:gd name="T15" fmla="*/ 310 h 450"/>
              <a:gd name="T16" fmla="*/ 126 w 147"/>
              <a:gd name="T17" fmla="*/ 295 h 450"/>
              <a:gd name="T18" fmla="*/ 118 w 147"/>
              <a:gd name="T19" fmla="*/ 203 h 450"/>
              <a:gd name="T20" fmla="*/ 126 w 147"/>
              <a:gd name="T21" fmla="*/ 216 h 450"/>
              <a:gd name="T22" fmla="*/ 132 w 147"/>
              <a:gd name="T23" fmla="*/ 204 h 450"/>
              <a:gd name="T24" fmla="*/ 124 w 147"/>
              <a:gd name="T25" fmla="*/ 178 h 450"/>
              <a:gd name="T26" fmla="*/ 128 w 147"/>
              <a:gd name="T27" fmla="*/ 133 h 450"/>
              <a:gd name="T28" fmla="*/ 108 w 147"/>
              <a:gd name="T29" fmla="*/ 76 h 450"/>
              <a:gd name="T30" fmla="*/ 94 w 147"/>
              <a:gd name="T31" fmla="*/ 66 h 450"/>
              <a:gd name="T32" fmla="*/ 100 w 147"/>
              <a:gd name="T33" fmla="*/ 64 h 450"/>
              <a:gd name="T34" fmla="*/ 103 w 147"/>
              <a:gd name="T35" fmla="*/ 53 h 450"/>
              <a:gd name="T36" fmla="*/ 97 w 147"/>
              <a:gd name="T37" fmla="*/ 46 h 450"/>
              <a:gd name="T38" fmla="*/ 94 w 147"/>
              <a:gd name="T39" fmla="*/ 27 h 450"/>
              <a:gd name="T40" fmla="*/ 97 w 147"/>
              <a:gd name="T41" fmla="*/ 17 h 450"/>
              <a:gd name="T42" fmla="*/ 89 w 147"/>
              <a:gd name="T43" fmla="*/ 6 h 450"/>
              <a:gd name="T44" fmla="*/ 80 w 147"/>
              <a:gd name="T45" fmla="*/ 0 h 450"/>
              <a:gd name="T46" fmla="*/ 55 w 147"/>
              <a:gd name="T47" fmla="*/ 3 h 450"/>
              <a:gd name="T48" fmla="*/ 42 w 147"/>
              <a:gd name="T49" fmla="*/ 22 h 450"/>
              <a:gd name="T50" fmla="*/ 32 w 147"/>
              <a:gd name="T51" fmla="*/ 47 h 450"/>
              <a:gd name="T52" fmla="*/ 23 w 147"/>
              <a:gd name="T53" fmla="*/ 59 h 450"/>
              <a:gd name="T54" fmla="*/ 31 w 147"/>
              <a:gd name="T55" fmla="*/ 66 h 450"/>
              <a:gd name="T56" fmla="*/ 28 w 147"/>
              <a:gd name="T57" fmla="*/ 76 h 450"/>
              <a:gd name="T58" fmla="*/ 5 w 147"/>
              <a:gd name="T59" fmla="*/ 121 h 450"/>
              <a:gd name="T60" fmla="*/ 0 w 147"/>
              <a:gd name="T61" fmla="*/ 152 h 450"/>
              <a:gd name="T62" fmla="*/ 14 w 147"/>
              <a:gd name="T63" fmla="*/ 191 h 450"/>
              <a:gd name="T64" fmla="*/ 14 w 147"/>
              <a:gd name="T65" fmla="*/ 256 h 450"/>
              <a:gd name="T66" fmla="*/ 13 w 147"/>
              <a:gd name="T67" fmla="*/ 304 h 450"/>
              <a:gd name="T68" fmla="*/ 29 w 147"/>
              <a:gd name="T69" fmla="*/ 313 h 450"/>
              <a:gd name="T70" fmla="*/ 34 w 147"/>
              <a:gd name="T71" fmla="*/ 320 h 450"/>
              <a:gd name="T72" fmla="*/ 41 w 147"/>
              <a:gd name="T73" fmla="*/ 338 h 450"/>
              <a:gd name="T74" fmla="*/ 38 w 147"/>
              <a:gd name="T75" fmla="*/ 345 h 450"/>
              <a:gd name="T76" fmla="*/ 37 w 147"/>
              <a:gd name="T77" fmla="*/ 368 h 450"/>
              <a:gd name="T78" fmla="*/ 46 w 147"/>
              <a:gd name="T79" fmla="*/ 401 h 450"/>
              <a:gd name="T80" fmla="*/ 43 w 147"/>
              <a:gd name="T81" fmla="*/ 443 h 450"/>
              <a:gd name="T82" fmla="*/ 55 w 147"/>
              <a:gd name="T83" fmla="*/ 449 h 450"/>
              <a:gd name="T84" fmla="*/ 64 w 147"/>
              <a:gd name="T85" fmla="*/ 437 h 450"/>
              <a:gd name="T86" fmla="*/ 59 w 147"/>
              <a:gd name="T87" fmla="*/ 399 h 450"/>
              <a:gd name="T88" fmla="*/ 84 w 147"/>
              <a:gd name="T89" fmla="*/ 328 h 450"/>
              <a:gd name="T90" fmla="*/ 86 w 147"/>
              <a:gd name="T91" fmla="*/ 350 h 450"/>
              <a:gd name="T92" fmla="*/ 92 w 147"/>
              <a:gd name="T93" fmla="*/ 385 h 450"/>
              <a:gd name="T94" fmla="*/ 94 w 147"/>
              <a:gd name="T95" fmla="*/ 428 h 450"/>
              <a:gd name="T96" fmla="*/ 107 w 147"/>
              <a:gd name="T97" fmla="*/ 429 h 450"/>
              <a:gd name="T98" fmla="*/ 124 w 147"/>
              <a:gd name="T99" fmla="*/ 438 h 450"/>
              <a:gd name="T100" fmla="*/ 141 w 147"/>
              <a:gd name="T101" fmla="*/ 440 h 450"/>
              <a:gd name="T102" fmla="*/ 70 w 147"/>
              <a:gd name="T103" fmla="*/ 212 h 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7" h="450">
                <a:moveTo>
                  <a:pt x="70" y="212"/>
                </a:moveTo>
                <a:lnTo>
                  <a:pt x="70" y="212"/>
                </a:lnTo>
                <a:lnTo>
                  <a:pt x="70" y="212"/>
                </a:lnTo>
                <a:lnTo>
                  <a:pt x="70" y="212"/>
                </a:lnTo>
                <a:lnTo>
                  <a:pt x="70" y="212"/>
                </a:lnTo>
                <a:lnTo>
                  <a:pt x="70" y="212"/>
                </a:lnTo>
                <a:lnTo>
                  <a:pt x="70" y="212"/>
                </a:lnTo>
                <a:lnTo>
                  <a:pt x="70" y="212"/>
                </a:lnTo>
                <a:lnTo>
                  <a:pt x="70" y="212"/>
                </a:lnTo>
                <a:lnTo>
                  <a:pt x="70" y="212"/>
                </a:lnTo>
                <a:lnTo>
                  <a:pt x="72" y="211"/>
                </a:lnTo>
                <a:lnTo>
                  <a:pt x="73" y="211"/>
                </a:lnTo>
                <a:lnTo>
                  <a:pt x="73" y="211"/>
                </a:lnTo>
                <a:lnTo>
                  <a:pt x="73" y="211"/>
                </a:lnTo>
                <a:lnTo>
                  <a:pt x="72" y="211"/>
                </a:lnTo>
                <a:lnTo>
                  <a:pt x="72" y="211"/>
                </a:lnTo>
                <a:lnTo>
                  <a:pt x="72" y="211"/>
                </a:lnTo>
                <a:lnTo>
                  <a:pt x="72" y="211"/>
                </a:lnTo>
                <a:lnTo>
                  <a:pt x="72" y="211"/>
                </a:lnTo>
                <a:lnTo>
                  <a:pt x="72" y="211"/>
                </a:lnTo>
                <a:lnTo>
                  <a:pt x="70" y="212"/>
                </a:lnTo>
                <a:lnTo>
                  <a:pt x="145" y="430"/>
                </a:lnTo>
                <a:lnTo>
                  <a:pt x="143" y="429"/>
                </a:lnTo>
                <a:lnTo>
                  <a:pt x="140" y="427"/>
                </a:lnTo>
                <a:lnTo>
                  <a:pt x="134" y="423"/>
                </a:lnTo>
                <a:lnTo>
                  <a:pt x="128" y="418"/>
                </a:lnTo>
                <a:lnTo>
                  <a:pt x="122" y="414"/>
                </a:lnTo>
                <a:lnTo>
                  <a:pt x="116" y="408"/>
                </a:lnTo>
                <a:lnTo>
                  <a:pt x="113" y="401"/>
                </a:lnTo>
                <a:lnTo>
                  <a:pt x="111" y="395"/>
                </a:lnTo>
                <a:lnTo>
                  <a:pt x="112" y="387"/>
                </a:lnTo>
                <a:lnTo>
                  <a:pt x="113" y="375"/>
                </a:lnTo>
                <a:lnTo>
                  <a:pt x="113" y="361"/>
                </a:lnTo>
                <a:lnTo>
                  <a:pt x="115" y="346"/>
                </a:lnTo>
                <a:lnTo>
                  <a:pt x="116" y="332"/>
                </a:lnTo>
                <a:lnTo>
                  <a:pt x="118" y="321"/>
                </a:lnTo>
                <a:lnTo>
                  <a:pt x="118" y="314"/>
                </a:lnTo>
                <a:lnTo>
                  <a:pt x="118" y="310"/>
                </a:lnTo>
                <a:lnTo>
                  <a:pt x="118" y="310"/>
                </a:lnTo>
                <a:lnTo>
                  <a:pt x="119" y="310"/>
                </a:lnTo>
                <a:lnTo>
                  <a:pt x="121" y="309"/>
                </a:lnTo>
                <a:lnTo>
                  <a:pt x="123" y="307"/>
                </a:lnTo>
                <a:lnTo>
                  <a:pt x="124" y="304"/>
                </a:lnTo>
                <a:lnTo>
                  <a:pt x="125" y="301"/>
                </a:lnTo>
                <a:lnTo>
                  <a:pt x="126" y="295"/>
                </a:lnTo>
                <a:lnTo>
                  <a:pt x="127" y="288"/>
                </a:lnTo>
                <a:lnTo>
                  <a:pt x="118" y="201"/>
                </a:lnTo>
                <a:lnTo>
                  <a:pt x="118" y="200"/>
                </a:lnTo>
                <a:lnTo>
                  <a:pt x="118" y="201"/>
                </a:lnTo>
                <a:lnTo>
                  <a:pt x="118" y="203"/>
                </a:lnTo>
                <a:lnTo>
                  <a:pt x="119" y="207"/>
                </a:lnTo>
                <a:lnTo>
                  <a:pt x="121" y="210"/>
                </a:lnTo>
                <a:lnTo>
                  <a:pt x="123" y="213"/>
                </a:lnTo>
                <a:lnTo>
                  <a:pt x="124" y="215"/>
                </a:lnTo>
                <a:lnTo>
                  <a:pt x="126" y="216"/>
                </a:lnTo>
                <a:lnTo>
                  <a:pt x="127" y="215"/>
                </a:lnTo>
                <a:lnTo>
                  <a:pt x="129" y="213"/>
                </a:lnTo>
                <a:lnTo>
                  <a:pt x="130" y="210"/>
                </a:lnTo>
                <a:lnTo>
                  <a:pt x="131" y="207"/>
                </a:lnTo>
                <a:lnTo>
                  <a:pt x="132" y="204"/>
                </a:lnTo>
                <a:lnTo>
                  <a:pt x="132" y="200"/>
                </a:lnTo>
                <a:lnTo>
                  <a:pt x="131" y="196"/>
                </a:lnTo>
                <a:lnTo>
                  <a:pt x="129" y="192"/>
                </a:lnTo>
                <a:lnTo>
                  <a:pt x="127" y="186"/>
                </a:lnTo>
                <a:lnTo>
                  <a:pt x="124" y="178"/>
                </a:lnTo>
                <a:lnTo>
                  <a:pt x="123" y="172"/>
                </a:lnTo>
                <a:lnTo>
                  <a:pt x="124" y="165"/>
                </a:lnTo>
                <a:lnTo>
                  <a:pt x="126" y="158"/>
                </a:lnTo>
                <a:lnTo>
                  <a:pt x="128" y="147"/>
                </a:lnTo>
                <a:lnTo>
                  <a:pt x="128" y="133"/>
                </a:lnTo>
                <a:lnTo>
                  <a:pt x="124" y="114"/>
                </a:lnTo>
                <a:lnTo>
                  <a:pt x="118" y="87"/>
                </a:lnTo>
                <a:lnTo>
                  <a:pt x="115" y="83"/>
                </a:lnTo>
                <a:lnTo>
                  <a:pt x="112" y="79"/>
                </a:lnTo>
                <a:lnTo>
                  <a:pt x="108" y="76"/>
                </a:lnTo>
                <a:lnTo>
                  <a:pt x="104" y="73"/>
                </a:lnTo>
                <a:lnTo>
                  <a:pt x="100" y="70"/>
                </a:lnTo>
                <a:lnTo>
                  <a:pt x="97" y="68"/>
                </a:lnTo>
                <a:lnTo>
                  <a:pt x="95" y="67"/>
                </a:lnTo>
                <a:lnTo>
                  <a:pt x="94" y="66"/>
                </a:lnTo>
                <a:lnTo>
                  <a:pt x="94" y="66"/>
                </a:lnTo>
                <a:lnTo>
                  <a:pt x="95" y="66"/>
                </a:lnTo>
                <a:lnTo>
                  <a:pt x="97" y="65"/>
                </a:lnTo>
                <a:lnTo>
                  <a:pt x="98" y="65"/>
                </a:lnTo>
                <a:lnTo>
                  <a:pt x="100" y="64"/>
                </a:lnTo>
                <a:lnTo>
                  <a:pt x="102" y="63"/>
                </a:lnTo>
                <a:lnTo>
                  <a:pt x="102" y="60"/>
                </a:lnTo>
                <a:lnTo>
                  <a:pt x="103" y="58"/>
                </a:lnTo>
                <a:lnTo>
                  <a:pt x="104" y="55"/>
                </a:lnTo>
                <a:lnTo>
                  <a:pt x="103" y="53"/>
                </a:lnTo>
                <a:lnTo>
                  <a:pt x="102" y="51"/>
                </a:lnTo>
                <a:lnTo>
                  <a:pt x="102" y="51"/>
                </a:lnTo>
                <a:lnTo>
                  <a:pt x="100" y="49"/>
                </a:lnTo>
                <a:lnTo>
                  <a:pt x="98" y="48"/>
                </a:lnTo>
                <a:lnTo>
                  <a:pt x="97" y="46"/>
                </a:lnTo>
                <a:lnTo>
                  <a:pt x="95" y="43"/>
                </a:lnTo>
                <a:lnTo>
                  <a:pt x="94" y="40"/>
                </a:lnTo>
                <a:lnTo>
                  <a:pt x="93" y="36"/>
                </a:lnTo>
                <a:lnTo>
                  <a:pt x="93" y="31"/>
                </a:lnTo>
                <a:lnTo>
                  <a:pt x="94" y="27"/>
                </a:lnTo>
                <a:lnTo>
                  <a:pt x="96" y="23"/>
                </a:lnTo>
                <a:lnTo>
                  <a:pt x="97" y="20"/>
                </a:lnTo>
                <a:lnTo>
                  <a:pt x="97" y="18"/>
                </a:lnTo>
                <a:lnTo>
                  <a:pt x="97" y="17"/>
                </a:lnTo>
                <a:lnTo>
                  <a:pt x="97" y="17"/>
                </a:lnTo>
                <a:lnTo>
                  <a:pt x="96" y="16"/>
                </a:lnTo>
                <a:lnTo>
                  <a:pt x="94" y="13"/>
                </a:lnTo>
                <a:lnTo>
                  <a:pt x="92" y="11"/>
                </a:lnTo>
                <a:lnTo>
                  <a:pt x="91" y="8"/>
                </a:lnTo>
                <a:lnTo>
                  <a:pt x="89" y="6"/>
                </a:lnTo>
                <a:lnTo>
                  <a:pt x="88" y="4"/>
                </a:lnTo>
                <a:lnTo>
                  <a:pt x="87" y="2"/>
                </a:lnTo>
                <a:lnTo>
                  <a:pt x="86" y="0"/>
                </a:lnTo>
                <a:lnTo>
                  <a:pt x="84" y="0"/>
                </a:lnTo>
                <a:lnTo>
                  <a:pt x="80" y="0"/>
                </a:lnTo>
                <a:lnTo>
                  <a:pt x="74" y="0"/>
                </a:lnTo>
                <a:lnTo>
                  <a:pt x="69" y="0"/>
                </a:lnTo>
                <a:lnTo>
                  <a:pt x="64" y="1"/>
                </a:lnTo>
                <a:lnTo>
                  <a:pt x="59" y="2"/>
                </a:lnTo>
                <a:lnTo>
                  <a:pt x="55" y="3"/>
                </a:lnTo>
                <a:lnTo>
                  <a:pt x="53" y="4"/>
                </a:lnTo>
                <a:lnTo>
                  <a:pt x="49" y="8"/>
                </a:lnTo>
                <a:lnTo>
                  <a:pt x="47" y="12"/>
                </a:lnTo>
                <a:lnTo>
                  <a:pt x="44" y="17"/>
                </a:lnTo>
                <a:lnTo>
                  <a:pt x="42" y="22"/>
                </a:lnTo>
                <a:lnTo>
                  <a:pt x="39" y="28"/>
                </a:lnTo>
                <a:lnTo>
                  <a:pt x="37" y="34"/>
                </a:lnTo>
                <a:lnTo>
                  <a:pt x="36" y="38"/>
                </a:lnTo>
                <a:lnTo>
                  <a:pt x="34" y="43"/>
                </a:lnTo>
                <a:lnTo>
                  <a:pt x="32" y="47"/>
                </a:lnTo>
                <a:lnTo>
                  <a:pt x="30" y="51"/>
                </a:lnTo>
                <a:lnTo>
                  <a:pt x="28" y="54"/>
                </a:lnTo>
                <a:lnTo>
                  <a:pt x="26" y="56"/>
                </a:lnTo>
                <a:lnTo>
                  <a:pt x="25" y="58"/>
                </a:lnTo>
                <a:lnTo>
                  <a:pt x="23" y="59"/>
                </a:lnTo>
                <a:lnTo>
                  <a:pt x="23" y="59"/>
                </a:lnTo>
                <a:lnTo>
                  <a:pt x="28" y="64"/>
                </a:lnTo>
                <a:lnTo>
                  <a:pt x="28" y="64"/>
                </a:lnTo>
                <a:lnTo>
                  <a:pt x="30" y="64"/>
                </a:lnTo>
                <a:lnTo>
                  <a:pt x="31" y="66"/>
                </a:lnTo>
                <a:lnTo>
                  <a:pt x="32" y="68"/>
                </a:lnTo>
                <a:lnTo>
                  <a:pt x="33" y="69"/>
                </a:lnTo>
                <a:lnTo>
                  <a:pt x="32" y="71"/>
                </a:lnTo>
                <a:lnTo>
                  <a:pt x="32" y="73"/>
                </a:lnTo>
                <a:lnTo>
                  <a:pt x="28" y="76"/>
                </a:lnTo>
                <a:lnTo>
                  <a:pt x="24" y="80"/>
                </a:lnTo>
                <a:lnTo>
                  <a:pt x="19" y="88"/>
                </a:lnTo>
                <a:lnTo>
                  <a:pt x="14" y="99"/>
                </a:lnTo>
                <a:lnTo>
                  <a:pt x="10" y="110"/>
                </a:lnTo>
                <a:lnTo>
                  <a:pt x="5" y="121"/>
                </a:lnTo>
                <a:lnTo>
                  <a:pt x="2" y="132"/>
                </a:lnTo>
                <a:lnTo>
                  <a:pt x="0" y="139"/>
                </a:lnTo>
                <a:lnTo>
                  <a:pt x="0" y="143"/>
                </a:lnTo>
                <a:lnTo>
                  <a:pt x="0" y="146"/>
                </a:lnTo>
                <a:lnTo>
                  <a:pt x="0" y="152"/>
                </a:lnTo>
                <a:lnTo>
                  <a:pt x="2" y="160"/>
                </a:lnTo>
                <a:lnTo>
                  <a:pt x="4" y="169"/>
                </a:lnTo>
                <a:lnTo>
                  <a:pt x="6" y="178"/>
                </a:lnTo>
                <a:lnTo>
                  <a:pt x="10" y="185"/>
                </a:lnTo>
                <a:lnTo>
                  <a:pt x="14" y="191"/>
                </a:lnTo>
                <a:lnTo>
                  <a:pt x="18" y="194"/>
                </a:lnTo>
                <a:lnTo>
                  <a:pt x="17" y="204"/>
                </a:lnTo>
                <a:lnTo>
                  <a:pt x="16" y="220"/>
                </a:lnTo>
                <a:lnTo>
                  <a:pt x="15" y="237"/>
                </a:lnTo>
                <a:lnTo>
                  <a:pt x="14" y="256"/>
                </a:lnTo>
                <a:lnTo>
                  <a:pt x="13" y="274"/>
                </a:lnTo>
                <a:lnTo>
                  <a:pt x="12" y="289"/>
                </a:lnTo>
                <a:lnTo>
                  <a:pt x="12" y="299"/>
                </a:lnTo>
                <a:lnTo>
                  <a:pt x="12" y="303"/>
                </a:lnTo>
                <a:lnTo>
                  <a:pt x="13" y="304"/>
                </a:lnTo>
                <a:lnTo>
                  <a:pt x="15" y="306"/>
                </a:lnTo>
                <a:lnTo>
                  <a:pt x="18" y="307"/>
                </a:lnTo>
                <a:lnTo>
                  <a:pt x="21" y="310"/>
                </a:lnTo>
                <a:lnTo>
                  <a:pt x="26" y="311"/>
                </a:lnTo>
                <a:lnTo>
                  <a:pt x="29" y="313"/>
                </a:lnTo>
                <a:lnTo>
                  <a:pt x="31" y="312"/>
                </a:lnTo>
                <a:lnTo>
                  <a:pt x="32" y="310"/>
                </a:lnTo>
                <a:lnTo>
                  <a:pt x="32" y="312"/>
                </a:lnTo>
                <a:lnTo>
                  <a:pt x="33" y="315"/>
                </a:lnTo>
                <a:lnTo>
                  <a:pt x="34" y="320"/>
                </a:lnTo>
                <a:lnTo>
                  <a:pt x="36" y="325"/>
                </a:lnTo>
                <a:lnTo>
                  <a:pt x="37" y="330"/>
                </a:lnTo>
                <a:lnTo>
                  <a:pt x="39" y="334"/>
                </a:lnTo>
                <a:lnTo>
                  <a:pt x="40" y="336"/>
                </a:lnTo>
                <a:lnTo>
                  <a:pt x="41" y="338"/>
                </a:lnTo>
                <a:lnTo>
                  <a:pt x="40" y="338"/>
                </a:lnTo>
                <a:lnTo>
                  <a:pt x="40" y="339"/>
                </a:lnTo>
                <a:lnTo>
                  <a:pt x="39" y="341"/>
                </a:lnTo>
                <a:lnTo>
                  <a:pt x="39" y="342"/>
                </a:lnTo>
                <a:lnTo>
                  <a:pt x="38" y="345"/>
                </a:lnTo>
                <a:lnTo>
                  <a:pt x="37" y="348"/>
                </a:lnTo>
                <a:lnTo>
                  <a:pt x="37" y="352"/>
                </a:lnTo>
                <a:lnTo>
                  <a:pt x="37" y="356"/>
                </a:lnTo>
                <a:lnTo>
                  <a:pt x="37" y="361"/>
                </a:lnTo>
                <a:lnTo>
                  <a:pt x="37" y="368"/>
                </a:lnTo>
                <a:lnTo>
                  <a:pt x="39" y="375"/>
                </a:lnTo>
                <a:lnTo>
                  <a:pt x="41" y="384"/>
                </a:lnTo>
                <a:lnTo>
                  <a:pt x="43" y="391"/>
                </a:lnTo>
                <a:lnTo>
                  <a:pt x="45" y="397"/>
                </a:lnTo>
                <a:lnTo>
                  <a:pt x="46" y="401"/>
                </a:lnTo>
                <a:lnTo>
                  <a:pt x="47" y="402"/>
                </a:lnTo>
                <a:lnTo>
                  <a:pt x="39" y="418"/>
                </a:lnTo>
                <a:lnTo>
                  <a:pt x="42" y="441"/>
                </a:lnTo>
                <a:lnTo>
                  <a:pt x="43" y="442"/>
                </a:lnTo>
                <a:lnTo>
                  <a:pt x="43" y="443"/>
                </a:lnTo>
                <a:lnTo>
                  <a:pt x="45" y="444"/>
                </a:lnTo>
                <a:lnTo>
                  <a:pt x="48" y="446"/>
                </a:lnTo>
                <a:lnTo>
                  <a:pt x="50" y="448"/>
                </a:lnTo>
                <a:lnTo>
                  <a:pt x="53" y="449"/>
                </a:lnTo>
                <a:lnTo>
                  <a:pt x="55" y="449"/>
                </a:lnTo>
                <a:lnTo>
                  <a:pt x="58" y="448"/>
                </a:lnTo>
                <a:lnTo>
                  <a:pt x="60" y="445"/>
                </a:lnTo>
                <a:lnTo>
                  <a:pt x="62" y="443"/>
                </a:lnTo>
                <a:lnTo>
                  <a:pt x="63" y="440"/>
                </a:lnTo>
                <a:lnTo>
                  <a:pt x="64" y="437"/>
                </a:lnTo>
                <a:lnTo>
                  <a:pt x="64" y="434"/>
                </a:lnTo>
                <a:lnTo>
                  <a:pt x="64" y="431"/>
                </a:lnTo>
                <a:lnTo>
                  <a:pt x="65" y="430"/>
                </a:lnTo>
                <a:lnTo>
                  <a:pt x="65" y="430"/>
                </a:lnTo>
                <a:lnTo>
                  <a:pt x="59" y="399"/>
                </a:lnTo>
                <a:lnTo>
                  <a:pt x="70" y="336"/>
                </a:lnTo>
                <a:lnTo>
                  <a:pt x="71" y="325"/>
                </a:lnTo>
                <a:lnTo>
                  <a:pt x="84" y="325"/>
                </a:lnTo>
                <a:lnTo>
                  <a:pt x="84" y="325"/>
                </a:lnTo>
                <a:lnTo>
                  <a:pt x="84" y="328"/>
                </a:lnTo>
                <a:lnTo>
                  <a:pt x="84" y="331"/>
                </a:lnTo>
                <a:lnTo>
                  <a:pt x="84" y="334"/>
                </a:lnTo>
                <a:lnTo>
                  <a:pt x="85" y="339"/>
                </a:lnTo>
                <a:lnTo>
                  <a:pt x="85" y="345"/>
                </a:lnTo>
                <a:lnTo>
                  <a:pt x="86" y="350"/>
                </a:lnTo>
                <a:lnTo>
                  <a:pt x="86" y="356"/>
                </a:lnTo>
                <a:lnTo>
                  <a:pt x="87" y="363"/>
                </a:lnTo>
                <a:lnTo>
                  <a:pt x="89" y="371"/>
                </a:lnTo>
                <a:lnTo>
                  <a:pt x="91" y="378"/>
                </a:lnTo>
                <a:lnTo>
                  <a:pt x="92" y="385"/>
                </a:lnTo>
                <a:lnTo>
                  <a:pt x="94" y="392"/>
                </a:lnTo>
                <a:lnTo>
                  <a:pt x="95" y="397"/>
                </a:lnTo>
                <a:lnTo>
                  <a:pt x="96" y="400"/>
                </a:lnTo>
                <a:lnTo>
                  <a:pt x="97" y="401"/>
                </a:lnTo>
                <a:lnTo>
                  <a:pt x="94" y="428"/>
                </a:lnTo>
                <a:lnTo>
                  <a:pt x="102" y="431"/>
                </a:lnTo>
                <a:lnTo>
                  <a:pt x="102" y="427"/>
                </a:lnTo>
                <a:lnTo>
                  <a:pt x="102" y="427"/>
                </a:lnTo>
                <a:lnTo>
                  <a:pt x="104" y="428"/>
                </a:lnTo>
                <a:lnTo>
                  <a:pt x="107" y="429"/>
                </a:lnTo>
                <a:lnTo>
                  <a:pt x="109" y="431"/>
                </a:lnTo>
                <a:lnTo>
                  <a:pt x="113" y="432"/>
                </a:lnTo>
                <a:lnTo>
                  <a:pt x="116" y="435"/>
                </a:lnTo>
                <a:lnTo>
                  <a:pt x="119" y="436"/>
                </a:lnTo>
                <a:lnTo>
                  <a:pt x="124" y="438"/>
                </a:lnTo>
                <a:lnTo>
                  <a:pt x="127" y="440"/>
                </a:lnTo>
                <a:lnTo>
                  <a:pt x="131" y="440"/>
                </a:lnTo>
                <a:lnTo>
                  <a:pt x="135" y="440"/>
                </a:lnTo>
                <a:lnTo>
                  <a:pt x="139" y="440"/>
                </a:lnTo>
                <a:lnTo>
                  <a:pt x="141" y="440"/>
                </a:lnTo>
                <a:lnTo>
                  <a:pt x="144" y="439"/>
                </a:lnTo>
                <a:lnTo>
                  <a:pt x="146" y="438"/>
                </a:lnTo>
                <a:lnTo>
                  <a:pt x="146" y="438"/>
                </a:lnTo>
                <a:lnTo>
                  <a:pt x="145" y="430"/>
                </a:lnTo>
                <a:lnTo>
                  <a:pt x="70" y="212"/>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9" name="Freeform 13"/>
          <p:cNvSpPr>
            <a:spLocks/>
          </p:cNvSpPr>
          <p:nvPr/>
        </p:nvSpPr>
        <p:spPr bwMode="auto">
          <a:xfrm>
            <a:off x="1655763" y="3019425"/>
            <a:ext cx="236537" cy="744538"/>
          </a:xfrm>
          <a:custGeom>
            <a:avLst/>
            <a:gdLst>
              <a:gd name="T0" fmla="*/ 148 w 149"/>
              <a:gd name="T1" fmla="*/ 393 h 469"/>
              <a:gd name="T2" fmla="*/ 137 w 149"/>
              <a:gd name="T3" fmla="*/ 271 h 469"/>
              <a:gd name="T4" fmla="*/ 141 w 149"/>
              <a:gd name="T5" fmla="*/ 267 h 469"/>
              <a:gd name="T6" fmla="*/ 143 w 149"/>
              <a:gd name="T7" fmla="*/ 262 h 469"/>
              <a:gd name="T8" fmla="*/ 141 w 149"/>
              <a:gd name="T9" fmla="*/ 248 h 469"/>
              <a:gd name="T10" fmla="*/ 142 w 149"/>
              <a:gd name="T11" fmla="*/ 193 h 469"/>
              <a:gd name="T12" fmla="*/ 140 w 149"/>
              <a:gd name="T13" fmla="*/ 154 h 469"/>
              <a:gd name="T14" fmla="*/ 132 w 149"/>
              <a:gd name="T15" fmla="*/ 108 h 469"/>
              <a:gd name="T16" fmla="*/ 117 w 149"/>
              <a:gd name="T17" fmla="*/ 90 h 469"/>
              <a:gd name="T18" fmla="*/ 96 w 149"/>
              <a:gd name="T19" fmla="*/ 74 h 469"/>
              <a:gd name="T20" fmla="*/ 84 w 149"/>
              <a:gd name="T21" fmla="*/ 68 h 469"/>
              <a:gd name="T22" fmla="*/ 94 w 149"/>
              <a:gd name="T23" fmla="*/ 42 h 469"/>
              <a:gd name="T24" fmla="*/ 95 w 149"/>
              <a:gd name="T25" fmla="*/ 32 h 469"/>
              <a:gd name="T26" fmla="*/ 93 w 149"/>
              <a:gd name="T27" fmla="*/ 18 h 469"/>
              <a:gd name="T28" fmla="*/ 86 w 149"/>
              <a:gd name="T29" fmla="*/ 8 h 469"/>
              <a:gd name="T30" fmla="*/ 82 w 149"/>
              <a:gd name="T31" fmla="*/ 1 h 469"/>
              <a:gd name="T32" fmla="*/ 67 w 149"/>
              <a:gd name="T33" fmla="*/ 0 h 469"/>
              <a:gd name="T34" fmla="*/ 52 w 149"/>
              <a:gd name="T35" fmla="*/ 0 h 469"/>
              <a:gd name="T36" fmla="*/ 47 w 149"/>
              <a:gd name="T37" fmla="*/ 4 h 469"/>
              <a:gd name="T38" fmla="*/ 40 w 149"/>
              <a:gd name="T39" fmla="*/ 13 h 469"/>
              <a:gd name="T40" fmla="*/ 38 w 149"/>
              <a:gd name="T41" fmla="*/ 27 h 469"/>
              <a:gd name="T42" fmla="*/ 41 w 149"/>
              <a:gd name="T43" fmla="*/ 38 h 469"/>
              <a:gd name="T44" fmla="*/ 52 w 149"/>
              <a:gd name="T45" fmla="*/ 68 h 469"/>
              <a:gd name="T46" fmla="*/ 39 w 149"/>
              <a:gd name="T47" fmla="*/ 76 h 469"/>
              <a:gd name="T48" fmla="*/ 17 w 149"/>
              <a:gd name="T49" fmla="*/ 90 h 469"/>
              <a:gd name="T50" fmla="*/ 10 w 149"/>
              <a:gd name="T51" fmla="*/ 102 h 469"/>
              <a:gd name="T52" fmla="*/ 6 w 149"/>
              <a:gd name="T53" fmla="*/ 137 h 469"/>
              <a:gd name="T54" fmla="*/ 1 w 149"/>
              <a:gd name="T55" fmla="*/ 176 h 469"/>
              <a:gd name="T56" fmla="*/ 0 w 149"/>
              <a:gd name="T57" fmla="*/ 195 h 469"/>
              <a:gd name="T58" fmla="*/ 0 w 149"/>
              <a:gd name="T59" fmla="*/ 231 h 469"/>
              <a:gd name="T60" fmla="*/ 2 w 149"/>
              <a:gd name="T61" fmla="*/ 262 h 469"/>
              <a:gd name="T62" fmla="*/ 8 w 149"/>
              <a:gd name="T63" fmla="*/ 269 h 469"/>
              <a:gd name="T64" fmla="*/ 15 w 149"/>
              <a:gd name="T65" fmla="*/ 270 h 469"/>
              <a:gd name="T66" fmla="*/ 10 w 149"/>
              <a:gd name="T67" fmla="*/ 257 h 469"/>
              <a:gd name="T68" fmla="*/ 42 w 149"/>
              <a:gd name="T69" fmla="*/ 436 h 469"/>
              <a:gd name="T70" fmla="*/ 47 w 149"/>
              <a:gd name="T71" fmla="*/ 466 h 469"/>
              <a:gd name="T72" fmla="*/ 72 w 149"/>
              <a:gd name="T73" fmla="*/ 454 h 469"/>
              <a:gd name="T74" fmla="*/ 87 w 149"/>
              <a:gd name="T75" fmla="*/ 462 h 469"/>
              <a:gd name="T76" fmla="*/ 100 w 149"/>
              <a:gd name="T77" fmla="*/ 468 h 469"/>
              <a:gd name="T78" fmla="*/ 109 w 149"/>
              <a:gd name="T79" fmla="*/ 468 h 469"/>
              <a:gd name="T80" fmla="*/ 117 w 149"/>
              <a:gd name="T81" fmla="*/ 465 h 469"/>
              <a:gd name="T82" fmla="*/ 114 w 149"/>
              <a:gd name="T83" fmla="*/ 447 h 469"/>
              <a:gd name="T84" fmla="*/ 120 w 149"/>
              <a:gd name="T85" fmla="*/ 256 h 469"/>
              <a:gd name="T86" fmla="*/ 125 w 149"/>
              <a:gd name="T87" fmla="*/ 266 h 469"/>
              <a:gd name="T88" fmla="*/ 125 w 149"/>
              <a:gd name="T89" fmla="*/ 267 h 469"/>
              <a:gd name="T90" fmla="*/ 127 w 149"/>
              <a:gd name="T91" fmla="*/ 269 h 469"/>
              <a:gd name="T92" fmla="*/ 129 w 149"/>
              <a:gd name="T93" fmla="*/ 280 h 4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49" h="469">
                <a:moveTo>
                  <a:pt x="118" y="280"/>
                </a:moveTo>
                <a:lnTo>
                  <a:pt x="118" y="393"/>
                </a:lnTo>
                <a:lnTo>
                  <a:pt x="148" y="393"/>
                </a:lnTo>
                <a:lnTo>
                  <a:pt x="148" y="280"/>
                </a:lnTo>
                <a:lnTo>
                  <a:pt x="137" y="280"/>
                </a:lnTo>
                <a:lnTo>
                  <a:pt x="137" y="271"/>
                </a:lnTo>
                <a:lnTo>
                  <a:pt x="138" y="270"/>
                </a:lnTo>
                <a:lnTo>
                  <a:pt x="139" y="269"/>
                </a:lnTo>
                <a:lnTo>
                  <a:pt x="141" y="267"/>
                </a:lnTo>
                <a:lnTo>
                  <a:pt x="142" y="265"/>
                </a:lnTo>
                <a:lnTo>
                  <a:pt x="142" y="264"/>
                </a:lnTo>
                <a:lnTo>
                  <a:pt x="143" y="262"/>
                </a:lnTo>
                <a:lnTo>
                  <a:pt x="143" y="261"/>
                </a:lnTo>
                <a:lnTo>
                  <a:pt x="143" y="261"/>
                </a:lnTo>
                <a:lnTo>
                  <a:pt x="141" y="248"/>
                </a:lnTo>
                <a:lnTo>
                  <a:pt x="141" y="248"/>
                </a:lnTo>
                <a:lnTo>
                  <a:pt x="142" y="197"/>
                </a:lnTo>
                <a:lnTo>
                  <a:pt x="142" y="193"/>
                </a:lnTo>
                <a:lnTo>
                  <a:pt x="142" y="184"/>
                </a:lnTo>
                <a:lnTo>
                  <a:pt x="141" y="170"/>
                </a:lnTo>
                <a:lnTo>
                  <a:pt x="140" y="154"/>
                </a:lnTo>
                <a:lnTo>
                  <a:pt x="138" y="137"/>
                </a:lnTo>
                <a:lnTo>
                  <a:pt x="136" y="121"/>
                </a:lnTo>
                <a:lnTo>
                  <a:pt x="132" y="108"/>
                </a:lnTo>
                <a:lnTo>
                  <a:pt x="129" y="100"/>
                </a:lnTo>
                <a:lnTo>
                  <a:pt x="124" y="95"/>
                </a:lnTo>
                <a:lnTo>
                  <a:pt x="117" y="90"/>
                </a:lnTo>
                <a:lnTo>
                  <a:pt x="111" y="84"/>
                </a:lnTo>
                <a:lnTo>
                  <a:pt x="103" y="79"/>
                </a:lnTo>
                <a:lnTo>
                  <a:pt x="96" y="74"/>
                </a:lnTo>
                <a:lnTo>
                  <a:pt x="90" y="71"/>
                </a:lnTo>
                <a:lnTo>
                  <a:pt x="86" y="68"/>
                </a:lnTo>
                <a:lnTo>
                  <a:pt x="84" y="68"/>
                </a:lnTo>
                <a:lnTo>
                  <a:pt x="86" y="56"/>
                </a:lnTo>
                <a:lnTo>
                  <a:pt x="93" y="42"/>
                </a:lnTo>
                <a:lnTo>
                  <a:pt x="94" y="42"/>
                </a:lnTo>
                <a:lnTo>
                  <a:pt x="94" y="39"/>
                </a:lnTo>
                <a:lnTo>
                  <a:pt x="95" y="36"/>
                </a:lnTo>
                <a:lnTo>
                  <a:pt x="95" y="32"/>
                </a:lnTo>
                <a:lnTo>
                  <a:pt x="95" y="27"/>
                </a:lnTo>
                <a:lnTo>
                  <a:pt x="95" y="22"/>
                </a:lnTo>
                <a:lnTo>
                  <a:pt x="93" y="18"/>
                </a:lnTo>
                <a:lnTo>
                  <a:pt x="90" y="14"/>
                </a:lnTo>
                <a:lnTo>
                  <a:pt x="88" y="10"/>
                </a:lnTo>
                <a:lnTo>
                  <a:pt x="86" y="8"/>
                </a:lnTo>
                <a:lnTo>
                  <a:pt x="84" y="5"/>
                </a:lnTo>
                <a:lnTo>
                  <a:pt x="84" y="3"/>
                </a:lnTo>
                <a:lnTo>
                  <a:pt x="82" y="1"/>
                </a:lnTo>
                <a:lnTo>
                  <a:pt x="79" y="0"/>
                </a:lnTo>
                <a:lnTo>
                  <a:pt x="74" y="0"/>
                </a:lnTo>
                <a:lnTo>
                  <a:pt x="67" y="0"/>
                </a:lnTo>
                <a:lnTo>
                  <a:pt x="59" y="0"/>
                </a:lnTo>
                <a:lnTo>
                  <a:pt x="54" y="0"/>
                </a:lnTo>
                <a:lnTo>
                  <a:pt x="52" y="0"/>
                </a:lnTo>
                <a:lnTo>
                  <a:pt x="50" y="2"/>
                </a:lnTo>
                <a:lnTo>
                  <a:pt x="49" y="3"/>
                </a:lnTo>
                <a:lnTo>
                  <a:pt x="47" y="4"/>
                </a:lnTo>
                <a:lnTo>
                  <a:pt x="46" y="7"/>
                </a:lnTo>
                <a:lnTo>
                  <a:pt x="42" y="10"/>
                </a:lnTo>
                <a:lnTo>
                  <a:pt x="40" y="13"/>
                </a:lnTo>
                <a:lnTo>
                  <a:pt x="38" y="17"/>
                </a:lnTo>
                <a:lnTo>
                  <a:pt x="38" y="22"/>
                </a:lnTo>
                <a:lnTo>
                  <a:pt x="38" y="27"/>
                </a:lnTo>
                <a:lnTo>
                  <a:pt x="39" y="31"/>
                </a:lnTo>
                <a:lnTo>
                  <a:pt x="40" y="35"/>
                </a:lnTo>
                <a:lnTo>
                  <a:pt x="41" y="38"/>
                </a:lnTo>
                <a:lnTo>
                  <a:pt x="41" y="39"/>
                </a:lnTo>
                <a:lnTo>
                  <a:pt x="42" y="59"/>
                </a:lnTo>
                <a:lnTo>
                  <a:pt x="52" y="68"/>
                </a:lnTo>
                <a:lnTo>
                  <a:pt x="50" y="69"/>
                </a:lnTo>
                <a:lnTo>
                  <a:pt x="46" y="72"/>
                </a:lnTo>
                <a:lnTo>
                  <a:pt x="39" y="76"/>
                </a:lnTo>
                <a:lnTo>
                  <a:pt x="31" y="81"/>
                </a:lnTo>
                <a:lnTo>
                  <a:pt x="24" y="85"/>
                </a:lnTo>
                <a:lnTo>
                  <a:pt x="17" y="90"/>
                </a:lnTo>
                <a:lnTo>
                  <a:pt x="12" y="94"/>
                </a:lnTo>
                <a:lnTo>
                  <a:pt x="10" y="97"/>
                </a:lnTo>
                <a:lnTo>
                  <a:pt x="10" y="102"/>
                </a:lnTo>
                <a:lnTo>
                  <a:pt x="9" y="111"/>
                </a:lnTo>
                <a:lnTo>
                  <a:pt x="8" y="124"/>
                </a:lnTo>
                <a:lnTo>
                  <a:pt x="6" y="137"/>
                </a:lnTo>
                <a:lnTo>
                  <a:pt x="4" y="152"/>
                </a:lnTo>
                <a:lnTo>
                  <a:pt x="3" y="165"/>
                </a:lnTo>
                <a:lnTo>
                  <a:pt x="1" y="176"/>
                </a:lnTo>
                <a:lnTo>
                  <a:pt x="1" y="182"/>
                </a:lnTo>
                <a:lnTo>
                  <a:pt x="1" y="187"/>
                </a:lnTo>
                <a:lnTo>
                  <a:pt x="0" y="195"/>
                </a:lnTo>
                <a:lnTo>
                  <a:pt x="0" y="206"/>
                </a:lnTo>
                <a:lnTo>
                  <a:pt x="0" y="218"/>
                </a:lnTo>
                <a:lnTo>
                  <a:pt x="0" y="231"/>
                </a:lnTo>
                <a:lnTo>
                  <a:pt x="0" y="244"/>
                </a:lnTo>
                <a:lnTo>
                  <a:pt x="0" y="254"/>
                </a:lnTo>
                <a:lnTo>
                  <a:pt x="2" y="262"/>
                </a:lnTo>
                <a:lnTo>
                  <a:pt x="3" y="266"/>
                </a:lnTo>
                <a:lnTo>
                  <a:pt x="5" y="267"/>
                </a:lnTo>
                <a:lnTo>
                  <a:pt x="8" y="269"/>
                </a:lnTo>
                <a:lnTo>
                  <a:pt x="10" y="270"/>
                </a:lnTo>
                <a:lnTo>
                  <a:pt x="13" y="270"/>
                </a:lnTo>
                <a:lnTo>
                  <a:pt x="15" y="270"/>
                </a:lnTo>
                <a:lnTo>
                  <a:pt x="17" y="269"/>
                </a:lnTo>
                <a:lnTo>
                  <a:pt x="17" y="269"/>
                </a:lnTo>
                <a:lnTo>
                  <a:pt x="10" y="257"/>
                </a:lnTo>
                <a:lnTo>
                  <a:pt x="23" y="171"/>
                </a:lnTo>
                <a:lnTo>
                  <a:pt x="22" y="263"/>
                </a:lnTo>
                <a:lnTo>
                  <a:pt x="42" y="436"/>
                </a:lnTo>
                <a:lnTo>
                  <a:pt x="26" y="455"/>
                </a:lnTo>
                <a:lnTo>
                  <a:pt x="23" y="468"/>
                </a:lnTo>
                <a:lnTo>
                  <a:pt x="47" y="466"/>
                </a:lnTo>
                <a:lnTo>
                  <a:pt x="68" y="451"/>
                </a:lnTo>
                <a:lnTo>
                  <a:pt x="69" y="452"/>
                </a:lnTo>
                <a:lnTo>
                  <a:pt x="72" y="454"/>
                </a:lnTo>
                <a:lnTo>
                  <a:pt x="76" y="456"/>
                </a:lnTo>
                <a:lnTo>
                  <a:pt x="81" y="459"/>
                </a:lnTo>
                <a:lnTo>
                  <a:pt x="87" y="462"/>
                </a:lnTo>
                <a:lnTo>
                  <a:pt x="92" y="464"/>
                </a:lnTo>
                <a:lnTo>
                  <a:pt x="96" y="466"/>
                </a:lnTo>
                <a:lnTo>
                  <a:pt x="100" y="468"/>
                </a:lnTo>
                <a:lnTo>
                  <a:pt x="103" y="468"/>
                </a:lnTo>
                <a:lnTo>
                  <a:pt x="105" y="468"/>
                </a:lnTo>
                <a:lnTo>
                  <a:pt x="109" y="468"/>
                </a:lnTo>
                <a:lnTo>
                  <a:pt x="112" y="467"/>
                </a:lnTo>
                <a:lnTo>
                  <a:pt x="115" y="466"/>
                </a:lnTo>
                <a:lnTo>
                  <a:pt x="117" y="465"/>
                </a:lnTo>
                <a:lnTo>
                  <a:pt x="118" y="465"/>
                </a:lnTo>
                <a:lnTo>
                  <a:pt x="119" y="464"/>
                </a:lnTo>
                <a:lnTo>
                  <a:pt x="114" y="447"/>
                </a:lnTo>
                <a:lnTo>
                  <a:pt x="95" y="437"/>
                </a:lnTo>
                <a:lnTo>
                  <a:pt x="112" y="274"/>
                </a:lnTo>
                <a:lnTo>
                  <a:pt x="120" y="256"/>
                </a:lnTo>
                <a:lnTo>
                  <a:pt x="111" y="163"/>
                </a:lnTo>
                <a:lnTo>
                  <a:pt x="130" y="258"/>
                </a:lnTo>
                <a:lnTo>
                  <a:pt x="125" y="266"/>
                </a:lnTo>
                <a:lnTo>
                  <a:pt x="125" y="266"/>
                </a:lnTo>
                <a:lnTo>
                  <a:pt x="125" y="266"/>
                </a:lnTo>
                <a:lnTo>
                  <a:pt x="125" y="267"/>
                </a:lnTo>
                <a:lnTo>
                  <a:pt x="126" y="268"/>
                </a:lnTo>
                <a:lnTo>
                  <a:pt x="126" y="268"/>
                </a:lnTo>
                <a:lnTo>
                  <a:pt x="127" y="269"/>
                </a:lnTo>
                <a:lnTo>
                  <a:pt x="127" y="270"/>
                </a:lnTo>
                <a:lnTo>
                  <a:pt x="129" y="270"/>
                </a:lnTo>
                <a:lnTo>
                  <a:pt x="129" y="280"/>
                </a:lnTo>
                <a:lnTo>
                  <a:pt x="118" y="280"/>
                </a:lnTo>
              </a:path>
            </a:pathLst>
          </a:custGeom>
          <a:solidFill>
            <a:schemeClr val="bg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30" name="Freeform 14"/>
          <p:cNvSpPr>
            <a:spLocks/>
          </p:cNvSpPr>
          <p:nvPr/>
        </p:nvSpPr>
        <p:spPr bwMode="auto">
          <a:xfrm>
            <a:off x="1262063" y="3068638"/>
            <a:ext cx="234950" cy="712787"/>
          </a:xfrm>
          <a:custGeom>
            <a:avLst/>
            <a:gdLst>
              <a:gd name="T0" fmla="*/ 80 w 148"/>
              <a:gd name="T1" fmla="*/ 211 h 449"/>
              <a:gd name="T2" fmla="*/ 79 w 148"/>
              <a:gd name="T3" fmla="*/ 212 h 449"/>
              <a:gd name="T4" fmla="*/ 82 w 148"/>
              <a:gd name="T5" fmla="*/ 210 h 449"/>
              <a:gd name="T6" fmla="*/ 82 w 148"/>
              <a:gd name="T7" fmla="*/ 210 h 449"/>
              <a:gd name="T8" fmla="*/ 135 w 148"/>
              <a:gd name="T9" fmla="*/ 422 h 449"/>
              <a:gd name="T10" fmla="*/ 112 w 148"/>
              <a:gd name="T11" fmla="*/ 394 h 449"/>
              <a:gd name="T12" fmla="*/ 117 w 148"/>
              <a:gd name="T13" fmla="*/ 332 h 449"/>
              <a:gd name="T14" fmla="*/ 120 w 148"/>
              <a:gd name="T15" fmla="*/ 309 h 449"/>
              <a:gd name="T16" fmla="*/ 127 w 148"/>
              <a:gd name="T17" fmla="*/ 294 h 449"/>
              <a:gd name="T18" fmla="*/ 118 w 148"/>
              <a:gd name="T19" fmla="*/ 202 h 449"/>
              <a:gd name="T20" fmla="*/ 126 w 148"/>
              <a:gd name="T21" fmla="*/ 216 h 449"/>
              <a:gd name="T22" fmla="*/ 132 w 148"/>
              <a:gd name="T23" fmla="*/ 204 h 449"/>
              <a:gd name="T24" fmla="*/ 124 w 148"/>
              <a:gd name="T25" fmla="*/ 178 h 449"/>
              <a:gd name="T26" fmla="*/ 128 w 148"/>
              <a:gd name="T27" fmla="*/ 132 h 449"/>
              <a:gd name="T28" fmla="*/ 108 w 148"/>
              <a:gd name="T29" fmla="*/ 76 h 449"/>
              <a:gd name="T30" fmla="*/ 94 w 148"/>
              <a:gd name="T31" fmla="*/ 66 h 449"/>
              <a:gd name="T32" fmla="*/ 101 w 148"/>
              <a:gd name="T33" fmla="*/ 64 h 449"/>
              <a:gd name="T34" fmla="*/ 104 w 148"/>
              <a:gd name="T35" fmla="*/ 53 h 449"/>
              <a:gd name="T36" fmla="*/ 97 w 148"/>
              <a:gd name="T37" fmla="*/ 46 h 449"/>
              <a:gd name="T38" fmla="*/ 95 w 148"/>
              <a:gd name="T39" fmla="*/ 27 h 449"/>
              <a:gd name="T40" fmla="*/ 97 w 148"/>
              <a:gd name="T41" fmla="*/ 17 h 449"/>
              <a:gd name="T42" fmla="*/ 90 w 148"/>
              <a:gd name="T43" fmla="*/ 6 h 449"/>
              <a:gd name="T44" fmla="*/ 79 w 148"/>
              <a:gd name="T45" fmla="*/ 0 h 449"/>
              <a:gd name="T46" fmla="*/ 56 w 148"/>
              <a:gd name="T47" fmla="*/ 3 h 449"/>
              <a:gd name="T48" fmla="*/ 41 w 148"/>
              <a:gd name="T49" fmla="*/ 22 h 449"/>
              <a:gd name="T50" fmla="*/ 32 w 148"/>
              <a:gd name="T51" fmla="*/ 47 h 449"/>
              <a:gd name="T52" fmla="*/ 23 w 148"/>
              <a:gd name="T53" fmla="*/ 59 h 449"/>
              <a:gd name="T54" fmla="*/ 31 w 148"/>
              <a:gd name="T55" fmla="*/ 66 h 449"/>
              <a:gd name="T56" fmla="*/ 28 w 148"/>
              <a:gd name="T57" fmla="*/ 76 h 449"/>
              <a:gd name="T58" fmla="*/ 5 w 148"/>
              <a:gd name="T59" fmla="*/ 121 h 449"/>
              <a:gd name="T60" fmla="*/ 0 w 148"/>
              <a:gd name="T61" fmla="*/ 152 h 449"/>
              <a:gd name="T62" fmla="*/ 13 w 148"/>
              <a:gd name="T63" fmla="*/ 191 h 449"/>
              <a:gd name="T64" fmla="*/ 14 w 148"/>
              <a:gd name="T65" fmla="*/ 256 h 449"/>
              <a:gd name="T66" fmla="*/ 12 w 148"/>
              <a:gd name="T67" fmla="*/ 303 h 449"/>
              <a:gd name="T68" fmla="*/ 28 w 148"/>
              <a:gd name="T69" fmla="*/ 311 h 449"/>
              <a:gd name="T70" fmla="*/ 34 w 148"/>
              <a:gd name="T71" fmla="*/ 320 h 449"/>
              <a:gd name="T72" fmla="*/ 40 w 148"/>
              <a:gd name="T73" fmla="*/ 337 h 449"/>
              <a:gd name="T74" fmla="*/ 39 w 148"/>
              <a:gd name="T75" fmla="*/ 344 h 449"/>
              <a:gd name="T76" fmla="*/ 38 w 148"/>
              <a:gd name="T77" fmla="*/ 367 h 449"/>
              <a:gd name="T78" fmla="*/ 46 w 148"/>
              <a:gd name="T79" fmla="*/ 400 h 449"/>
              <a:gd name="T80" fmla="*/ 43 w 148"/>
              <a:gd name="T81" fmla="*/ 442 h 449"/>
              <a:gd name="T82" fmla="*/ 56 w 148"/>
              <a:gd name="T83" fmla="*/ 448 h 449"/>
              <a:gd name="T84" fmla="*/ 64 w 148"/>
              <a:gd name="T85" fmla="*/ 435 h 449"/>
              <a:gd name="T86" fmla="*/ 59 w 148"/>
              <a:gd name="T87" fmla="*/ 398 h 449"/>
              <a:gd name="T88" fmla="*/ 84 w 148"/>
              <a:gd name="T89" fmla="*/ 327 h 449"/>
              <a:gd name="T90" fmla="*/ 85 w 148"/>
              <a:gd name="T91" fmla="*/ 349 h 449"/>
              <a:gd name="T92" fmla="*/ 93 w 148"/>
              <a:gd name="T93" fmla="*/ 384 h 449"/>
              <a:gd name="T94" fmla="*/ 94 w 148"/>
              <a:gd name="T95" fmla="*/ 427 h 449"/>
              <a:gd name="T96" fmla="*/ 107 w 148"/>
              <a:gd name="T97" fmla="*/ 428 h 449"/>
              <a:gd name="T98" fmla="*/ 124 w 148"/>
              <a:gd name="T99" fmla="*/ 437 h 449"/>
              <a:gd name="T100" fmla="*/ 142 w 148"/>
              <a:gd name="T101" fmla="*/ 438 h 449"/>
              <a:gd name="T102" fmla="*/ 79 w 148"/>
              <a:gd name="T103" fmla="*/ 212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8" h="449">
                <a:moveTo>
                  <a:pt x="79" y="212"/>
                </a:moveTo>
                <a:lnTo>
                  <a:pt x="80" y="211"/>
                </a:lnTo>
                <a:lnTo>
                  <a:pt x="80" y="211"/>
                </a:lnTo>
                <a:lnTo>
                  <a:pt x="80" y="211"/>
                </a:lnTo>
                <a:lnTo>
                  <a:pt x="80" y="211"/>
                </a:lnTo>
                <a:lnTo>
                  <a:pt x="80" y="211"/>
                </a:lnTo>
                <a:lnTo>
                  <a:pt x="80" y="211"/>
                </a:lnTo>
                <a:lnTo>
                  <a:pt x="80" y="211"/>
                </a:lnTo>
                <a:lnTo>
                  <a:pt x="80" y="212"/>
                </a:lnTo>
                <a:lnTo>
                  <a:pt x="79" y="212"/>
                </a:lnTo>
                <a:lnTo>
                  <a:pt x="82" y="210"/>
                </a:lnTo>
                <a:lnTo>
                  <a:pt x="83" y="210"/>
                </a:lnTo>
                <a:lnTo>
                  <a:pt x="82" y="210"/>
                </a:lnTo>
                <a:lnTo>
                  <a:pt x="82" y="210"/>
                </a:lnTo>
                <a:lnTo>
                  <a:pt x="82" y="210"/>
                </a:lnTo>
                <a:lnTo>
                  <a:pt x="82" y="210"/>
                </a:lnTo>
                <a:lnTo>
                  <a:pt x="82" y="210"/>
                </a:lnTo>
                <a:lnTo>
                  <a:pt x="82" y="210"/>
                </a:lnTo>
                <a:lnTo>
                  <a:pt x="82" y="210"/>
                </a:lnTo>
                <a:lnTo>
                  <a:pt x="82" y="210"/>
                </a:lnTo>
                <a:lnTo>
                  <a:pt x="79" y="212"/>
                </a:lnTo>
                <a:lnTo>
                  <a:pt x="145" y="429"/>
                </a:lnTo>
                <a:lnTo>
                  <a:pt x="144" y="428"/>
                </a:lnTo>
                <a:lnTo>
                  <a:pt x="140" y="426"/>
                </a:lnTo>
                <a:lnTo>
                  <a:pt x="135" y="422"/>
                </a:lnTo>
                <a:lnTo>
                  <a:pt x="129" y="418"/>
                </a:lnTo>
                <a:lnTo>
                  <a:pt x="122" y="413"/>
                </a:lnTo>
                <a:lnTo>
                  <a:pt x="117" y="406"/>
                </a:lnTo>
                <a:lnTo>
                  <a:pt x="113" y="401"/>
                </a:lnTo>
                <a:lnTo>
                  <a:pt x="112" y="394"/>
                </a:lnTo>
                <a:lnTo>
                  <a:pt x="112" y="386"/>
                </a:lnTo>
                <a:lnTo>
                  <a:pt x="113" y="374"/>
                </a:lnTo>
                <a:lnTo>
                  <a:pt x="114" y="360"/>
                </a:lnTo>
                <a:lnTo>
                  <a:pt x="115" y="345"/>
                </a:lnTo>
                <a:lnTo>
                  <a:pt x="117" y="332"/>
                </a:lnTo>
                <a:lnTo>
                  <a:pt x="118" y="320"/>
                </a:lnTo>
                <a:lnTo>
                  <a:pt x="118" y="312"/>
                </a:lnTo>
                <a:lnTo>
                  <a:pt x="119" y="310"/>
                </a:lnTo>
                <a:lnTo>
                  <a:pt x="119" y="310"/>
                </a:lnTo>
                <a:lnTo>
                  <a:pt x="120" y="309"/>
                </a:lnTo>
                <a:lnTo>
                  <a:pt x="121" y="308"/>
                </a:lnTo>
                <a:lnTo>
                  <a:pt x="123" y="307"/>
                </a:lnTo>
                <a:lnTo>
                  <a:pt x="124" y="303"/>
                </a:lnTo>
                <a:lnTo>
                  <a:pt x="126" y="299"/>
                </a:lnTo>
                <a:lnTo>
                  <a:pt x="127" y="294"/>
                </a:lnTo>
                <a:lnTo>
                  <a:pt x="128" y="287"/>
                </a:lnTo>
                <a:lnTo>
                  <a:pt x="118" y="200"/>
                </a:lnTo>
                <a:lnTo>
                  <a:pt x="118" y="199"/>
                </a:lnTo>
                <a:lnTo>
                  <a:pt x="118" y="200"/>
                </a:lnTo>
                <a:lnTo>
                  <a:pt x="118" y="202"/>
                </a:lnTo>
                <a:lnTo>
                  <a:pt x="120" y="205"/>
                </a:lnTo>
                <a:lnTo>
                  <a:pt x="121" y="209"/>
                </a:lnTo>
                <a:lnTo>
                  <a:pt x="123" y="213"/>
                </a:lnTo>
                <a:lnTo>
                  <a:pt x="124" y="215"/>
                </a:lnTo>
                <a:lnTo>
                  <a:pt x="126" y="216"/>
                </a:lnTo>
                <a:lnTo>
                  <a:pt x="128" y="214"/>
                </a:lnTo>
                <a:lnTo>
                  <a:pt x="129" y="212"/>
                </a:lnTo>
                <a:lnTo>
                  <a:pt x="130" y="209"/>
                </a:lnTo>
                <a:lnTo>
                  <a:pt x="131" y="207"/>
                </a:lnTo>
                <a:lnTo>
                  <a:pt x="132" y="204"/>
                </a:lnTo>
                <a:lnTo>
                  <a:pt x="132" y="200"/>
                </a:lnTo>
                <a:lnTo>
                  <a:pt x="132" y="196"/>
                </a:lnTo>
                <a:lnTo>
                  <a:pt x="130" y="191"/>
                </a:lnTo>
                <a:lnTo>
                  <a:pt x="128" y="186"/>
                </a:lnTo>
                <a:lnTo>
                  <a:pt x="124" y="178"/>
                </a:lnTo>
                <a:lnTo>
                  <a:pt x="124" y="171"/>
                </a:lnTo>
                <a:lnTo>
                  <a:pt x="125" y="165"/>
                </a:lnTo>
                <a:lnTo>
                  <a:pt x="127" y="157"/>
                </a:lnTo>
                <a:lnTo>
                  <a:pt x="129" y="147"/>
                </a:lnTo>
                <a:lnTo>
                  <a:pt x="128" y="132"/>
                </a:lnTo>
                <a:lnTo>
                  <a:pt x="125" y="114"/>
                </a:lnTo>
                <a:lnTo>
                  <a:pt x="118" y="87"/>
                </a:lnTo>
                <a:lnTo>
                  <a:pt x="116" y="83"/>
                </a:lnTo>
                <a:lnTo>
                  <a:pt x="113" y="79"/>
                </a:lnTo>
                <a:lnTo>
                  <a:pt x="108" y="76"/>
                </a:lnTo>
                <a:lnTo>
                  <a:pt x="104" y="72"/>
                </a:lnTo>
                <a:lnTo>
                  <a:pt x="101" y="69"/>
                </a:lnTo>
                <a:lnTo>
                  <a:pt x="97" y="68"/>
                </a:lnTo>
                <a:lnTo>
                  <a:pt x="95" y="66"/>
                </a:lnTo>
                <a:lnTo>
                  <a:pt x="94" y="66"/>
                </a:lnTo>
                <a:lnTo>
                  <a:pt x="95" y="66"/>
                </a:lnTo>
                <a:lnTo>
                  <a:pt x="96" y="66"/>
                </a:lnTo>
                <a:lnTo>
                  <a:pt x="97" y="65"/>
                </a:lnTo>
                <a:lnTo>
                  <a:pt x="99" y="65"/>
                </a:lnTo>
                <a:lnTo>
                  <a:pt x="101" y="64"/>
                </a:lnTo>
                <a:lnTo>
                  <a:pt x="101" y="63"/>
                </a:lnTo>
                <a:lnTo>
                  <a:pt x="103" y="60"/>
                </a:lnTo>
                <a:lnTo>
                  <a:pt x="104" y="58"/>
                </a:lnTo>
                <a:lnTo>
                  <a:pt x="104" y="55"/>
                </a:lnTo>
                <a:lnTo>
                  <a:pt x="104" y="53"/>
                </a:lnTo>
                <a:lnTo>
                  <a:pt x="103" y="51"/>
                </a:lnTo>
                <a:lnTo>
                  <a:pt x="102" y="51"/>
                </a:lnTo>
                <a:lnTo>
                  <a:pt x="101" y="49"/>
                </a:lnTo>
                <a:lnTo>
                  <a:pt x="99" y="48"/>
                </a:lnTo>
                <a:lnTo>
                  <a:pt x="97" y="46"/>
                </a:lnTo>
                <a:lnTo>
                  <a:pt x="96" y="43"/>
                </a:lnTo>
                <a:lnTo>
                  <a:pt x="94" y="40"/>
                </a:lnTo>
                <a:lnTo>
                  <a:pt x="94" y="36"/>
                </a:lnTo>
                <a:lnTo>
                  <a:pt x="94" y="31"/>
                </a:lnTo>
                <a:lnTo>
                  <a:pt x="95" y="27"/>
                </a:lnTo>
                <a:lnTo>
                  <a:pt x="96" y="23"/>
                </a:lnTo>
                <a:lnTo>
                  <a:pt x="96" y="20"/>
                </a:lnTo>
                <a:lnTo>
                  <a:pt x="97" y="18"/>
                </a:lnTo>
                <a:lnTo>
                  <a:pt x="98" y="17"/>
                </a:lnTo>
                <a:lnTo>
                  <a:pt x="97" y="17"/>
                </a:lnTo>
                <a:lnTo>
                  <a:pt x="96" y="15"/>
                </a:lnTo>
                <a:lnTo>
                  <a:pt x="95" y="13"/>
                </a:lnTo>
                <a:lnTo>
                  <a:pt x="93" y="11"/>
                </a:lnTo>
                <a:lnTo>
                  <a:pt x="91" y="8"/>
                </a:lnTo>
                <a:lnTo>
                  <a:pt x="90" y="6"/>
                </a:lnTo>
                <a:lnTo>
                  <a:pt x="88" y="4"/>
                </a:lnTo>
                <a:lnTo>
                  <a:pt x="88" y="2"/>
                </a:lnTo>
                <a:lnTo>
                  <a:pt x="87" y="0"/>
                </a:lnTo>
                <a:lnTo>
                  <a:pt x="84" y="0"/>
                </a:lnTo>
                <a:lnTo>
                  <a:pt x="79" y="0"/>
                </a:lnTo>
                <a:lnTo>
                  <a:pt x="74" y="0"/>
                </a:lnTo>
                <a:lnTo>
                  <a:pt x="69" y="0"/>
                </a:lnTo>
                <a:lnTo>
                  <a:pt x="63" y="1"/>
                </a:lnTo>
                <a:lnTo>
                  <a:pt x="59" y="2"/>
                </a:lnTo>
                <a:lnTo>
                  <a:pt x="56" y="3"/>
                </a:lnTo>
                <a:lnTo>
                  <a:pt x="52" y="4"/>
                </a:lnTo>
                <a:lnTo>
                  <a:pt x="50" y="8"/>
                </a:lnTo>
                <a:lnTo>
                  <a:pt x="46" y="12"/>
                </a:lnTo>
                <a:lnTo>
                  <a:pt x="44" y="17"/>
                </a:lnTo>
                <a:lnTo>
                  <a:pt x="41" y="22"/>
                </a:lnTo>
                <a:lnTo>
                  <a:pt x="39" y="28"/>
                </a:lnTo>
                <a:lnTo>
                  <a:pt x="37" y="34"/>
                </a:lnTo>
                <a:lnTo>
                  <a:pt x="35" y="38"/>
                </a:lnTo>
                <a:lnTo>
                  <a:pt x="33" y="43"/>
                </a:lnTo>
                <a:lnTo>
                  <a:pt x="32" y="47"/>
                </a:lnTo>
                <a:lnTo>
                  <a:pt x="30" y="51"/>
                </a:lnTo>
                <a:lnTo>
                  <a:pt x="28" y="54"/>
                </a:lnTo>
                <a:lnTo>
                  <a:pt x="26" y="55"/>
                </a:lnTo>
                <a:lnTo>
                  <a:pt x="24" y="57"/>
                </a:lnTo>
                <a:lnTo>
                  <a:pt x="23" y="59"/>
                </a:lnTo>
                <a:lnTo>
                  <a:pt x="23" y="59"/>
                </a:lnTo>
                <a:lnTo>
                  <a:pt x="28" y="64"/>
                </a:lnTo>
                <a:lnTo>
                  <a:pt x="28" y="64"/>
                </a:lnTo>
                <a:lnTo>
                  <a:pt x="29" y="64"/>
                </a:lnTo>
                <a:lnTo>
                  <a:pt x="31" y="66"/>
                </a:lnTo>
                <a:lnTo>
                  <a:pt x="32" y="68"/>
                </a:lnTo>
                <a:lnTo>
                  <a:pt x="33" y="69"/>
                </a:lnTo>
                <a:lnTo>
                  <a:pt x="33" y="71"/>
                </a:lnTo>
                <a:lnTo>
                  <a:pt x="31" y="73"/>
                </a:lnTo>
                <a:lnTo>
                  <a:pt x="28" y="76"/>
                </a:lnTo>
                <a:lnTo>
                  <a:pt x="23" y="80"/>
                </a:lnTo>
                <a:lnTo>
                  <a:pt x="19" y="88"/>
                </a:lnTo>
                <a:lnTo>
                  <a:pt x="14" y="98"/>
                </a:lnTo>
                <a:lnTo>
                  <a:pt x="10" y="110"/>
                </a:lnTo>
                <a:lnTo>
                  <a:pt x="5" y="121"/>
                </a:lnTo>
                <a:lnTo>
                  <a:pt x="2" y="132"/>
                </a:lnTo>
                <a:lnTo>
                  <a:pt x="0" y="139"/>
                </a:lnTo>
                <a:lnTo>
                  <a:pt x="0" y="143"/>
                </a:lnTo>
                <a:lnTo>
                  <a:pt x="0" y="146"/>
                </a:lnTo>
                <a:lnTo>
                  <a:pt x="0" y="152"/>
                </a:lnTo>
                <a:lnTo>
                  <a:pt x="1" y="160"/>
                </a:lnTo>
                <a:lnTo>
                  <a:pt x="4" y="169"/>
                </a:lnTo>
                <a:lnTo>
                  <a:pt x="6" y="178"/>
                </a:lnTo>
                <a:lnTo>
                  <a:pt x="10" y="185"/>
                </a:lnTo>
                <a:lnTo>
                  <a:pt x="13" y="191"/>
                </a:lnTo>
                <a:lnTo>
                  <a:pt x="18" y="193"/>
                </a:lnTo>
                <a:lnTo>
                  <a:pt x="16" y="204"/>
                </a:lnTo>
                <a:lnTo>
                  <a:pt x="16" y="219"/>
                </a:lnTo>
                <a:lnTo>
                  <a:pt x="15" y="237"/>
                </a:lnTo>
                <a:lnTo>
                  <a:pt x="14" y="256"/>
                </a:lnTo>
                <a:lnTo>
                  <a:pt x="13" y="273"/>
                </a:lnTo>
                <a:lnTo>
                  <a:pt x="12" y="288"/>
                </a:lnTo>
                <a:lnTo>
                  <a:pt x="11" y="298"/>
                </a:lnTo>
                <a:lnTo>
                  <a:pt x="11" y="302"/>
                </a:lnTo>
                <a:lnTo>
                  <a:pt x="12" y="303"/>
                </a:lnTo>
                <a:lnTo>
                  <a:pt x="15" y="305"/>
                </a:lnTo>
                <a:lnTo>
                  <a:pt x="18" y="307"/>
                </a:lnTo>
                <a:lnTo>
                  <a:pt x="22" y="309"/>
                </a:lnTo>
                <a:lnTo>
                  <a:pt x="25" y="311"/>
                </a:lnTo>
                <a:lnTo>
                  <a:pt x="28" y="311"/>
                </a:lnTo>
                <a:lnTo>
                  <a:pt x="31" y="311"/>
                </a:lnTo>
                <a:lnTo>
                  <a:pt x="32" y="310"/>
                </a:lnTo>
                <a:lnTo>
                  <a:pt x="32" y="311"/>
                </a:lnTo>
                <a:lnTo>
                  <a:pt x="33" y="315"/>
                </a:lnTo>
                <a:lnTo>
                  <a:pt x="34" y="320"/>
                </a:lnTo>
                <a:lnTo>
                  <a:pt x="36" y="324"/>
                </a:lnTo>
                <a:lnTo>
                  <a:pt x="38" y="329"/>
                </a:lnTo>
                <a:lnTo>
                  <a:pt x="39" y="333"/>
                </a:lnTo>
                <a:lnTo>
                  <a:pt x="40" y="336"/>
                </a:lnTo>
                <a:lnTo>
                  <a:pt x="40" y="337"/>
                </a:lnTo>
                <a:lnTo>
                  <a:pt x="40" y="337"/>
                </a:lnTo>
                <a:lnTo>
                  <a:pt x="40" y="338"/>
                </a:lnTo>
                <a:lnTo>
                  <a:pt x="39" y="340"/>
                </a:lnTo>
                <a:lnTo>
                  <a:pt x="39" y="341"/>
                </a:lnTo>
                <a:lnTo>
                  <a:pt x="39" y="344"/>
                </a:lnTo>
                <a:lnTo>
                  <a:pt x="38" y="347"/>
                </a:lnTo>
                <a:lnTo>
                  <a:pt x="37" y="350"/>
                </a:lnTo>
                <a:lnTo>
                  <a:pt x="37" y="355"/>
                </a:lnTo>
                <a:lnTo>
                  <a:pt x="37" y="360"/>
                </a:lnTo>
                <a:lnTo>
                  <a:pt x="38" y="367"/>
                </a:lnTo>
                <a:lnTo>
                  <a:pt x="39" y="375"/>
                </a:lnTo>
                <a:lnTo>
                  <a:pt x="41" y="383"/>
                </a:lnTo>
                <a:lnTo>
                  <a:pt x="43" y="390"/>
                </a:lnTo>
                <a:lnTo>
                  <a:pt x="45" y="396"/>
                </a:lnTo>
                <a:lnTo>
                  <a:pt x="46" y="400"/>
                </a:lnTo>
                <a:lnTo>
                  <a:pt x="46" y="401"/>
                </a:lnTo>
                <a:lnTo>
                  <a:pt x="39" y="417"/>
                </a:lnTo>
                <a:lnTo>
                  <a:pt x="42" y="440"/>
                </a:lnTo>
                <a:lnTo>
                  <a:pt x="42" y="441"/>
                </a:lnTo>
                <a:lnTo>
                  <a:pt x="43" y="442"/>
                </a:lnTo>
                <a:lnTo>
                  <a:pt x="45" y="443"/>
                </a:lnTo>
                <a:lnTo>
                  <a:pt x="47" y="445"/>
                </a:lnTo>
                <a:lnTo>
                  <a:pt x="50" y="447"/>
                </a:lnTo>
                <a:lnTo>
                  <a:pt x="52" y="448"/>
                </a:lnTo>
                <a:lnTo>
                  <a:pt x="56" y="448"/>
                </a:lnTo>
                <a:lnTo>
                  <a:pt x="58" y="447"/>
                </a:lnTo>
                <a:lnTo>
                  <a:pt x="60" y="444"/>
                </a:lnTo>
                <a:lnTo>
                  <a:pt x="62" y="442"/>
                </a:lnTo>
                <a:lnTo>
                  <a:pt x="63" y="439"/>
                </a:lnTo>
                <a:lnTo>
                  <a:pt x="64" y="435"/>
                </a:lnTo>
                <a:lnTo>
                  <a:pt x="65" y="433"/>
                </a:lnTo>
                <a:lnTo>
                  <a:pt x="65" y="430"/>
                </a:lnTo>
                <a:lnTo>
                  <a:pt x="65" y="429"/>
                </a:lnTo>
                <a:lnTo>
                  <a:pt x="65" y="429"/>
                </a:lnTo>
                <a:lnTo>
                  <a:pt x="59" y="398"/>
                </a:lnTo>
                <a:lnTo>
                  <a:pt x="69" y="336"/>
                </a:lnTo>
                <a:lnTo>
                  <a:pt x="72" y="324"/>
                </a:lnTo>
                <a:lnTo>
                  <a:pt x="84" y="324"/>
                </a:lnTo>
                <a:lnTo>
                  <a:pt x="84" y="324"/>
                </a:lnTo>
                <a:lnTo>
                  <a:pt x="84" y="327"/>
                </a:lnTo>
                <a:lnTo>
                  <a:pt x="84" y="329"/>
                </a:lnTo>
                <a:lnTo>
                  <a:pt x="84" y="333"/>
                </a:lnTo>
                <a:lnTo>
                  <a:pt x="84" y="338"/>
                </a:lnTo>
                <a:lnTo>
                  <a:pt x="85" y="344"/>
                </a:lnTo>
                <a:lnTo>
                  <a:pt x="85" y="349"/>
                </a:lnTo>
                <a:lnTo>
                  <a:pt x="86" y="355"/>
                </a:lnTo>
                <a:lnTo>
                  <a:pt x="88" y="362"/>
                </a:lnTo>
                <a:lnTo>
                  <a:pt x="90" y="370"/>
                </a:lnTo>
                <a:lnTo>
                  <a:pt x="91" y="377"/>
                </a:lnTo>
                <a:lnTo>
                  <a:pt x="93" y="384"/>
                </a:lnTo>
                <a:lnTo>
                  <a:pt x="94" y="391"/>
                </a:lnTo>
                <a:lnTo>
                  <a:pt x="96" y="396"/>
                </a:lnTo>
                <a:lnTo>
                  <a:pt x="96" y="399"/>
                </a:lnTo>
                <a:lnTo>
                  <a:pt x="96" y="400"/>
                </a:lnTo>
                <a:lnTo>
                  <a:pt x="94" y="427"/>
                </a:lnTo>
                <a:lnTo>
                  <a:pt x="102" y="430"/>
                </a:lnTo>
                <a:lnTo>
                  <a:pt x="102" y="426"/>
                </a:lnTo>
                <a:lnTo>
                  <a:pt x="103" y="426"/>
                </a:lnTo>
                <a:lnTo>
                  <a:pt x="105" y="427"/>
                </a:lnTo>
                <a:lnTo>
                  <a:pt x="107" y="428"/>
                </a:lnTo>
                <a:lnTo>
                  <a:pt x="110" y="430"/>
                </a:lnTo>
                <a:lnTo>
                  <a:pt x="113" y="431"/>
                </a:lnTo>
                <a:lnTo>
                  <a:pt x="117" y="433"/>
                </a:lnTo>
                <a:lnTo>
                  <a:pt x="120" y="435"/>
                </a:lnTo>
                <a:lnTo>
                  <a:pt x="124" y="437"/>
                </a:lnTo>
                <a:lnTo>
                  <a:pt x="128" y="439"/>
                </a:lnTo>
                <a:lnTo>
                  <a:pt x="132" y="439"/>
                </a:lnTo>
                <a:lnTo>
                  <a:pt x="135" y="439"/>
                </a:lnTo>
                <a:lnTo>
                  <a:pt x="139" y="439"/>
                </a:lnTo>
                <a:lnTo>
                  <a:pt x="142" y="438"/>
                </a:lnTo>
                <a:lnTo>
                  <a:pt x="144" y="438"/>
                </a:lnTo>
                <a:lnTo>
                  <a:pt x="146" y="437"/>
                </a:lnTo>
                <a:lnTo>
                  <a:pt x="147" y="437"/>
                </a:lnTo>
                <a:lnTo>
                  <a:pt x="145" y="429"/>
                </a:lnTo>
                <a:lnTo>
                  <a:pt x="79" y="212"/>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31" name="Freeform 15"/>
          <p:cNvSpPr>
            <a:spLocks/>
          </p:cNvSpPr>
          <p:nvPr/>
        </p:nvSpPr>
        <p:spPr bwMode="auto">
          <a:xfrm>
            <a:off x="1458913" y="3054350"/>
            <a:ext cx="242887" cy="762000"/>
          </a:xfrm>
          <a:custGeom>
            <a:avLst/>
            <a:gdLst>
              <a:gd name="T0" fmla="*/ 123 w 153"/>
              <a:gd name="T1" fmla="*/ 270 h 480"/>
              <a:gd name="T2" fmla="*/ 137 w 153"/>
              <a:gd name="T3" fmla="*/ 198 h 480"/>
              <a:gd name="T4" fmla="*/ 151 w 153"/>
              <a:gd name="T5" fmla="*/ 163 h 480"/>
              <a:gd name="T6" fmla="*/ 147 w 153"/>
              <a:gd name="T7" fmla="*/ 148 h 480"/>
              <a:gd name="T8" fmla="*/ 141 w 153"/>
              <a:gd name="T9" fmla="*/ 128 h 480"/>
              <a:gd name="T10" fmla="*/ 134 w 153"/>
              <a:gd name="T11" fmla="*/ 108 h 480"/>
              <a:gd name="T12" fmla="*/ 124 w 153"/>
              <a:gd name="T13" fmla="*/ 96 h 480"/>
              <a:gd name="T14" fmla="*/ 111 w 153"/>
              <a:gd name="T15" fmla="*/ 85 h 480"/>
              <a:gd name="T16" fmla="*/ 97 w 153"/>
              <a:gd name="T17" fmla="*/ 76 h 480"/>
              <a:gd name="T18" fmla="*/ 86 w 153"/>
              <a:gd name="T19" fmla="*/ 70 h 480"/>
              <a:gd name="T20" fmla="*/ 91 w 153"/>
              <a:gd name="T21" fmla="*/ 64 h 480"/>
              <a:gd name="T22" fmla="*/ 92 w 153"/>
              <a:gd name="T23" fmla="*/ 44 h 480"/>
              <a:gd name="T24" fmla="*/ 93 w 153"/>
              <a:gd name="T25" fmla="*/ 38 h 480"/>
              <a:gd name="T26" fmla="*/ 95 w 153"/>
              <a:gd name="T27" fmla="*/ 29 h 480"/>
              <a:gd name="T28" fmla="*/ 93 w 153"/>
              <a:gd name="T29" fmla="*/ 19 h 480"/>
              <a:gd name="T30" fmla="*/ 88 w 153"/>
              <a:gd name="T31" fmla="*/ 12 h 480"/>
              <a:gd name="T32" fmla="*/ 86 w 153"/>
              <a:gd name="T33" fmla="*/ 8 h 480"/>
              <a:gd name="T34" fmla="*/ 86 w 153"/>
              <a:gd name="T35" fmla="*/ 7 h 480"/>
              <a:gd name="T36" fmla="*/ 81 w 153"/>
              <a:gd name="T37" fmla="*/ 4 h 480"/>
              <a:gd name="T38" fmla="*/ 70 w 153"/>
              <a:gd name="T39" fmla="*/ 0 h 480"/>
              <a:gd name="T40" fmla="*/ 59 w 153"/>
              <a:gd name="T41" fmla="*/ 0 h 480"/>
              <a:gd name="T42" fmla="*/ 53 w 153"/>
              <a:gd name="T43" fmla="*/ 3 h 480"/>
              <a:gd name="T44" fmla="*/ 47 w 153"/>
              <a:gd name="T45" fmla="*/ 8 h 480"/>
              <a:gd name="T46" fmla="*/ 40 w 153"/>
              <a:gd name="T47" fmla="*/ 15 h 480"/>
              <a:gd name="T48" fmla="*/ 38 w 153"/>
              <a:gd name="T49" fmla="*/ 27 h 480"/>
              <a:gd name="T50" fmla="*/ 40 w 153"/>
              <a:gd name="T51" fmla="*/ 42 h 480"/>
              <a:gd name="T52" fmla="*/ 42 w 153"/>
              <a:gd name="T53" fmla="*/ 52 h 480"/>
              <a:gd name="T54" fmla="*/ 51 w 153"/>
              <a:gd name="T55" fmla="*/ 61 h 480"/>
              <a:gd name="T56" fmla="*/ 50 w 153"/>
              <a:gd name="T57" fmla="*/ 70 h 480"/>
              <a:gd name="T58" fmla="*/ 39 w 153"/>
              <a:gd name="T59" fmla="*/ 77 h 480"/>
              <a:gd name="T60" fmla="*/ 24 w 153"/>
              <a:gd name="T61" fmla="*/ 87 h 480"/>
              <a:gd name="T62" fmla="*/ 13 w 153"/>
              <a:gd name="T63" fmla="*/ 95 h 480"/>
              <a:gd name="T64" fmla="*/ 10 w 153"/>
              <a:gd name="T65" fmla="*/ 103 h 480"/>
              <a:gd name="T66" fmla="*/ 8 w 153"/>
              <a:gd name="T67" fmla="*/ 125 h 480"/>
              <a:gd name="T68" fmla="*/ 5 w 153"/>
              <a:gd name="T69" fmla="*/ 153 h 480"/>
              <a:gd name="T70" fmla="*/ 2 w 153"/>
              <a:gd name="T71" fmla="*/ 176 h 480"/>
              <a:gd name="T72" fmla="*/ 1 w 153"/>
              <a:gd name="T73" fmla="*/ 188 h 480"/>
              <a:gd name="T74" fmla="*/ 0 w 153"/>
              <a:gd name="T75" fmla="*/ 207 h 480"/>
              <a:gd name="T76" fmla="*/ 0 w 153"/>
              <a:gd name="T77" fmla="*/ 233 h 480"/>
              <a:gd name="T78" fmla="*/ 0 w 153"/>
              <a:gd name="T79" fmla="*/ 256 h 480"/>
              <a:gd name="T80" fmla="*/ 4 w 153"/>
              <a:gd name="T81" fmla="*/ 267 h 480"/>
              <a:gd name="T82" fmla="*/ 8 w 153"/>
              <a:gd name="T83" fmla="*/ 270 h 480"/>
              <a:gd name="T84" fmla="*/ 14 w 153"/>
              <a:gd name="T85" fmla="*/ 271 h 480"/>
              <a:gd name="T86" fmla="*/ 17 w 153"/>
              <a:gd name="T87" fmla="*/ 271 h 480"/>
              <a:gd name="T88" fmla="*/ 16 w 153"/>
              <a:gd name="T89" fmla="*/ 263 h 480"/>
              <a:gd name="T90" fmla="*/ 22 w 153"/>
              <a:gd name="T91" fmla="*/ 265 h 480"/>
              <a:gd name="T92" fmla="*/ 21 w 153"/>
              <a:gd name="T93" fmla="*/ 349 h 480"/>
              <a:gd name="T94" fmla="*/ 17 w 153"/>
              <a:gd name="T95" fmla="*/ 441 h 480"/>
              <a:gd name="T96" fmla="*/ 39 w 153"/>
              <a:gd name="T97" fmla="*/ 453 h 480"/>
              <a:gd name="T98" fmla="*/ 70 w 153"/>
              <a:gd name="T99" fmla="*/ 454 h 480"/>
              <a:gd name="T100" fmla="*/ 74 w 153"/>
              <a:gd name="T101" fmla="*/ 461 h 480"/>
              <a:gd name="T102" fmla="*/ 81 w 153"/>
              <a:gd name="T103" fmla="*/ 469 h 480"/>
              <a:gd name="T104" fmla="*/ 87 w 153"/>
              <a:gd name="T105" fmla="*/ 476 h 480"/>
              <a:gd name="T106" fmla="*/ 93 w 153"/>
              <a:gd name="T107" fmla="*/ 479 h 480"/>
              <a:gd name="T108" fmla="*/ 100 w 153"/>
              <a:gd name="T109" fmla="*/ 478 h 480"/>
              <a:gd name="T110" fmla="*/ 105 w 153"/>
              <a:gd name="T111" fmla="*/ 476 h 480"/>
              <a:gd name="T112" fmla="*/ 109 w 153"/>
              <a:gd name="T113" fmla="*/ 475 h 480"/>
              <a:gd name="T114" fmla="*/ 104 w 153"/>
              <a:gd name="T115" fmla="*/ 458 h 480"/>
              <a:gd name="T116" fmla="*/ 114 w 153"/>
              <a:gd name="T117" fmla="*/ 355 h 480"/>
              <a:gd name="T118" fmla="*/ 120 w 153"/>
              <a:gd name="T119" fmla="*/ 248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53" h="480">
                <a:moveTo>
                  <a:pt x="120" y="248"/>
                </a:moveTo>
                <a:lnTo>
                  <a:pt x="123" y="270"/>
                </a:lnTo>
                <a:lnTo>
                  <a:pt x="142" y="243"/>
                </a:lnTo>
                <a:lnTo>
                  <a:pt x="137" y="198"/>
                </a:lnTo>
                <a:lnTo>
                  <a:pt x="152" y="164"/>
                </a:lnTo>
                <a:lnTo>
                  <a:pt x="151" y="163"/>
                </a:lnTo>
                <a:lnTo>
                  <a:pt x="149" y="157"/>
                </a:lnTo>
                <a:lnTo>
                  <a:pt x="147" y="148"/>
                </a:lnTo>
                <a:lnTo>
                  <a:pt x="145" y="138"/>
                </a:lnTo>
                <a:lnTo>
                  <a:pt x="141" y="128"/>
                </a:lnTo>
                <a:lnTo>
                  <a:pt x="138" y="117"/>
                </a:lnTo>
                <a:lnTo>
                  <a:pt x="134" y="108"/>
                </a:lnTo>
                <a:lnTo>
                  <a:pt x="130" y="102"/>
                </a:lnTo>
                <a:lnTo>
                  <a:pt x="124" y="96"/>
                </a:lnTo>
                <a:lnTo>
                  <a:pt x="118" y="90"/>
                </a:lnTo>
                <a:lnTo>
                  <a:pt x="111" y="85"/>
                </a:lnTo>
                <a:lnTo>
                  <a:pt x="103" y="80"/>
                </a:lnTo>
                <a:lnTo>
                  <a:pt x="97" y="76"/>
                </a:lnTo>
                <a:lnTo>
                  <a:pt x="91" y="73"/>
                </a:lnTo>
                <a:lnTo>
                  <a:pt x="86" y="70"/>
                </a:lnTo>
                <a:lnTo>
                  <a:pt x="86" y="69"/>
                </a:lnTo>
                <a:lnTo>
                  <a:pt x="91" y="64"/>
                </a:lnTo>
                <a:lnTo>
                  <a:pt x="92" y="46"/>
                </a:lnTo>
                <a:lnTo>
                  <a:pt x="92" y="44"/>
                </a:lnTo>
                <a:lnTo>
                  <a:pt x="92" y="42"/>
                </a:lnTo>
                <a:lnTo>
                  <a:pt x="93" y="38"/>
                </a:lnTo>
                <a:lnTo>
                  <a:pt x="94" y="34"/>
                </a:lnTo>
                <a:lnTo>
                  <a:pt x="95" y="29"/>
                </a:lnTo>
                <a:lnTo>
                  <a:pt x="94" y="24"/>
                </a:lnTo>
                <a:lnTo>
                  <a:pt x="93" y="19"/>
                </a:lnTo>
                <a:lnTo>
                  <a:pt x="91" y="15"/>
                </a:lnTo>
                <a:lnTo>
                  <a:pt x="88" y="12"/>
                </a:lnTo>
                <a:lnTo>
                  <a:pt x="87" y="9"/>
                </a:lnTo>
                <a:lnTo>
                  <a:pt x="86" y="8"/>
                </a:lnTo>
                <a:lnTo>
                  <a:pt x="86" y="8"/>
                </a:lnTo>
                <a:lnTo>
                  <a:pt x="86" y="7"/>
                </a:lnTo>
                <a:lnTo>
                  <a:pt x="85" y="6"/>
                </a:lnTo>
                <a:lnTo>
                  <a:pt x="81" y="4"/>
                </a:lnTo>
                <a:lnTo>
                  <a:pt x="77" y="3"/>
                </a:lnTo>
                <a:lnTo>
                  <a:pt x="70" y="0"/>
                </a:lnTo>
                <a:lnTo>
                  <a:pt x="64" y="0"/>
                </a:lnTo>
                <a:lnTo>
                  <a:pt x="59" y="0"/>
                </a:lnTo>
                <a:lnTo>
                  <a:pt x="55" y="0"/>
                </a:lnTo>
                <a:lnTo>
                  <a:pt x="53" y="3"/>
                </a:lnTo>
                <a:lnTo>
                  <a:pt x="49" y="5"/>
                </a:lnTo>
                <a:lnTo>
                  <a:pt x="47" y="8"/>
                </a:lnTo>
                <a:lnTo>
                  <a:pt x="43" y="11"/>
                </a:lnTo>
                <a:lnTo>
                  <a:pt x="40" y="15"/>
                </a:lnTo>
                <a:lnTo>
                  <a:pt x="38" y="21"/>
                </a:lnTo>
                <a:lnTo>
                  <a:pt x="38" y="27"/>
                </a:lnTo>
                <a:lnTo>
                  <a:pt x="39" y="35"/>
                </a:lnTo>
                <a:lnTo>
                  <a:pt x="40" y="42"/>
                </a:lnTo>
                <a:lnTo>
                  <a:pt x="41" y="48"/>
                </a:lnTo>
                <a:lnTo>
                  <a:pt x="42" y="52"/>
                </a:lnTo>
                <a:lnTo>
                  <a:pt x="42" y="54"/>
                </a:lnTo>
                <a:lnTo>
                  <a:pt x="51" y="61"/>
                </a:lnTo>
                <a:lnTo>
                  <a:pt x="52" y="69"/>
                </a:lnTo>
                <a:lnTo>
                  <a:pt x="50" y="70"/>
                </a:lnTo>
                <a:lnTo>
                  <a:pt x="46" y="73"/>
                </a:lnTo>
                <a:lnTo>
                  <a:pt x="39" y="77"/>
                </a:lnTo>
                <a:lnTo>
                  <a:pt x="32" y="81"/>
                </a:lnTo>
                <a:lnTo>
                  <a:pt x="24" y="87"/>
                </a:lnTo>
                <a:lnTo>
                  <a:pt x="17" y="91"/>
                </a:lnTo>
                <a:lnTo>
                  <a:pt x="13" y="95"/>
                </a:lnTo>
                <a:lnTo>
                  <a:pt x="11" y="99"/>
                </a:lnTo>
                <a:lnTo>
                  <a:pt x="10" y="103"/>
                </a:lnTo>
                <a:lnTo>
                  <a:pt x="10" y="112"/>
                </a:lnTo>
                <a:lnTo>
                  <a:pt x="8" y="125"/>
                </a:lnTo>
                <a:lnTo>
                  <a:pt x="6" y="138"/>
                </a:lnTo>
                <a:lnTo>
                  <a:pt x="5" y="153"/>
                </a:lnTo>
                <a:lnTo>
                  <a:pt x="3" y="166"/>
                </a:lnTo>
                <a:lnTo>
                  <a:pt x="2" y="176"/>
                </a:lnTo>
                <a:lnTo>
                  <a:pt x="1" y="183"/>
                </a:lnTo>
                <a:lnTo>
                  <a:pt x="1" y="188"/>
                </a:lnTo>
                <a:lnTo>
                  <a:pt x="0" y="196"/>
                </a:lnTo>
                <a:lnTo>
                  <a:pt x="0" y="207"/>
                </a:lnTo>
                <a:lnTo>
                  <a:pt x="0" y="220"/>
                </a:lnTo>
                <a:lnTo>
                  <a:pt x="0" y="233"/>
                </a:lnTo>
                <a:lnTo>
                  <a:pt x="0" y="245"/>
                </a:lnTo>
                <a:lnTo>
                  <a:pt x="0" y="256"/>
                </a:lnTo>
                <a:lnTo>
                  <a:pt x="2" y="264"/>
                </a:lnTo>
                <a:lnTo>
                  <a:pt x="4" y="267"/>
                </a:lnTo>
                <a:lnTo>
                  <a:pt x="5" y="269"/>
                </a:lnTo>
                <a:lnTo>
                  <a:pt x="8" y="270"/>
                </a:lnTo>
                <a:lnTo>
                  <a:pt x="10" y="271"/>
                </a:lnTo>
                <a:lnTo>
                  <a:pt x="14" y="271"/>
                </a:lnTo>
                <a:lnTo>
                  <a:pt x="16" y="271"/>
                </a:lnTo>
                <a:lnTo>
                  <a:pt x="17" y="271"/>
                </a:lnTo>
                <a:lnTo>
                  <a:pt x="18" y="271"/>
                </a:lnTo>
                <a:lnTo>
                  <a:pt x="16" y="263"/>
                </a:lnTo>
                <a:lnTo>
                  <a:pt x="10" y="258"/>
                </a:lnTo>
                <a:lnTo>
                  <a:pt x="22" y="265"/>
                </a:lnTo>
                <a:lnTo>
                  <a:pt x="19" y="329"/>
                </a:lnTo>
                <a:lnTo>
                  <a:pt x="21" y="349"/>
                </a:lnTo>
                <a:lnTo>
                  <a:pt x="39" y="423"/>
                </a:lnTo>
                <a:lnTo>
                  <a:pt x="17" y="441"/>
                </a:lnTo>
                <a:lnTo>
                  <a:pt x="14" y="453"/>
                </a:lnTo>
                <a:lnTo>
                  <a:pt x="39" y="453"/>
                </a:lnTo>
                <a:lnTo>
                  <a:pt x="69" y="453"/>
                </a:lnTo>
                <a:lnTo>
                  <a:pt x="70" y="454"/>
                </a:lnTo>
                <a:lnTo>
                  <a:pt x="71" y="457"/>
                </a:lnTo>
                <a:lnTo>
                  <a:pt x="74" y="461"/>
                </a:lnTo>
                <a:lnTo>
                  <a:pt x="76" y="465"/>
                </a:lnTo>
                <a:lnTo>
                  <a:pt x="81" y="469"/>
                </a:lnTo>
                <a:lnTo>
                  <a:pt x="84" y="473"/>
                </a:lnTo>
                <a:lnTo>
                  <a:pt x="87" y="476"/>
                </a:lnTo>
                <a:lnTo>
                  <a:pt x="90" y="478"/>
                </a:lnTo>
                <a:lnTo>
                  <a:pt x="93" y="479"/>
                </a:lnTo>
                <a:lnTo>
                  <a:pt x="97" y="478"/>
                </a:lnTo>
                <a:lnTo>
                  <a:pt x="100" y="478"/>
                </a:lnTo>
                <a:lnTo>
                  <a:pt x="103" y="477"/>
                </a:lnTo>
                <a:lnTo>
                  <a:pt x="105" y="476"/>
                </a:lnTo>
                <a:lnTo>
                  <a:pt x="108" y="476"/>
                </a:lnTo>
                <a:lnTo>
                  <a:pt x="109" y="475"/>
                </a:lnTo>
                <a:lnTo>
                  <a:pt x="109" y="475"/>
                </a:lnTo>
                <a:lnTo>
                  <a:pt x="104" y="458"/>
                </a:lnTo>
                <a:lnTo>
                  <a:pt x="97" y="439"/>
                </a:lnTo>
                <a:lnTo>
                  <a:pt x="114" y="355"/>
                </a:lnTo>
                <a:lnTo>
                  <a:pt x="118" y="276"/>
                </a:lnTo>
                <a:lnTo>
                  <a:pt x="120" y="248"/>
                </a:lnTo>
              </a:path>
            </a:pathLst>
          </a:custGeom>
          <a:solidFill>
            <a:srgbClr val="996633"/>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32" name="Freeform 16"/>
          <p:cNvSpPr>
            <a:spLocks/>
          </p:cNvSpPr>
          <p:nvPr/>
        </p:nvSpPr>
        <p:spPr bwMode="auto">
          <a:xfrm>
            <a:off x="1665288" y="3016250"/>
            <a:ext cx="238125" cy="746125"/>
          </a:xfrm>
          <a:custGeom>
            <a:avLst/>
            <a:gdLst>
              <a:gd name="T0" fmla="*/ 149 w 150"/>
              <a:gd name="T1" fmla="*/ 393 h 470"/>
              <a:gd name="T2" fmla="*/ 138 w 150"/>
              <a:gd name="T3" fmla="*/ 272 h 470"/>
              <a:gd name="T4" fmla="*/ 141 w 150"/>
              <a:gd name="T5" fmla="*/ 267 h 470"/>
              <a:gd name="T6" fmla="*/ 143 w 150"/>
              <a:gd name="T7" fmla="*/ 263 h 470"/>
              <a:gd name="T8" fmla="*/ 141 w 150"/>
              <a:gd name="T9" fmla="*/ 249 h 470"/>
              <a:gd name="T10" fmla="*/ 142 w 150"/>
              <a:gd name="T11" fmla="*/ 194 h 470"/>
              <a:gd name="T12" fmla="*/ 140 w 150"/>
              <a:gd name="T13" fmla="*/ 154 h 470"/>
              <a:gd name="T14" fmla="*/ 133 w 150"/>
              <a:gd name="T15" fmla="*/ 109 h 470"/>
              <a:gd name="T16" fmla="*/ 118 w 150"/>
              <a:gd name="T17" fmla="*/ 90 h 470"/>
              <a:gd name="T18" fmla="*/ 96 w 150"/>
              <a:gd name="T19" fmla="*/ 75 h 470"/>
              <a:gd name="T20" fmla="*/ 85 w 150"/>
              <a:gd name="T21" fmla="*/ 68 h 470"/>
              <a:gd name="T22" fmla="*/ 94 w 150"/>
              <a:gd name="T23" fmla="*/ 42 h 470"/>
              <a:gd name="T24" fmla="*/ 95 w 150"/>
              <a:gd name="T25" fmla="*/ 32 h 470"/>
              <a:gd name="T26" fmla="*/ 93 w 150"/>
              <a:gd name="T27" fmla="*/ 18 h 470"/>
              <a:gd name="T28" fmla="*/ 86 w 150"/>
              <a:gd name="T29" fmla="*/ 8 h 470"/>
              <a:gd name="T30" fmla="*/ 82 w 150"/>
              <a:gd name="T31" fmla="*/ 2 h 470"/>
              <a:gd name="T32" fmla="*/ 67 w 150"/>
              <a:gd name="T33" fmla="*/ 0 h 470"/>
              <a:gd name="T34" fmla="*/ 52 w 150"/>
              <a:gd name="T35" fmla="*/ 1 h 470"/>
              <a:gd name="T36" fmla="*/ 48 w 150"/>
              <a:gd name="T37" fmla="*/ 5 h 470"/>
              <a:gd name="T38" fmla="*/ 40 w 150"/>
              <a:gd name="T39" fmla="*/ 13 h 470"/>
              <a:gd name="T40" fmla="*/ 38 w 150"/>
              <a:gd name="T41" fmla="*/ 27 h 470"/>
              <a:gd name="T42" fmla="*/ 41 w 150"/>
              <a:gd name="T43" fmla="*/ 38 h 470"/>
              <a:gd name="T44" fmla="*/ 52 w 150"/>
              <a:gd name="T45" fmla="*/ 68 h 470"/>
              <a:gd name="T46" fmla="*/ 39 w 150"/>
              <a:gd name="T47" fmla="*/ 77 h 470"/>
              <a:gd name="T48" fmla="*/ 17 w 150"/>
              <a:gd name="T49" fmla="*/ 91 h 470"/>
              <a:gd name="T50" fmla="*/ 10 w 150"/>
              <a:gd name="T51" fmla="*/ 103 h 470"/>
              <a:gd name="T52" fmla="*/ 6 w 150"/>
              <a:gd name="T53" fmla="*/ 138 h 470"/>
              <a:gd name="T54" fmla="*/ 2 w 150"/>
              <a:gd name="T55" fmla="*/ 176 h 470"/>
              <a:gd name="T56" fmla="*/ 0 w 150"/>
              <a:gd name="T57" fmla="*/ 195 h 470"/>
              <a:gd name="T58" fmla="*/ 0 w 150"/>
              <a:gd name="T59" fmla="*/ 232 h 470"/>
              <a:gd name="T60" fmla="*/ 2 w 150"/>
              <a:gd name="T61" fmla="*/ 263 h 470"/>
              <a:gd name="T62" fmla="*/ 8 w 150"/>
              <a:gd name="T63" fmla="*/ 269 h 470"/>
              <a:gd name="T64" fmla="*/ 15 w 150"/>
              <a:gd name="T65" fmla="*/ 270 h 470"/>
              <a:gd name="T66" fmla="*/ 10 w 150"/>
              <a:gd name="T67" fmla="*/ 258 h 470"/>
              <a:gd name="T68" fmla="*/ 42 w 150"/>
              <a:gd name="T69" fmla="*/ 436 h 470"/>
              <a:gd name="T70" fmla="*/ 48 w 150"/>
              <a:gd name="T71" fmla="*/ 467 h 470"/>
              <a:gd name="T72" fmla="*/ 73 w 150"/>
              <a:gd name="T73" fmla="*/ 454 h 470"/>
              <a:gd name="T74" fmla="*/ 87 w 150"/>
              <a:gd name="T75" fmla="*/ 462 h 470"/>
              <a:gd name="T76" fmla="*/ 101 w 150"/>
              <a:gd name="T77" fmla="*/ 468 h 470"/>
              <a:gd name="T78" fmla="*/ 110 w 150"/>
              <a:gd name="T79" fmla="*/ 468 h 470"/>
              <a:gd name="T80" fmla="*/ 117 w 150"/>
              <a:gd name="T81" fmla="*/ 466 h 470"/>
              <a:gd name="T82" fmla="*/ 114 w 150"/>
              <a:gd name="T83" fmla="*/ 448 h 470"/>
              <a:gd name="T84" fmla="*/ 120 w 150"/>
              <a:gd name="T85" fmla="*/ 257 h 470"/>
              <a:gd name="T86" fmla="*/ 125 w 150"/>
              <a:gd name="T87" fmla="*/ 267 h 470"/>
              <a:gd name="T88" fmla="*/ 126 w 150"/>
              <a:gd name="T89" fmla="*/ 268 h 470"/>
              <a:gd name="T90" fmla="*/ 127 w 150"/>
              <a:gd name="T91" fmla="*/ 270 h 470"/>
              <a:gd name="T92" fmla="*/ 129 w 150"/>
              <a:gd name="T93" fmla="*/ 281 h 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50" h="470">
                <a:moveTo>
                  <a:pt x="119" y="281"/>
                </a:moveTo>
                <a:lnTo>
                  <a:pt x="119" y="393"/>
                </a:lnTo>
                <a:lnTo>
                  <a:pt x="149" y="393"/>
                </a:lnTo>
                <a:lnTo>
                  <a:pt x="149" y="281"/>
                </a:lnTo>
                <a:lnTo>
                  <a:pt x="138" y="281"/>
                </a:lnTo>
                <a:lnTo>
                  <a:pt x="138" y="272"/>
                </a:lnTo>
                <a:lnTo>
                  <a:pt x="138" y="271"/>
                </a:lnTo>
                <a:lnTo>
                  <a:pt x="140" y="269"/>
                </a:lnTo>
                <a:lnTo>
                  <a:pt x="141" y="267"/>
                </a:lnTo>
                <a:lnTo>
                  <a:pt x="142" y="266"/>
                </a:lnTo>
                <a:lnTo>
                  <a:pt x="143" y="264"/>
                </a:lnTo>
                <a:lnTo>
                  <a:pt x="143" y="263"/>
                </a:lnTo>
                <a:lnTo>
                  <a:pt x="144" y="262"/>
                </a:lnTo>
                <a:lnTo>
                  <a:pt x="144" y="262"/>
                </a:lnTo>
                <a:lnTo>
                  <a:pt x="141" y="249"/>
                </a:lnTo>
                <a:lnTo>
                  <a:pt x="141" y="249"/>
                </a:lnTo>
                <a:lnTo>
                  <a:pt x="143" y="197"/>
                </a:lnTo>
                <a:lnTo>
                  <a:pt x="142" y="194"/>
                </a:lnTo>
                <a:lnTo>
                  <a:pt x="142" y="185"/>
                </a:lnTo>
                <a:lnTo>
                  <a:pt x="141" y="171"/>
                </a:lnTo>
                <a:lnTo>
                  <a:pt x="140" y="154"/>
                </a:lnTo>
                <a:lnTo>
                  <a:pt x="138" y="137"/>
                </a:lnTo>
                <a:lnTo>
                  <a:pt x="136" y="122"/>
                </a:lnTo>
                <a:lnTo>
                  <a:pt x="133" y="109"/>
                </a:lnTo>
                <a:lnTo>
                  <a:pt x="129" y="101"/>
                </a:lnTo>
                <a:lnTo>
                  <a:pt x="124" y="95"/>
                </a:lnTo>
                <a:lnTo>
                  <a:pt x="118" y="90"/>
                </a:lnTo>
                <a:lnTo>
                  <a:pt x="111" y="84"/>
                </a:lnTo>
                <a:lnTo>
                  <a:pt x="103" y="79"/>
                </a:lnTo>
                <a:lnTo>
                  <a:pt x="96" y="75"/>
                </a:lnTo>
                <a:lnTo>
                  <a:pt x="90" y="72"/>
                </a:lnTo>
                <a:lnTo>
                  <a:pt x="86" y="69"/>
                </a:lnTo>
                <a:lnTo>
                  <a:pt x="85" y="68"/>
                </a:lnTo>
                <a:lnTo>
                  <a:pt x="86" y="56"/>
                </a:lnTo>
                <a:lnTo>
                  <a:pt x="94" y="43"/>
                </a:lnTo>
                <a:lnTo>
                  <a:pt x="94" y="42"/>
                </a:lnTo>
                <a:lnTo>
                  <a:pt x="95" y="39"/>
                </a:lnTo>
                <a:lnTo>
                  <a:pt x="95" y="36"/>
                </a:lnTo>
                <a:lnTo>
                  <a:pt x="95" y="32"/>
                </a:lnTo>
                <a:lnTo>
                  <a:pt x="95" y="28"/>
                </a:lnTo>
                <a:lnTo>
                  <a:pt x="95" y="23"/>
                </a:lnTo>
                <a:lnTo>
                  <a:pt x="93" y="18"/>
                </a:lnTo>
                <a:lnTo>
                  <a:pt x="90" y="14"/>
                </a:lnTo>
                <a:lnTo>
                  <a:pt x="88" y="11"/>
                </a:lnTo>
                <a:lnTo>
                  <a:pt x="86" y="8"/>
                </a:lnTo>
                <a:lnTo>
                  <a:pt x="85" y="5"/>
                </a:lnTo>
                <a:lnTo>
                  <a:pt x="84" y="4"/>
                </a:lnTo>
                <a:lnTo>
                  <a:pt x="82" y="2"/>
                </a:lnTo>
                <a:lnTo>
                  <a:pt x="79" y="0"/>
                </a:lnTo>
                <a:lnTo>
                  <a:pt x="74" y="0"/>
                </a:lnTo>
                <a:lnTo>
                  <a:pt x="67" y="0"/>
                </a:lnTo>
                <a:lnTo>
                  <a:pt x="59" y="0"/>
                </a:lnTo>
                <a:lnTo>
                  <a:pt x="55" y="0"/>
                </a:lnTo>
                <a:lnTo>
                  <a:pt x="52" y="1"/>
                </a:lnTo>
                <a:lnTo>
                  <a:pt x="50" y="2"/>
                </a:lnTo>
                <a:lnTo>
                  <a:pt x="49" y="4"/>
                </a:lnTo>
                <a:lnTo>
                  <a:pt x="48" y="5"/>
                </a:lnTo>
                <a:lnTo>
                  <a:pt x="46" y="8"/>
                </a:lnTo>
                <a:lnTo>
                  <a:pt x="42" y="10"/>
                </a:lnTo>
                <a:lnTo>
                  <a:pt x="40" y="13"/>
                </a:lnTo>
                <a:lnTo>
                  <a:pt x="38" y="17"/>
                </a:lnTo>
                <a:lnTo>
                  <a:pt x="38" y="22"/>
                </a:lnTo>
                <a:lnTo>
                  <a:pt x="38" y="27"/>
                </a:lnTo>
                <a:lnTo>
                  <a:pt x="39" y="32"/>
                </a:lnTo>
                <a:lnTo>
                  <a:pt x="40" y="36"/>
                </a:lnTo>
                <a:lnTo>
                  <a:pt x="41" y="38"/>
                </a:lnTo>
                <a:lnTo>
                  <a:pt x="41" y="39"/>
                </a:lnTo>
                <a:lnTo>
                  <a:pt x="42" y="59"/>
                </a:lnTo>
                <a:lnTo>
                  <a:pt x="52" y="68"/>
                </a:lnTo>
                <a:lnTo>
                  <a:pt x="50" y="69"/>
                </a:lnTo>
                <a:lnTo>
                  <a:pt x="46" y="73"/>
                </a:lnTo>
                <a:lnTo>
                  <a:pt x="39" y="77"/>
                </a:lnTo>
                <a:lnTo>
                  <a:pt x="31" y="81"/>
                </a:lnTo>
                <a:lnTo>
                  <a:pt x="24" y="86"/>
                </a:lnTo>
                <a:lnTo>
                  <a:pt x="17" y="91"/>
                </a:lnTo>
                <a:lnTo>
                  <a:pt x="13" y="95"/>
                </a:lnTo>
                <a:lnTo>
                  <a:pt x="11" y="98"/>
                </a:lnTo>
                <a:lnTo>
                  <a:pt x="10" y="103"/>
                </a:lnTo>
                <a:lnTo>
                  <a:pt x="10" y="111"/>
                </a:lnTo>
                <a:lnTo>
                  <a:pt x="8" y="124"/>
                </a:lnTo>
                <a:lnTo>
                  <a:pt x="6" y="138"/>
                </a:lnTo>
                <a:lnTo>
                  <a:pt x="5" y="152"/>
                </a:lnTo>
                <a:lnTo>
                  <a:pt x="3" y="165"/>
                </a:lnTo>
                <a:lnTo>
                  <a:pt x="2" y="176"/>
                </a:lnTo>
                <a:lnTo>
                  <a:pt x="1" y="182"/>
                </a:lnTo>
                <a:lnTo>
                  <a:pt x="1" y="187"/>
                </a:lnTo>
                <a:lnTo>
                  <a:pt x="0" y="195"/>
                </a:lnTo>
                <a:lnTo>
                  <a:pt x="0" y="206"/>
                </a:lnTo>
                <a:lnTo>
                  <a:pt x="0" y="219"/>
                </a:lnTo>
                <a:lnTo>
                  <a:pt x="0" y="232"/>
                </a:lnTo>
                <a:lnTo>
                  <a:pt x="0" y="245"/>
                </a:lnTo>
                <a:lnTo>
                  <a:pt x="0" y="255"/>
                </a:lnTo>
                <a:lnTo>
                  <a:pt x="2" y="263"/>
                </a:lnTo>
                <a:lnTo>
                  <a:pt x="4" y="266"/>
                </a:lnTo>
                <a:lnTo>
                  <a:pt x="5" y="268"/>
                </a:lnTo>
                <a:lnTo>
                  <a:pt x="8" y="269"/>
                </a:lnTo>
                <a:lnTo>
                  <a:pt x="11" y="270"/>
                </a:lnTo>
                <a:lnTo>
                  <a:pt x="14" y="270"/>
                </a:lnTo>
                <a:lnTo>
                  <a:pt x="15" y="270"/>
                </a:lnTo>
                <a:lnTo>
                  <a:pt x="17" y="270"/>
                </a:lnTo>
                <a:lnTo>
                  <a:pt x="18" y="270"/>
                </a:lnTo>
                <a:lnTo>
                  <a:pt x="10" y="258"/>
                </a:lnTo>
                <a:lnTo>
                  <a:pt x="23" y="172"/>
                </a:lnTo>
                <a:lnTo>
                  <a:pt x="23" y="264"/>
                </a:lnTo>
                <a:lnTo>
                  <a:pt x="42" y="436"/>
                </a:lnTo>
                <a:lnTo>
                  <a:pt x="26" y="456"/>
                </a:lnTo>
                <a:lnTo>
                  <a:pt x="23" y="468"/>
                </a:lnTo>
                <a:lnTo>
                  <a:pt x="48" y="467"/>
                </a:lnTo>
                <a:lnTo>
                  <a:pt x="69" y="452"/>
                </a:lnTo>
                <a:lnTo>
                  <a:pt x="69" y="452"/>
                </a:lnTo>
                <a:lnTo>
                  <a:pt x="73" y="454"/>
                </a:lnTo>
                <a:lnTo>
                  <a:pt x="77" y="456"/>
                </a:lnTo>
                <a:lnTo>
                  <a:pt x="82" y="460"/>
                </a:lnTo>
                <a:lnTo>
                  <a:pt x="87" y="462"/>
                </a:lnTo>
                <a:lnTo>
                  <a:pt x="92" y="464"/>
                </a:lnTo>
                <a:lnTo>
                  <a:pt x="97" y="467"/>
                </a:lnTo>
                <a:lnTo>
                  <a:pt x="101" y="468"/>
                </a:lnTo>
                <a:lnTo>
                  <a:pt x="103" y="469"/>
                </a:lnTo>
                <a:lnTo>
                  <a:pt x="106" y="469"/>
                </a:lnTo>
                <a:lnTo>
                  <a:pt x="110" y="468"/>
                </a:lnTo>
                <a:lnTo>
                  <a:pt x="112" y="467"/>
                </a:lnTo>
                <a:lnTo>
                  <a:pt x="115" y="467"/>
                </a:lnTo>
                <a:lnTo>
                  <a:pt x="117" y="466"/>
                </a:lnTo>
                <a:lnTo>
                  <a:pt x="119" y="465"/>
                </a:lnTo>
                <a:lnTo>
                  <a:pt x="119" y="465"/>
                </a:lnTo>
                <a:lnTo>
                  <a:pt x="114" y="448"/>
                </a:lnTo>
                <a:lnTo>
                  <a:pt x="96" y="438"/>
                </a:lnTo>
                <a:lnTo>
                  <a:pt x="113" y="275"/>
                </a:lnTo>
                <a:lnTo>
                  <a:pt x="120" y="257"/>
                </a:lnTo>
                <a:lnTo>
                  <a:pt x="111" y="163"/>
                </a:lnTo>
                <a:lnTo>
                  <a:pt x="130" y="259"/>
                </a:lnTo>
                <a:lnTo>
                  <a:pt x="125" y="267"/>
                </a:lnTo>
                <a:lnTo>
                  <a:pt x="125" y="267"/>
                </a:lnTo>
                <a:lnTo>
                  <a:pt x="125" y="267"/>
                </a:lnTo>
                <a:lnTo>
                  <a:pt x="126" y="268"/>
                </a:lnTo>
                <a:lnTo>
                  <a:pt x="126" y="268"/>
                </a:lnTo>
                <a:lnTo>
                  <a:pt x="127" y="269"/>
                </a:lnTo>
                <a:lnTo>
                  <a:pt x="127" y="270"/>
                </a:lnTo>
                <a:lnTo>
                  <a:pt x="128" y="271"/>
                </a:lnTo>
                <a:lnTo>
                  <a:pt x="129" y="271"/>
                </a:lnTo>
                <a:lnTo>
                  <a:pt x="129" y="281"/>
                </a:lnTo>
                <a:lnTo>
                  <a:pt x="119" y="281"/>
                </a:lnTo>
              </a:path>
            </a:pathLst>
          </a:custGeom>
          <a:solidFill>
            <a:srgbClr val="00CC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33" name="Freeform 17"/>
          <p:cNvSpPr>
            <a:spLocks/>
          </p:cNvSpPr>
          <p:nvPr/>
        </p:nvSpPr>
        <p:spPr bwMode="auto">
          <a:xfrm>
            <a:off x="1271588" y="3067050"/>
            <a:ext cx="233362" cy="712788"/>
          </a:xfrm>
          <a:custGeom>
            <a:avLst/>
            <a:gdLst>
              <a:gd name="T0" fmla="*/ 80 w 147"/>
              <a:gd name="T1" fmla="*/ 211 h 449"/>
              <a:gd name="T2" fmla="*/ 80 w 147"/>
              <a:gd name="T3" fmla="*/ 211 h 449"/>
              <a:gd name="T4" fmla="*/ 82 w 147"/>
              <a:gd name="T5" fmla="*/ 210 h 449"/>
              <a:gd name="T6" fmla="*/ 81 w 147"/>
              <a:gd name="T7" fmla="*/ 211 h 449"/>
              <a:gd name="T8" fmla="*/ 134 w 147"/>
              <a:gd name="T9" fmla="*/ 422 h 449"/>
              <a:gd name="T10" fmla="*/ 111 w 147"/>
              <a:gd name="T11" fmla="*/ 394 h 449"/>
              <a:gd name="T12" fmla="*/ 116 w 147"/>
              <a:gd name="T13" fmla="*/ 332 h 449"/>
              <a:gd name="T14" fmla="*/ 119 w 147"/>
              <a:gd name="T15" fmla="*/ 309 h 449"/>
              <a:gd name="T16" fmla="*/ 126 w 147"/>
              <a:gd name="T17" fmla="*/ 294 h 449"/>
              <a:gd name="T18" fmla="*/ 118 w 147"/>
              <a:gd name="T19" fmla="*/ 202 h 449"/>
              <a:gd name="T20" fmla="*/ 125 w 147"/>
              <a:gd name="T21" fmla="*/ 215 h 449"/>
              <a:gd name="T22" fmla="*/ 132 w 147"/>
              <a:gd name="T23" fmla="*/ 203 h 449"/>
              <a:gd name="T24" fmla="*/ 124 w 147"/>
              <a:gd name="T25" fmla="*/ 178 h 449"/>
              <a:gd name="T26" fmla="*/ 128 w 147"/>
              <a:gd name="T27" fmla="*/ 133 h 449"/>
              <a:gd name="T28" fmla="*/ 108 w 147"/>
              <a:gd name="T29" fmla="*/ 76 h 449"/>
              <a:gd name="T30" fmla="*/ 94 w 147"/>
              <a:gd name="T31" fmla="*/ 66 h 449"/>
              <a:gd name="T32" fmla="*/ 100 w 147"/>
              <a:gd name="T33" fmla="*/ 64 h 449"/>
              <a:gd name="T34" fmla="*/ 103 w 147"/>
              <a:gd name="T35" fmla="*/ 53 h 449"/>
              <a:gd name="T36" fmla="*/ 97 w 147"/>
              <a:gd name="T37" fmla="*/ 46 h 449"/>
              <a:gd name="T38" fmla="*/ 94 w 147"/>
              <a:gd name="T39" fmla="*/ 27 h 449"/>
              <a:gd name="T40" fmla="*/ 97 w 147"/>
              <a:gd name="T41" fmla="*/ 17 h 449"/>
              <a:gd name="T42" fmla="*/ 89 w 147"/>
              <a:gd name="T43" fmla="*/ 7 h 449"/>
              <a:gd name="T44" fmla="*/ 79 w 147"/>
              <a:gd name="T45" fmla="*/ 0 h 449"/>
              <a:gd name="T46" fmla="*/ 55 w 147"/>
              <a:gd name="T47" fmla="*/ 4 h 449"/>
              <a:gd name="T48" fmla="*/ 42 w 147"/>
              <a:gd name="T49" fmla="*/ 22 h 449"/>
              <a:gd name="T50" fmla="*/ 32 w 147"/>
              <a:gd name="T51" fmla="*/ 47 h 449"/>
              <a:gd name="T52" fmla="*/ 23 w 147"/>
              <a:gd name="T53" fmla="*/ 59 h 449"/>
              <a:gd name="T54" fmla="*/ 31 w 147"/>
              <a:gd name="T55" fmla="*/ 66 h 449"/>
              <a:gd name="T56" fmla="*/ 28 w 147"/>
              <a:gd name="T57" fmla="*/ 76 h 449"/>
              <a:gd name="T58" fmla="*/ 5 w 147"/>
              <a:gd name="T59" fmla="*/ 122 h 449"/>
              <a:gd name="T60" fmla="*/ 0 w 147"/>
              <a:gd name="T61" fmla="*/ 152 h 449"/>
              <a:gd name="T62" fmla="*/ 13 w 147"/>
              <a:gd name="T63" fmla="*/ 191 h 449"/>
              <a:gd name="T64" fmla="*/ 14 w 147"/>
              <a:gd name="T65" fmla="*/ 256 h 449"/>
              <a:gd name="T66" fmla="*/ 13 w 147"/>
              <a:gd name="T67" fmla="*/ 303 h 449"/>
              <a:gd name="T68" fmla="*/ 28 w 147"/>
              <a:gd name="T69" fmla="*/ 312 h 449"/>
              <a:gd name="T70" fmla="*/ 34 w 147"/>
              <a:gd name="T71" fmla="*/ 319 h 449"/>
              <a:gd name="T72" fmla="*/ 40 w 147"/>
              <a:gd name="T73" fmla="*/ 337 h 449"/>
              <a:gd name="T74" fmla="*/ 38 w 147"/>
              <a:gd name="T75" fmla="*/ 344 h 449"/>
              <a:gd name="T76" fmla="*/ 37 w 147"/>
              <a:gd name="T77" fmla="*/ 367 h 449"/>
              <a:gd name="T78" fmla="*/ 46 w 147"/>
              <a:gd name="T79" fmla="*/ 400 h 449"/>
              <a:gd name="T80" fmla="*/ 43 w 147"/>
              <a:gd name="T81" fmla="*/ 442 h 449"/>
              <a:gd name="T82" fmla="*/ 55 w 147"/>
              <a:gd name="T83" fmla="*/ 448 h 449"/>
              <a:gd name="T84" fmla="*/ 64 w 147"/>
              <a:gd name="T85" fmla="*/ 435 h 449"/>
              <a:gd name="T86" fmla="*/ 59 w 147"/>
              <a:gd name="T87" fmla="*/ 397 h 449"/>
              <a:gd name="T88" fmla="*/ 84 w 147"/>
              <a:gd name="T89" fmla="*/ 326 h 449"/>
              <a:gd name="T90" fmla="*/ 86 w 147"/>
              <a:gd name="T91" fmla="*/ 349 h 449"/>
              <a:gd name="T92" fmla="*/ 92 w 147"/>
              <a:gd name="T93" fmla="*/ 384 h 449"/>
              <a:gd name="T94" fmla="*/ 94 w 147"/>
              <a:gd name="T95" fmla="*/ 427 h 449"/>
              <a:gd name="T96" fmla="*/ 107 w 147"/>
              <a:gd name="T97" fmla="*/ 428 h 449"/>
              <a:gd name="T98" fmla="*/ 124 w 147"/>
              <a:gd name="T99" fmla="*/ 436 h 449"/>
              <a:gd name="T100" fmla="*/ 141 w 147"/>
              <a:gd name="T101" fmla="*/ 438 h 449"/>
              <a:gd name="T102" fmla="*/ 80 w 147"/>
              <a:gd name="T103" fmla="*/ 211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47" h="449">
                <a:moveTo>
                  <a:pt x="80" y="211"/>
                </a:moveTo>
                <a:lnTo>
                  <a:pt x="81" y="211"/>
                </a:lnTo>
                <a:lnTo>
                  <a:pt x="81" y="211"/>
                </a:lnTo>
                <a:lnTo>
                  <a:pt x="80" y="211"/>
                </a:lnTo>
                <a:lnTo>
                  <a:pt x="80" y="211"/>
                </a:lnTo>
                <a:lnTo>
                  <a:pt x="80" y="211"/>
                </a:lnTo>
                <a:lnTo>
                  <a:pt x="80" y="211"/>
                </a:lnTo>
                <a:lnTo>
                  <a:pt x="80" y="211"/>
                </a:lnTo>
                <a:lnTo>
                  <a:pt x="80" y="211"/>
                </a:lnTo>
                <a:lnTo>
                  <a:pt x="80" y="211"/>
                </a:lnTo>
                <a:lnTo>
                  <a:pt x="81" y="211"/>
                </a:lnTo>
                <a:lnTo>
                  <a:pt x="82" y="210"/>
                </a:lnTo>
                <a:lnTo>
                  <a:pt x="82" y="210"/>
                </a:lnTo>
                <a:lnTo>
                  <a:pt x="82" y="210"/>
                </a:lnTo>
                <a:lnTo>
                  <a:pt x="82" y="210"/>
                </a:lnTo>
                <a:lnTo>
                  <a:pt x="81" y="211"/>
                </a:lnTo>
                <a:lnTo>
                  <a:pt x="81" y="211"/>
                </a:lnTo>
                <a:lnTo>
                  <a:pt x="81" y="211"/>
                </a:lnTo>
                <a:lnTo>
                  <a:pt x="81" y="211"/>
                </a:lnTo>
                <a:lnTo>
                  <a:pt x="81" y="211"/>
                </a:lnTo>
                <a:lnTo>
                  <a:pt x="80" y="211"/>
                </a:lnTo>
                <a:lnTo>
                  <a:pt x="145" y="428"/>
                </a:lnTo>
                <a:lnTo>
                  <a:pt x="143" y="427"/>
                </a:lnTo>
                <a:lnTo>
                  <a:pt x="140" y="425"/>
                </a:lnTo>
                <a:lnTo>
                  <a:pt x="134" y="422"/>
                </a:lnTo>
                <a:lnTo>
                  <a:pt x="128" y="418"/>
                </a:lnTo>
                <a:lnTo>
                  <a:pt x="122" y="412"/>
                </a:lnTo>
                <a:lnTo>
                  <a:pt x="116" y="406"/>
                </a:lnTo>
                <a:lnTo>
                  <a:pt x="113" y="400"/>
                </a:lnTo>
                <a:lnTo>
                  <a:pt x="111" y="394"/>
                </a:lnTo>
                <a:lnTo>
                  <a:pt x="111" y="385"/>
                </a:lnTo>
                <a:lnTo>
                  <a:pt x="113" y="374"/>
                </a:lnTo>
                <a:lnTo>
                  <a:pt x="113" y="360"/>
                </a:lnTo>
                <a:lnTo>
                  <a:pt x="115" y="346"/>
                </a:lnTo>
                <a:lnTo>
                  <a:pt x="116" y="332"/>
                </a:lnTo>
                <a:lnTo>
                  <a:pt x="117" y="321"/>
                </a:lnTo>
                <a:lnTo>
                  <a:pt x="118" y="312"/>
                </a:lnTo>
                <a:lnTo>
                  <a:pt x="118" y="309"/>
                </a:lnTo>
                <a:lnTo>
                  <a:pt x="118" y="309"/>
                </a:lnTo>
                <a:lnTo>
                  <a:pt x="119" y="309"/>
                </a:lnTo>
                <a:lnTo>
                  <a:pt x="121" y="308"/>
                </a:lnTo>
                <a:lnTo>
                  <a:pt x="122" y="306"/>
                </a:lnTo>
                <a:lnTo>
                  <a:pt x="124" y="304"/>
                </a:lnTo>
                <a:lnTo>
                  <a:pt x="125" y="300"/>
                </a:lnTo>
                <a:lnTo>
                  <a:pt x="126" y="294"/>
                </a:lnTo>
                <a:lnTo>
                  <a:pt x="127" y="287"/>
                </a:lnTo>
                <a:lnTo>
                  <a:pt x="117" y="200"/>
                </a:lnTo>
                <a:lnTo>
                  <a:pt x="118" y="199"/>
                </a:lnTo>
                <a:lnTo>
                  <a:pt x="118" y="200"/>
                </a:lnTo>
                <a:lnTo>
                  <a:pt x="118" y="202"/>
                </a:lnTo>
                <a:lnTo>
                  <a:pt x="119" y="206"/>
                </a:lnTo>
                <a:lnTo>
                  <a:pt x="121" y="209"/>
                </a:lnTo>
                <a:lnTo>
                  <a:pt x="123" y="212"/>
                </a:lnTo>
                <a:lnTo>
                  <a:pt x="124" y="215"/>
                </a:lnTo>
                <a:lnTo>
                  <a:pt x="125" y="215"/>
                </a:lnTo>
                <a:lnTo>
                  <a:pt x="127" y="215"/>
                </a:lnTo>
                <a:lnTo>
                  <a:pt x="129" y="212"/>
                </a:lnTo>
                <a:lnTo>
                  <a:pt x="129" y="210"/>
                </a:lnTo>
                <a:lnTo>
                  <a:pt x="131" y="207"/>
                </a:lnTo>
                <a:lnTo>
                  <a:pt x="132" y="203"/>
                </a:lnTo>
                <a:lnTo>
                  <a:pt x="132" y="200"/>
                </a:lnTo>
                <a:lnTo>
                  <a:pt x="131" y="196"/>
                </a:lnTo>
                <a:lnTo>
                  <a:pt x="129" y="191"/>
                </a:lnTo>
                <a:lnTo>
                  <a:pt x="127" y="186"/>
                </a:lnTo>
                <a:lnTo>
                  <a:pt x="124" y="178"/>
                </a:lnTo>
                <a:lnTo>
                  <a:pt x="123" y="171"/>
                </a:lnTo>
                <a:lnTo>
                  <a:pt x="124" y="165"/>
                </a:lnTo>
                <a:lnTo>
                  <a:pt x="126" y="157"/>
                </a:lnTo>
                <a:lnTo>
                  <a:pt x="128" y="147"/>
                </a:lnTo>
                <a:lnTo>
                  <a:pt x="128" y="133"/>
                </a:lnTo>
                <a:lnTo>
                  <a:pt x="124" y="114"/>
                </a:lnTo>
                <a:lnTo>
                  <a:pt x="117" y="88"/>
                </a:lnTo>
                <a:lnTo>
                  <a:pt x="115" y="84"/>
                </a:lnTo>
                <a:lnTo>
                  <a:pt x="112" y="80"/>
                </a:lnTo>
                <a:lnTo>
                  <a:pt x="108" y="76"/>
                </a:lnTo>
                <a:lnTo>
                  <a:pt x="104" y="72"/>
                </a:lnTo>
                <a:lnTo>
                  <a:pt x="100" y="70"/>
                </a:lnTo>
                <a:lnTo>
                  <a:pt x="97" y="68"/>
                </a:lnTo>
                <a:lnTo>
                  <a:pt x="95" y="67"/>
                </a:lnTo>
                <a:lnTo>
                  <a:pt x="94" y="66"/>
                </a:lnTo>
                <a:lnTo>
                  <a:pt x="94" y="66"/>
                </a:lnTo>
                <a:lnTo>
                  <a:pt x="95" y="66"/>
                </a:lnTo>
                <a:lnTo>
                  <a:pt x="97" y="66"/>
                </a:lnTo>
                <a:lnTo>
                  <a:pt x="98" y="65"/>
                </a:lnTo>
                <a:lnTo>
                  <a:pt x="100" y="64"/>
                </a:lnTo>
                <a:lnTo>
                  <a:pt x="102" y="63"/>
                </a:lnTo>
                <a:lnTo>
                  <a:pt x="102" y="61"/>
                </a:lnTo>
                <a:lnTo>
                  <a:pt x="103" y="58"/>
                </a:lnTo>
                <a:lnTo>
                  <a:pt x="104" y="55"/>
                </a:lnTo>
                <a:lnTo>
                  <a:pt x="103" y="53"/>
                </a:lnTo>
                <a:lnTo>
                  <a:pt x="102" y="52"/>
                </a:lnTo>
                <a:lnTo>
                  <a:pt x="102" y="50"/>
                </a:lnTo>
                <a:lnTo>
                  <a:pt x="100" y="50"/>
                </a:lnTo>
                <a:lnTo>
                  <a:pt x="98" y="48"/>
                </a:lnTo>
                <a:lnTo>
                  <a:pt x="97" y="46"/>
                </a:lnTo>
                <a:lnTo>
                  <a:pt x="95" y="43"/>
                </a:lnTo>
                <a:lnTo>
                  <a:pt x="93" y="40"/>
                </a:lnTo>
                <a:lnTo>
                  <a:pt x="93" y="36"/>
                </a:lnTo>
                <a:lnTo>
                  <a:pt x="93" y="32"/>
                </a:lnTo>
                <a:lnTo>
                  <a:pt x="94" y="27"/>
                </a:lnTo>
                <a:lnTo>
                  <a:pt x="95" y="24"/>
                </a:lnTo>
                <a:lnTo>
                  <a:pt x="97" y="21"/>
                </a:lnTo>
                <a:lnTo>
                  <a:pt x="97" y="18"/>
                </a:lnTo>
                <a:lnTo>
                  <a:pt x="97" y="17"/>
                </a:lnTo>
                <a:lnTo>
                  <a:pt x="97" y="17"/>
                </a:lnTo>
                <a:lnTo>
                  <a:pt x="96" y="16"/>
                </a:lnTo>
                <a:lnTo>
                  <a:pt x="94" y="14"/>
                </a:lnTo>
                <a:lnTo>
                  <a:pt x="92" y="12"/>
                </a:lnTo>
                <a:lnTo>
                  <a:pt x="91" y="9"/>
                </a:lnTo>
                <a:lnTo>
                  <a:pt x="89" y="7"/>
                </a:lnTo>
                <a:lnTo>
                  <a:pt x="88" y="4"/>
                </a:lnTo>
                <a:lnTo>
                  <a:pt x="87" y="2"/>
                </a:lnTo>
                <a:lnTo>
                  <a:pt x="86" y="0"/>
                </a:lnTo>
                <a:lnTo>
                  <a:pt x="83" y="0"/>
                </a:lnTo>
                <a:lnTo>
                  <a:pt x="79" y="0"/>
                </a:lnTo>
                <a:lnTo>
                  <a:pt x="74" y="0"/>
                </a:lnTo>
                <a:lnTo>
                  <a:pt x="69" y="0"/>
                </a:lnTo>
                <a:lnTo>
                  <a:pt x="64" y="1"/>
                </a:lnTo>
                <a:lnTo>
                  <a:pt x="59" y="2"/>
                </a:lnTo>
                <a:lnTo>
                  <a:pt x="55" y="4"/>
                </a:lnTo>
                <a:lnTo>
                  <a:pt x="53" y="5"/>
                </a:lnTo>
                <a:lnTo>
                  <a:pt x="49" y="8"/>
                </a:lnTo>
                <a:lnTo>
                  <a:pt x="47" y="12"/>
                </a:lnTo>
                <a:lnTo>
                  <a:pt x="44" y="17"/>
                </a:lnTo>
                <a:lnTo>
                  <a:pt x="42" y="22"/>
                </a:lnTo>
                <a:lnTo>
                  <a:pt x="39" y="28"/>
                </a:lnTo>
                <a:lnTo>
                  <a:pt x="37" y="33"/>
                </a:lnTo>
                <a:lnTo>
                  <a:pt x="36" y="39"/>
                </a:lnTo>
                <a:lnTo>
                  <a:pt x="34" y="43"/>
                </a:lnTo>
                <a:lnTo>
                  <a:pt x="32" y="47"/>
                </a:lnTo>
                <a:lnTo>
                  <a:pt x="30" y="51"/>
                </a:lnTo>
                <a:lnTo>
                  <a:pt x="28" y="54"/>
                </a:lnTo>
                <a:lnTo>
                  <a:pt x="26" y="56"/>
                </a:lnTo>
                <a:lnTo>
                  <a:pt x="24" y="58"/>
                </a:lnTo>
                <a:lnTo>
                  <a:pt x="23" y="59"/>
                </a:lnTo>
                <a:lnTo>
                  <a:pt x="23" y="59"/>
                </a:lnTo>
                <a:lnTo>
                  <a:pt x="28" y="63"/>
                </a:lnTo>
                <a:lnTo>
                  <a:pt x="28" y="64"/>
                </a:lnTo>
                <a:lnTo>
                  <a:pt x="30" y="65"/>
                </a:lnTo>
                <a:lnTo>
                  <a:pt x="31" y="66"/>
                </a:lnTo>
                <a:lnTo>
                  <a:pt x="32" y="67"/>
                </a:lnTo>
                <a:lnTo>
                  <a:pt x="33" y="69"/>
                </a:lnTo>
                <a:lnTo>
                  <a:pt x="32" y="71"/>
                </a:lnTo>
                <a:lnTo>
                  <a:pt x="31" y="73"/>
                </a:lnTo>
                <a:lnTo>
                  <a:pt x="28" y="76"/>
                </a:lnTo>
                <a:lnTo>
                  <a:pt x="23" y="80"/>
                </a:lnTo>
                <a:lnTo>
                  <a:pt x="19" y="88"/>
                </a:lnTo>
                <a:lnTo>
                  <a:pt x="14" y="98"/>
                </a:lnTo>
                <a:lnTo>
                  <a:pt x="10" y="110"/>
                </a:lnTo>
                <a:lnTo>
                  <a:pt x="5" y="122"/>
                </a:lnTo>
                <a:lnTo>
                  <a:pt x="2" y="131"/>
                </a:lnTo>
                <a:lnTo>
                  <a:pt x="0" y="139"/>
                </a:lnTo>
                <a:lnTo>
                  <a:pt x="0" y="143"/>
                </a:lnTo>
                <a:lnTo>
                  <a:pt x="0" y="146"/>
                </a:lnTo>
                <a:lnTo>
                  <a:pt x="0" y="152"/>
                </a:lnTo>
                <a:lnTo>
                  <a:pt x="2" y="160"/>
                </a:lnTo>
                <a:lnTo>
                  <a:pt x="4" y="169"/>
                </a:lnTo>
                <a:lnTo>
                  <a:pt x="6" y="177"/>
                </a:lnTo>
                <a:lnTo>
                  <a:pt x="10" y="185"/>
                </a:lnTo>
                <a:lnTo>
                  <a:pt x="13" y="191"/>
                </a:lnTo>
                <a:lnTo>
                  <a:pt x="18" y="193"/>
                </a:lnTo>
                <a:lnTo>
                  <a:pt x="17" y="204"/>
                </a:lnTo>
                <a:lnTo>
                  <a:pt x="16" y="219"/>
                </a:lnTo>
                <a:lnTo>
                  <a:pt x="15" y="236"/>
                </a:lnTo>
                <a:lnTo>
                  <a:pt x="14" y="256"/>
                </a:lnTo>
                <a:lnTo>
                  <a:pt x="13" y="274"/>
                </a:lnTo>
                <a:lnTo>
                  <a:pt x="12" y="288"/>
                </a:lnTo>
                <a:lnTo>
                  <a:pt x="12" y="299"/>
                </a:lnTo>
                <a:lnTo>
                  <a:pt x="12" y="302"/>
                </a:lnTo>
                <a:lnTo>
                  <a:pt x="13" y="303"/>
                </a:lnTo>
                <a:lnTo>
                  <a:pt x="15" y="304"/>
                </a:lnTo>
                <a:lnTo>
                  <a:pt x="18" y="307"/>
                </a:lnTo>
                <a:lnTo>
                  <a:pt x="21" y="308"/>
                </a:lnTo>
                <a:lnTo>
                  <a:pt x="26" y="311"/>
                </a:lnTo>
                <a:lnTo>
                  <a:pt x="28" y="312"/>
                </a:lnTo>
                <a:lnTo>
                  <a:pt x="31" y="312"/>
                </a:lnTo>
                <a:lnTo>
                  <a:pt x="32" y="309"/>
                </a:lnTo>
                <a:lnTo>
                  <a:pt x="32" y="312"/>
                </a:lnTo>
                <a:lnTo>
                  <a:pt x="33" y="315"/>
                </a:lnTo>
                <a:lnTo>
                  <a:pt x="34" y="319"/>
                </a:lnTo>
                <a:lnTo>
                  <a:pt x="36" y="324"/>
                </a:lnTo>
                <a:lnTo>
                  <a:pt x="37" y="329"/>
                </a:lnTo>
                <a:lnTo>
                  <a:pt x="39" y="333"/>
                </a:lnTo>
                <a:lnTo>
                  <a:pt x="40" y="336"/>
                </a:lnTo>
                <a:lnTo>
                  <a:pt x="40" y="337"/>
                </a:lnTo>
                <a:lnTo>
                  <a:pt x="40" y="337"/>
                </a:lnTo>
                <a:lnTo>
                  <a:pt x="40" y="338"/>
                </a:lnTo>
                <a:lnTo>
                  <a:pt x="39" y="339"/>
                </a:lnTo>
                <a:lnTo>
                  <a:pt x="39" y="342"/>
                </a:lnTo>
                <a:lnTo>
                  <a:pt x="38" y="344"/>
                </a:lnTo>
                <a:lnTo>
                  <a:pt x="37" y="346"/>
                </a:lnTo>
                <a:lnTo>
                  <a:pt x="37" y="350"/>
                </a:lnTo>
                <a:lnTo>
                  <a:pt x="37" y="355"/>
                </a:lnTo>
                <a:lnTo>
                  <a:pt x="37" y="360"/>
                </a:lnTo>
                <a:lnTo>
                  <a:pt x="37" y="367"/>
                </a:lnTo>
                <a:lnTo>
                  <a:pt x="39" y="375"/>
                </a:lnTo>
                <a:lnTo>
                  <a:pt x="41" y="382"/>
                </a:lnTo>
                <a:lnTo>
                  <a:pt x="43" y="389"/>
                </a:lnTo>
                <a:lnTo>
                  <a:pt x="45" y="396"/>
                </a:lnTo>
                <a:lnTo>
                  <a:pt x="46" y="400"/>
                </a:lnTo>
                <a:lnTo>
                  <a:pt x="47" y="401"/>
                </a:lnTo>
                <a:lnTo>
                  <a:pt x="39" y="416"/>
                </a:lnTo>
                <a:lnTo>
                  <a:pt x="42" y="440"/>
                </a:lnTo>
                <a:lnTo>
                  <a:pt x="42" y="440"/>
                </a:lnTo>
                <a:lnTo>
                  <a:pt x="43" y="442"/>
                </a:lnTo>
                <a:lnTo>
                  <a:pt x="45" y="443"/>
                </a:lnTo>
                <a:lnTo>
                  <a:pt x="48" y="445"/>
                </a:lnTo>
                <a:lnTo>
                  <a:pt x="50" y="446"/>
                </a:lnTo>
                <a:lnTo>
                  <a:pt x="53" y="448"/>
                </a:lnTo>
                <a:lnTo>
                  <a:pt x="55" y="448"/>
                </a:lnTo>
                <a:lnTo>
                  <a:pt x="58" y="446"/>
                </a:lnTo>
                <a:lnTo>
                  <a:pt x="59" y="444"/>
                </a:lnTo>
                <a:lnTo>
                  <a:pt x="61" y="441"/>
                </a:lnTo>
                <a:lnTo>
                  <a:pt x="63" y="439"/>
                </a:lnTo>
                <a:lnTo>
                  <a:pt x="64" y="435"/>
                </a:lnTo>
                <a:lnTo>
                  <a:pt x="64" y="433"/>
                </a:lnTo>
                <a:lnTo>
                  <a:pt x="64" y="431"/>
                </a:lnTo>
                <a:lnTo>
                  <a:pt x="65" y="429"/>
                </a:lnTo>
                <a:lnTo>
                  <a:pt x="65" y="428"/>
                </a:lnTo>
                <a:lnTo>
                  <a:pt x="59" y="397"/>
                </a:lnTo>
                <a:lnTo>
                  <a:pt x="69" y="336"/>
                </a:lnTo>
                <a:lnTo>
                  <a:pt x="71" y="324"/>
                </a:lnTo>
                <a:lnTo>
                  <a:pt x="84" y="324"/>
                </a:lnTo>
                <a:lnTo>
                  <a:pt x="84" y="325"/>
                </a:lnTo>
                <a:lnTo>
                  <a:pt x="84" y="326"/>
                </a:lnTo>
                <a:lnTo>
                  <a:pt x="84" y="329"/>
                </a:lnTo>
                <a:lnTo>
                  <a:pt x="84" y="333"/>
                </a:lnTo>
                <a:lnTo>
                  <a:pt x="84" y="338"/>
                </a:lnTo>
                <a:lnTo>
                  <a:pt x="85" y="343"/>
                </a:lnTo>
                <a:lnTo>
                  <a:pt x="86" y="349"/>
                </a:lnTo>
                <a:lnTo>
                  <a:pt x="86" y="355"/>
                </a:lnTo>
                <a:lnTo>
                  <a:pt x="87" y="362"/>
                </a:lnTo>
                <a:lnTo>
                  <a:pt x="89" y="369"/>
                </a:lnTo>
                <a:lnTo>
                  <a:pt x="91" y="377"/>
                </a:lnTo>
                <a:lnTo>
                  <a:pt x="92" y="384"/>
                </a:lnTo>
                <a:lnTo>
                  <a:pt x="94" y="390"/>
                </a:lnTo>
                <a:lnTo>
                  <a:pt x="95" y="395"/>
                </a:lnTo>
                <a:lnTo>
                  <a:pt x="96" y="398"/>
                </a:lnTo>
                <a:lnTo>
                  <a:pt x="96" y="400"/>
                </a:lnTo>
                <a:lnTo>
                  <a:pt x="94" y="427"/>
                </a:lnTo>
                <a:lnTo>
                  <a:pt x="102" y="430"/>
                </a:lnTo>
                <a:lnTo>
                  <a:pt x="102" y="426"/>
                </a:lnTo>
                <a:lnTo>
                  <a:pt x="102" y="426"/>
                </a:lnTo>
                <a:lnTo>
                  <a:pt x="104" y="426"/>
                </a:lnTo>
                <a:lnTo>
                  <a:pt x="107" y="428"/>
                </a:lnTo>
                <a:lnTo>
                  <a:pt x="109" y="430"/>
                </a:lnTo>
                <a:lnTo>
                  <a:pt x="113" y="431"/>
                </a:lnTo>
                <a:lnTo>
                  <a:pt x="116" y="433"/>
                </a:lnTo>
                <a:lnTo>
                  <a:pt x="119" y="435"/>
                </a:lnTo>
                <a:lnTo>
                  <a:pt x="124" y="436"/>
                </a:lnTo>
                <a:lnTo>
                  <a:pt x="127" y="438"/>
                </a:lnTo>
                <a:lnTo>
                  <a:pt x="131" y="439"/>
                </a:lnTo>
                <a:lnTo>
                  <a:pt x="135" y="439"/>
                </a:lnTo>
                <a:lnTo>
                  <a:pt x="138" y="439"/>
                </a:lnTo>
                <a:lnTo>
                  <a:pt x="141" y="438"/>
                </a:lnTo>
                <a:lnTo>
                  <a:pt x="144" y="437"/>
                </a:lnTo>
                <a:lnTo>
                  <a:pt x="146" y="437"/>
                </a:lnTo>
                <a:lnTo>
                  <a:pt x="146" y="436"/>
                </a:lnTo>
                <a:lnTo>
                  <a:pt x="145" y="428"/>
                </a:lnTo>
                <a:lnTo>
                  <a:pt x="80" y="211"/>
                </a:lnTo>
              </a:path>
            </a:pathLst>
          </a:custGeom>
          <a:solidFill>
            <a:srgbClr val="0099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34" name="Freeform 18"/>
          <p:cNvSpPr>
            <a:spLocks/>
          </p:cNvSpPr>
          <p:nvPr/>
        </p:nvSpPr>
        <p:spPr bwMode="auto">
          <a:xfrm>
            <a:off x="1341438" y="3127375"/>
            <a:ext cx="242887" cy="760413"/>
          </a:xfrm>
          <a:custGeom>
            <a:avLst/>
            <a:gdLst>
              <a:gd name="T0" fmla="*/ 28 w 153"/>
              <a:gd name="T1" fmla="*/ 269 h 479"/>
              <a:gd name="T2" fmla="*/ 13 w 153"/>
              <a:gd name="T3" fmla="*/ 197 h 479"/>
              <a:gd name="T4" fmla="*/ 0 w 153"/>
              <a:gd name="T5" fmla="*/ 161 h 479"/>
              <a:gd name="T6" fmla="*/ 4 w 153"/>
              <a:gd name="T7" fmla="*/ 147 h 479"/>
              <a:gd name="T8" fmla="*/ 10 w 153"/>
              <a:gd name="T9" fmla="*/ 126 h 479"/>
              <a:gd name="T10" fmla="*/ 17 w 153"/>
              <a:gd name="T11" fmla="*/ 107 h 479"/>
              <a:gd name="T12" fmla="*/ 27 w 153"/>
              <a:gd name="T13" fmla="*/ 95 h 479"/>
              <a:gd name="T14" fmla="*/ 40 w 153"/>
              <a:gd name="T15" fmla="*/ 84 h 479"/>
              <a:gd name="T16" fmla="*/ 54 w 153"/>
              <a:gd name="T17" fmla="*/ 74 h 479"/>
              <a:gd name="T18" fmla="*/ 65 w 153"/>
              <a:gd name="T19" fmla="*/ 69 h 479"/>
              <a:gd name="T20" fmla="*/ 65 w 153"/>
              <a:gd name="T21" fmla="*/ 56 h 479"/>
              <a:gd name="T22" fmla="*/ 57 w 153"/>
              <a:gd name="T23" fmla="*/ 42 h 479"/>
              <a:gd name="T24" fmla="*/ 56 w 153"/>
              <a:gd name="T25" fmla="*/ 36 h 479"/>
              <a:gd name="T26" fmla="*/ 55 w 153"/>
              <a:gd name="T27" fmla="*/ 27 h 479"/>
              <a:gd name="T28" fmla="*/ 58 w 153"/>
              <a:gd name="T29" fmla="*/ 18 h 479"/>
              <a:gd name="T30" fmla="*/ 63 w 153"/>
              <a:gd name="T31" fmla="*/ 10 h 479"/>
              <a:gd name="T32" fmla="*/ 65 w 153"/>
              <a:gd name="T33" fmla="*/ 4 h 479"/>
              <a:gd name="T34" fmla="*/ 69 w 153"/>
              <a:gd name="T35" fmla="*/ 1 h 479"/>
              <a:gd name="T36" fmla="*/ 76 w 153"/>
              <a:gd name="T37" fmla="*/ 0 h 479"/>
              <a:gd name="T38" fmla="*/ 92 w 153"/>
              <a:gd name="T39" fmla="*/ 0 h 479"/>
              <a:gd name="T40" fmla="*/ 99 w 153"/>
              <a:gd name="T41" fmla="*/ 0 h 479"/>
              <a:gd name="T42" fmla="*/ 102 w 153"/>
              <a:gd name="T43" fmla="*/ 3 h 479"/>
              <a:gd name="T44" fmla="*/ 105 w 153"/>
              <a:gd name="T45" fmla="*/ 7 h 479"/>
              <a:gd name="T46" fmla="*/ 111 w 153"/>
              <a:gd name="T47" fmla="*/ 13 h 479"/>
              <a:gd name="T48" fmla="*/ 113 w 153"/>
              <a:gd name="T49" fmla="*/ 22 h 479"/>
              <a:gd name="T50" fmla="*/ 112 w 153"/>
              <a:gd name="T51" fmla="*/ 31 h 479"/>
              <a:gd name="T52" fmla="*/ 110 w 153"/>
              <a:gd name="T53" fmla="*/ 38 h 479"/>
              <a:gd name="T54" fmla="*/ 100 w 153"/>
              <a:gd name="T55" fmla="*/ 60 h 479"/>
              <a:gd name="T56" fmla="*/ 101 w 153"/>
              <a:gd name="T57" fmla="*/ 69 h 479"/>
              <a:gd name="T58" fmla="*/ 112 w 153"/>
              <a:gd name="T59" fmla="*/ 76 h 479"/>
              <a:gd name="T60" fmla="*/ 127 w 153"/>
              <a:gd name="T61" fmla="*/ 86 h 479"/>
              <a:gd name="T62" fmla="*/ 138 w 153"/>
              <a:gd name="T63" fmla="*/ 95 h 479"/>
              <a:gd name="T64" fmla="*/ 141 w 153"/>
              <a:gd name="T65" fmla="*/ 102 h 479"/>
              <a:gd name="T66" fmla="*/ 143 w 153"/>
              <a:gd name="T67" fmla="*/ 124 h 479"/>
              <a:gd name="T68" fmla="*/ 146 w 153"/>
              <a:gd name="T69" fmla="*/ 152 h 479"/>
              <a:gd name="T70" fmla="*/ 149 w 153"/>
              <a:gd name="T71" fmla="*/ 176 h 479"/>
              <a:gd name="T72" fmla="*/ 150 w 153"/>
              <a:gd name="T73" fmla="*/ 186 h 479"/>
              <a:gd name="T74" fmla="*/ 151 w 153"/>
              <a:gd name="T75" fmla="*/ 206 h 479"/>
              <a:gd name="T76" fmla="*/ 152 w 153"/>
              <a:gd name="T77" fmla="*/ 232 h 479"/>
              <a:gd name="T78" fmla="*/ 151 w 153"/>
              <a:gd name="T79" fmla="*/ 255 h 479"/>
              <a:gd name="T80" fmla="*/ 147 w 153"/>
              <a:gd name="T81" fmla="*/ 266 h 479"/>
              <a:gd name="T82" fmla="*/ 143 w 153"/>
              <a:gd name="T83" fmla="*/ 269 h 479"/>
              <a:gd name="T84" fmla="*/ 137 w 153"/>
              <a:gd name="T85" fmla="*/ 270 h 479"/>
              <a:gd name="T86" fmla="*/ 134 w 153"/>
              <a:gd name="T87" fmla="*/ 269 h 479"/>
              <a:gd name="T88" fmla="*/ 135 w 153"/>
              <a:gd name="T89" fmla="*/ 263 h 479"/>
              <a:gd name="T90" fmla="*/ 129 w 153"/>
              <a:gd name="T91" fmla="*/ 264 h 479"/>
              <a:gd name="T92" fmla="*/ 130 w 153"/>
              <a:gd name="T93" fmla="*/ 348 h 479"/>
              <a:gd name="T94" fmla="*/ 134 w 153"/>
              <a:gd name="T95" fmla="*/ 441 h 479"/>
              <a:gd name="T96" fmla="*/ 112 w 153"/>
              <a:gd name="T97" fmla="*/ 451 h 479"/>
              <a:gd name="T98" fmla="*/ 81 w 153"/>
              <a:gd name="T99" fmla="*/ 453 h 479"/>
              <a:gd name="T100" fmla="*/ 77 w 153"/>
              <a:gd name="T101" fmla="*/ 460 h 479"/>
              <a:gd name="T102" fmla="*/ 70 w 153"/>
              <a:gd name="T103" fmla="*/ 469 h 479"/>
              <a:gd name="T104" fmla="*/ 64 w 153"/>
              <a:gd name="T105" fmla="*/ 476 h 479"/>
              <a:gd name="T106" fmla="*/ 58 w 153"/>
              <a:gd name="T107" fmla="*/ 478 h 479"/>
              <a:gd name="T108" fmla="*/ 51 w 153"/>
              <a:gd name="T109" fmla="*/ 477 h 479"/>
              <a:gd name="T110" fmla="*/ 46 w 153"/>
              <a:gd name="T111" fmla="*/ 476 h 479"/>
              <a:gd name="T112" fmla="*/ 42 w 153"/>
              <a:gd name="T113" fmla="*/ 475 h 479"/>
              <a:gd name="T114" fmla="*/ 47 w 153"/>
              <a:gd name="T115" fmla="*/ 457 h 479"/>
              <a:gd name="T116" fmla="*/ 37 w 153"/>
              <a:gd name="T117" fmla="*/ 355 h 479"/>
              <a:gd name="T118" fmla="*/ 31 w 153"/>
              <a:gd name="T119" fmla="*/ 247 h 4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53" h="479">
                <a:moveTo>
                  <a:pt x="31" y="247"/>
                </a:moveTo>
                <a:lnTo>
                  <a:pt x="28" y="269"/>
                </a:lnTo>
                <a:lnTo>
                  <a:pt x="9" y="243"/>
                </a:lnTo>
                <a:lnTo>
                  <a:pt x="13" y="197"/>
                </a:lnTo>
                <a:lnTo>
                  <a:pt x="0" y="164"/>
                </a:lnTo>
                <a:lnTo>
                  <a:pt x="0" y="161"/>
                </a:lnTo>
                <a:lnTo>
                  <a:pt x="1" y="156"/>
                </a:lnTo>
                <a:lnTo>
                  <a:pt x="4" y="147"/>
                </a:lnTo>
                <a:lnTo>
                  <a:pt x="6" y="138"/>
                </a:lnTo>
                <a:lnTo>
                  <a:pt x="10" y="126"/>
                </a:lnTo>
                <a:lnTo>
                  <a:pt x="13" y="117"/>
                </a:lnTo>
                <a:lnTo>
                  <a:pt x="17" y="107"/>
                </a:lnTo>
                <a:lnTo>
                  <a:pt x="21" y="100"/>
                </a:lnTo>
                <a:lnTo>
                  <a:pt x="27" y="95"/>
                </a:lnTo>
                <a:lnTo>
                  <a:pt x="32" y="90"/>
                </a:lnTo>
                <a:lnTo>
                  <a:pt x="40" y="84"/>
                </a:lnTo>
                <a:lnTo>
                  <a:pt x="48" y="79"/>
                </a:lnTo>
                <a:lnTo>
                  <a:pt x="54" y="74"/>
                </a:lnTo>
                <a:lnTo>
                  <a:pt x="60" y="71"/>
                </a:lnTo>
                <a:lnTo>
                  <a:pt x="65" y="69"/>
                </a:lnTo>
                <a:lnTo>
                  <a:pt x="65" y="68"/>
                </a:lnTo>
                <a:lnTo>
                  <a:pt x="65" y="56"/>
                </a:lnTo>
                <a:lnTo>
                  <a:pt x="57" y="42"/>
                </a:lnTo>
                <a:lnTo>
                  <a:pt x="57" y="42"/>
                </a:lnTo>
                <a:lnTo>
                  <a:pt x="56" y="39"/>
                </a:lnTo>
                <a:lnTo>
                  <a:pt x="56" y="36"/>
                </a:lnTo>
                <a:lnTo>
                  <a:pt x="55" y="32"/>
                </a:lnTo>
                <a:lnTo>
                  <a:pt x="55" y="27"/>
                </a:lnTo>
                <a:lnTo>
                  <a:pt x="56" y="22"/>
                </a:lnTo>
                <a:lnTo>
                  <a:pt x="58" y="18"/>
                </a:lnTo>
                <a:lnTo>
                  <a:pt x="60" y="13"/>
                </a:lnTo>
                <a:lnTo>
                  <a:pt x="63" y="10"/>
                </a:lnTo>
                <a:lnTo>
                  <a:pt x="65" y="8"/>
                </a:lnTo>
                <a:lnTo>
                  <a:pt x="65" y="4"/>
                </a:lnTo>
                <a:lnTo>
                  <a:pt x="67" y="3"/>
                </a:lnTo>
                <a:lnTo>
                  <a:pt x="69" y="1"/>
                </a:lnTo>
                <a:lnTo>
                  <a:pt x="72" y="0"/>
                </a:lnTo>
                <a:lnTo>
                  <a:pt x="76" y="0"/>
                </a:lnTo>
                <a:lnTo>
                  <a:pt x="84" y="0"/>
                </a:lnTo>
                <a:lnTo>
                  <a:pt x="92" y="0"/>
                </a:lnTo>
                <a:lnTo>
                  <a:pt x="96" y="0"/>
                </a:lnTo>
                <a:lnTo>
                  <a:pt x="99" y="0"/>
                </a:lnTo>
                <a:lnTo>
                  <a:pt x="101" y="1"/>
                </a:lnTo>
                <a:lnTo>
                  <a:pt x="102" y="3"/>
                </a:lnTo>
                <a:lnTo>
                  <a:pt x="103" y="4"/>
                </a:lnTo>
                <a:lnTo>
                  <a:pt x="105" y="7"/>
                </a:lnTo>
                <a:lnTo>
                  <a:pt x="108" y="10"/>
                </a:lnTo>
                <a:lnTo>
                  <a:pt x="111" y="13"/>
                </a:lnTo>
                <a:lnTo>
                  <a:pt x="113" y="17"/>
                </a:lnTo>
                <a:lnTo>
                  <a:pt x="113" y="22"/>
                </a:lnTo>
                <a:lnTo>
                  <a:pt x="113" y="27"/>
                </a:lnTo>
                <a:lnTo>
                  <a:pt x="112" y="31"/>
                </a:lnTo>
                <a:lnTo>
                  <a:pt x="111" y="35"/>
                </a:lnTo>
                <a:lnTo>
                  <a:pt x="110" y="38"/>
                </a:lnTo>
                <a:lnTo>
                  <a:pt x="110" y="39"/>
                </a:lnTo>
                <a:lnTo>
                  <a:pt x="100" y="60"/>
                </a:lnTo>
                <a:lnTo>
                  <a:pt x="99" y="68"/>
                </a:lnTo>
                <a:lnTo>
                  <a:pt x="101" y="69"/>
                </a:lnTo>
                <a:lnTo>
                  <a:pt x="105" y="72"/>
                </a:lnTo>
                <a:lnTo>
                  <a:pt x="112" y="76"/>
                </a:lnTo>
                <a:lnTo>
                  <a:pt x="119" y="81"/>
                </a:lnTo>
                <a:lnTo>
                  <a:pt x="127" y="86"/>
                </a:lnTo>
                <a:lnTo>
                  <a:pt x="134" y="91"/>
                </a:lnTo>
                <a:lnTo>
                  <a:pt x="138" y="95"/>
                </a:lnTo>
                <a:lnTo>
                  <a:pt x="140" y="97"/>
                </a:lnTo>
                <a:lnTo>
                  <a:pt x="141" y="102"/>
                </a:lnTo>
                <a:lnTo>
                  <a:pt x="141" y="111"/>
                </a:lnTo>
                <a:lnTo>
                  <a:pt x="143" y="124"/>
                </a:lnTo>
                <a:lnTo>
                  <a:pt x="145" y="138"/>
                </a:lnTo>
                <a:lnTo>
                  <a:pt x="146" y="152"/>
                </a:lnTo>
                <a:lnTo>
                  <a:pt x="148" y="165"/>
                </a:lnTo>
                <a:lnTo>
                  <a:pt x="149" y="176"/>
                </a:lnTo>
                <a:lnTo>
                  <a:pt x="150" y="182"/>
                </a:lnTo>
                <a:lnTo>
                  <a:pt x="150" y="186"/>
                </a:lnTo>
                <a:lnTo>
                  <a:pt x="151" y="195"/>
                </a:lnTo>
                <a:lnTo>
                  <a:pt x="151" y="206"/>
                </a:lnTo>
                <a:lnTo>
                  <a:pt x="152" y="219"/>
                </a:lnTo>
                <a:lnTo>
                  <a:pt x="152" y="232"/>
                </a:lnTo>
                <a:lnTo>
                  <a:pt x="152" y="244"/>
                </a:lnTo>
                <a:lnTo>
                  <a:pt x="151" y="255"/>
                </a:lnTo>
                <a:lnTo>
                  <a:pt x="149" y="263"/>
                </a:lnTo>
                <a:lnTo>
                  <a:pt x="147" y="266"/>
                </a:lnTo>
                <a:lnTo>
                  <a:pt x="146" y="268"/>
                </a:lnTo>
                <a:lnTo>
                  <a:pt x="143" y="269"/>
                </a:lnTo>
                <a:lnTo>
                  <a:pt x="140" y="269"/>
                </a:lnTo>
                <a:lnTo>
                  <a:pt x="137" y="270"/>
                </a:lnTo>
                <a:lnTo>
                  <a:pt x="135" y="269"/>
                </a:lnTo>
                <a:lnTo>
                  <a:pt x="134" y="269"/>
                </a:lnTo>
                <a:lnTo>
                  <a:pt x="133" y="269"/>
                </a:lnTo>
                <a:lnTo>
                  <a:pt x="135" y="263"/>
                </a:lnTo>
                <a:lnTo>
                  <a:pt x="141" y="257"/>
                </a:lnTo>
                <a:lnTo>
                  <a:pt x="129" y="264"/>
                </a:lnTo>
                <a:lnTo>
                  <a:pt x="132" y="328"/>
                </a:lnTo>
                <a:lnTo>
                  <a:pt x="130" y="348"/>
                </a:lnTo>
                <a:lnTo>
                  <a:pt x="112" y="422"/>
                </a:lnTo>
                <a:lnTo>
                  <a:pt x="134" y="441"/>
                </a:lnTo>
                <a:lnTo>
                  <a:pt x="137" y="453"/>
                </a:lnTo>
                <a:lnTo>
                  <a:pt x="112" y="451"/>
                </a:lnTo>
                <a:lnTo>
                  <a:pt x="82" y="452"/>
                </a:lnTo>
                <a:lnTo>
                  <a:pt x="81" y="453"/>
                </a:lnTo>
                <a:lnTo>
                  <a:pt x="80" y="456"/>
                </a:lnTo>
                <a:lnTo>
                  <a:pt x="77" y="460"/>
                </a:lnTo>
                <a:lnTo>
                  <a:pt x="74" y="464"/>
                </a:lnTo>
                <a:lnTo>
                  <a:pt x="70" y="469"/>
                </a:lnTo>
                <a:lnTo>
                  <a:pt x="67" y="473"/>
                </a:lnTo>
                <a:lnTo>
                  <a:pt x="64" y="476"/>
                </a:lnTo>
                <a:lnTo>
                  <a:pt x="60" y="478"/>
                </a:lnTo>
                <a:lnTo>
                  <a:pt x="58" y="478"/>
                </a:lnTo>
                <a:lnTo>
                  <a:pt x="54" y="478"/>
                </a:lnTo>
                <a:lnTo>
                  <a:pt x="51" y="477"/>
                </a:lnTo>
                <a:lnTo>
                  <a:pt x="48" y="477"/>
                </a:lnTo>
                <a:lnTo>
                  <a:pt x="46" y="476"/>
                </a:lnTo>
                <a:lnTo>
                  <a:pt x="43" y="475"/>
                </a:lnTo>
                <a:lnTo>
                  <a:pt x="42" y="475"/>
                </a:lnTo>
                <a:lnTo>
                  <a:pt x="42" y="474"/>
                </a:lnTo>
                <a:lnTo>
                  <a:pt x="47" y="457"/>
                </a:lnTo>
                <a:lnTo>
                  <a:pt x="54" y="438"/>
                </a:lnTo>
                <a:lnTo>
                  <a:pt x="37" y="355"/>
                </a:lnTo>
                <a:lnTo>
                  <a:pt x="33" y="276"/>
                </a:lnTo>
                <a:lnTo>
                  <a:pt x="31" y="247"/>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35" name="Freeform 19"/>
          <p:cNvSpPr>
            <a:spLocks/>
          </p:cNvSpPr>
          <p:nvPr/>
        </p:nvSpPr>
        <p:spPr bwMode="auto">
          <a:xfrm>
            <a:off x="1335088" y="3128963"/>
            <a:ext cx="241300" cy="762000"/>
          </a:xfrm>
          <a:custGeom>
            <a:avLst/>
            <a:gdLst>
              <a:gd name="T0" fmla="*/ 27 w 152"/>
              <a:gd name="T1" fmla="*/ 269 h 480"/>
              <a:gd name="T2" fmla="*/ 13 w 152"/>
              <a:gd name="T3" fmla="*/ 198 h 480"/>
              <a:gd name="T4" fmla="*/ 0 w 152"/>
              <a:gd name="T5" fmla="*/ 162 h 480"/>
              <a:gd name="T6" fmla="*/ 3 w 152"/>
              <a:gd name="T7" fmla="*/ 148 h 480"/>
              <a:gd name="T8" fmla="*/ 9 w 152"/>
              <a:gd name="T9" fmla="*/ 127 h 480"/>
              <a:gd name="T10" fmla="*/ 16 w 152"/>
              <a:gd name="T11" fmla="*/ 108 h 480"/>
              <a:gd name="T12" fmla="*/ 26 w 152"/>
              <a:gd name="T13" fmla="*/ 95 h 480"/>
              <a:gd name="T14" fmla="*/ 39 w 152"/>
              <a:gd name="T15" fmla="*/ 85 h 480"/>
              <a:gd name="T16" fmla="*/ 53 w 152"/>
              <a:gd name="T17" fmla="*/ 75 h 480"/>
              <a:gd name="T18" fmla="*/ 64 w 152"/>
              <a:gd name="T19" fmla="*/ 69 h 480"/>
              <a:gd name="T20" fmla="*/ 64 w 152"/>
              <a:gd name="T21" fmla="*/ 56 h 480"/>
              <a:gd name="T22" fmla="*/ 56 w 152"/>
              <a:gd name="T23" fmla="*/ 42 h 480"/>
              <a:gd name="T24" fmla="*/ 55 w 152"/>
              <a:gd name="T25" fmla="*/ 36 h 480"/>
              <a:gd name="T26" fmla="*/ 55 w 152"/>
              <a:gd name="T27" fmla="*/ 28 h 480"/>
              <a:gd name="T28" fmla="*/ 57 w 152"/>
              <a:gd name="T29" fmla="*/ 18 h 480"/>
              <a:gd name="T30" fmla="*/ 62 w 152"/>
              <a:gd name="T31" fmla="*/ 11 h 480"/>
              <a:gd name="T32" fmla="*/ 64 w 152"/>
              <a:gd name="T33" fmla="*/ 5 h 480"/>
              <a:gd name="T34" fmla="*/ 68 w 152"/>
              <a:gd name="T35" fmla="*/ 2 h 480"/>
              <a:gd name="T36" fmla="*/ 76 w 152"/>
              <a:gd name="T37" fmla="*/ 0 h 480"/>
              <a:gd name="T38" fmla="*/ 91 w 152"/>
              <a:gd name="T39" fmla="*/ 0 h 480"/>
              <a:gd name="T40" fmla="*/ 98 w 152"/>
              <a:gd name="T41" fmla="*/ 1 h 480"/>
              <a:gd name="T42" fmla="*/ 101 w 152"/>
              <a:gd name="T43" fmla="*/ 4 h 480"/>
              <a:gd name="T44" fmla="*/ 104 w 152"/>
              <a:gd name="T45" fmla="*/ 8 h 480"/>
              <a:gd name="T46" fmla="*/ 110 w 152"/>
              <a:gd name="T47" fmla="*/ 13 h 480"/>
              <a:gd name="T48" fmla="*/ 112 w 152"/>
              <a:gd name="T49" fmla="*/ 22 h 480"/>
              <a:gd name="T50" fmla="*/ 111 w 152"/>
              <a:gd name="T51" fmla="*/ 32 h 480"/>
              <a:gd name="T52" fmla="*/ 109 w 152"/>
              <a:gd name="T53" fmla="*/ 39 h 480"/>
              <a:gd name="T54" fmla="*/ 99 w 152"/>
              <a:gd name="T55" fmla="*/ 60 h 480"/>
              <a:gd name="T56" fmla="*/ 100 w 152"/>
              <a:gd name="T57" fmla="*/ 69 h 480"/>
              <a:gd name="T58" fmla="*/ 111 w 152"/>
              <a:gd name="T59" fmla="*/ 77 h 480"/>
              <a:gd name="T60" fmla="*/ 126 w 152"/>
              <a:gd name="T61" fmla="*/ 87 h 480"/>
              <a:gd name="T62" fmla="*/ 138 w 152"/>
              <a:gd name="T63" fmla="*/ 95 h 480"/>
              <a:gd name="T64" fmla="*/ 140 w 152"/>
              <a:gd name="T65" fmla="*/ 103 h 480"/>
              <a:gd name="T66" fmla="*/ 142 w 152"/>
              <a:gd name="T67" fmla="*/ 124 h 480"/>
              <a:gd name="T68" fmla="*/ 145 w 152"/>
              <a:gd name="T69" fmla="*/ 152 h 480"/>
              <a:gd name="T70" fmla="*/ 149 w 152"/>
              <a:gd name="T71" fmla="*/ 176 h 480"/>
              <a:gd name="T72" fmla="*/ 149 w 152"/>
              <a:gd name="T73" fmla="*/ 187 h 480"/>
              <a:gd name="T74" fmla="*/ 150 w 152"/>
              <a:gd name="T75" fmla="*/ 207 h 480"/>
              <a:gd name="T76" fmla="*/ 151 w 152"/>
              <a:gd name="T77" fmla="*/ 232 h 480"/>
              <a:gd name="T78" fmla="*/ 150 w 152"/>
              <a:gd name="T79" fmla="*/ 256 h 480"/>
              <a:gd name="T80" fmla="*/ 147 w 152"/>
              <a:gd name="T81" fmla="*/ 267 h 480"/>
              <a:gd name="T82" fmla="*/ 142 w 152"/>
              <a:gd name="T83" fmla="*/ 269 h 480"/>
              <a:gd name="T84" fmla="*/ 137 w 152"/>
              <a:gd name="T85" fmla="*/ 270 h 480"/>
              <a:gd name="T86" fmla="*/ 133 w 152"/>
              <a:gd name="T87" fmla="*/ 270 h 480"/>
              <a:gd name="T88" fmla="*/ 134 w 152"/>
              <a:gd name="T89" fmla="*/ 263 h 480"/>
              <a:gd name="T90" fmla="*/ 128 w 152"/>
              <a:gd name="T91" fmla="*/ 265 h 480"/>
              <a:gd name="T92" fmla="*/ 129 w 152"/>
              <a:gd name="T93" fmla="*/ 349 h 480"/>
              <a:gd name="T94" fmla="*/ 133 w 152"/>
              <a:gd name="T95" fmla="*/ 441 h 480"/>
              <a:gd name="T96" fmla="*/ 112 w 152"/>
              <a:gd name="T97" fmla="*/ 452 h 480"/>
              <a:gd name="T98" fmla="*/ 80 w 152"/>
              <a:gd name="T99" fmla="*/ 454 h 480"/>
              <a:gd name="T100" fmla="*/ 76 w 152"/>
              <a:gd name="T101" fmla="*/ 461 h 480"/>
              <a:gd name="T102" fmla="*/ 70 w 152"/>
              <a:gd name="T103" fmla="*/ 470 h 480"/>
              <a:gd name="T104" fmla="*/ 63 w 152"/>
              <a:gd name="T105" fmla="*/ 476 h 480"/>
              <a:gd name="T106" fmla="*/ 57 w 152"/>
              <a:gd name="T107" fmla="*/ 479 h 480"/>
              <a:gd name="T108" fmla="*/ 51 w 152"/>
              <a:gd name="T109" fmla="*/ 478 h 480"/>
              <a:gd name="T110" fmla="*/ 45 w 152"/>
              <a:gd name="T111" fmla="*/ 477 h 480"/>
              <a:gd name="T112" fmla="*/ 41 w 152"/>
              <a:gd name="T113" fmla="*/ 475 h 480"/>
              <a:gd name="T114" fmla="*/ 46 w 152"/>
              <a:gd name="T115" fmla="*/ 458 h 480"/>
              <a:gd name="T116" fmla="*/ 37 w 152"/>
              <a:gd name="T117" fmla="*/ 356 h 480"/>
              <a:gd name="T118" fmla="*/ 30 w 152"/>
              <a:gd name="T119" fmla="*/ 248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52" h="480">
                <a:moveTo>
                  <a:pt x="30" y="248"/>
                </a:moveTo>
                <a:lnTo>
                  <a:pt x="27" y="269"/>
                </a:lnTo>
                <a:lnTo>
                  <a:pt x="8" y="243"/>
                </a:lnTo>
                <a:lnTo>
                  <a:pt x="13" y="198"/>
                </a:lnTo>
                <a:lnTo>
                  <a:pt x="0" y="165"/>
                </a:lnTo>
                <a:lnTo>
                  <a:pt x="0" y="162"/>
                </a:lnTo>
                <a:lnTo>
                  <a:pt x="1" y="156"/>
                </a:lnTo>
                <a:lnTo>
                  <a:pt x="3" y="148"/>
                </a:lnTo>
                <a:lnTo>
                  <a:pt x="5" y="138"/>
                </a:lnTo>
                <a:lnTo>
                  <a:pt x="9" y="127"/>
                </a:lnTo>
                <a:lnTo>
                  <a:pt x="12" y="117"/>
                </a:lnTo>
                <a:lnTo>
                  <a:pt x="16" y="108"/>
                </a:lnTo>
                <a:lnTo>
                  <a:pt x="21" y="101"/>
                </a:lnTo>
                <a:lnTo>
                  <a:pt x="26" y="95"/>
                </a:lnTo>
                <a:lnTo>
                  <a:pt x="32" y="90"/>
                </a:lnTo>
                <a:lnTo>
                  <a:pt x="39" y="85"/>
                </a:lnTo>
                <a:lnTo>
                  <a:pt x="47" y="79"/>
                </a:lnTo>
                <a:lnTo>
                  <a:pt x="53" y="75"/>
                </a:lnTo>
                <a:lnTo>
                  <a:pt x="59" y="72"/>
                </a:lnTo>
                <a:lnTo>
                  <a:pt x="64" y="69"/>
                </a:lnTo>
                <a:lnTo>
                  <a:pt x="65" y="69"/>
                </a:lnTo>
                <a:lnTo>
                  <a:pt x="64" y="56"/>
                </a:lnTo>
                <a:lnTo>
                  <a:pt x="57" y="43"/>
                </a:lnTo>
                <a:lnTo>
                  <a:pt x="56" y="42"/>
                </a:lnTo>
                <a:lnTo>
                  <a:pt x="56" y="39"/>
                </a:lnTo>
                <a:lnTo>
                  <a:pt x="55" y="36"/>
                </a:lnTo>
                <a:lnTo>
                  <a:pt x="55" y="32"/>
                </a:lnTo>
                <a:lnTo>
                  <a:pt x="55" y="28"/>
                </a:lnTo>
                <a:lnTo>
                  <a:pt x="55" y="23"/>
                </a:lnTo>
                <a:lnTo>
                  <a:pt x="57" y="18"/>
                </a:lnTo>
                <a:lnTo>
                  <a:pt x="59" y="14"/>
                </a:lnTo>
                <a:lnTo>
                  <a:pt x="62" y="11"/>
                </a:lnTo>
                <a:lnTo>
                  <a:pt x="64" y="8"/>
                </a:lnTo>
                <a:lnTo>
                  <a:pt x="64" y="5"/>
                </a:lnTo>
                <a:lnTo>
                  <a:pt x="66" y="4"/>
                </a:lnTo>
                <a:lnTo>
                  <a:pt x="68" y="2"/>
                </a:lnTo>
                <a:lnTo>
                  <a:pt x="71" y="0"/>
                </a:lnTo>
                <a:lnTo>
                  <a:pt x="76" y="0"/>
                </a:lnTo>
                <a:lnTo>
                  <a:pt x="83" y="0"/>
                </a:lnTo>
                <a:lnTo>
                  <a:pt x="91" y="0"/>
                </a:lnTo>
                <a:lnTo>
                  <a:pt x="96" y="0"/>
                </a:lnTo>
                <a:lnTo>
                  <a:pt x="98" y="1"/>
                </a:lnTo>
                <a:lnTo>
                  <a:pt x="100" y="2"/>
                </a:lnTo>
                <a:lnTo>
                  <a:pt x="101" y="4"/>
                </a:lnTo>
                <a:lnTo>
                  <a:pt x="102" y="5"/>
                </a:lnTo>
                <a:lnTo>
                  <a:pt x="104" y="8"/>
                </a:lnTo>
                <a:lnTo>
                  <a:pt x="107" y="10"/>
                </a:lnTo>
                <a:lnTo>
                  <a:pt x="110" y="13"/>
                </a:lnTo>
                <a:lnTo>
                  <a:pt x="112" y="17"/>
                </a:lnTo>
                <a:lnTo>
                  <a:pt x="112" y="22"/>
                </a:lnTo>
                <a:lnTo>
                  <a:pt x="112" y="27"/>
                </a:lnTo>
                <a:lnTo>
                  <a:pt x="111" y="32"/>
                </a:lnTo>
                <a:lnTo>
                  <a:pt x="110" y="36"/>
                </a:lnTo>
                <a:lnTo>
                  <a:pt x="109" y="39"/>
                </a:lnTo>
                <a:lnTo>
                  <a:pt x="109" y="39"/>
                </a:lnTo>
                <a:lnTo>
                  <a:pt x="99" y="60"/>
                </a:lnTo>
                <a:lnTo>
                  <a:pt x="98" y="69"/>
                </a:lnTo>
                <a:lnTo>
                  <a:pt x="100" y="69"/>
                </a:lnTo>
                <a:lnTo>
                  <a:pt x="104" y="73"/>
                </a:lnTo>
                <a:lnTo>
                  <a:pt x="111" y="77"/>
                </a:lnTo>
                <a:lnTo>
                  <a:pt x="118" y="82"/>
                </a:lnTo>
                <a:lnTo>
                  <a:pt x="126" y="87"/>
                </a:lnTo>
                <a:lnTo>
                  <a:pt x="133" y="91"/>
                </a:lnTo>
                <a:lnTo>
                  <a:pt x="138" y="95"/>
                </a:lnTo>
                <a:lnTo>
                  <a:pt x="140" y="98"/>
                </a:lnTo>
                <a:lnTo>
                  <a:pt x="140" y="103"/>
                </a:lnTo>
                <a:lnTo>
                  <a:pt x="140" y="112"/>
                </a:lnTo>
                <a:lnTo>
                  <a:pt x="142" y="124"/>
                </a:lnTo>
                <a:lnTo>
                  <a:pt x="144" y="139"/>
                </a:lnTo>
                <a:lnTo>
                  <a:pt x="145" y="152"/>
                </a:lnTo>
                <a:lnTo>
                  <a:pt x="147" y="165"/>
                </a:lnTo>
                <a:lnTo>
                  <a:pt x="149" y="176"/>
                </a:lnTo>
                <a:lnTo>
                  <a:pt x="149" y="182"/>
                </a:lnTo>
                <a:lnTo>
                  <a:pt x="149" y="187"/>
                </a:lnTo>
                <a:lnTo>
                  <a:pt x="150" y="195"/>
                </a:lnTo>
                <a:lnTo>
                  <a:pt x="150" y="207"/>
                </a:lnTo>
                <a:lnTo>
                  <a:pt x="151" y="219"/>
                </a:lnTo>
                <a:lnTo>
                  <a:pt x="151" y="232"/>
                </a:lnTo>
                <a:lnTo>
                  <a:pt x="151" y="245"/>
                </a:lnTo>
                <a:lnTo>
                  <a:pt x="150" y="256"/>
                </a:lnTo>
                <a:lnTo>
                  <a:pt x="148" y="264"/>
                </a:lnTo>
                <a:lnTo>
                  <a:pt x="147" y="267"/>
                </a:lnTo>
                <a:lnTo>
                  <a:pt x="145" y="269"/>
                </a:lnTo>
                <a:lnTo>
                  <a:pt x="142" y="269"/>
                </a:lnTo>
                <a:lnTo>
                  <a:pt x="140" y="270"/>
                </a:lnTo>
                <a:lnTo>
                  <a:pt x="137" y="270"/>
                </a:lnTo>
                <a:lnTo>
                  <a:pt x="134" y="270"/>
                </a:lnTo>
                <a:lnTo>
                  <a:pt x="133" y="270"/>
                </a:lnTo>
                <a:lnTo>
                  <a:pt x="133" y="270"/>
                </a:lnTo>
                <a:lnTo>
                  <a:pt x="134" y="263"/>
                </a:lnTo>
                <a:lnTo>
                  <a:pt x="140" y="258"/>
                </a:lnTo>
                <a:lnTo>
                  <a:pt x="128" y="265"/>
                </a:lnTo>
                <a:lnTo>
                  <a:pt x="131" y="329"/>
                </a:lnTo>
                <a:lnTo>
                  <a:pt x="129" y="349"/>
                </a:lnTo>
                <a:lnTo>
                  <a:pt x="111" y="423"/>
                </a:lnTo>
                <a:lnTo>
                  <a:pt x="133" y="441"/>
                </a:lnTo>
                <a:lnTo>
                  <a:pt x="136" y="453"/>
                </a:lnTo>
                <a:lnTo>
                  <a:pt x="112" y="452"/>
                </a:lnTo>
                <a:lnTo>
                  <a:pt x="81" y="453"/>
                </a:lnTo>
                <a:lnTo>
                  <a:pt x="80" y="454"/>
                </a:lnTo>
                <a:lnTo>
                  <a:pt x="79" y="457"/>
                </a:lnTo>
                <a:lnTo>
                  <a:pt x="76" y="461"/>
                </a:lnTo>
                <a:lnTo>
                  <a:pt x="74" y="465"/>
                </a:lnTo>
                <a:lnTo>
                  <a:pt x="70" y="470"/>
                </a:lnTo>
                <a:lnTo>
                  <a:pt x="66" y="474"/>
                </a:lnTo>
                <a:lnTo>
                  <a:pt x="63" y="476"/>
                </a:lnTo>
                <a:lnTo>
                  <a:pt x="60" y="478"/>
                </a:lnTo>
                <a:lnTo>
                  <a:pt x="57" y="479"/>
                </a:lnTo>
                <a:lnTo>
                  <a:pt x="53" y="479"/>
                </a:lnTo>
                <a:lnTo>
                  <a:pt x="51" y="478"/>
                </a:lnTo>
                <a:lnTo>
                  <a:pt x="48" y="477"/>
                </a:lnTo>
                <a:lnTo>
                  <a:pt x="45" y="477"/>
                </a:lnTo>
                <a:lnTo>
                  <a:pt x="43" y="476"/>
                </a:lnTo>
                <a:lnTo>
                  <a:pt x="41" y="475"/>
                </a:lnTo>
                <a:lnTo>
                  <a:pt x="41" y="475"/>
                </a:lnTo>
                <a:lnTo>
                  <a:pt x="46" y="458"/>
                </a:lnTo>
                <a:lnTo>
                  <a:pt x="54" y="439"/>
                </a:lnTo>
                <a:lnTo>
                  <a:pt x="37" y="356"/>
                </a:lnTo>
                <a:lnTo>
                  <a:pt x="32" y="277"/>
                </a:lnTo>
                <a:lnTo>
                  <a:pt x="30" y="248"/>
                </a:lnTo>
              </a:path>
            </a:pathLst>
          </a:custGeom>
          <a:solidFill>
            <a:srgbClr val="9933FF"/>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36" name="Freeform 20"/>
          <p:cNvSpPr>
            <a:spLocks/>
          </p:cNvSpPr>
          <p:nvPr/>
        </p:nvSpPr>
        <p:spPr bwMode="auto">
          <a:xfrm>
            <a:off x="1479550" y="3232150"/>
            <a:ext cx="252413" cy="714375"/>
          </a:xfrm>
          <a:custGeom>
            <a:avLst/>
            <a:gdLst>
              <a:gd name="T0" fmla="*/ 146 w 159"/>
              <a:gd name="T1" fmla="*/ 423 h 450"/>
              <a:gd name="T2" fmla="*/ 125 w 159"/>
              <a:gd name="T3" fmla="*/ 401 h 450"/>
              <a:gd name="T4" fmla="*/ 125 w 159"/>
              <a:gd name="T5" fmla="*/ 361 h 450"/>
              <a:gd name="T6" fmla="*/ 130 w 159"/>
              <a:gd name="T7" fmla="*/ 313 h 450"/>
              <a:gd name="T8" fmla="*/ 133 w 159"/>
              <a:gd name="T9" fmla="*/ 309 h 450"/>
              <a:gd name="T10" fmla="*/ 138 w 159"/>
              <a:gd name="T11" fmla="*/ 295 h 450"/>
              <a:gd name="T12" fmla="*/ 130 w 159"/>
              <a:gd name="T13" fmla="*/ 200 h 450"/>
              <a:gd name="T14" fmla="*/ 135 w 159"/>
              <a:gd name="T15" fmla="*/ 213 h 450"/>
              <a:gd name="T16" fmla="*/ 141 w 159"/>
              <a:gd name="T17" fmla="*/ 213 h 450"/>
              <a:gd name="T18" fmla="*/ 144 w 159"/>
              <a:gd name="T19" fmla="*/ 200 h 450"/>
              <a:gd name="T20" fmla="*/ 136 w 159"/>
              <a:gd name="T21" fmla="*/ 179 h 450"/>
              <a:gd name="T22" fmla="*/ 140 w 159"/>
              <a:gd name="T23" fmla="*/ 148 h 450"/>
              <a:gd name="T24" fmla="*/ 127 w 159"/>
              <a:gd name="T25" fmla="*/ 84 h 450"/>
              <a:gd name="T26" fmla="*/ 112 w 159"/>
              <a:gd name="T27" fmla="*/ 70 h 450"/>
              <a:gd name="T28" fmla="*/ 106 w 159"/>
              <a:gd name="T29" fmla="*/ 67 h 450"/>
              <a:gd name="T30" fmla="*/ 112 w 159"/>
              <a:gd name="T31" fmla="*/ 64 h 450"/>
              <a:gd name="T32" fmla="*/ 116 w 159"/>
              <a:gd name="T33" fmla="*/ 55 h 450"/>
              <a:gd name="T34" fmla="*/ 112 w 159"/>
              <a:gd name="T35" fmla="*/ 44 h 450"/>
              <a:gd name="T36" fmla="*/ 105 w 159"/>
              <a:gd name="T37" fmla="*/ 32 h 450"/>
              <a:gd name="T38" fmla="*/ 103 w 159"/>
              <a:gd name="T39" fmla="*/ 21 h 450"/>
              <a:gd name="T40" fmla="*/ 102 w 159"/>
              <a:gd name="T41" fmla="*/ 16 h 450"/>
              <a:gd name="T42" fmla="*/ 100 w 159"/>
              <a:gd name="T43" fmla="*/ 8 h 450"/>
              <a:gd name="T44" fmla="*/ 98 w 159"/>
              <a:gd name="T45" fmla="*/ 1 h 450"/>
              <a:gd name="T46" fmla="*/ 81 w 159"/>
              <a:gd name="T47" fmla="*/ 0 h 450"/>
              <a:gd name="T48" fmla="*/ 65 w 159"/>
              <a:gd name="T49" fmla="*/ 5 h 450"/>
              <a:gd name="T50" fmla="*/ 54 w 159"/>
              <a:gd name="T51" fmla="*/ 23 h 450"/>
              <a:gd name="T52" fmla="*/ 46 w 159"/>
              <a:gd name="T53" fmla="*/ 44 h 450"/>
              <a:gd name="T54" fmla="*/ 38 w 159"/>
              <a:gd name="T55" fmla="*/ 56 h 450"/>
              <a:gd name="T56" fmla="*/ 40 w 159"/>
              <a:gd name="T57" fmla="*/ 64 h 450"/>
              <a:gd name="T58" fmla="*/ 44 w 159"/>
              <a:gd name="T59" fmla="*/ 68 h 450"/>
              <a:gd name="T60" fmla="*/ 40 w 159"/>
              <a:gd name="T61" fmla="*/ 76 h 450"/>
              <a:gd name="T62" fmla="*/ 20 w 159"/>
              <a:gd name="T63" fmla="*/ 117 h 450"/>
              <a:gd name="T64" fmla="*/ 8 w 159"/>
              <a:gd name="T65" fmla="*/ 157 h 450"/>
              <a:gd name="T66" fmla="*/ 10 w 159"/>
              <a:gd name="T67" fmla="*/ 163 h 450"/>
              <a:gd name="T68" fmla="*/ 16 w 159"/>
              <a:gd name="T69" fmla="*/ 173 h 450"/>
              <a:gd name="T70" fmla="*/ 3 w 159"/>
              <a:gd name="T71" fmla="*/ 217 h 450"/>
              <a:gd name="T72" fmla="*/ 0 w 159"/>
              <a:gd name="T73" fmla="*/ 256 h 450"/>
              <a:gd name="T74" fmla="*/ 8 w 159"/>
              <a:gd name="T75" fmla="*/ 261 h 450"/>
              <a:gd name="T76" fmla="*/ 24 w 159"/>
              <a:gd name="T77" fmla="*/ 265 h 450"/>
              <a:gd name="T78" fmla="*/ 26 w 159"/>
              <a:gd name="T79" fmla="*/ 286 h 450"/>
              <a:gd name="T80" fmla="*/ 24 w 159"/>
              <a:gd name="T81" fmla="*/ 303 h 450"/>
              <a:gd name="T82" fmla="*/ 30 w 159"/>
              <a:gd name="T83" fmla="*/ 307 h 450"/>
              <a:gd name="T84" fmla="*/ 43 w 159"/>
              <a:gd name="T85" fmla="*/ 312 h 450"/>
              <a:gd name="T86" fmla="*/ 47 w 159"/>
              <a:gd name="T87" fmla="*/ 320 h 450"/>
              <a:gd name="T88" fmla="*/ 52 w 159"/>
              <a:gd name="T89" fmla="*/ 337 h 450"/>
              <a:gd name="T90" fmla="*/ 52 w 159"/>
              <a:gd name="T91" fmla="*/ 340 h 450"/>
              <a:gd name="T92" fmla="*/ 49 w 159"/>
              <a:gd name="T93" fmla="*/ 351 h 450"/>
              <a:gd name="T94" fmla="*/ 51 w 159"/>
              <a:gd name="T95" fmla="*/ 376 h 450"/>
              <a:gd name="T96" fmla="*/ 58 w 159"/>
              <a:gd name="T97" fmla="*/ 401 h 450"/>
              <a:gd name="T98" fmla="*/ 54 w 159"/>
              <a:gd name="T99" fmla="*/ 442 h 450"/>
              <a:gd name="T100" fmla="*/ 62 w 159"/>
              <a:gd name="T101" fmla="*/ 448 h 450"/>
              <a:gd name="T102" fmla="*/ 72 w 159"/>
              <a:gd name="T103" fmla="*/ 445 h 450"/>
              <a:gd name="T104" fmla="*/ 76 w 159"/>
              <a:gd name="T105" fmla="*/ 434 h 450"/>
              <a:gd name="T106" fmla="*/ 71 w 159"/>
              <a:gd name="T107" fmla="*/ 398 h 450"/>
              <a:gd name="T108" fmla="*/ 96 w 159"/>
              <a:gd name="T109" fmla="*/ 325 h 450"/>
              <a:gd name="T110" fmla="*/ 97 w 159"/>
              <a:gd name="T111" fmla="*/ 339 h 450"/>
              <a:gd name="T112" fmla="*/ 99 w 159"/>
              <a:gd name="T113" fmla="*/ 363 h 450"/>
              <a:gd name="T114" fmla="*/ 106 w 159"/>
              <a:gd name="T115" fmla="*/ 391 h 450"/>
              <a:gd name="T116" fmla="*/ 106 w 159"/>
              <a:gd name="T117" fmla="*/ 428 h 450"/>
              <a:gd name="T118" fmla="*/ 116 w 159"/>
              <a:gd name="T119" fmla="*/ 428 h 450"/>
              <a:gd name="T120" fmla="*/ 128 w 159"/>
              <a:gd name="T121" fmla="*/ 434 h 450"/>
              <a:gd name="T122" fmla="*/ 143 w 159"/>
              <a:gd name="T123" fmla="*/ 440 h 450"/>
              <a:gd name="T124" fmla="*/ 156 w 159"/>
              <a:gd name="T125" fmla="*/ 438 h 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59" h="450">
                <a:moveTo>
                  <a:pt x="157" y="429"/>
                </a:moveTo>
                <a:lnTo>
                  <a:pt x="155" y="428"/>
                </a:lnTo>
                <a:lnTo>
                  <a:pt x="152" y="427"/>
                </a:lnTo>
                <a:lnTo>
                  <a:pt x="146" y="423"/>
                </a:lnTo>
                <a:lnTo>
                  <a:pt x="140" y="419"/>
                </a:lnTo>
                <a:lnTo>
                  <a:pt x="134" y="413"/>
                </a:lnTo>
                <a:lnTo>
                  <a:pt x="128" y="407"/>
                </a:lnTo>
                <a:lnTo>
                  <a:pt x="125" y="401"/>
                </a:lnTo>
                <a:lnTo>
                  <a:pt x="123" y="395"/>
                </a:lnTo>
                <a:lnTo>
                  <a:pt x="124" y="386"/>
                </a:lnTo>
                <a:lnTo>
                  <a:pt x="125" y="375"/>
                </a:lnTo>
                <a:lnTo>
                  <a:pt x="125" y="361"/>
                </a:lnTo>
                <a:lnTo>
                  <a:pt x="127" y="346"/>
                </a:lnTo>
                <a:lnTo>
                  <a:pt x="128" y="333"/>
                </a:lnTo>
                <a:lnTo>
                  <a:pt x="130" y="321"/>
                </a:lnTo>
                <a:lnTo>
                  <a:pt x="130" y="313"/>
                </a:lnTo>
                <a:lnTo>
                  <a:pt x="130" y="311"/>
                </a:lnTo>
                <a:lnTo>
                  <a:pt x="130" y="310"/>
                </a:lnTo>
                <a:lnTo>
                  <a:pt x="131" y="310"/>
                </a:lnTo>
                <a:lnTo>
                  <a:pt x="133" y="309"/>
                </a:lnTo>
                <a:lnTo>
                  <a:pt x="135" y="307"/>
                </a:lnTo>
                <a:lnTo>
                  <a:pt x="136" y="304"/>
                </a:lnTo>
                <a:lnTo>
                  <a:pt x="137" y="300"/>
                </a:lnTo>
                <a:lnTo>
                  <a:pt x="138" y="295"/>
                </a:lnTo>
                <a:lnTo>
                  <a:pt x="139" y="288"/>
                </a:lnTo>
                <a:lnTo>
                  <a:pt x="130" y="200"/>
                </a:lnTo>
                <a:lnTo>
                  <a:pt x="130" y="200"/>
                </a:lnTo>
                <a:lnTo>
                  <a:pt x="130" y="200"/>
                </a:lnTo>
                <a:lnTo>
                  <a:pt x="130" y="203"/>
                </a:lnTo>
                <a:lnTo>
                  <a:pt x="131" y="206"/>
                </a:lnTo>
                <a:lnTo>
                  <a:pt x="133" y="209"/>
                </a:lnTo>
                <a:lnTo>
                  <a:pt x="135" y="213"/>
                </a:lnTo>
                <a:lnTo>
                  <a:pt x="136" y="215"/>
                </a:lnTo>
                <a:lnTo>
                  <a:pt x="137" y="216"/>
                </a:lnTo>
                <a:lnTo>
                  <a:pt x="139" y="215"/>
                </a:lnTo>
                <a:lnTo>
                  <a:pt x="141" y="213"/>
                </a:lnTo>
                <a:lnTo>
                  <a:pt x="142" y="210"/>
                </a:lnTo>
                <a:lnTo>
                  <a:pt x="143" y="207"/>
                </a:lnTo>
                <a:lnTo>
                  <a:pt x="144" y="204"/>
                </a:lnTo>
                <a:lnTo>
                  <a:pt x="144" y="200"/>
                </a:lnTo>
                <a:lnTo>
                  <a:pt x="143" y="196"/>
                </a:lnTo>
                <a:lnTo>
                  <a:pt x="141" y="192"/>
                </a:lnTo>
                <a:lnTo>
                  <a:pt x="139" y="187"/>
                </a:lnTo>
                <a:lnTo>
                  <a:pt x="136" y="179"/>
                </a:lnTo>
                <a:lnTo>
                  <a:pt x="135" y="172"/>
                </a:lnTo>
                <a:lnTo>
                  <a:pt x="136" y="166"/>
                </a:lnTo>
                <a:lnTo>
                  <a:pt x="138" y="158"/>
                </a:lnTo>
                <a:lnTo>
                  <a:pt x="140" y="148"/>
                </a:lnTo>
                <a:lnTo>
                  <a:pt x="140" y="133"/>
                </a:lnTo>
                <a:lnTo>
                  <a:pt x="136" y="114"/>
                </a:lnTo>
                <a:lnTo>
                  <a:pt x="130" y="88"/>
                </a:lnTo>
                <a:lnTo>
                  <a:pt x="127" y="84"/>
                </a:lnTo>
                <a:lnTo>
                  <a:pt x="124" y="80"/>
                </a:lnTo>
                <a:lnTo>
                  <a:pt x="120" y="76"/>
                </a:lnTo>
                <a:lnTo>
                  <a:pt x="116" y="72"/>
                </a:lnTo>
                <a:lnTo>
                  <a:pt x="112" y="70"/>
                </a:lnTo>
                <a:lnTo>
                  <a:pt x="108" y="68"/>
                </a:lnTo>
                <a:lnTo>
                  <a:pt x="107" y="67"/>
                </a:lnTo>
                <a:lnTo>
                  <a:pt x="106" y="67"/>
                </a:lnTo>
                <a:lnTo>
                  <a:pt x="106" y="67"/>
                </a:lnTo>
                <a:lnTo>
                  <a:pt x="107" y="66"/>
                </a:lnTo>
                <a:lnTo>
                  <a:pt x="108" y="66"/>
                </a:lnTo>
                <a:lnTo>
                  <a:pt x="110" y="65"/>
                </a:lnTo>
                <a:lnTo>
                  <a:pt x="112" y="64"/>
                </a:lnTo>
                <a:lnTo>
                  <a:pt x="114" y="63"/>
                </a:lnTo>
                <a:lnTo>
                  <a:pt x="114" y="61"/>
                </a:lnTo>
                <a:lnTo>
                  <a:pt x="115" y="58"/>
                </a:lnTo>
                <a:lnTo>
                  <a:pt x="116" y="55"/>
                </a:lnTo>
                <a:lnTo>
                  <a:pt x="115" y="52"/>
                </a:lnTo>
                <a:lnTo>
                  <a:pt x="114" y="50"/>
                </a:lnTo>
                <a:lnTo>
                  <a:pt x="114" y="47"/>
                </a:lnTo>
                <a:lnTo>
                  <a:pt x="112" y="44"/>
                </a:lnTo>
                <a:lnTo>
                  <a:pt x="110" y="42"/>
                </a:lnTo>
                <a:lnTo>
                  <a:pt x="108" y="38"/>
                </a:lnTo>
                <a:lnTo>
                  <a:pt x="107" y="35"/>
                </a:lnTo>
                <a:lnTo>
                  <a:pt x="105" y="32"/>
                </a:lnTo>
                <a:lnTo>
                  <a:pt x="104" y="29"/>
                </a:lnTo>
                <a:lnTo>
                  <a:pt x="103" y="25"/>
                </a:lnTo>
                <a:lnTo>
                  <a:pt x="103" y="23"/>
                </a:lnTo>
                <a:lnTo>
                  <a:pt x="103" y="21"/>
                </a:lnTo>
                <a:lnTo>
                  <a:pt x="102" y="18"/>
                </a:lnTo>
                <a:lnTo>
                  <a:pt x="102" y="17"/>
                </a:lnTo>
                <a:lnTo>
                  <a:pt x="102" y="17"/>
                </a:lnTo>
                <a:lnTo>
                  <a:pt x="102" y="16"/>
                </a:lnTo>
                <a:lnTo>
                  <a:pt x="102" y="15"/>
                </a:lnTo>
                <a:lnTo>
                  <a:pt x="101" y="13"/>
                </a:lnTo>
                <a:lnTo>
                  <a:pt x="101" y="11"/>
                </a:lnTo>
                <a:lnTo>
                  <a:pt x="100" y="8"/>
                </a:lnTo>
                <a:lnTo>
                  <a:pt x="100" y="6"/>
                </a:lnTo>
                <a:lnTo>
                  <a:pt x="99" y="4"/>
                </a:lnTo>
                <a:lnTo>
                  <a:pt x="99" y="2"/>
                </a:lnTo>
                <a:lnTo>
                  <a:pt x="98" y="1"/>
                </a:lnTo>
                <a:lnTo>
                  <a:pt x="96" y="0"/>
                </a:lnTo>
                <a:lnTo>
                  <a:pt x="92" y="0"/>
                </a:lnTo>
                <a:lnTo>
                  <a:pt x="87" y="0"/>
                </a:lnTo>
                <a:lnTo>
                  <a:pt x="81" y="0"/>
                </a:lnTo>
                <a:lnTo>
                  <a:pt x="76" y="1"/>
                </a:lnTo>
                <a:lnTo>
                  <a:pt x="70" y="3"/>
                </a:lnTo>
                <a:lnTo>
                  <a:pt x="67" y="4"/>
                </a:lnTo>
                <a:lnTo>
                  <a:pt x="65" y="5"/>
                </a:lnTo>
                <a:lnTo>
                  <a:pt x="61" y="8"/>
                </a:lnTo>
                <a:lnTo>
                  <a:pt x="59" y="12"/>
                </a:lnTo>
                <a:lnTo>
                  <a:pt x="56" y="17"/>
                </a:lnTo>
                <a:lnTo>
                  <a:pt x="54" y="23"/>
                </a:lnTo>
                <a:lnTo>
                  <a:pt x="51" y="29"/>
                </a:lnTo>
                <a:lnTo>
                  <a:pt x="49" y="34"/>
                </a:lnTo>
                <a:lnTo>
                  <a:pt x="48" y="39"/>
                </a:lnTo>
                <a:lnTo>
                  <a:pt x="46" y="44"/>
                </a:lnTo>
                <a:lnTo>
                  <a:pt x="43" y="47"/>
                </a:lnTo>
                <a:lnTo>
                  <a:pt x="42" y="51"/>
                </a:lnTo>
                <a:lnTo>
                  <a:pt x="40" y="54"/>
                </a:lnTo>
                <a:lnTo>
                  <a:pt x="38" y="56"/>
                </a:lnTo>
                <a:lnTo>
                  <a:pt x="37" y="58"/>
                </a:lnTo>
                <a:lnTo>
                  <a:pt x="35" y="59"/>
                </a:lnTo>
                <a:lnTo>
                  <a:pt x="35" y="59"/>
                </a:lnTo>
                <a:lnTo>
                  <a:pt x="40" y="64"/>
                </a:lnTo>
                <a:lnTo>
                  <a:pt x="40" y="64"/>
                </a:lnTo>
                <a:lnTo>
                  <a:pt x="42" y="65"/>
                </a:lnTo>
                <a:lnTo>
                  <a:pt x="43" y="66"/>
                </a:lnTo>
                <a:lnTo>
                  <a:pt x="44" y="68"/>
                </a:lnTo>
                <a:lnTo>
                  <a:pt x="45" y="69"/>
                </a:lnTo>
                <a:lnTo>
                  <a:pt x="44" y="72"/>
                </a:lnTo>
                <a:lnTo>
                  <a:pt x="43" y="74"/>
                </a:lnTo>
                <a:lnTo>
                  <a:pt x="40" y="76"/>
                </a:lnTo>
                <a:lnTo>
                  <a:pt x="35" y="81"/>
                </a:lnTo>
                <a:lnTo>
                  <a:pt x="30" y="90"/>
                </a:lnTo>
                <a:lnTo>
                  <a:pt x="25" y="103"/>
                </a:lnTo>
                <a:lnTo>
                  <a:pt x="20" y="117"/>
                </a:lnTo>
                <a:lnTo>
                  <a:pt x="15" y="131"/>
                </a:lnTo>
                <a:lnTo>
                  <a:pt x="11" y="143"/>
                </a:lnTo>
                <a:lnTo>
                  <a:pt x="9" y="152"/>
                </a:lnTo>
                <a:lnTo>
                  <a:pt x="8" y="157"/>
                </a:lnTo>
                <a:lnTo>
                  <a:pt x="8" y="158"/>
                </a:lnTo>
                <a:lnTo>
                  <a:pt x="8" y="160"/>
                </a:lnTo>
                <a:lnTo>
                  <a:pt x="9" y="162"/>
                </a:lnTo>
                <a:lnTo>
                  <a:pt x="10" y="163"/>
                </a:lnTo>
                <a:lnTo>
                  <a:pt x="11" y="166"/>
                </a:lnTo>
                <a:lnTo>
                  <a:pt x="12" y="168"/>
                </a:lnTo>
                <a:lnTo>
                  <a:pt x="14" y="171"/>
                </a:lnTo>
                <a:lnTo>
                  <a:pt x="16" y="173"/>
                </a:lnTo>
                <a:lnTo>
                  <a:pt x="9" y="196"/>
                </a:lnTo>
                <a:lnTo>
                  <a:pt x="6" y="200"/>
                </a:lnTo>
                <a:lnTo>
                  <a:pt x="5" y="207"/>
                </a:lnTo>
                <a:lnTo>
                  <a:pt x="3" y="217"/>
                </a:lnTo>
                <a:lnTo>
                  <a:pt x="1" y="227"/>
                </a:lnTo>
                <a:lnTo>
                  <a:pt x="0" y="238"/>
                </a:lnTo>
                <a:lnTo>
                  <a:pt x="0" y="248"/>
                </a:lnTo>
                <a:lnTo>
                  <a:pt x="0" y="256"/>
                </a:lnTo>
                <a:lnTo>
                  <a:pt x="1" y="259"/>
                </a:lnTo>
                <a:lnTo>
                  <a:pt x="3" y="260"/>
                </a:lnTo>
                <a:lnTo>
                  <a:pt x="5" y="260"/>
                </a:lnTo>
                <a:lnTo>
                  <a:pt x="8" y="261"/>
                </a:lnTo>
                <a:lnTo>
                  <a:pt x="11" y="262"/>
                </a:lnTo>
                <a:lnTo>
                  <a:pt x="15" y="263"/>
                </a:lnTo>
                <a:lnTo>
                  <a:pt x="20" y="264"/>
                </a:lnTo>
                <a:lnTo>
                  <a:pt x="24" y="265"/>
                </a:lnTo>
                <a:lnTo>
                  <a:pt x="29" y="265"/>
                </a:lnTo>
                <a:lnTo>
                  <a:pt x="28" y="273"/>
                </a:lnTo>
                <a:lnTo>
                  <a:pt x="27" y="280"/>
                </a:lnTo>
                <a:lnTo>
                  <a:pt x="26" y="286"/>
                </a:lnTo>
                <a:lnTo>
                  <a:pt x="26" y="292"/>
                </a:lnTo>
                <a:lnTo>
                  <a:pt x="25" y="296"/>
                </a:lnTo>
                <a:lnTo>
                  <a:pt x="24" y="300"/>
                </a:lnTo>
                <a:lnTo>
                  <a:pt x="24" y="303"/>
                </a:lnTo>
                <a:lnTo>
                  <a:pt x="24" y="303"/>
                </a:lnTo>
                <a:lnTo>
                  <a:pt x="25" y="303"/>
                </a:lnTo>
                <a:lnTo>
                  <a:pt x="27" y="305"/>
                </a:lnTo>
                <a:lnTo>
                  <a:pt x="30" y="307"/>
                </a:lnTo>
                <a:lnTo>
                  <a:pt x="34" y="310"/>
                </a:lnTo>
                <a:lnTo>
                  <a:pt x="38" y="312"/>
                </a:lnTo>
                <a:lnTo>
                  <a:pt x="41" y="312"/>
                </a:lnTo>
                <a:lnTo>
                  <a:pt x="43" y="312"/>
                </a:lnTo>
                <a:lnTo>
                  <a:pt x="43" y="311"/>
                </a:lnTo>
                <a:lnTo>
                  <a:pt x="44" y="312"/>
                </a:lnTo>
                <a:lnTo>
                  <a:pt x="45" y="316"/>
                </a:lnTo>
                <a:lnTo>
                  <a:pt x="47" y="320"/>
                </a:lnTo>
                <a:lnTo>
                  <a:pt x="48" y="325"/>
                </a:lnTo>
                <a:lnTo>
                  <a:pt x="49" y="329"/>
                </a:lnTo>
                <a:lnTo>
                  <a:pt x="51" y="333"/>
                </a:lnTo>
                <a:lnTo>
                  <a:pt x="52" y="337"/>
                </a:lnTo>
                <a:lnTo>
                  <a:pt x="53" y="337"/>
                </a:lnTo>
                <a:lnTo>
                  <a:pt x="52" y="338"/>
                </a:lnTo>
                <a:lnTo>
                  <a:pt x="52" y="339"/>
                </a:lnTo>
                <a:lnTo>
                  <a:pt x="52" y="340"/>
                </a:lnTo>
                <a:lnTo>
                  <a:pt x="51" y="342"/>
                </a:lnTo>
                <a:lnTo>
                  <a:pt x="50" y="345"/>
                </a:lnTo>
                <a:lnTo>
                  <a:pt x="49" y="348"/>
                </a:lnTo>
                <a:lnTo>
                  <a:pt x="49" y="351"/>
                </a:lnTo>
                <a:lnTo>
                  <a:pt x="49" y="355"/>
                </a:lnTo>
                <a:lnTo>
                  <a:pt x="49" y="361"/>
                </a:lnTo>
                <a:lnTo>
                  <a:pt x="49" y="367"/>
                </a:lnTo>
                <a:lnTo>
                  <a:pt x="51" y="376"/>
                </a:lnTo>
                <a:lnTo>
                  <a:pt x="53" y="383"/>
                </a:lnTo>
                <a:lnTo>
                  <a:pt x="55" y="390"/>
                </a:lnTo>
                <a:lnTo>
                  <a:pt x="57" y="397"/>
                </a:lnTo>
                <a:lnTo>
                  <a:pt x="58" y="401"/>
                </a:lnTo>
                <a:lnTo>
                  <a:pt x="59" y="402"/>
                </a:lnTo>
                <a:lnTo>
                  <a:pt x="51" y="418"/>
                </a:lnTo>
                <a:lnTo>
                  <a:pt x="54" y="441"/>
                </a:lnTo>
                <a:lnTo>
                  <a:pt x="54" y="442"/>
                </a:lnTo>
                <a:lnTo>
                  <a:pt x="55" y="443"/>
                </a:lnTo>
                <a:lnTo>
                  <a:pt x="57" y="444"/>
                </a:lnTo>
                <a:lnTo>
                  <a:pt x="59" y="446"/>
                </a:lnTo>
                <a:lnTo>
                  <a:pt x="62" y="448"/>
                </a:lnTo>
                <a:lnTo>
                  <a:pt x="65" y="449"/>
                </a:lnTo>
                <a:lnTo>
                  <a:pt x="67" y="449"/>
                </a:lnTo>
                <a:lnTo>
                  <a:pt x="70" y="447"/>
                </a:lnTo>
                <a:lnTo>
                  <a:pt x="72" y="445"/>
                </a:lnTo>
                <a:lnTo>
                  <a:pt x="74" y="443"/>
                </a:lnTo>
                <a:lnTo>
                  <a:pt x="75" y="440"/>
                </a:lnTo>
                <a:lnTo>
                  <a:pt x="76" y="436"/>
                </a:lnTo>
                <a:lnTo>
                  <a:pt x="76" y="434"/>
                </a:lnTo>
                <a:lnTo>
                  <a:pt x="77" y="431"/>
                </a:lnTo>
                <a:lnTo>
                  <a:pt x="77" y="430"/>
                </a:lnTo>
                <a:lnTo>
                  <a:pt x="77" y="429"/>
                </a:lnTo>
                <a:lnTo>
                  <a:pt x="71" y="398"/>
                </a:lnTo>
                <a:lnTo>
                  <a:pt x="81" y="337"/>
                </a:lnTo>
                <a:lnTo>
                  <a:pt x="83" y="324"/>
                </a:lnTo>
                <a:lnTo>
                  <a:pt x="96" y="324"/>
                </a:lnTo>
                <a:lnTo>
                  <a:pt x="96" y="325"/>
                </a:lnTo>
                <a:lnTo>
                  <a:pt x="96" y="327"/>
                </a:lnTo>
                <a:lnTo>
                  <a:pt x="96" y="330"/>
                </a:lnTo>
                <a:lnTo>
                  <a:pt x="96" y="334"/>
                </a:lnTo>
                <a:lnTo>
                  <a:pt x="97" y="339"/>
                </a:lnTo>
                <a:lnTo>
                  <a:pt x="97" y="344"/>
                </a:lnTo>
                <a:lnTo>
                  <a:pt x="98" y="350"/>
                </a:lnTo>
                <a:lnTo>
                  <a:pt x="98" y="355"/>
                </a:lnTo>
                <a:lnTo>
                  <a:pt x="99" y="363"/>
                </a:lnTo>
                <a:lnTo>
                  <a:pt x="101" y="371"/>
                </a:lnTo>
                <a:lnTo>
                  <a:pt x="103" y="378"/>
                </a:lnTo>
                <a:lnTo>
                  <a:pt x="104" y="385"/>
                </a:lnTo>
                <a:lnTo>
                  <a:pt x="106" y="391"/>
                </a:lnTo>
                <a:lnTo>
                  <a:pt x="107" y="397"/>
                </a:lnTo>
                <a:lnTo>
                  <a:pt x="108" y="400"/>
                </a:lnTo>
                <a:lnTo>
                  <a:pt x="108" y="401"/>
                </a:lnTo>
                <a:lnTo>
                  <a:pt x="106" y="428"/>
                </a:lnTo>
                <a:lnTo>
                  <a:pt x="114" y="431"/>
                </a:lnTo>
                <a:lnTo>
                  <a:pt x="114" y="427"/>
                </a:lnTo>
                <a:lnTo>
                  <a:pt x="114" y="427"/>
                </a:lnTo>
                <a:lnTo>
                  <a:pt x="116" y="428"/>
                </a:lnTo>
                <a:lnTo>
                  <a:pt x="119" y="429"/>
                </a:lnTo>
                <a:lnTo>
                  <a:pt x="121" y="431"/>
                </a:lnTo>
                <a:lnTo>
                  <a:pt x="125" y="432"/>
                </a:lnTo>
                <a:lnTo>
                  <a:pt x="128" y="434"/>
                </a:lnTo>
                <a:lnTo>
                  <a:pt x="131" y="436"/>
                </a:lnTo>
                <a:lnTo>
                  <a:pt x="136" y="438"/>
                </a:lnTo>
                <a:lnTo>
                  <a:pt x="139" y="439"/>
                </a:lnTo>
                <a:lnTo>
                  <a:pt x="143" y="440"/>
                </a:lnTo>
                <a:lnTo>
                  <a:pt x="147" y="440"/>
                </a:lnTo>
                <a:lnTo>
                  <a:pt x="150" y="440"/>
                </a:lnTo>
                <a:lnTo>
                  <a:pt x="153" y="439"/>
                </a:lnTo>
                <a:lnTo>
                  <a:pt x="156" y="438"/>
                </a:lnTo>
                <a:lnTo>
                  <a:pt x="158" y="438"/>
                </a:lnTo>
                <a:lnTo>
                  <a:pt x="158" y="438"/>
                </a:lnTo>
                <a:lnTo>
                  <a:pt x="157" y="429"/>
                </a:lnTo>
              </a:path>
            </a:pathLst>
          </a:custGeom>
          <a:solidFill>
            <a:srgbClr val="4C4C4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37" name="Freeform 21"/>
          <p:cNvSpPr>
            <a:spLocks/>
          </p:cNvSpPr>
          <p:nvPr/>
        </p:nvSpPr>
        <p:spPr bwMode="auto">
          <a:xfrm>
            <a:off x="1492250" y="3222625"/>
            <a:ext cx="254000" cy="712788"/>
          </a:xfrm>
          <a:custGeom>
            <a:avLst/>
            <a:gdLst>
              <a:gd name="T0" fmla="*/ 147 w 160"/>
              <a:gd name="T1" fmla="*/ 422 h 449"/>
              <a:gd name="T2" fmla="*/ 125 w 160"/>
              <a:gd name="T3" fmla="*/ 401 h 449"/>
              <a:gd name="T4" fmla="*/ 126 w 160"/>
              <a:gd name="T5" fmla="*/ 360 h 449"/>
              <a:gd name="T6" fmla="*/ 131 w 160"/>
              <a:gd name="T7" fmla="*/ 313 h 449"/>
              <a:gd name="T8" fmla="*/ 133 w 160"/>
              <a:gd name="T9" fmla="*/ 308 h 449"/>
              <a:gd name="T10" fmla="*/ 139 w 160"/>
              <a:gd name="T11" fmla="*/ 294 h 449"/>
              <a:gd name="T12" fmla="*/ 130 w 160"/>
              <a:gd name="T13" fmla="*/ 200 h 449"/>
              <a:gd name="T14" fmla="*/ 135 w 160"/>
              <a:gd name="T15" fmla="*/ 213 h 449"/>
              <a:gd name="T16" fmla="*/ 141 w 160"/>
              <a:gd name="T17" fmla="*/ 213 h 449"/>
              <a:gd name="T18" fmla="*/ 144 w 160"/>
              <a:gd name="T19" fmla="*/ 200 h 449"/>
              <a:gd name="T20" fmla="*/ 136 w 160"/>
              <a:gd name="T21" fmla="*/ 178 h 449"/>
              <a:gd name="T22" fmla="*/ 140 w 160"/>
              <a:gd name="T23" fmla="*/ 147 h 449"/>
              <a:gd name="T24" fmla="*/ 127 w 160"/>
              <a:gd name="T25" fmla="*/ 83 h 449"/>
              <a:gd name="T26" fmla="*/ 113 w 160"/>
              <a:gd name="T27" fmla="*/ 70 h 449"/>
              <a:gd name="T28" fmla="*/ 106 w 160"/>
              <a:gd name="T29" fmla="*/ 66 h 449"/>
              <a:gd name="T30" fmla="*/ 112 w 160"/>
              <a:gd name="T31" fmla="*/ 64 h 449"/>
              <a:gd name="T32" fmla="*/ 116 w 160"/>
              <a:gd name="T33" fmla="*/ 55 h 449"/>
              <a:gd name="T34" fmla="*/ 113 w 160"/>
              <a:gd name="T35" fmla="*/ 44 h 449"/>
              <a:gd name="T36" fmla="*/ 105 w 160"/>
              <a:gd name="T37" fmla="*/ 32 h 449"/>
              <a:gd name="T38" fmla="*/ 103 w 160"/>
              <a:gd name="T39" fmla="*/ 20 h 449"/>
              <a:gd name="T40" fmla="*/ 102 w 160"/>
              <a:gd name="T41" fmla="*/ 16 h 449"/>
              <a:gd name="T42" fmla="*/ 100 w 160"/>
              <a:gd name="T43" fmla="*/ 8 h 449"/>
              <a:gd name="T44" fmla="*/ 98 w 160"/>
              <a:gd name="T45" fmla="*/ 0 h 449"/>
              <a:gd name="T46" fmla="*/ 81 w 160"/>
              <a:gd name="T47" fmla="*/ 0 h 449"/>
              <a:gd name="T48" fmla="*/ 65 w 160"/>
              <a:gd name="T49" fmla="*/ 5 h 449"/>
              <a:gd name="T50" fmla="*/ 54 w 160"/>
              <a:gd name="T51" fmla="*/ 22 h 449"/>
              <a:gd name="T52" fmla="*/ 46 w 160"/>
              <a:gd name="T53" fmla="*/ 43 h 449"/>
              <a:gd name="T54" fmla="*/ 38 w 160"/>
              <a:gd name="T55" fmla="*/ 56 h 449"/>
              <a:gd name="T56" fmla="*/ 40 w 160"/>
              <a:gd name="T57" fmla="*/ 64 h 449"/>
              <a:gd name="T58" fmla="*/ 44 w 160"/>
              <a:gd name="T59" fmla="*/ 68 h 449"/>
              <a:gd name="T60" fmla="*/ 40 w 160"/>
              <a:gd name="T61" fmla="*/ 76 h 449"/>
              <a:gd name="T62" fmla="*/ 20 w 160"/>
              <a:gd name="T63" fmla="*/ 116 h 449"/>
              <a:gd name="T64" fmla="*/ 8 w 160"/>
              <a:gd name="T65" fmla="*/ 157 h 449"/>
              <a:gd name="T66" fmla="*/ 10 w 160"/>
              <a:gd name="T67" fmla="*/ 163 h 449"/>
              <a:gd name="T68" fmla="*/ 16 w 160"/>
              <a:gd name="T69" fmla="*/ 173 h 449"/>
              <a:gd name="T70" fmla="*/ 3 w 160"/>
              <a:gd name="T71" fmla="*/ 216 h 449"/>
              <a:gd name="T72" fmla="*/ 0 w 160"/>
              <a:gd name="T73" fmla="*/ 255 h 449"/>
              <a:gd name="T74" fmla="*/ 8 w 160"/>
              <a:gd name="T75" fmla="*/ 261 h 449"/>
              <a:gd name="T76" fmla="*/ 24 w 160"/>
              <a:gd name="T77" fmla="*/ 264 h 449"/>
              <a:gd name="T78" fmla="*/ 27 w 160"/>
              <a:gd name="T79" fmla="*/ 285 h 449"/>
              <a:gd name="T80" fmla="*/ 24 w 160"/>
              <a:gd name="T81" fmla="*/ 302 h 449"/>
              <a:gd name="T82" fmla="*/ 30 w 160"/>
              <a:gd name="T83" fmla="*/ 307 h 449"/>
              <a:gd name="T84" fmla="*/ 43 w 160"/>
              <a:gd name="T85" fmla="*/ 312 h 449"/>
              <a:gd name="T86" fmla="*/ 47 w 160"/>
              <a:gd name="T87" fmla="*/ 320 h 449"/>
              <a:gd name="T88" fmla="*/ 52 w 160"/>
              <a:gd name="T89" fmla="*/ 337 h 449"/>
              <a:gd name="T90" fmla="*/ 52 w 160"/>
              <a:gd name="T91" fmla="*/ 340 h 449"/>
              <a:gd name="T92" fmla="*/ 49 w 160"/>
              <a:gd name="T93" fmla="*/ 351 h 449"/>
              <a:gd name="T94" fmla="*/ 51 w 160"/>
              <a:gd name="T95" fmla="*/ 375 h 449"/>
              <a:gd name="T96" fmla="*/ 59 w 160"/>
              <a:gd name="T97" fmla="*/ 400 h 449"/>
              <a:gd name="T98" fmla="*/ 54 w 160"/>
              <a:gd name="T99" fmla="*/ 441 h 449"/>
              <a:gd name="T100" fmla="*/ 62 w 160"/>
              <a:gd name="T101" fmla="*/ 447 h 449"/>
              <a:gd name="T102" fmla="*/ 72 w 160"/>
              <a:gd name="T103" fmla="*/ 444 h 449"/>
              <a:gd name="T104" fmla="*/ 76 w 160"/>
              <a:gd name="T105" fmla="*/ 433 h 449"/>
              <a:gd name="T106" fmla="*/ 71 w 160"/>
              <a:gd name="T107" fmla="*/ 398 h 449"/>
              <a:gd name="T108" fmla="*/ 96 w 160"/>
              <a:gd name="T109" fmla="*/ 325 h 449"/>
              <a:gd name="T110" fmla="*/ 97 w 160"/>
              <a:gd name="T111" fmla="*/ 339 h 449"/>
              <a:gd name="T112" fmla="*/ 100 w 160"/>
              <a:gd name="T113" fmla="*/ 362 h 449"/>
              <a:gd name="T114" fmla="*/ 106 w 160"/>
              <a:gd name="T115" fmla="*/ 391 h 449"/>
              <a:gd name="T116" fmla="*/ 106 w 160"/>
              <a:gd name="T117" fmla="*/ 428 h 449"/>
              <a:gd name="T118" fmla="*/ 116 w 160"/>
              <a:gd name="T119" fmla="*/ 427 h 449"/>
              <a:gd name="T120" fmla="*/ 128 w 160"/>
              <a:gd name="T121" fmla="*/ 434 h 449"/>
              <a:gd name="T122" fmla="*/ 143 w 160"/>
              <a:gd name="T123" fmla="*/ 439 h 449"/>
              <a:gd name="T124" fmla="*/ 156 w 160"/>
              <a:gd name="T125" fmla="*/ 438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60" h="449">
                <a:moveTo>
                  <a:pt x="157" y="429"/>
                </a:moveTo>
                <a:lnTo>
                  <a:pt x="155" y="428"/>
                </a:lnTo>
                <a:lnTo>
                  <a:pt x="152" y="426"/>
                </a:lnTo>
                <a:lnTo>
                  <a:pt x="147" y="422"/>
                </a:lnTo>
                <a:lnTo>
                  <a:pt x="140" y="418"/>
                </a:lnTo>
                <a:lnTo>
                  <a:pt x="134" y="413"/>
                </a:lnTo>
                <a:lnTo>
                  <a:pt x="129" y="407"/>
                </a:lnTo>
                <a:lnTo>
                  <a:pt x="125" y="401"/>
                </a:lnTo>
                <a:lnTo>
                  <a:pt x="124" y="394"/>
                </a:lnTo>
                <a:lnTo>
                  <a:pt x="124" y="386"/>
                </a:lnTo>
                <a:lnTo>
                  <a:pt x="125" y="374"/>
                </a:lnTo>
                <a:lnTo>
                  <a:pt x="126" y="360"/>
                </a:lnTo>
                <a:lnTo>
                  <a:pt x="127" y="346"/>
                </a:lnTo>
                <a:lnTo>
                  <a:pt x="128" y="332"/>
                </a:lnTo>
                <a:lnTo>
                  <a:pt x="130" y="321"/>
                </a:lnTo>
                <a:lnTo>
                  <a:pt x="131" y="313"/>
                </a:lnTo>
                <a:lnTo>
                  <a:pt x="131" y="310"/>
                </a:lnTo>
                <a:lnTo>
                  <a:pt x="131" y="310"/>
                </a:lnTo>
                <a:lnTo>
                  <a:pt x="132" y="310"/>
                </a:lnTo>
                <a:lnTo>
                  <a:pt x="133" y="308"/>
                </a:lnTo>
                <a:lnTo>
                  <a:pt x="135" y="307"/>
                </a:lnTo>
                <a:lnTo>
                  <a:pt x="137" y="304"/>
                </a:lnTo>
                <a:lnTo>
                  <a:pt x="137" y="300"/>
                </a:lnTo>
                <a:lnTo>
                  <a:pt x="139" y="294"/>
                </a:lnTo>
                <a:lnTo>
                  <a:pt x="140" y="287"/>
                </a:lnTo>
                <a:lnTo>
                  <a:pt x="130" y="200"/>
                </a:lnTo>
                <a:lnTo>
                  <a:pt x="130" y="200"/>
                </a:lnTo>
                <a:lnTo>
                  <a:pt x="130" y="200"/>
                </a:lnTo>
                <a:lnTo>
                  <a:pt x="131" y="203"/>
                </a:lnTo>
                <a:lnTo>
                  <a:pt x="131" y="206"/>
                </a:lnTo>
                <a:lnTo>
                  <a:pt x="133" y="209"/>
                </a:lnTo>
                <a:lnTo>
                  <a:pt x="135" y="213"/>
                </a:lnTo>
                <a:lnTo>
                  <a:pt x="137" y="215"/>
                </a:lnTo>
                <a:lnTo>
                  <a:pt x="138" y="216"/>
                </a:lnTo>
                <a:lnTo>
                  <a:pt x="140" y="215"/>
                </a:lnTo>
                <a:lnTo>
                  <a:pt x="141" y="213"/>
                </a:lnTo>
                <a:lnTo>
                  <a:pt x="142" y="210"/>
                </a:lnTo>
                <a:lnTo>
                  <a:pt x="143" y="207"/>
                </a:lnTo>
                <a:lnTo>
                  <a:pt x="144" y="204"/>
                </a:lnTo>
                <a:lnTo>
                  <a:pt x="144" y="200"/>
                </a:lnTo>
                <a:lnTo>
                  <a:pt x="143" y="196"/>
                </a:lnTo>
                <a:lnTo>
                  <a:pt x="142" y="192"/>
                </a:lnTo>
                <a:lnTo>
                  <a:pt x="140" y="186"/>
                </a:lnTo>
                <a:lnTo>
                  <a:pt x="136" y="178"/>
                </a:lnTo>
                <a:lnTo>
                  <a:pt x="136" y="171"/>
                </a:lnTo>
                <a:lnTo>
                  <a:pt x="137" y="165"/>
                </a:lnTo>
                <a:lnTo>
                  <a:pt x="139" y="157"/>
                </a:lnTo>
                <a:lnTo>
                  <a:pt x="140" y="147"/>
                </a:lnTo>
                <a:lnTo>
                  <a:pt x="140" y="133"/>
                </a:lnTo>
                <a:lnTo>
                  <a:pt x="137" y="114"/>
                </a:lnTo>
                <a:lnTo>
                  <a:pt x="130" y="88"/>
                </a:lnTo>
                <a:lnTo>
                  <a:pt x="127" y="83"/>
                </a:lnTo>
                <a:lnTo>
                  <a:pt x="125" y="80"/>
                </a:lnTo>
                <a:lnTo>
                  <a:pt x="120" y="76"/>
                </a:lnTo>
                <a:lnTo>
                  <a:pt x="116" y="72"/>
                </a:lnTo>
                <a:lnTo>
                  <a:pt x="113" y="70"/>
                </a:lnTo>
                <a:lnTo>
                  <a:pt x="109" y="68"/>
                </a:lnTo>
                <a:lnTo>
                  <a:pt x="107" y="67"/>
                </a:lnTo>
                <a:lnTo>
                  <a:pt x="106" y="66"/>
                </a:lnTo>
                <a:lnTo>
                  <a:pt x="106" y="66"/>
                </a:lnTo>
                <a:lnTo>
                  <a:pt x="108" y="66"/>
                </a:lnTo>
                <a:lnTo>
                  <a:pt x="109" y="66"/>
                </a:lnTo>
                <a:lnTo>
                  <a:pt x="110" y="65"/>
                </a:lnTo>
                <a:lnTo>
                  <a:pt x="112" y="64"/>
                </a:lnTo>
                <a:lnTo>
                  <a:pt x="114" y="63"/>
                </a:lnTo>
                <a:lnTo>
                  <a:pt x="115" y="60"/>
                </a:lnTo>
                <a:lnTo>
                  <a:pt x="116" y="58"/>
                </a:lnTo>
                <a:lnTo>
                  <a:pt x="116" y="55"/>
                </a:lnTo>
                <a:lnTo>
                  <a:pt x="116" y="52"/>
                </a:lnTo>
                <a:lnTo>
                  <a:pt x="115" y="49"/>
                </a:lnTo>
                <a:lnTo>
                  <a:pt x="114" y="46"/>
                </a:lnTo>
                <a:lnTo>
                  <a:pt x="113" y="44"/>
                </a:lnTo>
                <a:lnTo>
                  <a:pt x="111" y="41"/>
                </a:lnTo>
                <a:lnTo>
                  <a:pt x="109" y="38"/>
                </a:lnTo>
                <a:lnTo>
                  <a:pt x="107" y="35"/>
                </a:lnTo>
                <a:lnTo>
                  <a:pt x="105" y="32"/>
                </a:lnTo>
                <a:lnTo>
                  <a:pt x="104" y="29"/>
                </a:lnTo>
                <a:lnTo>
                  <a:pt x="104" y="25"/>
                </a:lnTo>
                <a:lnTo>
                  <a:pt x="103" y="22"/>
                </a:lnTo>
                <a:lnTo>
                  <a:pt x="103" y="20"/>
                </a:lnTo>
                <a:lnTo>
                  <a:pt x="103" y="18"/>
                </a:lnTo>
                <a:lnTo>
                  <a:pt x="103" y="17"/>
                </a:lnTo>
                <a:lnTo>
                  <a:pt x="103" y="17"/>
                </a:lnTo>
                <a:lnTo>
                  <a:pt x="102" y="16"/>
                </a:lnTo>
                <a:lnTo>
                  <a:pt x="102" y="15"/>
                </a:lnTo>
                <a:lnTo>
                  <a:pt x="102" y="13"/>
                </a:lnTo>
                <a:lnTo>
                  <a:pt x="101" y="11"/>
                </a:lnTo>
                <a:lnTo>
                  <a:pt x="100" y="8"/>
                </a:lnTo>
                <a:lnTo>
                  <a:pt x="100" y="6"/>
                </a:lnTo>
                <a:lnTo>
                  <a:pt x="100" y="4"/>
                </a:lnTo>
                <a:lnTo>
                  <a:pt x="100" y="2"/>
                </a:lnTo>
                <a:lnTo>
                  <a:pt x="98" y="0"/>
                </a:lnTo>
                <a:lnTo>
                  <a:pt x="96" y="0"/>
                </a:lnTo>
                <a:lnTo>
                  <a:pt x="92" y="0"/>
                </a:lnTo>
                <a:lnTo>
                  <a:pt x="87" y="0"/>
                </a:lnTo>
                <a:lnTo>
                  <a:pt x="81" y="0"/>
                </a:lnTo>
                <a:lnTo>
                  <a:pt x="76" y="1"/>
                </a:lnTo>
                <a:lnTo>
                  <a:pt x="71" y="2"/>
                </a:lnTo>
                <a:lnTo>
                  <a:pt x="67" y="3"/>
                </a:lnTo>
                <a:lnTo>
                  <a:pt x="65" y="5"/>
                </a:lnTo>
                <a:lnTo>
                  <a:pt x="62" y="8"/>
                </a:lnTo>
                <a:lnTo>
                  <a:pt x="59" y="12"/>
                </a:lnTo>
                <a:lnTo>
                  <a:pt x="56" y="17"/>
                </a:lnTo>
                <a:lnTo>
                  <a:pt x="54" y="22"/>
                </a:lnTo>
                <a:lnTo>
                  <a:pt x="51" y="28"/>
                </a:lnTo>
                <a:lnTo>
                  <a:pt x="49" y="34"/>
                </a:lnTo>
                <a:lnTo>
                  <a:pt x="48" y="38"/>
                </a:lnTo>
                <a:lnTo>
                  <a:pt x="46" y="43"/>
                </a:lnTo>
                <a:lnTo>
                  <a:pt x="44" y="47"/>
                </a:lnTo>
                <a:lnTo>
                  <a:pt x="42" y="51"/>
                </a:lnTo>
                <a:lnTo>
                  <a:pt x="40" y="54"/>
                </a:lnTo>
                <a:lnTo>
                  <a:pt x="38" y="56"/>
                </a:lnTo>
                <a:lnTo>
                  <a:pt x="37" y="58"/>
                </a:lnTo>
                <a:lnTo>
                  <a:pt x="36" y="59"/>
                </a:lnTo>
                <a:lnTo>
                  <a:pt x="35" y="59"/>
                </a:lnTo>
                <a:lnTo>
                  <a:pt x="40" y="64"/>
                </a:lnTo>
                <a:lnTo>
                  <a:pt x="41" y="64"/>
                </a:lnTo>
                <a:lnTo>
                  <a:pt x="42" y="65"/>
                </a:lnTo>
                <a:lnTo>
                  <a:pt x="43" y="66"/>
                </a:lnTo>
                <a:lnTo>
                  <a:pt x="44" y="68"/>
                </a:lnTo>
                <a:lnTo>
                  <a:pt x="45" y="69"/>
                </a:lnTo>
                <a:lnTo>
                  <a:pt x="45" y="72"/>
                </a:lnTo>
                <a:lnTo>
                  <a:pt x="43" y="73"/>
                </a:lnTo>
                <a:lnTo>
                  <a:pt x="40" y="76"/>
                </a:lnTo>
                <a:lnTo>
                  <a:pt x="36" y="81"/>
                </a:lnTo>
                <a:lnTo>
                  <a:pt x="31" y="90"/>
                </a:lnTo>
                <a:lnTo>
                  <a:pt x="25" y="102"/>
                </a:lnTo>
                <a:lnTo>
                  <a:pt x="20" y="116"/>
                </a:lnTo>
                <a:lnTo>
                  <a:pt x="16" y="131"/>
                </a:lnTo>
                <a:lnTo>
                  <a:pt x="11" y="143"/>
                </a:lnTo>
                <a:lnTo>
                  <a:pt x="9" y="152"/>
                </a:lnTo>
                <a:lnTo>
                  <a:pt x="8" y="157"/>
                </a:lnTo>
                <a:lnTo>
                  <a:pt x="8" y="157"/>
                </a:lnTo>
                <a:lnTo>
                  <a:pt x="9" y="159"/>
                </a:lnTo>
                <a:lnTo>
                  <a:pt x="10" y="162"/>
                </a:lnTo>
                <a:lnTo>
                  <a:pt x="10" y="163"/>
                </a:lnTo>
                <a:lnTo>
                  <a:pt x="11" y="166"/>
                </a:lnTo>
                <a:lnTo>
                  <a:pt x="13" y="168"/>
                </a:lnTo>
                <a:lnTo>
                  <a:pt x="14" y="170"/>
                </a:lnTo>
                <a:lnTo>
                  <a:pt x="16" y="173"/>
                </a:lnTo>
                <a:lnTo>
                  <a:pt x="9" y="196"/>
                </a:lnTo>
                <a:lnTo>
                  <a:pt x="7" y="200"/>
                </a:lnTo>
                <a:lnTo>
                  <a:pt x="5" y="206"/>
                </a:lnTo>
                <a:lnTo>
                  <a:pt x="3" y="216"/>
                </a:lnTo>
                <a:lnTo>
                  <a:pt x="1" y="227"/>
                </a:lnTo>
                <a:lnTo>
                  <a:pt x="0" y="238"/>
                </a:lnTo>
                <a:lnTo>
                  <a:pt x="0" y="247"/>
                </a:lnTo>
                <a:lnTo>
                  <a:pt x="0" y="255"/>
                </a:lnTo>
                <a:lnTo>
                  <a:pt x="2" y="259"/>
                </a:lnTo>
                <a:lnTo>
                  <a:pt x="3" y="260"/>
                </a:lnTo>
                <a:lnTo>
                  <a:pt x="5" y="260"/>
                </a:lnTo>
                <a:lnTo>
                  <a:pt x="8" y="261"/>
                </a:lnTo>
                <a:lnTo>
                  <a:pt x="11" y="262"/>
                </a:lnTo>
                <a:lnTo>
                  <a:pt x="16" y="263"/>
                </a:lnTo>
                <a:lnTo>
                  <a:pt x="20" y="264"/>
                </a:lnTo>
                <a:lnTo>
                  <a:pt x="24" y="264"/>
                </a:lnTo>
                <a:lnTo>
                  <a:pt x="29" y="264"/>
                </a:lnTo>
                <a:lnTo>
                  <a:pt x="28" y="272"/>
                </a:lnTo>
                <a:lnTo>
                  <a:pt x="27" y="279"/>
                </a:lnTo>
                <a:lnTo>
                  <a:pt x="27" y="285"/>
                </a:lnTo>
                <a:lnTo>
                  <a:pt x="26" y="291"/>
                </a:lnTo>
                <a:lnTo>
                  <a:pt x="25" y="296"/>
                </a:lnTo>
                <a:lnTo>
                  <a:pt x="24" y="300"/>
                </a:lnTo>
                <a:lnTo>
                  <a:pt x="24" y="302"/>
                </a:lnTo>
                <a:lnTo>
                  <a:pt x="24" y="302"/>
                </a:lnTo>
                <a:lnTo>
                  <a:pt x="25" y="303"/>
                </a:lnTo>
                <a:lnTo>
                  <a:pt x="27" y="305"/>
                </a:lnTo>
                <a:lnTo>
                  <a:pt x="30" y="307"/>
                </a:lnTo>
                <a:lnTo>
                  <a:pt x="34" y="309"/>
                </a:lnTo>
                <a:lnTo>
                  <a:pt x="38" y="311"/>
                </a:lnTo>
                <a:lnTo>
                  <a:pt x="41" y="312"/>
                </a:lnTo>
                <a:lnTo>
                  <a:pt x="43" y="312"/>
                </a:lnTo>
                <a:lnTo>
                  <a:pt x="44" y="310"/>
                </a:lnTo>
                <a:lnTo>
                  <a:pt x="44" y="312"/>
                </a:lnTo>
                <a:lnTo>
                  <a:pt x="45" y="315"/>
                </a:lnTo>
                <a:lnTo>
                  <a:pt x="47" y="320"/>
                </a:lnTo>
                <a:lnTo>
                  <a:pt x="49" y="324"/>
                </a:lnTo>
                <a:lnTo>
                  <a:pt x="50" y="329"/>
                </a:lnTo>
                <a:lnTo>
                  <a:pt x="51" y="333"/>
                </a:lnTo>
                <a:lnTo>
                  <a:pt x="52" y="337"/>
                </a:lnTo>
                <a:lnTo>
                  <a:pt x="53" y="337"/>
                </a:lnTo>
                <a:lnTo>
                  <a:pt x="53" y="337"/>
                </a:lnTo>
                <a:lnTo>
                  <a:pt x="52" y="338"/>
                </a:lnTo>
                <a:lnTo>
                  <a:pt x="52" y="340"/>
                </a:lnTo>
                <a:lnTo>
                  <a:pt x="51" y="341"/>
                </a:lnTo>
                <a:lnTo>
                  <a:pt x="50" y="345"/>
                </a:lnTo>
                <a:lnTo>
                  <a:pt x="50" y="347"/>
                </a:lnTo>
                <a:lnTo>
                  <a:pt x="49" y="351"/>
                </a:lnTo>
                <a:lnTo>
                  <a:pt x="49" y="355"/>
                </a:lnTo>
                <a:lnTo>
                  <a:pt x="49" y="361"/>
                </a:lnTo>
                <a:lnTo>
                  <a:pt x="50" y="367"/>
                </a:lnTo>
                <a:lnTo>
                  <a:pt x="51" y="375"/>
                </a:lnTo>
                <a:lnTo>
                  <a:pt x="54" y="383"/>
                </a:lnTo>
                <a:lnTo>
                  <a:pt x="55" y="390"/>
                </a:lnTo>
                <a:lnTo>
                  <a:pt x="57" y="396"/>
                </a:lnTo>
                <a:lnTo>
                  <a:pt x="59" y="400"/>
                </a:lnTo>
                <a:lnTo>
                  <a:pt x="59" y="401"/>
                </a:lnTo>
                <a:lnTo>
                  <a:pt x="51" y="417"/>
                </a:lnTo>
                <a:lnTo>
                  <a:pt x="54" y="441"/>
                </a:lnTo>
                <a:lnTo>
                  <a:pt x="54" y="441"/>
                </a:lnTo>
                <a:lnTo>
                  <a:pt x="55" y="443"/>
                </a:lnTo>
                <a:lnTo>
                  <a:pt x="57" y="444"/>
                </a:lnTo>
                <a:lnTo>
                  <a:pt x="60" y="446"/>
                </a:lnTo>
                <a:lnTo>
                  <a:pt x="62" y="447"/>
                </a:lnTo>
                <a:lnTo>
                  <a:pt x="65" y="448"/>
                </a:lnTo>
                <a:lnTo>
                  <a:pt x="67" y="448"/>
                </a:lnTo>
                <a:lnTo>
                  <a:pt x="70" y="447"/>
                </a:lnTo>
                <a:lnTo>
                  <a:pt x="72" y="444"/>
                </a:lnTo>
                <a:lnTo>
                  <a:pt x="74" y="442"/>
                </a:lnTo>
                <a:lnTo>
                  <a:pt x="75" y="439"/>
                </a:lnTo>
                <a:lnTo>
                  <a:pt x="76" y="436"/>
                </a:lnTo>
                <a:lnTo>
                  <a:pt x="76" y="433"/>
                </a:lnTo>
                <a:lnTo>
                  <a:pt x="77" y="431"/>
                </a:lnTo>
                <a:lnTo>
                  <a:pt x="77" y="430"/>
                </a:lnTo>
                <a:lnTo>
                  <a:pt x="77" y="429"/>
                </a:lnTo>
                <a:lnTo>
                  <a:pt x="71" y="398"/>
                </a:lnTo>
                <a:lnTo>
                  <a:pt x="82" y="337"/>
                </a:lnTo>
                <a:lnTo>
                  <a:pt x="84" y="324"/>
                </a:lnTo>
                <a:lnTo>
                  <a:pt x="96" y="324"/>
                </a:lnTo>
                <a:lnTo>
                  <a:pt x="96" y="325"/>
                </a:lnTo>
                <a:lnTo>
                  <a:pt x="96" y="327"/>
                </a:lnTo>
                <a:lnTo>
                  <a:pt x="96" y="330"/>
                </a:lnTo>
                <a:lnTo>
                  <a:pt x="97" y="334"/>
                </a:lnTo>
                <a:lnTo>
                  <a:pt x="97" y="339"/>
                </a:lnTo>
                <a:lnTo>
                  <a:pt x="97" y="344"/>
                </a:lnTo>
                <a:lnTo>
                  <a:pt x="98" y="349"/>
                </a:lnTo>
                <a:lnTo>
                  <a:pt x="98" y="355"/>
                </a:lnTo>
                <a:lnTo>
                  <a:pt x="100" y="362"/>
                </a:lnTo>
                <a:lnTo>
                  <a:pt x="101" y="370"/>
                </a:lnTo>
                <a:lnTo>
                  <a:pt x="103" y="378"/>
                </a:lnTo>
                <a:lnTo>
                  <a:pt x="104" y="384"/>
                </a:lnTo>
                <a:lnTo>
                  <a:pt x="106" y="391"/>
                </a:lnTo>
                <a:lnTo>
                  <a:pt x="108" y="396"/>
                </a:lnTo>
                <a:lnTo>
                  <a:pt x="108" y="399"/>
                </a:lnTo>
                <a:lnTo>
                  <a:pt x="109" y="401"/>
                </a:lnTo>
                <a:lnTo>
                  <a:pt x="106" y="428"/>
                </a:lnTo>
                <a:lnTo>
                  <a:pt x="115" y="430"/>
                </a:lnTo>
                <a:lnTo>
                  <a:pt x="115" y="426"/>
                </a:lnTo>
                <a:lnTo>
                  <a:pt x="115" y="426"/>
                </a:lnTo>
                <a:lnTo>
                  <a:pt x="116" y="427"/>
                </a:lnTo>
                <a:lnTo>
                  <a:pt x="119" y="429"/>
                </a:lnTo>
                <a:lnTo>
                  <a:pt x="121" y="430"/>
                </a:lnTo>
                <a:lnTo>
                  <a:pt x="125" y="432"/>
                </a:lnTo>
                <a:lnTo>
                  <a:pt x="128" y="434"/>
                </a:lnTo>
                <a:lnTo>
                  <a:pt x="132" y="435"/>
                </a:lnTo>
                <a:lnTo>
                  <a:pt x="136" y="437"/>
                </a:lnTo>
                <a:lnTo>
                  <a:pt x="140" y="439"/>
                </a:lnTo>
                <a:lnTo>
                  <a:pt x="143" y="439"/>
                </a:lnTo>
                <a:lnTo>
                  <a:pt x="148" y="439"/>
                </a:lnTo>
                <a:lnTo>
                  <a:pt x="151" y="439"/>
                </a:lnTo>
                <a:lnTo>
                  <a:pt x="153" y="439"/>
                </a:lnTo>
                <a:lnTo>
                  <a:pt x="156" y="438"/>
                </a:lnTo>
                <a:lnTo>
                  <a:pt x="158" y="438"/>
                </a:lnTo>
                <a:lnTo>
                  <a:pt x="159" y="437"/>
                </a:lnTo>
                <a:lnTo>
                  <a:pt x="157" y="429"/>
                </a:lnTo>
              </a:path>
            </a:pathLst>
          </a:custGeom>
          <a:solidFill>
            <a:schemeClr val="bg1"/>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38" name="Rectangle 22"/>
          <p:cNvSpPr>
            <a:spLocks noChangeArrowheads="1"/>
          </p:cNvSpPr>
          <p:nvPr/>
        </p:nvSpPr>
        <p:spPr bwMode="auto">
          <a:xfrm>
            <a:off x="1428750" y="3268663"/>
            <a:ext cx="3698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a:lnSpc>
                <a:spcPct val="100000"/>
              </a:lnSpc>
              <a:spcBef>
                <a:spcPct val="0"/>
              </a:spcBef>
            </a:pPr>
            <a:r>
              <a:rPr lang="en-US" sz="2400">
                <a:solidFill>
                  <a:schemeClr val="tx1"/>
                </a:solidFill>
                <a:effectLst>
                  <a:outerShdw blurRad="38100" dist="38100" dir="2700000" algn="tl">
                    <a:srgbClr val="000000"/>
                  </a:outerShdw>
                </a:effectLst>
                <a:latin typeface="Arial" pitchFamily="34" charset="0"/>
              </a:rPr>
              <a:t>?</a:t>
            </a:r>
          </a:p>
        </p:txBody>
      </p:sp>
      <p:sp>
        <p:nvSpPr>
          <p:cNvPr id="9239" name="Rectangle 23"/>
          <p:cNvSpPr>
            <a:spLocks noChangeArrowheads="1"/>
          </p:cNvSpPr>
          <p:nvPr/>
        </p:nvSpPr>
        <p:spPr bwMode="auto">
          <a:xfrm>
            <a:off x="2244725" y="4059238"/>
            <a:ext cx="5965825" cy="1770062"/>
          </a:xfrm>
          <a:prstGeom prst="rect">
            <a:avLst/>
          </a:prstGeom>
          <a:solidFill>
            <a:srgbClr val="FF99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240" name="Rectangle 24"/>
          <p:cNvSpPr>
            <a:spLocks noChangeArrowheads="1"/>
          </p:cNvSpPr>
          <p:nvPr/>
        </p:nvSpPr>
        <p:spPr bwMode="auto">
          <a:xfrm>
            <a:off x="3652838" y="4784725"/>
            <a:ext cx="4002087"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l">
              <a:lnSpc>
                <a:spcPct val="100000"/>
              </a:lnSpc>
              <a:spcBef>
                <a:spcPct val="0"/>
              </a:spcBef>
            </a:pPr>
            <a:r>
              <a:rPr lang="en-US" sz="2200">
                <a:solidFill>
                  <a:srgbClr val="000000"/>
                </a:solidFill>
                <a:latin typeface="Arial" pitchFamily="34" charset="0"/>
              </a:rPr>
              <a:t>“What is Jones’ salary?”</a:t>
            </a:r>
          </a:p>
        </p:txBody>
      </p:sp>
      <p:sp>
        <p:nvSpPr>
          <p:cNvPr id="9241" name="Oval 25"/>
          <p:cNvSpPr>
            <a:spLocks noChangeArrowheads="1"/>
          </p:cNvSpPr>
          <p:nvPr/>
        </p:nvSpPr>
        <p:spPr bwMode="auto">
          <a:xfrm>
            <a:off x="2422525" y="4484688"/>
            <a:ext cx="1117600" cy="1106487"/>
          </a:xfrm>
          <a:prstGeom prst="ellipse">
            <a:avLst/>
          </a:prstGeom>
          <a:solidFill>
            <a:srgbClr val="FFFFCC"/>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9272" name="Group 56"/>
          <p:cNvGrpSpPr>
            <a:grpSpLocks/>
          </p:cNvGrpSpPr>
          <p:nvPr/>
        </p:nvGrpSpPr>
        <p:grpSpPr bwMode="auto">
          <a:xfrm>
            <a:off x="2695575" y="4648200"/>
            <a:ext cx="612775" cy="776288"/>
            <a:chOff x="1698" y="2928"/>
            <a:chExt cx="386" cy="489"/>
          </a:xfrm>
        </p:grpSpPr>
        <p:grpSp>
          <p:nvGrpSpPr>
            <p:cNvPr id="9251" name="Group 35"/>
            <p:cNvGrpSpPr>
              <a:grpSpLocks/>
            </p:cNvGrpSpPr>
            <p:nvPr/>
          </p:nvGrpSpPr>
          <p:grpSpPr bwMode="auto">
            <a:xfrm>
              <a:off x="1781" y="3018"/>
              <a:ext cx="303" cy="399"/>
              <a:chOff x="1781" y="3018"/>
              <a:chExt cx="303" cy="399"/>
            </a:xfrm>
          </p:grpSpPr>
          <p:sp>
            <p:nvSpPr>
              <p:cNvPr id="9242" name="Freeform 26"/>
              <p:cNvSpPr>
                <a:spLocks/>
              </p:cNvSpPr>
              <p:nvPr/>
            </p:nvSpPr>
            <p:spPr bwMode="auto">
              <a:xfrm>
                <a:off x="1788" y="3044"/>
                <a:ext cx="296" cy="373"/>
              </a:xfrm>
              <a:custGeom>
                <a:avLst/>
                <a:gdLst>
                  <a:gd name="T0" fmla="*/ 2 w 296"/>
                  <a:gd name="T1" fmla="*/ 353 h 373"/>
                  <a:gd name="T2" fmla="*/ 1 w 296"/>
                  <a:gd name="T3" fmla="*/ 348 h 373"/>
                  <a:gd name="T4" fmla="*/ 0 w 296"/>
                  <a:gd name="T5" fmla="*/ 334 h 373"/>
                  <a:gd name="T6" fmla="*/ 0 w 296"/>
                  <a:gd name="T7" fmla="*/ 315 h 373"/>
                  <a:gd name="T8" fmla="*/ 0 w 296"/>
                  <a:gd name="T9" fmla="*/ 290 h 373"/>
                  <a:gd name="T10" fmla="*/ 2 w 296"/>
                  <a:gd name="T11" fmla="*/ 262 h 373"/>
                  <a:gd name="T12" fmla="*/ 6 w 296"/>
                  <a:gd name="T13" fmla="*/ 234 h 373"/>
                  <a:gd name="T14" fmla="*/ 15 w 296"/>
                  <a:gd name="T15" fmla="*/ 209 h 373"/>
                  <a:gd name="T16" fmla="*/ 26 w 296"/>
                  <a:gd name="T17" fmla="*/ 186 h 373"/>
                  <a:gd name="T18" fmla="*/ 40 w 296"/>
                  <a:gd name="T19" fmla="*/ 170 h 373"/>
                  <a:gd name="T20" fmla="*/ 54 w 296"/>
                  <a:gd name="T21" fmla="*/ 161 h 373"/>
                  <a:gd name="T22" fmla="*/ 68 w 296"/>
                  <a:gd name="T23" fmla="*/ 155 h 373"/>
                  <a:gd name="T24" fmla="*/ 80 w 296"/>
                  <a:gd name="T25" fmla="*/ 151 h 373"/>
                  <a:gd name="T26" fmla="*/ 94 w 296"/>
                  <a:gd name="T27" fmla="*/ 146 h 373"/>
                  <a:gd name="T28" fmla="*/ 107 w 296"/>
                  <a:gd name="T29" fmla="*/ 139 h 373"/>
                  <a:gd name="T30" fmla="*/ 121 w 296"/>
                  <a:gd name="T31" fmla="*/ 127 h 373"/>
                  <a:gd name="T32" fmla="*/ 134 w 296"/>
                  <a:gd name="T33" fmla="*/ 108 h 373"/>
                  <a:gd name="T34" fmla="*/ 146 w 296"/>
                  <a:gd name="T35" fmla="*/ 85 h 373"/>
                  <a:gd name="T36" fmla="*/ 154 w 296"/>
                  <a:gd name="T37" fmla="*/ 63 h 373"/>
                  <a:gd name="T38" fmla="*/ 160 w 296"/>
                  <a:gd name="T39" fmla="*/ 45 h 373"/>
                  <a:gd name="T40" fmla="*/ 164 w 296"/>
                  <a:gd name="T41" fmla="*/ 29 h 373"/>
                  <a:gd name="T42" fmla="*/ 167 w 296"/>
                  <a:gd name="T43" fmla="*/ 17 h 373"/>
                  <a:gd name="T44" fmla="*/ 168 w 296"/>
                  <a:gd name="T45" fmla="*/ 7 h 373"/>
                  <a:gd name="T46" fmla="*/ 168 w 296"/>
                  <a:gd name="T47" fmla="*/ 1 h 373"/>
                  <a:gd name="T48" fmla="*/ 168 w 296"/>
                  <a:gd name="T49" fmla="*/ 0 h 373"/>
                  <a:gd name="T50" fmla="*/ 295 w 296"/>
                  <a:gd name="T51" fmla="*/ 19 h 373"/>
                  <a:gd name="T52" fmla="*/ 294 w 296"/>
                  <a:gd name="T53" fmla="*/ 25 h 373"/>
                  <a:gd name="T54" fmla="*/ 292 w 296"/>
                  <a:gd name="T55" fmla="*/ 39 h 373"/>
                  <a:gd name="T56" fmla="*/ 287 w 296"/>
                  <a:gd name="T57" fmla="*/ 60 h 373"/>
                  <a:gd name="T58" fmla="*/ 281 w 296"/>
                  <a:gd name="T59" fmla="*/ 85 h 373"/>
                  <a:gd name="T60" fmla="*/ 273 w 296"/>
                  <a:gd name="T61" fmla="*/ 112 h 373"/>
                  <a:gd name="T62" fmla="*/ 264 w 296"/>
                  <a:gd name="T63" fmla="*/ 136 h 373"/>
                  <a:gd name="T64" fmla="*/ 253 w 296"/>
                  <a:gd name="T65" fmla="*/ 158 h 373"/>
                  <a:gd name="T66" fmla="*/ 242 w 296"/>
                  <a:gd name="T67" fmla="*/ 171 h 373"/>
                  <a:gd name="T68" fmla="*/ 228 w 296"/>
                  <a:gd name="T69" fmla="*/ 180 h 373"/>
                  <a:gd name="T70" fmla="*/ 212 w 296"/>
                  <a:gd name="T71" fmla="*/ 186 h 373"/>
                  <a:gd name="T72" fmla="*/ 194 w 296"/>
                  <a:gd name="T73" fmla="*/ 191 h 373"/>
                  <a:gd name="T74" fmla="*/ 176 w 296"/>
                  <a:gd name="T75" fmla="*/ 195 h 373"/>
                  <a:gd name="T76" fmla="*/ 159 w 296"/>
                  <a:gd name="T77" fmla="*/ 202 h 373"/>
                  <a:gd name="T78" fmla="*/ 145 w 296"/>
                  <a:gd name="T79" fmla="*/ 211 h 373"/>
                  <a:gd name="T80" fmla="*/ 132 w 296"/>
                  <a:gd name="T81" fmla="*/ 224 h 373"/>
                  <a:gd name="T82" fmla="*/ 124 w 296"/>
                  <a:gd name="T83" fmla="*/ 242 h 373"/>
                  <a:gd name="T84" fmla="*/ 121 w 296"/>
                  <a:gd name="T85" fmla="*/ 263 h 373"/>
                  <a:gd name="T86" fmla="*/ 118 w 296"/>
                  <a:gd name="T87" fmla="*/ 286 h 373"/>
                  <a:gd name="T88" fmla="*/ 117 w 296"/>
                  <a:gd name="T89" fmla="*/ 308 h 373"/>
                  <a:gd name="T90" fmla="*/ 117 w 296"/>
                  <a:gd name="T91" fmla="*/ 327 h 373"/>
                  <a:gd name="T92" fmla="*/ 118 w 296"/>
                  <a:gd name="T93" fmla="*/ 345 h 373"/>
                  <a:gd name="T94" fmla="*/ 119 w 296"/>
                  <a:gd name="T95" fmla="*/ 359 h 373"/>
                  <a:gd name="T96" fmla="*/ 120 w 296"/>
                  <a:gd name="T97" fmla="*/ 368 h 373"/>
                  <a:gd name="T98" fmla="*/ 121 w 296"/>
                  <a:gd name="T99" fmla="*/ 372 h 373"/>
                  <a:gd name="T100" fmla="*/ 2 w 296"/>
                  <a:gd name="T101" fmla="*/ 353 h 3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96" h="373">
                    <a:moveTo>
                      <a:pt x="2" y="353"/>
                    </a:moveTo>
                    <a:lnTo>
                      <a:pt x="1" y="348"/>
                    </a:lnTo>
                    <a:lnTo>
                      <a:pt x="0" y="334"/>
                    </a:lnTo>
                    <a:lnTo>
                      <a:pt x="0" y="315"/>
                    </a:lnTo>
                    <a:lnTo>
                      <a:pt x="0" y="290"/>
                    </a:lnTo>
                    <a:lnTo>
                      <a:pt x="2" y="262"/>
                    </a:lnTo>
                    <a:lnTo>
                      <a:pt x="6" y="234"/>
                    </a:lnTo>
                    <a:lnTo>
                      <a:pt x="15" y="209"/>
                    </a:lnTo>
                    <a:lnTo>
                      <a:pt x="26" y="186"/>
                    </a:lnTo>
                    <a:lnTo>
                      <a:pt x="40" y="170"/>
                    </a:lnTo>
                    <a:lnTo>
                      <a:pt x="54" y="161"/>
                    </a:lnTo>
                    <a:lnTo>
                      <a:pt x="68" y="155"/>
                    </a:lnTo>
                    <a:lnTo>
                      <a:pt x="80" y="151"/>
                    </a:lnTo>
                    <a:lnTo>
                      <a:pt x="94" y="146"/>
                    </a:lnTo>
                    <a:lnTo>
                      <a:pt x="107" y="139"/>
                    </a:lnTo>
                    <a:lnTo>
                      <a:pt x="121" y="127"/>
                    </a:lnTo>
                    <a:lnTo>
                      <a:pt x="134" y="108"/>
                    </a:lnTo>
                    <a:lnTo>
                      <a:pt x="146" y="85"/>
                    </a:lnTo>
                    <a:lnTo>
                      <a:pt x="154" y="63"/>
                    </a:lnTo>
                    <a:lnTo>
                      <a:pt x="160" y="45"/>
                    </a:lnTo>
                    <a:lnTo>
                      <a:pt x="164" y="29"/>
                    </a:lnTo>
                    <a:lnTo>
                      <a:pt x="167" y="17"/>
                    </a:lnTo>
                    <a:lnTo>
                      <a:pt x="168" y="7"/>
                    </a:lnTo>
                    <a:lnTo>
                      <a:pt x="168" y="1"/>
                    </a:lnTo>
                    <a:lnTo>
                      <a:pt x="168" y="0"/>
                    </a:lnTo>
                    <a:lnTo>
                      <a:pt x="295" y="19"/>
                    </a:lnTo>
                    <a:lnTo>
                      <a:pt x="294" y="25"/>
                    </a:lnTo>
                    <a:lnTo>
                      <a:pt x="292" y="39"/>
                    </a:lnTo>
                    <a:lnTo>
                      <a:pt x="287" y="60"/>
                    </a:lnTo>
                    <a:lnTo>
                      <a:pt x="281" y="85"/>
                    </a:lnTo>
                    <a:lnTo>
                      <a:pt x="273" y="112"/>
                    </a:lnTo>
                    <a:lnTo>
                      <a:pt x="264" y="136"/>
                    </a:lnTo>
                    <a:lnTo>
                      <a:pt x="253" y="158"/>
                    </a:lnTo>
                    <a:lnTo>
                      <a:pt x="242" y="171"/>
                    </a:lnTo>
                    <a:lnTo>
                      <a:pt x="228" y="180"/>
                    </a:lnTo>
                    <a:lnTo>
                      <a:pt x="212" y="186"/>
                    </a:lnTo>
                    <a:lnTo>
                      <a:pt x="194" y="191"/>
                    </a:lnTo>
                    <a:lnTo>
                      <a:pt x="176" y="195"/>
                    </a:lnTo>
                    <a:lnTo>
                      <a:pt x="159" y="202"/>
                    </a:lnTo>
                    <a:lnTo>
                      <a:pt x="145" y="211"/>
                    </a:lnTo>
                    <a:lnTo>
                      <a:pt x="132" y="224"/>
                    </a:lnTo>
                    <a:lnTo>
                      <a:pt x="124" y="242"/>
                    </a:lnTo>
                    <a:lnTo>
                      <a:pt x="121" y="263"/>
                    </a:lnTo>
                    <a:lnTo>
                      <a:pt x="118" y="286"/>
                    </a:lnTo>
                    <a:lnTo>
                      <a:pt x="117" y="308"/>
                    </a:lnTo>
                    <a:lnTo>
                      <a:pt x="117" y="327"/>
                    </a:lnTo>
                    <a:lnTo>
                      <a:pt x="118" y="345"/>
                    </a:lnTo>
                    <a:lnTo>
                      <a:pt x="119" y="359"/>
                    </a:lnTo>
                    <a:lnTo>
                      <a:pt x="120" y="368"/>
                    </a:lnTo>
                    <a:lnTo>
                      <a:pt x="121" y="372"/>
                    </a:lnTo>
                    <a:lnTo>
                      <a:pt x="2" y="353"/>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43" name="Freeform 27"/>
              <p:cNvSpPr>
                <a:spLocks/>
              </p:cNvSpPr>
              <p:nvPr/>
            </p:nvSpPr>
            <p:spPr bwMode="auto">
              <a:xfrm>
                <a:off x="1781" y="3018"/>
                <a:ext cx="298" cy="374"/>
              </a:xfrm>
              <a:custGeom>
                <a:avLst/>
                <a:gdLst>
                  <a:gd name="T0" fmla="*/ 2 w 298"/>
                  <a:gd name="T1" fmla="*/ 354 h 374"/>
                  <a:gd name="T2" fmla="*/ 1 w 298"/>
                  <a:gd name="T3" fmla="*/ 350 h 374"/>
                  <a:gd name="T4" fmla="*/ 0 w 298"/>
                  <a:gd name="T5" fmla="*/ 336 h 374"/>
                  <a:gd name="T6" fmla="*/ 0 w 298"/>
                  <a:gd name="T7" fmla="*/ 315 h 374"/>
                  <a:gd name="T8" fmla="*/ 0 w 298"/>
                  <a:gd name="T9" fmla="*/ 290 h 374"/>
                  <a:gd name="T10" fmla="*/ 2 w 298"/>
                  <a:gd name="T11" fmla="*/ 263 h 374"/>
                  <a:gd name="T12" fmla="*/ 7 w 298"/>
                  <a:gd name="T13" fmla="*/ 236 h 374"/>
                  <a:gd name="T14" fmla="*/ 15 w 298"/>
                  <a:gd name="T15" fmla="*/ 209 h 374"/>
                  <a:gd name="T16" fmla="*/ 27 w 298"/>
                  <a:gd name="T17" fmla="*/ 187 h 374"/>
                  <a:gd name="T18" fmla="*/ 41 w 298"/>
                  <a:gd name="T19" fmla="*/ 172 h 374"/>
                  <a:gd name="T20" fmla="*/ 54 w 298"/>
                  <a:gd name="T21" fmla="*/ 161 h 374"/>
                  <a:gd name="T22" fmla="*/ 68 w 298"/>
                  <a:gd name="T23" fmla="*/ 156 h 374"/>
                  <a:gd name="T24" fmla="*/ 81 w 298"/>
                  <a:gd name="T25" fmla="*/ 152 h 374"/>
                  <a:gd name="T26" fmla="*/ 94 w 298"/>
                  <a:gd name="T27" fmla="*/ 148 h 374"/>
                  <a:gd name="T28" fmla="*/ 108 w 298"/>
                  <a:gd name="T29" fmla="*/ 141 h 374"/>
                  <a:gd name="T30" fmla="*/ 121 w 298"/>
                  <a:gd name="T31" fmla="*/ 128 h 374"/>
                  <a:gd name="T32" fmla="*/ 135 w 298"/>
                  <a:gd name="T33" fmla="*/ 109 h 374"/>
                  <a:gd name="T34" fmla="*/ 146 w 298"/>
                  <a:gd name="T35" fmla="*/ 85 h 374"/>
                  <a:gd name="T36" fmla="*/ 155 w 298"/>
                  <a:gd name="T37" fmla="*/ 65 h 374"/>
                  <a:gd name="T38" fmla="*/ 162 w 298"/>
                  <a:gd name="T39" fmla="*/ 46 h 374"/>
                  <a:gd name="T40" fmla="*/ 165 w 298"/>
                  <a:gd name="T41" fmla="*/ 30 h 374"/>
                  <a:gd name="T42" fmla="*/ 167 w 298"/>
                  <a:gd name="T43" fmla="*/ 18 h 374"/>
                  <a:gd name="T44" fmla="*/ 168 w 298"/>
                  <a:gd name="T45" fmla="*/ 7 h 374"/>
                  <a:gd name="T46" fmla="*/ 168 w 298"/>
                  <a:gd name="T47" fmla="*/ 2 h 374"/>
                  <a:gd name="T48" fmla="*/ 168 w 298"/>
                  <a:gd name="T49" fmla="*/ 0 h 374"/>
                  <a:gd name="T50" fmla="*/ 297 w 298"/>
                  <a:gd name="T51" fmla="*/ 20 h 374"/>
                  <a:gd name="T52" fmla="*/ 296 w 298"/>
                  <a:gd name="T53" fmla="*/ 25 h 374"/>
                  <a:gd name="T54" fmla="*/ 293 w 298"/>
                  <a:gd name="T55" fmla="*/ 39 h 374"/>
                  <a:gd name="T56" fmla="*/ 288 w 298"/>
                  <a:gd name="T57" fmla="*/ 61 h 374"/>
                  <a:gd name="T58" fmla="*/ 282 w 298"/>
                  <a:gd name="T59" fmla="*/ 86 h 374"/>
                  <a:gd name="T60" fmla="*/ 274 w 298"/>
                  <a:gd name="T61" fmla="*/ 112 h 374"/>
                  <a:gd name="T62" fmla="*/ 265 w 298"/>
                  <a:gd name="T63" fmla="*/ 138 h 374"/>
                  <a:gd name="T64" fmla="*/ 254 w 298"/>
                  <a:gd name="T65" fmla="*/ 158 h 374"/>
                  <a:gd name="T66" fmla="*/ 243 w 298"/>
                  <a:gd name="T67" fmla="*/ 173 h 374"/>
                  <a:gd name="T68" fmla="*/ 229 w 298"/>
                  <a:gd name="T69" fmla="*/ 181 h 374"/>
                  <a:gd name="T70" fmla="*/ 213 w 298"/>
                  <a:gd name="T71" fmla="*/ 187 h 374"/>
                  <a:gd name="T72" fmla="*/ 194 w 298"/>
                  <a:gd name="T73" fmla="*/ 191 h 374"/>
                  <a:gd name="T74" fmla="*/ 177 w 298"/>
                  <a:gd name="T75" fmla="*/ 197 h 374"/>
                  <a:gd name="T76" fmla="*/ 160 w 298"/>
                  <a:gd name="T77" fmla="*/ 203 h 374"/>
                  <a:gd name="T78" fmla="*/ 145 w 298"/>
                  <a:gd name="T79" fmla="*/ 212 h 374"/>
                  <a:gd name="T80" fmla="*/ 133 w 298"/>
                  <a:gd name="T81" fmla="*/ 224 h 374"/>
                  <a:gd name="T82" fmla="*/ 125 w 298"/>
                  <a:gd name="T83" fmla="*/ 242 h 374"/>
                  <a:gd name="T84" fmla="*/ 121 w 298"/>
                  <a:gd name="T85" fmla="*/ 265 h 374"/>
                  <a:gd name="T86" fmla="*/ 118 w 298"/>
                  <a:gd name="T87" fmla="*/ 287 h 374"/>
                  <a:gd name="T88" fmla="*/ 117 w 298"/>
                  <a:gd name="T89" fmla="*/ 309 h 374"/>
                  <a:gd name="T90" fmla="*/ 117 w 298"/>
                  <a:gd name="T91" fmla="*/ 329 h 374"/>
                  <a:gd name="T92" fmla="*/ 118 w 298"/>
                  <a:gd name="T93" fmla="*/ 346 h 374"/>
                  <a:gd name="T94" fmla="*/ 119 w 298"/>
                  <a:gd name="T95" fmla="*/ 360 h 374"/>
                  <a:gd name="T96" fmla="*/ 120 w 298"/>
                  <a:gd name="T97" fmla="*/ 369 h 374"/>
                  <a:gd name="T98" fmla="*/ 121 w 298"/>
                  <a:gd name="T99" fmla="*/ 373 h 374"/>
                  <a:gd name="T100" fmla="*/ 2 w 298"/>
                  <a:gd name="T101" fmla="*/ 354 h 3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98" h="374">
                    <a:moveTo>
                      <a:pt x="2" y="354"/>
                    </a:moveTo>
                    <a:lnTo>
                      <a:pt x="1" y="350"/>
                    </a:lnTo>
                    <a:lnTo>
                      <a:pt x="0" y="336"/>
                    </a:lnTo>
                    <a:lnTo>
                      <a:pt x="0" y="315"/>
                    </a:lnTo>
                    <a:lnTo>
                      <a:pt x="0" y="290"/>
                    </a:lnTo>
                    <a:lnTo>
                      <a:pt x="2" y="263"/>
                    </a:lnTo>
                    <a:lnTo>
                      <a:pt x="7" y="236"/>
                    </a:lnTo>
                    <a:lnTo>
                      <a:pt x="15" y="209"/>
                    </a:lnTo>
                    <a:lnTo>
                      <a:pt x="27" y="187"/>
                    </a:lnTo>
                    <a:lnTo>
                      <a:pt x="41" y="172"/>
                    </a:lnTo>
                    <a:lnTo>
                      <a:pt x="54" y="161"/>
                    </a:lnTo>
                    <a:lnTo>
                      <a:pt x="68" y="156"/>
                    </a:lnTo>
                    <a:lnTo>
                      <a:pt x="81" y="152"/>
                    </a:lnTo>
                    <a:lnTo>
                      <a:pt x="94" y="148"/>
                    </a:lnTo>
                    <a:lnTo>
                      <a:pt x="108" y="141"/>
                    </a:lnTo>
                    <a:lnTo>
                      <a:pt x="121" y="128"/>
                    </a:lnTo>
                    <a:lnTo>
                      <a:pt x="135" y="109"/>
                    </a:lnTo>
                    <a:lnTo>
                      <a:pt x="146" y="85"/>
                    </a:lnTo>
                    <a:lnTo>
                      <a:pt x="155" y="65"/>
                    </a:lnTo>
                    <a:lnTo>
                      <a:pt x="162" y="46"/>
                    </a:lnTo>
                    <a:lnTo>
                      <a:pt x="165" y="30"/>
                    </a:lnTo>
                    <a:lnTo>
                      <a:pt x="167" y="18"/>
                    </a:lnTo>
                    <a:lnTo>
                      <a:pt x="168" y="7"/>
                    </a:lnTo>
                    <a:lnTo>
                      <a:pt x="168" y="2"/>
                    </a:lnTo>
                    <a:lnTo>
                      <a:pt x="168" y="0"/>
                    </a:lnTo>
                    <a:lnTo>
                      <a:pt x="297" y="20"/>
                    </a:lnTo>
                    <a:lnTo>
                      <a:pt x="296" y="25"/>
                    </a:lnTo>
                    <a:lnTo>
                      <a:pt x="293" y="39"/>
                    </a:lnTo>
                    <a:lnTo>
                      <a:pt x="288" y="61"/>
                    </a:lnTo>
                    <a:lnTo>
                      <a:pt x="282" y="86"/>
                    </a:lnTo>
                    <a:lnTo>
                      <a:pt x="274" y="112"/>
                    </a:lnTo>
                    <a:lnTo>
                      <a:pt x="265" y="138"/>
                    </a:lnTo>
                    <a:lnTo>
                      <a:pt x="254" y="158"/>
                    </a:lnTo>
                    <a:lnTo>
                      <a:pt x="243" y="173"/>
                    </a:lnTo>
                    <a:lnTo>
                      <a:pt x="229" y="181"/>
                    </a:lnTo>
                    <a:lnTo>
                      <a:pt x="213" y="187"/>
                    </a:lnTo>
                    <a:lnTo>
                      <a:pt x="194" y="191"/>
                    </a:lnTo>
                    <a:lnTo>
                      <a:pt x="177" y="197"/>
                    </a:lnTo>
                    <a:lnTo>
                      <a:pt x="160" y="203"/>
                    </a:lnTo>
                    <a:lnTo>
                      <a:pt x="145" y="212"/>
                    </a:lnTo>
                    <a:lnTo>
                      <a:pt x="133" y="224"/>
                    </a:lnTo>
                    <a:lnTo>
                      <a:pt x="125" y="242"/>
                    </a:lnTo>
                    <a:lnTo>
                      <a:pt x="121" y="265"/>
                    </a:lnTo>
                    <a:lnTo>
                      <a:pt x="118" y="287"/>
                    </a:lnTo>
                    <a:lnTo>
                      <a:pt x="117" y="309"/>
                    </a:lnTo>
                    <a:lnTo>
                      <a:pt x="117" y="329"/>
                    </a:lnTo>
                    <a:lnTo>
                      <a:pt x="118" y="346"/>
                    </a:lnTo>
                    <a:lnTo>
                      <a:pt x="119" y="360"/>
                    </a:lnTo>
                    <a:lnTo>
                      <a:pt x="120" y="369"/>
                    </a:lnTo>
                    <a:lnTo>
                      <a:pt x="121" y="373"/>
                    </a:lnTo>
                    <a:lnTo>
                      <a:pt x="2" y="354"/>
                    </a:lnTo>
                  </a:path>
                </a:pathLst>
              </a:custGeom>
              <a:solidFill>
                <a:srgbClr val="00CC6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44" name="Freeform 28"/>
              <p:cNvSpPr>
                <a:spLocks/>
              </p:cNvSpPr>
              <p:nvPr/>
            </p:nvSpPr>
            <p:spPr bwMode="auto">
              <a:xfrm>
                <a:off x="1798" y="3048"/>
                <a:ext cx="259" cy="319"/>
              </a:xfrm>
              <a:custGeom>
                <a:avLst/>
                <a:gdLst>
                  <a:gd name="T0" fmla="*/ 1 w 259"/>
                  <a:gd name="T1" fmla="*/ 303 h 319"/>
                  <a:gd name="T2" fmla="*/ 1 w 259"/>
                  <a:gd name="T3" fmla="*/ 299 h 319"/>
                  <a:gd name="T4" fmla="*/ 0 w 259"/>
                  <a:gd name="T5" fmla="*/ 287 h 319"/>
                  <a:gd name="T6" fmla="*/ 0 w 259"/>
                  <a:gd name="T7" fmla="*/ 270 h 319"/>
                  <a:gd name="T8" fmla="*/ 0 w 259"/>
                  <a:gd name="T9" fmla="*/ 248 h 319"/>
                  <a:gd name="T10" fmla="*/ 0 w 259"/>
                  <a:gd name="T11" fmla="*/ 226 h 319"/>
                  <a:gd name="T12" fmla="*/ 4 w 259"/>
                  <a:gd name="T13" fmla="*/ 203 h 319"/>
                  <a:gd name="T14" fmla="*/ 11 w 259"/>
                  <a:gd name="T15" fmla="*/ 181 h 319"/>
                  <a:gd name="T16" fmla="*/ 22 w 259"/>
                  <a:gd name="T17" fmla="*/ 164 h 319"/>
                  <a:gd name="T18" fmla="*/ 35 w 259"/>
                  <a:gd name="T19" fmla="*/ 152 h 319"/>
                  <a:gd name="T20" fmla="*/ 50 w 259"/>
                  <a:gd name="T21" fmla="*/ 143 h 319"/>
                  <a:gd name="T22" fmla="*/ 66 w 259"/>
                  <a:gd name="T23" fmla="*/ 135 h 319"/>
                  <a:gd name="T24" fmla="*/ 83 w 259"/>
                  <a:gd name="T25" fmla="*/ 128 h 319"/>
                  <a:gd name="T26" fmla="*/ 99 w 259"/>
                  <a:gd name="T27" fmla="*/ 120 h 319"/>
                  <a:gd name="T28" fmla="*/ 114 w 259"/>
                  <a:gd name="T29" fmla="*/ 107 h 319"/>
                  <a:gd name="T30" fmla="*/ 127 w 259"/>
                  <a:gd name="T31" fmla="*/ 91 h 319"/>
                  <a:gd name="T32" fmla="*/ 139 w 259"/>
                  <a:gd name="T33" fmla="*/ 68 h 319"/>
                  <a:gd name="T34" fmla="*/ 145 w 259"/>
                  <a:gd name="T35" fmla="*/ 48 h 319"/>
                  <a:gd name="T36" fmla="*/ 151 w 259"/>
                  <a:gd name="T37" fmla="*/ 34 h 319"/>
                  <a:gd name="T38" fmla="*/ 155 w 259"/>
                  <a:gd name="T39" fmla="*/ 21 h 319"/>
                  <a:gd name="T40" fmla="*/ 159 w 259"/>
                  <a:gd name="T41" fmla="*/ 12 h 319"/>
                  <a:gd name="T42" fmla="*/ 161 w 259"/>
                  <a:gd name="T43" fmla="*/ 6 h 319"/>
                  <a:gd name="T44" fmla="*/ 162 w 259"/>
                  <a:gd name="T45" fmla="*/ 2 h 319"/>
                  <a:gd name="T46" fmla="*/ 163 w 259"/>
                  <a:gd name="T47" fmla="*/ 0 h 319"/>
                  <a:gd name="T48" fmla="*/ 163 w 259"/>
                  <a:gd name="T49" fmla="*/ 0 h 319"/>
                  <a:gd name="T50" fmla="*/ 258 w 259"/>
                  <a:gd name="T51" fmla="*/ 17 h 319"/>
                  <a:gd name="T52" fmla="*/ 257 w 259"/>
                  <a:gd name="T53" fmla="*/ 21 h 319"/>
                  <a:gd name="T54" fmla="*/ 254 w 259"/>
                  <a:gd name="T55" fmla="*/ 32 h 319"/>
                  <a:gd name="T56" fmla="*/ 250 w 259"/>
                  <a:gd name="T57" fmla="*/ 48 h 319"/>
                  <a:gd name="T58" fmla="*/ 245 w 259"/>
                  <a:gd name="T59" fmla="*/ 68 h 319"/>
                  <a:gd name="T60" fmla="*/ 238 w 259"/>
                  <a:gd name="T61" fmla="*/ 88 h 319"/>
                  <a:gd name="T62" fmla="*/ 230 w 259"/>
                  <a:gd name="T63" fmla="*/ 107 h 319"/>
                  <a:gd name="T64" fmla="*/ 222 w 259"/>
                  <a:gd name="T65" fmla="*/ 123 h 319"/>
                  <a:gd name="T66" fmla="*/ 212 w 259"/>
                  <a:gd name="T67" fmla="*/ 134 h 319"/>
                  <a:gd name="T68" fmla="*/ 200 w 259"/>
                  <a:gd name="T69" fmla="*/ 140 h 319"/>
                  <a:gd name="T70" fmla="*/ 184 w 259"/>
                  <a:gd name="T71" fmla="*/ 146 h 319"/>
                  <a:gd name="T72" fmla="*/ 167 w 259"/>
                  <a:gd name="T73" fmla="*/ 152 h 319"/>
                  <a:gd name="T74" fmla="*/ 148 w 259"/>
                  <a:gd name="T75" fmla="*/ 157 h 319"/>
                  <a:gd name="T76" fmla="*/ 130 w 259"/>
                  <a:gd name="T77" fmla="*/ 165 h 319"/>
                  <a:gd name="T78" fmla="*/ 114 w 259"/>
                  <a:gd name="T79" fmla="*/ 176 h 319"/>
                  <a:gd name="T80" fmla="*/ 100 w 259"/>
                  <a:gd name="T81" fmla="*/ 189 h 319"/>
                  <a:gd name="T82" fmla="*/ 90 w 259"/>
                  <a:gd name="T83" fmla="*/ 206 h 319"/>
                  <a:gd name="T84" fmla="*/ 86 w 259"/>
                  <a:gd name="T85" fmla="*/ 223 h 319"/>
                  <a:gd name="T86" fmla="*/ 83 w 259"/>
                  <a:gd name="T87" fmla="*/ 241 h 319"/>
                  <a:gd name="T88" fmla="*/ 83 w 259"/>
                  <a:gd name="T89" fmla="*/ 260 h 319"/>
                  <a:gd name="T90" fmla="*/ 83 w 259"/>
                  <a:gd name="T91" fmla="*/ 278 h 319"/>
                  <a:gd name="T92" fmla="*/ 85 w 259"/>
                  <a:gd name="T93" fmla="*/ 293 h 319"/>
                  <a:gd name="T94" fmla="*/ 86 w 259"/>
                  <a:gd name="T95" fmla="*/ 305 h 319"/>
                  <a:gd name="T96" fmla="*/ 88 w 259"/>
                  <a:gd name="T97" fmla="*/ 314 h 319"/>
                  <a:gd name="T98" fmla="*/ 88 w 259"/>
                  <a:gd name="T99" fmla="*/ 318 h 319"/>
                  <a:gd name="T100" fmla="*/ 1 w 259"/>
                  <a:gd name="T101" fmla="*/ 303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59" h="319">
                    <a:moveTo>
                      <a:pt x="1" y="303"/>
                    </a:moveTo>
                    <a:lnTo>
                      <a:pt x="1" y="299"/>
                    </a:lnTo>
                    <a:lnTo>
                      <a:pt x="0" y="287"/>
                    </a:lnTo>
                    <a:lnTo>
                      <a:pt x="0" y="270"/>
                    </a:lnTo>
                    <a:lnTo>
                      <a:pt x="0" y="248"/>
                    </a:lnTo>
                    <a:lnTo>
                      <a:pt x="0" y="226"/>
                    </a:lnTo>
                    <a:lnTo>
                      <a:pt x="4" y="203"/>
                    </a:lnTo>
                    <a:lnTo>
                      <a:pt x="11" y="181"/>
                    </a:lnTo>
                    <a:lnTo>
                      <a:pt x="22" y="164"/>
                    </a:lnTo>
                    <a:lnTo>
                      <a:pt x="35" y="152"/>
                    </a:lnTo>
                    <a:lnTo>
                      <a:pt x="50" y="143"/>
                    </a:lnTo>
                    <a:lnTo>
                      <a:pt x="66" y="135"/>
                    </a:lnTo>
                    <a:lnTo>
                      <a:pt x="83" y="128"/>
                    </a:lnTo>
                    <a:lnTo>
                      <a:pt x="99" y="120"/>
                    </a:lnTo>
                    <a:lnTo>
                      <a:pt x="114" y="107"/>
                    </a:lnTo>
                    <a:lnTo>
                      <a:pt x="127" y="91"/>
                    </a:lnTo>
                    <a:lnTo>
                      <a:pt x="139" y="68"/>
                    </a:lnTo>
                    <a:lnTo>
                      <a:pt x="145" y="48"/>
                    </a:lnTo>
                    <a:lnTo>
                      <a:pt x="151" y="34"/>
                    </a:lnTo>
                    <a:lnTo>
                      <a:pt x="155" y="21"/>
                    </a:lnTo>
                    <a:lnTo>
                      <a:pt x="159" y="12"/>
                    </a:lnTo>
                    <a:lnTo>
                      <a:pt x="161" y="6"/>
                    </a:lnTo>
                    <a:lnTo>
                      <a:pt x="162" y="2"/>
                    </a:lnTo>
                    <a:lnTo>
                      <a:pt x="163" y="0"/>
                    </a:lnTo>
                    <a:lnTo>
                      <a:pt x="163" y="0"/>
                    </a:lnTo>
                    <a:lnTo>
                      <a:pt x="258" y="17"/>
                    </a:lnTo>
                    <a:lnTo>
                      <a:pt x="257" y="21"/>
                    </a:lnTo>
                    <a:lnTo>
                      <a:pt x="254" y="32"/>
                    </a:lnTo>
                    <a:lnTo>
                      <a:pt x="250" y="48"/>
                    </a:lnTo>
                    <a:lnTo>
                      <a:pt x="245" y="68"/>
                    </a:lnTo>
                    <a:lnTo>
                      <a:pt x="238" y="88"/>
                    </a:lnTo>
                    <a:lnTo>
                      <a:pt x="230" y="107"/>
                    </a:lnTo>
                    <a:lnTo>
                      <a:pt x="222" y="123"/>
                    </a:lnTo>
                    <a:lnTo>
                      <a:pt x="212" y="134"/>
                    </a:lnTo>
                    <a:lnTo>
                      <a:pt x="200" y="140"/>
                    </a:lnTo>
                    <a:lnTo>
                      <a:pt x="184" y="146"/>
                    </a:lnTo>
                    <a:lnTo>
                      <a:pt x="167" y="152"/>
                    </a:lnTo>
                    <a:lnTo>
                      <a:pt x="148" y="157"/>
                    </a:lnTo>
                    <a:lnTo>
                      <a:pt x="130" y="165"/>
                    </a:lnTo>
                    <a:lnTo>
                      <a:pt x="114" y="176"/>
                    </a:lnTo>
                    <a:lnTo>
                      <a:pt x="100" y="189"/>
                    </a:lnTo>
                    <a:lnTo>
                      <a:pt x="90" y="206"/>
                    </a:lnTo>
                    <a:lnTo>
                      <a:pt x="86" y="223"/>
                    </a:lnTo>
                    <a:lnTo>
                      <a:pt x="83" y="241"/>
                    </a:lnTo>
                    <a:lnTo>
                      <a:pt x="83" y="260"/>
                    </a:lnTo>
                    <a:lnTo>
                      <a:pt x="83" y="278"/>
                    </a:lnTo>
                    <a:lnTo>
                      <a:pt x="85" y="293"/>
                    </a:lnTo>
                    <a:lnTo>
                      <a:pt x="86" y="305"/>
                    </a:lnTo>
                    <a:lnTo>
                      <a:pt x="88" y="314"/>
                    </a:lnTo>
                    <a:lnTo>
                      <a:pt x="88" y="318"/>
                    </a:lnTo>
                    <a:lnTo>
                      <a:pt x="1" y="303"/>
                    </a:lnTo>
                  </a:path>
                </a:pathLst>
              </a:custGeom>
              <a:solidFill>
                <a:srgbClr val="CCFF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45" name="Freeform 29"/>
              <p:cNvSpPr>
                <a:spLocks/>
              </p:cNvSpPr>
              <p:nvPr/>
            </p:nvSpPr>
            <p:spPr bwMode="auto">
              <a:xfrm>
                <a:off x="1850" y="3166"/>
                <a:ext cx="123" cy="56"/>
              </a:xfrm>
              <a:custGeom>
                <a:avLst/>
                <a:gdLst>
                  <a:gd name="T0" fmla="*/ 64 w 123"/>
                  <a:gd name="T1" fmla="*/ 52 h 56"/>
                  <a:gd name="T2" fmla="*/ 76 w 123"/>
                  <a:gd name="T3" fmla="*/ 49 h 56"/>
                  <a:gd name="T4" fmla="*/ 88 w 123"/>
                  <a:gd name="T5" fmla="*/ 45 h 56"/>
                  <a:gd name="T6" fmla="*/ 97 w 123"/>
                  <a:gd name="T7" fmla="*/ 41 h 56"/>
                  <a:gd name="T8" fmla="*/ 106 w 123"/>
                  <a:gd name="T9" fmla="*/ 36 h 56"/>
                  <a:gd name="T10" fmla="*/ 113 w 123"/>
                  <a:gd name="T11" fmla="*/ 30 h 56"/>
                  <a:gd name="T12" fmla="*/ 118 w 123"/>
                  <a:gd name="T13" fmla="*/ 26 h 56"/>
                  <a:gd name="T14" fmla="*/ 121 w 123"/>
                  <a:gd name="T15" fmla="*/ 20 h 56"/>
                  <a:gd name="T16" fmla="*/ 122 w 123"/>
                  <a:gd name="T17" fmla="*/ 14 h 56"/>
                  <a:gd name="T18" fmla="*/ 120 w 123"/>
                  <a:gd name="T19" fmla="*/ 10 h 56"/>
                  <a:gd name="T20" fmla="*/ 116 w 123"/>
                  <a:gd name="T21" fmla="*/ 6 h 56"/>
                  <a:gd name="T22" fmla="*/ 109 w 123"/>
                  <a:gd name="T23" fmla="*/ 3 h 56"/>
                  <a:gd name="T24" fmla="*/ 101 w 123"/>
                  <a:gd name="T25" fmla="*/ 1 h 56"/>
                  <a:gd name="T26" fmla="*/ 91 w 123"/>
                  <a:gd name="T27" fmla="*/ 0 h 56"/>
                  <a:gd name="T28" fmla="*/ 81 w 123"/>
                  <a:gd name="T29" fmla="*/ 0 h 56"/>
                  <a:gd name="T30" fmla="*/ 69 w 123"/>
                  <a:gd name="T31" fmla="*/ 0 h 56"/>
                  <a:gd name="T32" fmla="*/ 57 w 123"/>
                  <a:gd name="T33" fmla="*/ 2 h 56"/>
                  <a:gd name="T34" fmla="*/ 45 w 123"/>
                  <a:gd name="T35" fmla="*/ 5 h 56"/>
                  <a:gd name="T36" fmla="*/ 33 w 123"/>
                  <a:gd name="T37" fmla="*/ 9 h 56"/>
                  <a:gd name="T38" fmla="*/ 24 w 123"/>
                  <a:gd name="T39" fmla="*/ 13 h 56"/>
                  <a:gd name="T40" fmla="*/ 15 w 123"/>
                  <a:gd name="T41" fmla="*/ 18 h 56"/>
                  <a:gd name="T42" fmla="*/ 8 w 123"/>
                  <a:gd name="T43" fmla="*/ 22 h 56"/>
                  <a:gd name="T44" fmla="*/ 3 w 123"/>
                  <a:gd name="T45" fmla="*/ 28 h 56"/>
                  <a:gd name="T46" fmla="*/ 0 w 123"/>
                  <a:gd name="T47" fmla="*/ 34 h 56"/>
                  <a:gd name="T48" fmla="*/ 0 w 123"/>
                  <a:gd name="T49" fmla="*/ 38 h 56"/>
                  <a:gd name="T50" fmla="*/ 1 w 123"/>
                  <a:gd name="T51" fmla="*/ 44 h 56"/>
                  <a:gd name="T52" fmla="*/ 5 w 123"/>
                  <a:gd name="T53" fmla="*/ 48 h 56"/>
                  <a:gd name="T54" fmla="*/ 12 w 123"/>
                  <a:gd name="T55" fmla="*/ 51 h 56"/>
                  <a:gd name="T56" fmla="*/ 20 w 123"/>
                  <a:gd name="T57" fmla="*/ 53 h 56"/>
                  <a:gd name="T58" fmla="*/ 30 w 123"/>
                  <a:gd name="T59" fmla="*/ 55 h 56"/>
                  <a:gd name="T60" fmla="*/ 40 w 123"/>
                  <a:gd name="T61" fmla="*/ 55 h 56"/>
                  <a:gd name="T62" fmla="*/ 52 w 123"/>
                  <a:gd name="T63" fmla="*/ 53 h 56"/>
                  <a:gd name="T64" fmla="*/ 64 w 123"/>
                  <a:gd name="T65" fmla="*/ 52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3" h="56">
                    <a:moveTo>
                      <a:pt x="64" y="52"/>
                    </a:moveTo>
                    <a:lnTo>
                      <a:pt x="76" y="49"/>
                    </a:lnTo>
                    <a:lnTo>
                      <a:pt x="88" y="45"/>
                    </a:lnTo>
                    <a:lnTo>
                      <a:pt x="97" y="41"/>
                    </a:lnTo>
                    <a:lnTo>
                      <a:pt x="106" y="36"/>
                    </a:lnTo>
                    <a:lnTo>
                      <a:pt x="113" y="30"/>
                    </a:lnTo>
                    <a:lnTo>
                      <a:pt x="118" y="26"/>
                    </a:lnTo>
                    <a:lnTo>
                      <a:pt x="121" y="20"/>
                    </a:lnTo>
                    <a:lnTo>
                      <a:pt x="122" y="14"/>
                    </a:lnTo>
                    <a:lnTo>
                      <a:pt x="120" y="10"/>
                    </a:lnTo>
                    <a:lnTo>
                      <a:pt x="116" y="6"/>
                    </a:lnTo>
                    <a:lnTo>
                      <a:pt x="109" y="3"/>
                    </a:lnTo>
                    <a:lnTo>
                      <a:pt x="101" y="1"/>
                    </a:lnTo>
                    <a:lnTo>
                      <a:pt x="91" y="0"/>
                    </a:lnTo>
                    <a:lnTo>
                      <a:pt x="81" y="0"/>
                    </a:lnTo>
                    <a:lnTo>
                      <a:pt x="69" y="0"/>
                    </a:lnTo>
                    <a:lnTo>
                      <a:pt x="57" y="2"/>
                    </a:lnTo>
                    <a:lnTo>
                      <a:pt x="45" y="5"/>
                    </a:lnTo>
                    <a:lnTo>
                      <a:pt x="33" y="9"/>
                    </a:lnTo>
                    <a:lnTo>
                      <a:pt x="24" y="13"/>
                    </a:lnTo>
                    <a:lnTo>
                      <a:pt x="15" y="18"/>
                    </a:lnTo>
                    <a:lnTo>
                      <a:pt x="8" y="22"/>
                    </a:lnTo>
                    <a:lnTo>
                      <a:pt x="3" y="28"/>
                    </a:lnTo>
                    <a:lnTo>
                      <a:pt x="0" y="34"/>
                    </a:lnTo>
                    <a:lnTo>
                      <a:pt x="0" y="38"/>
                    </a:lnTo>
                    <a:lnTo>
                      <a:pt x="1" y="44"/>
                    </a:lnTo>
                    <a:lnTo>
                      <a:pt x="5" y="48"/>
                    </a:lnTo>
                    <a:lnTo>
                      <a:pt x="12" y="51"/>
                    </a:lnTo>
                    <a:lnTo>
                      <a:pt x="20" y="53"/>
                    </a:lnTo>
                    <a:lnTo>
                      <a:pt x="30" y="55"/>
                    </a:lnTo>
                    <a:lnTo>
                      <a:pt x="40" y="55"/>
                    </a:lnTo>
                    <a:lnTo>
                      <a:pt x="52" y="53"/>
                    </a:lnTo>
                    <a:lnTo>
                      <a:pt x="64" y="52"/>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46" name="Freeform 30"/>
              <p:cNvSpPr>
                <a:spLocks/>
              </p:cNvSpPr>
              <p:nvPr/>
            </p:nvSpPr>
            <p:spPr bwMode="auto">
              <a:xfrm>
                <a:off x="1860" y="3170"/>
                <a:ext cx="103" cy="47"/>
              </a:xfrm>
              <a:custGeom>
                <a:avLst/>
                <a:gdLst>
                  <a:gd name="T0" fmla="*/ 53 w 103"/>
                  <a:gd name="T1" fmla="*/ 43 h 47"/>
                  <a:gd name="T2" fmla="*/ 64 w 103"/>
                  <a:gd name="T3" fmla="*/ 41 h 47"/>
                  <a:gd name="T4" fmla="*/ 73 w 103"/>
                  <a:gd name="T5" fmla="*/ 37 h 47"/>
                  <a:gd name="T6" fmla="*/ 81 w 103"/>
                  <a:gd name="T7" fmla="*/ 34 h 47"/>
                  <a:gd name="T8" fmla="*/ 88 w 103"/>
                  <a:gd name="T9" fmla="*/ 29 h 47"/>
                  <a:gd name="T10" fmla="*/ 94 w 103"/>
                  <a:gd name="T11" fmla="*/ 26 h 47"/>
                  <a:gd name="T12" fmla="*/ 99 w 103"/>
                  <a:gd name="T13" fmla="*/ 21 h 47"/>
                  <a:gd name="T14" fmla="*/ 101 w 103"/>
                  <a:gd name="T15" fmla="*/ 17 h 47"/>
                  <a:gd name="T16" fmla="*/ 102 w 103"/>
                  <a:gd name="T17" fmla="*/ 12 h 47"/>
                  <a:gd name="T18" fmla="*/ 100 w 103"/>
                  <a:gd name="T19" fmla="*/ 9 h 47"/>
                  <a:gd name="T20" fmla="*/ 96 w 103"/>
                  <a:gd name="T21" fmla="*/ 5 h 47"/>
                  <a:gd name="T22" fmla="*/ 91 w 103"/>
                  <a:gd name="T23" fmla="*/ 2 h 47"/>
                  <a:gd name="T24" fmla="*/ 84 w 103"/>
                  <a:gd name="T25" fmla="*/ 1 h 47"/>
                  <a:gd name="T26" fmla="*/ 76 w 103"/>
                  <a:gd name="T27" fmla="*/ 0 h 47"/>
                  <a:gd name="T28" fmla="*/ 68 w 103"/>
                  <a:gd name="T29" fmla="*/ 0 h 47"/>
                  <a:gd name="T30" fmla="*/ 58 w 103"/>
                  <a:gd name="T31" fmla="*/ 0 h 47"/>
                  <a:gd name="T32" fmla="*/ 48 w 103"/>
                  <a:gd name="T33" fmla="*/ 2 h 47"/>
                  <a:gd name="T34" fmla="*/ 37 w 103"/>
                  <a:gd name="T35" fmla="*/ 4 h 47"/>
                  <a:gd name="T36" fmla="*/ 28 w 103"/>
                  <a:gd name="T37" fmla="*/ 6 h 47"/>
                  <a:gd name="T38" fmla="*/ 20 w 103"/>
                  <a:gd name="T39" fmla="*/ 11 h 47"/>
                  <a:gd name="T40" fmla="*/ 13 w 103"/>
                  <a:gd name="T41" fmla="*/ 14 h 47"/>
                  <a:gd name="T42" fmla="*/ 7 w 103"/>
                  <a:gd name="T43" fmla="*/ 19 h 47"/>
                  <a:gd name="T44" fmla="*/ 2 w 103"/>
                  <a:gd name="T45" fmla="*/ 24 h 47"/>
                  <a:gd name="T46" fmla="*/ 0 w 103"/>
                  <a:gd name="T47" fmla="*/ 28 h 47"/>
                  <a:gd name="T48" fmla="*/ 0 w 103"/>
                  <a:gd name="T49" fmla="*/ 33 h 47"/>
                  <a:gd name="T50" fmla="*/ 1 w 103"/>
                  <a:gd name="T51" fmla="*/ 36 h 47"/>
                  <a:gd name="T52" fmla="*/ 5 w 103"/>
                  <a:gd name="T53" fmla="*/ 40 h 47"/>
                  <a:gd name="T54" fmla="*/ 10 w 103"/>
                  <a:gd name="T55" fmla="*/ 42 h 47"/>
                  <a:gd name="T56" fmla="*/ 17 w 103"/>
                  <a:gd name="T57" fmla="*/ 44 h 47"/>
                  <a:gd name="T58" fmla="*/ 25 w 103"/>
                  <a:gd name="T59" fmla="*/ 46 h 47"/>
                  <a:gd name="T60" fmla="*/ 33 w 103"/>
                  <a:gd name="T61" fmla="*/ 46 h 47"/>
                  <a:gd name="T62" fmla="*/ 43 w 103"/>
                  <a:gd name="T63" fmla="*/ 44 h 47"/>
                  <a:gd name="T64" fmla="*/ 53 w 103"/>
                  <a:gd name="T65" fmla="*/ 43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3" h="47">
                    <a:moveTo>
                      <a:pt x="53" y="43"/>
                    </a:moveTo>
                    <a:lnTo>
                      <a:pt x="64" y="41"/>
                    </a:lnTo>
                    <a:lnTo>
                      <a:pt x="73" y="37"/>
                    </a:lnTo>
                    <a:lnTo>
                      <a:pt x="81" y="34"/>
                    </a:lnTo>
                    <a:lnTo>
                      <a:pt x="88" y="29"/>
                    </a:lnTo>
                    <a:lnTo>
                      <a:pt x="94" y="26"/>
                    </a:lnTo>
                    <a:lnTo>
                      <a:pt x="99" y="21"/>
                    </a:lnTo>
                    <a:lnTo>
                      <a:pt x="101" y="17"/>
                    </a:lnTo>
                    <a:lnTo>
                      <a:pt x="102" y="12"/>
                    </a:lnTo>
                    <a:lnTo>
                      <a:pt x="100" y="9"/>
                    </a:lnTo>
                    <a:lnTo>
                      <a:pt x="96" y="5"/>
                    </a:lnTo>
                    <a:lnTo>
                      <a:pt x="91" y="2"/>
                    </a:lnTo>
                    <a:lnTo>
                      <a:pt x="84" y="1"/>
                    </a:lnTo>
                    <a:lnTo>
                      <a:pt x="76" y="0"/>
                    </a:lnTo>
                    <a:lnTo>
                      <a:pt x="68" y="0"/>
                    </a:lnTo>
                    <a:lnTo>
                      <a:pt x="58" y="0"/>
                    </a:lnTo>
                    <a:lnTo>
                      <a:pt x="48" y="2"/>
                    </a:lnTo>
                    <a:lnTo>
                      <a:pt x="37" y="4"/>
                    </a:lnTo>
                    <a:lnTo>
                      <a:pt x="28" y="6"/>
                    </a:lnTo>
                    <a:lnTo>
                      <a:pt x="20" y="11"/>
                    </a:lnTo>
                    <a:lnTo>
                      <a:pt x="13" y="14"/>
                    </a:lnTo>
                    <a:lnTo>
                      <a:pt x="7" y="19"/>
                    </a:lnTo>
                    <a:lnTo>
                      <a:pt x="2" y="24"/>
                    </a:lnTo>
                    <a:lnTo>
                      <a:pt x="0" y="28"/>
                    </a:lnTo>
                    <a:lnTo>
                      <a:pt x="0" y="33"/>
                    </a:lnTo>
                    <a:lnTo>
                      <a:pt x="1" y="36"/>
                    </a:lnTo>
                    <a:lnTo>
                      <a:pt x="5" y="40"/>
                    </a:lnTo>
                    <a:lnTo>
                      <a:pt x="10" y="42"/>
                    </a:lnTo>
                    <a:lnTo>
                      <a:pt x="17" y="44"/>
                    </a:lnTo>
                    <a:lnTo>
                      <a:pt x="25" y="46"/>
                    </a:lnTo>
                    <a:lnTo>
                      <a:pt x="33" y="46"/>
                    </a:lnTo>
                    <a:lnTo>
                      <a:pt x="43" y="44"/>
                    </a:lnTo>
                    <a:lnTo>
                      <a:pt x="53" y="43"/>
                    </a:lnTo>
                  </a:path>
                </a:pathLst>
              </a:custGeom>
              <a:solidFill>
                <a:srgbClr val="339933"/>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47" name="Freeform 31"/>
              <p:cNvSpPr>
                <a:spLocks/>
              </p:cNvSpPr>
              <p:nvPr/>
            </p:nvSpPr>
            <p:spPr bwMode="auto">
              <a:xfrm>
                <a:off x="1953" y="3034"/>
                <a:ext cx="26" cy="40"/>
              </a:xfrm>
              <a:custGeom>
                <a:avLst/>
                <a:gdLst>
                  <a:gd name="T0" fmla="*/ 2 w 26"/>
                  <a:gd name="T1" fmla="*/ 14 h 40"/>
                  <a:gd name="T2" fmla="*/ 0 w 26"/>
                  <a:gd name="T3" fmla="*/ 17 h 40"/>
                  <a:gd name="T4" fmla="*/ 0 w 26"/>
                  <a:gd name="T5" fmla="*/ 21 h 40"/>
                  <a:gd name="T6" fmla="*/ 0 w 26"/>
                  <a:gd name="T7" fmla="*/ 25 h 40"/>
                  <a:gd name="T8" fmla="*/ 0 w 26"/>
                  <a:gd name="T9" fmla="*/ 28 h 40"/>
                  <a:gd name="T10" fmla="*/ 0 w 26"/>
                  <a:gd name="T11" fmla="*/ 31 h 40"/>
                  <a:gd name="T12" fmla="*/ 1 w 26"/>
                  <a:gd name="T13" fmla="*/ 34 h 40"/>
                  <a:gd name="T14" fmla="*/ 2 w 26"/>
                  <a:gd name="T15" fmla="*/ 36 h 40"/>
                  <a:gd name="T16" fmla="*/ 4 w 26"/>
                  <a:gd name="T17" fmla="*/ 37 h 40"/>
                  <a:gd name="T18" fmla="*/ 6 w 26"/>
                  <a:gd name="T19" fmla="*/ 39 h 40"/>
                  <a:gd name="T20" fmla="*/ 8 w 26"/>
                  <a:gd name="T21" fmla="*/ 39 h 40"/>
                  <a:gd name="T22" fmla="*/ 11 w 26"/>
                  <a:gd name="T23" fmla="*/ 37 h 40"/>
                  <a:gd name="T24" fmla="*/ 13 w 26"/>
                  <a:gd name="T25" fmla="*/ 36 h 40"/>
                  <a:gd name="T26" fmla="*/ 16 w 26"/>
                  <a:gd name="T27" fmla="*/ 34 h 40"/>
                  <a:gd name="T28" fmla="*/ 18 w 26"/>
                  <a:gd name="T29" fmla="*/ 31 h 40"/>
                  <a:gd name="T30" fmla="*/ 20 w 26"/>
                  <a:gd name="T31" fmla="*/ 27 h 40"/>
                  <a:gd name="T32" fmla="*/ 22 w 26"/>
                  <a:gd name="T33" fmla="*/ 24 h 40"/>
                  <a:gd name="T34" fmla="*/ 23 w 26"/>
                  <a:gd name="T35" fmla="*/ 21 h 40"/>
                  <a:gd name="T36" fmla="*/ 24 w 26"/>
                  <a:gd name="T37" fmla="*/ 16 h 40"/>
                  <a:gd name="T38" fmla="*/ 25 w 26"/>
                  <a:gd name="T39" fmla="*/ 13 h 40"/>
                  <a:gd name="T40" fmla="*/ 24 w 26"/>
                  <a:gd name="T41" fmla="*/ 10 h 40"/>
                  <a:gd name="T42" fmla="*/ 24 w 26"/>
                  <a:gd name="T43" fmla="*/ 6 h 40"/>
                  <a:gd name="T44" fmla="*/ 23 w 26"/>
                  <a:gd name="T45" fmla="*/ 4 h 40"/>
                  <a:gd name="T46" fmla="*/ 22 w 26"/>
                  <a:gd name="T47" fmla="*/ 2 h 40"/>
                  <a:gd name="T48" fmla="*/ 20 w 26"/>
                  <a:gd name="T49" fmla="*/ 1 h 40"/>
                  <a:gd name="T50" fmla="*/ 18 w 26"/>
                  <a:gd name="T51" fmla="*/ 0 h 40"/>
                  <a:gd name="T52" fmla="*/ 15 w 26"/>
                  <a:gd name="T53" fmla="*/ 0 h 40"/>
                  <a:gd name="T54" fmla="*/ 13 w 26"/>
                  <a:gd name="T55" fmla="*/ 1 h 40"/>
                  <a:gd name="T56" fmla="*/ 10 w 26"/>
                  <a:gd name="T57" fmla="*/ 2 h 40"/>
                  <a:gd name="T58" fmla="*/ 8 w 26"/>
                  <a:gd name="T59" fmla="*/ 4 h 40"/>
                  <a:gd name="T60" fmla="*/ 6 w 26"/>
                  <a:gd name="T61" fmla="*/ 7 h 40"/>
                  <a:gd name="T62" fmla="*/ 4 w 26"/>
                  <a:gd name="T63" fmla="*/ 10 h 40"/>
                  <a:gd name="T64" fmla="*/ 2 w 26"/>
                  <a:gd name="T65" fmla="*/ 1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6" h="40">
                    <a:moveTo>
                      <a:pt x="2" y="14"/>
                    </a:moveTo>
                    <a:lnTo>
                      <a:pt x="0" y="17"/>
                    </a:lnTo>
                    <a:lnTo>
                      <a:pt x="0" y="21"/>
                    </a:lnTo>
                    <a:lnTo>
                      <a:pt x="0" y="25"/>
                    </a:lnTo>
                    <a:lnTo>
                      <a:pt x="0" y="28"/>
                    </a:lnTo>
                    <a:lnTo>
                      <a:pt x="0" y="31"/>
                    </a:lnTo>
                    <a:lnTo>
                      <a:pt x="1" y="34"/>
                    </a:lnTo>
                    <a:lnTo>
                      <a:pt x="2" y="36"/>
                    </a:lnTo>
                    <a:lnTo>
                      <a:pt x="4" y="37"/>
                    </a:lnTo>
                    <a:lnTo>
                      <a:pt x="6" y="39"/>
                    </a:lnTo>
                    <a:lnTo>
                      <a:pt x="8" y="39"/>
                    </a:lnTo>
                    <a:lnTo>
                      <a:pt x="11" y="37"/>
                    </a:lnTo>
                    <a:lnTo>
                      <a:pt x="13" y="36"/>
                    </a:lnTo>
                    <a:lnTo>
                      <a:pt x="16" y="34"/>
                    </a:lnTo>
                    <a:lnTo>
                      <a:pt x="18" y="31"/>
                    </a:lnTo>
                    <a:lnTo>
                      <a:pt x="20" y="27"/>
                    </a:lnTo>
                    <a:lnTo>
                      <a:pt x="22" y="24"/>
                    </a:lnTo>
                    <a:lnTo>
                      <a:pt x="23" y="21"/>
                    </a:lnTo>
                    <a:lnTo>
                      <a:pt x="24" y="16"/>
                    </a:lnTo>
                    <a:lnTo>
                      <a:pt x="25" y="13"/>
                    </a:lnTo>
                    <a:lnTo>
                      <a:pt x="24" y="10"/>
                    </a:lnTo>
                    <a:lnTo>
                      <a:pt x="24" y="6"/>
                    </a:lnTo>
                    <a:lnTo>
                      <a:pt x="23" y="4"/>
                    </a:lnTo>
                    <a:lnTo>
                      <a:pt x="22" y="2"/>
                    </a:lnTo>
                    <a:lnTo>
                      <a:pt x="20" y="1"/>
                    </a:lnTo>
                    <a:lnTo>
                      <a:pt x="18" y="0"/>
                    </a:lnTo>
                    <a:lnTo>
                      <a:pt x="15" y="0"/>
                    </a:lnTo>
                    <a:lnTo>
                      <a:pt x="13" y="1"/>
                    </a:lnTo>
                    <a:lnTo>
                      <a:pt x="10" y="2"/>
                    </a:lnTo>
                    <a:lnTo>
                      <a:pt x="8" y="4"/>
                    </a:lnTo>
                    <a:lnTo>
                      <a:pt x="6" y="7"/>
                    </a:lnTo>
                    <a:lnTo>
                      <a:pt x="4" y="10"/>
                    </a:lnTo>
                    <a:lnTo>
                      <a:pt x="2" y="14"/>
                    </a:lnTo>
                  </a:path>
                </a:pathLst>
              </a:custGeom>
              <a:solidFill>
                <a:srgbClr val="339933"/>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48" name="Freeform 32"/>
              <p:cNvSpPr>
                <a:spLocks/>
              </p:cNvSpPr>
              <p:nvPr/>
            </p:nvSpPr>
            <p:spPr bwMode="auto">
              <a:xfrm>
                <a:off x="2033" y="3046"/>
                <a:ext cx="26" cy="40"/>
              </a:xfrm>
              <a:custGeom>
                <a:avLst/>
                <a:gdLst>
                  <a:gd name="T0" fmla="*/ 2 w 26"/>
                  <a:gd name="T1" fmla="*/ 13 h 40"/>
                  <a:gd name="T2" fmla="*/ 1 w 26"/>
                  <a:gd name="T3" fmla="*/ 18 h 40"/>
                  <a:gd name="T4" fmla="*/ 0 w 26"/>
                  <a:gd name="T5" fmla="*/ 21 h 40"/>
                  <a:gd name="T6" fmla="*/ 0 w 26"/>
                  <a:gd name="T7" fmla="*/ 26 h 40"/>
                  <a:gd name="T8" fmla="*/ 0 w 26"/>
                  <a:gd name="T9" fmla="*/ 29 h 40"/>
                  <a:gd name="T10" fmla="*/ 0 w 26"/>
                  <a:gd name="T11" fmla="*/ 32 h 40"/>
                  <a:gd name="T12" fmla="*/ 1 w 26"/>
                  <a:gd name="T13" fmla="*/ 35 h 40"/>
                  <a:gd name="T14" fmla="*/ 2 w 26"/>
                  <a:gd name="T15" fmla="*/ 36 h 40"/>
                  <a:gd name="T16" fmla="*/ 4 w 26"/>
                  <a:gd name="T17" fmla="*/ 39 h 40"/>
                  <a:gd name="T18" fmla="*/ 6 w 26"/>
                  <a:gd name="T19" fmla="*/ 39 h 40"/>
                  <a:gd name="T20" fmla="*/ 8 w 26"/>
                  <a:gd name="T21" fmla="*/ 39 h 40"/>
                  <a:gd name="T22" fmla="*/ 11 w 26"/>
                  <a:gd name="T23" fmla="*/ 39 h 40"/>
                  <a:gd name="T24" fmla="*/ 13 w 26"/>
                  <a:gd name="T25" fmla="*/ 36 h 40"/>
                  <a:gd name="T26" fmla="*/ 16 w 26"/>
                  <a:gd name="T27" fmla="*/ 34 h 40"/>
                  <a:gd name="T28" fmla="*/ 18 w 26"/>
                  <a:gd name="T29" fmla="*/ 32 h 40"/>
                  <a:gd name="T30" fmla="*/ 20 w 26"/>
                  <a:gd name="T31" fmla="*/ 28 h 40"/>
                  <a:gd name="T32" fmla="*/ 22 w 26"/>
                  <a:gd name="T33" fmla="*/ 25 h 40"/>
                  <a:gd name="T34" fmla="*/ 23 w 26"/>
                  <a:gd name="T35" fmla="*/ 21 h 40"/>
                  <a:gd name="T36" fmla="*/ 24 w 26"/>
                  <a:gd name="T37" fmla="*/ 17 h 40"/>
                  <a:gd name="T38" fmla="*/ 25 w 26"/>
                  <a:gd name="T39" fmla="*/ 13 h 40"/>
                  <a:gd name="T40" fmla="*/ 25 w 26"/>
                  <a:gd name="T41" fmla="*/ 10 h 40"/>
                  <a:gd name="T42" fmla="*/ 24 w 26"/>
                  <a:gd name="T43" fmla="*/ 6 h 40"/>
                  <a:gd name="T44" fmla="*/ 23 w 26"/>
                  <a:gd name="T45" fmla="*/ 4 h 40"/>
                  <a:gd name="T46" fmla="*/ 22 w 26"/>
                  <a:gd name="T47" fmla="*/ 2 h 40"/>
                  <a:gd name="T48" fmla="*/ 20 w 26"/>
                  <a:gd name="T49" fmla="*/ 1 h 40"/>
                  <a:gd name="T50" fmla="*/ 18 w 26"/>
                  <a:gd name="T51" fmla="*/ 0 h 40"/>
                  <a:gd name="T52" fmla="*/ 15 w 26"/>
                  <a:gd name="T53" fmla="*/ 0 h 40"/>
                  <a:gd name="T54" fmla="*/ 13 w 26"/>
                  <a:gd name="T55" fmla="*/ 1 h 40"/>
                  <a:gd name="T56" fmla="*/ 11 w 26"/>
                  <a:gd name="T57" fmla="*/ 2 h 40"/>
                  <a:gd name="T58" fmla="*/ 8 w 26"/>
                  <a:gd name="T59" fmla="*/ 4 h 40"/>
                  <a:gd name="T60" fmla="*/ 6 w 26"/>
                  <a:gd name="T61" fmla="*/ 6 h 40"/>
                  <a:gd name="T62" fmla="*/ 4 w 26"/>
                  <a:gd name="T63" fmla="*/ 10 h 40"/>
                  <a:gd name="T64" fmla="*/ 2 w 26"/>
                  <a:gd name="T65" fmla="*/ 13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6" h="40">
                    <a:moveTo>
                      <a:pt x="2" y="13"/>
                    </a:moveTo>
                    <a:lnTo>
                      <a:pt x="1" y="18"/>
                    </a:lnTo>
                    <a:lnTo>
                      <a:pt x="0" y="21"/>
                    </a:lnTo>
                    <a:lnTo>
                      <a:pt x="0" y="26"/>
                    </a:lnTo>
                    <a:lnTo>
                      <a:pt x="0" y="29"/>
                    </a:lnTo>
                    <a:lnTo>
                      <a:pt x="0" y="32"/>
                    </a:lnTo>
                    <a:lnTo>
                      <a:pt x="1" y="35"/>
                    </a:lnTo>
                    <a:lnTo>
                      <a:pt x="2" y="36"/>
                    </a:lnTo>
                    <a:lnTo>
                      <a:pt x="4" y="39"/>
                    </a:lnTo>
                    <a:lnTo>
                      <a:pt x="6" y="39"/>
                    </a:lnTo>
                    <a:lnTo>
                      <a:pt x="8" y="39"/>
                    </a:lnTo>
                    <a:lnTo>
                      <a:pt x="11" y="39"/>
                    </a:lnTo>
                    <a:lnTo>
                      <a:pt x="13" y="36"/>
                    </a:lnTo>
                    <a:lnTo>
                      <a:pt x="16" y="34"/>
                    </a:lnTo>
                    <a:lnTo>
                      <a:pt x="18" y="32"/>
                    </a:lnTo>
                    <a:lnTo>
                      <a:pt x="20" y="28"/>
                    </a:lnTo>
                    <a:lnTo>
                      <a:pt x="22" y="25"/>
                    </a:lnTo>
                    <a:lnTo>
                      <a:pt x="23" y="21"/>
                    </a:lnTo>
                    <a:lnTo>
                      <a:pt x="24" y="17"/>
                    </a:lnTo>
                    <a:lnTo>
                      <a:pt x="25" y="13"/>
                    </a:lnTo>
                    <a:lnTo>
                      <a:pt x="25" y="10"/>
                    </a:lnTo>
                    <a:lnTo>
                      <a:pt x="24" y="6"/>
                    </a:lnTo>
                    <a:lnTo>
                      <a:pt x="23" y="4"/>
                    </a:lnTo>
                    <a:lnTo>
                      <a:pt x="22" y="2"/>
                    </a:lnTo>
                    <a:lnTo>
                      <a:pt x="20" y="1"/>
                    </a:lnTo>
                    <a:lnTo>
                      <a:pt x="18" y="0"/>
                    </a:lnTo>
                    <a:lnTo>
                      <a:pt x="15" y="0"/>
                    </a:lnTo>
                    <a:lnTo>
                      <a:pt x="13" y="1"/>
                    </a:lnTo>
                    <a:lnTo>
                      <a:pt x="11" y="2"/>
                    </a:lnTo>
                    <a:lnTo>
                      <a:pt x="8" y="4"/>
                    </a:lnTo>
                    <a:lnTo>
                      <a:pt x="6" y="6"/>
                    </a:lnTo>
                    <a:lnTo>
                      <a:pt x="4" y="10"/>
                    </a:lnTo>
                    <a:lnTo>
                      <a:pt x="2" y="13"/>
                    </a:lnTo>
                  </a:path>
                </a:pathLst>
              </a:custGeom>
              <a:solidFill>
                <a:srgbClr val="339933"/>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49" name="Freeform 33"/>
              <p:cNvSpPr>
                <a:spLocks/>
              </p:cNvSpPr>
              <p:nvPr/>
            </p:nvSpPr>
            <p:spPr bwMode="auto">
              <a:xfrm>
                <a:off x="1871" y="3338"/>
                <a:ext cx="23" cy="43"/>
              </a:xfrm>
              <a:custGeom>
                <a:avLst/>
                <a:gdLst>
                  <a:gd name="T0" fmla="*/ 0 w 23"/>
                  <a:gd name="T1" fmla="*/ 20 h 43"/>
                  <a:gd name="T2" fmla="*/ 0 w 23"/>
                  <a:gd name="T3" fmla="*/ 23 h 43"/>
                  <a:gd name="T4" fmla="*/ 0 w 23"/>
                  <a:gd name="T5" fmla="*/ 28 h 43"/>
                  <a:gd name="T6" fmla="*/ 1 w 23"/>
                  <a:gd name="T7" fmla="*/ 31 h 43"/>
                  <a:gd name="T8" fmla="*/ 2 w 23"/>
                  <a:gd name="T9" fmla="*/ 35 h 43"/>
                  <a:gd name="T10" fmla="*/ 3 w 23"/>
                  <a:gd name="T11" fmla="*/ 37 h 43"/>
                  <a:gd name="T12" fmla="*/ 5 w 23"/>
                  <a:gd name="T13" fmla="*/ 39 h 43"/>
                  <a:gd name="T14" fmla="*/ 7 w 23"/>
                  <a:gd name="T15" fmla="*/ 40 h 43"/>
                  <a:gd name="T16" fmla="*/ 9 w 23"/>
                  <a:gd name="T17" fmla="*/ 42 h 43"/>
                  <a:gd name="T18" fmla="*/ 12 w 23"/>
                  <a:gd name="T19" fmla="*/ 42 h 43"/>
                  <a:gd name="T20" fmla="*/ 14 w 23"/>
                  <a:gd name="T21" fmla="*/ 40 h 43"/>
                  <a:gd name="T22" fmla="*/ 16 w 23"/>
                  <a:gd name="T23" fmla="*/ 38 h 43"/>
                  <a:gd name="T24" fmla="*/ 18 w 23"/>
                  <a:gd name="T25" fmla="*/ 36 h 43"/>
                  <a:gd name="T26" fmla="*/ 19 w 23"/>
                  <a:gd name="T27" fmla="*/ 32 h 43"/>
                  <a:gd name="T28" fmla="*/ 20 w 23"/>
                  <a:gd name="T29" fmla="*/ 29 h 43"/>
                  <a:gd name="T30" fmla="*/ 21 w 23"/>
                  <a:gd name="T31" fmla="*/ 26 h 43"/>
                  <a:gd name="T32" fmla="*/ 22 w 23"/>
                  <a:gd name="T33" fmla="*/ 21 h 43"/>
                  <a:gd name="T34" fmla="*/ 21 w 23"/>
                  <a:gd name="T35" fmla="*/ 17 h 43"/>
                  <a:gd name="T36" fmla="*/ 21 w 23"/>
                  <a:gd name="T37" fmla="*/ 13 h 43"/>
                  <a:gd name="T38" fmla="*/ 20 w 23"/>
                  <a:gd name="T39" fmla="*/ 10 h 43"/>
                  <a:gd name="T40" fmla="*/ 19 w 23"/>
                  <a:gd name="T41" fmla="*/ 6 h 43"/>
                  <a:gd name="T42" fmla="*/ 18 w 23"/>
                  <a:gd name="T43" fmla="*/ 4 h 43"/>
                  <a:gd name="T44" fmla="*/ 16 w 23"/>
                  <a:gd name="T45" fmla="*/ 2 h 43"/>
                  <a:gd name="T46" fmla="*/ 14 w 23"/>
                  <a:gd name="T47" fmla="*/ 1 h 43"/>
                  <a:gd name="T48" fmla="*/ 12 w 23"/>
                  <a:gd name="T49" fmla="*/ 0 h 43"/>
                  <a:gd name="T50" fmla="*/ 9 w 23"/>
                  <a:gd name="T51" fmla="*/ 0 h 43"/>
                  <a:gd name="T52" fmla="*/ 7 w 23"/>
                  <a:gd name="T53" fmla="*/ 1 h 43"/>
                  <a:gd name="T54" fmla="*/ 5 w 23"/>
                  <a:gd name="T55" fmla="*/ 3 h 43"/>
                  <a:gd name="T56" fmla="*/ 3 w 23"/>
                  <a:gd name="T57" fmla="*/ 5 h 43"/>
                  <a:gd name="T58" fmla="*/ 2 w 23"/>
                  <a:gd name="T59" fmla="*/ 9 h 43"/>
                  <a:gd name="T60" fmla="*/ 1 w 23"/>
                  <a:gd name="T61" fmla="*/ 12 h 43"/>
                  <a:gd name="T62" fmla="*/ 0 w 23"/>
                  <a:gd name="T63" fmla="*/ 15 h 43"/>
                  <a:gd name="T64" fmla="*/ 0 w 23"/>
                  <a:gd name="T65" fmla="*/ 2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 h="43">
                    <a:moveTo>
                      <a:pt x="0" y="20"/>
                    </a:moveTo>
                    <a:lnTo>
                      <a:pt x="0" y="23"/>
                    </a:lnTo>
                    <a:lnTo>
                      <a:pt x="0" y="28"/>
                    </a:lnTo>
                    <a:lnTo>
                      <a:pt x="1" y="31"/>
                    </a:lnTo>
                    <a:lnTo>
                      <a:pt x="2" y="35"/>
                    </a:lnTo>
                    <a:lnTo>
                      <a:pt x="3" y="37"/>
                    </a:lnTo>
                    <a:lnTo>
                      <a:pt x="5" y="39"/>
                    </a:lnTo>
                    <a:lnTo>
                      <a:pt x="7" y="40"/>
                    </a:lnTo>
                    <a:lnTo>
                      <a:pt x="9" y="42"/>
                    </a:lnTo>
                    <a:lnTo>
                      <a:pt x="12" y="42"/>
                    </a:lnTo>
                    <a:lnTo>
                      <a:pt x="14" y="40"/>
                    </a:lnTo>
                    <a:lnTo>
                      <a:pt x="16" y="38"/>
                    </a:lnTo>
                    <a:lnTo>
                      <a:pt x="18" y="36"/>
                    </a:lnTo>
                    <a:lnTo>
                      <a:pt x="19" y="32"/>
                    </a:lnTo>
                    <a:lnTo>
                      <a:pt x="20" y="29"/>
                    </a:lnTo>
                    <a:lnTo>
                      <a:pt x="21" y="26"/>
                    </a:lnTo>
                    <a:lnTo>
                      <a:pt x="22" y="21"/>
                    </a:lnTo>
                    <a:lnTo>
                      <a:pt x="21" y="17"/>
                    </a:lnTo>
                    <a:lnTo>
                      <a:pt x="21" y="13"/>
                    </a:lnTo>
                    <a:lnTo>
                      <a:pt x="20" y="10"/>
                    </a:lnTo>
                    <a:lnTo>
                      <a:pt x="19" y="6"/>
                    </a:lnTo>
                    <a:lnTo>
                      <a:pt x="18" y="4"/>
                    </a:lnTo>
                    <a:lnTo>
                      <a:pt x="16" y="2"/>
                    </a:lnTo>
                    <a:lnTo>
                      <a:pt x="14" y="1"/>
                    </a:lnTo>
                    <a:lnTo>
                      <a:pt x="12" y="0"/>
                    </a:lnTo>
                    <a:lnTo>
                      <a:pt x="9" y="0"/>
                    </a:lnTo>
                    <a:lnTo>
                      <a:pt x="7" y="1"/>
                    </a:lnTo>
                    <a:lnTo>
                      <a:pt x="5" y="3"/>
                    </a:lnTo>
                    <a:lnTo>
                      <a:pt x="3" y="5"/>
                    </a:lnTo>
                    <a:lnTo>
                      <a:pt x="2" y="9"/>
                    </a:lnTo>
                    <a:lnTo>
                      <a:pt x="1" y="12"/>
                    </a:lnTo>
                    <a:lnTo>
                      <a:pt x="0" y="15"/>
                    </a:lnTo>
                    <a:lnTo>
                      <a:pt x="0" y="20"/>
                    </a:lnTo>
                  </a:path>
                </a:pathLst>
              </a:custGeom>
              <a:solidFill>
                <a:srgbClr val="339933"/>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50" name="Freeform 34"/>
              <p:cNvSpPr>
                <a:spLocks/>
              </p:cNvSpPr>
              <p:nvPr/>
            </p:nvSpPr>
            <p:spPr bwMode="auto">
              <a:xfrm>
                <a:off x="1791" y="3324"/>
                <a:ext cx="23" cy="43"/>
              </a:xfrm>
              <a:custGeom>
                <a:avLst/>
                <a:gdLst>
                  <a:gd name="T0" fmla="*/ 0 w 23"/>
                  <a:gd name="T1" fmla="*/ 20 h 43"/>
                  <a:gd name="T2" fmla="*/ 0 w 23"/>
                  <a:gd name="T3" fmla="*/ 24 h 43"/>
                  <a:gd name="T4" fmla="*/ 0 w 23"/>
                  <a:gd name="T5" fmla="*/ 28 h 43"/>
                  <a:gd name="T6" fmla="*/ 1 w 23"/>
                  <a:gd name="T7" fmla="*/ 31 h 43"/>
                  <a:gd name="T8" fmla="*/ 2 w 23"/>
                  <a:gd name="T9" fmla="*/ 35 h 43"/>
                  <a:gd name="T10" fmla="*/ 4 w 23"/>
                  <a:gd name="T11" fmla="*/ 37 h 43"/>
                  <a:gd name="T12" fmla="*/ 6 w 23"/>
                  <a:gd name="T13" fmla="*/ 39 h 43"/>
                  <a:gd name="T14" fmla="*/ 8 w 23"/>
                  <a:gd name="T15" fmla="*/ 40 h 43"/>
                  <a:gd name="T16" fmla="*/ 10 w 23"/>
                  <a:gd name="T17" fmla="*/ 42 h 43"/>
                  <a:gd name="T18" fmla="*/ 12 w 23"/>
                  <a:gd name="T19" fmla="*/ 40 h 43"/>
                  <a:gd name="T20" fmla="*/ 14 w 23"/>
                  <a:gd name="T21" fmla="*/ 39 h 43"/>
                  <a:gd name="T22" fmla="*/ 16 w 23"/>
                  <a:gd name="T23" fmla="*/ 38 h 43"/>
                  <a:gd name="T24" fmla="*/ 18 w 23"/>
                  <a:gd name="T25" fmla="*/ 35 h 43"/>
                  <a:gd name="T26" fmla="*/ 19 w 23"/>
                  <a:gd name="T27" fmla="*/ 32 h 43"/>
                  <a:gd name="T28" fmla="*/ 20 w 23"/>
                  <a:gd name="T29" fmla="*/ 29 h 43"/>
                  <a:gd name="T30" fmla="*/ 21 w 23"/>
                  <a:gd name="T31" fmla="*/ 24 h 43"/>
                  <a:gd name="T32" fmla="*/ 22 w 23"/>
                  <a:gd name="T33" fmla="*/ 21 h 43"/>
                  <a:gd name="T34" fmla="*/ 21 w 23"/>
                  <a:gd name="T35" fmla="*/ 17 h 43"/>
                  <a:gd name="T36" fmla="*/ 21 w 23"/>
                  <a:gd name="T37" fmla="*/ 13 h 43"/>
                  <a:gd name="T38" fmla="*/ 20 w 23"/>
                  <a:gd name="T39" fmla="*/ 9 h 43"/>
                  <a:gd name="T40" fmla="*/ 19 w 23"/>
                  <a:gd name="T41" fmla="*/ 6 h 43"/>
                  <a:gd name="T42" fmla="*/ 17 w 23"/>
                  <a:gd name="T43" fmla="*/ 3 h 43"/>
                  <a:gd name="T44" fmla="*/ 15 w 23"/>
                  <a:gd name="T45" fmla="*/ 2 h 43"/>
                  <a:gd name="T46" fmla="*/ 13 w 23"/>
                  <a:gd name="T47" fmla="*/ 0 h 43"/>
                  <a:gd name="T48" fmla="*/ 11 w 23"/>
                  <a:gd name="T49" fmla="*/ 0 h 43"/>
                  <a:gd name="T50" fmla="*/ 9 w 23"/>
                  <a:gd name="T51" fmla="*/ 0 h 43"/>
                  <a:gd name="T52" fmla="*/ 7 w 23"/>
                  <a:gd name="T53" fmla="*/ 1 h 43"/>
                  <a:gd name="T54" fmla="*/ 5 w 23"/>
                  <a:gd name="T55" fmla="*/ 3 h 43"/>
                  <a:gd name="T56" fmla="*/ 3 w 23"/>
                  <a:gd name="T57" fmla="*/ 5 h 43"/>
                  <a:gd name="T58" fmla="*/ 2 w 23"/>
                  <a:gd name="T59" fmla="*/ 9 h 43"/>
                  <a:gd name="T60" fmla="*/ 1 w 23"/>
                  <a:gd name="T61" fmla="*/ 12 h 43"/>
                  <a:gd name="T62" fmla="*/ 0 w 23"/>
                  <a:gd name="T63" fmla="*/ 15 h 43"/>
                  <a:gd name="T64" fmla="*/ 0 w 23"/>
                  <a:gd name="T65" fmla="*/ 2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 h="43">
                    <a:moveTo>
                      <a:pt x="0" y="20"/>
                    </a:moveTo>
                    <a:lnTo>
                      <a:pt x="0" y="24"/>
                    </a:lnTo>
                    <a:lnTo>
                      <a:pt x="0" y="28"/>
                    </a:lnTo>
                    <a:lnTo>
                      <a:pt x="1" y="31"/>
                    </a:lnTo>
                    <a:lnTo>
                      <a:pt x="2" y="35"/>
                    </a:lnTo>
                    <a:lnTo>
                      <a:pt x="4" y="37"/>
                    </a:lnTo>
                    <a:lnTo>
                      <a:pt x="6" y="39"/>
                    </a:lnTo>
                    <a:lnTo>
                      <a:pt x="8" y="40"/>
                    </a:lnTo>
                    <a:lnTo>
                      <a:pt x="10" y="42"/>
                    </a:lnTo>
                    <a:lnTo>
                      <a:pt x="12" y="40"/>
                    </a:lnTo>
                    <a:lnTo>
                      <a:pt x="14" y="39"/>
                    </a:lnTo>
                    <a:lnTo>
                      <a:pt x="16" y="38"/>
                    </a:lnTo>
                    <a:lnTo>
                      <a:pt x="18" y="35"/>
                    </a:lnTo>
                    <a:lnTo>
                      <a:pt x="19" y="32"/>
                    </a:lnTo>
                    <a:lnTo>
                      <a:pt x="20" y="29"/>
                    </a:lnTo>
                    <a:lnTo>
                      <a:pt x="21" y="24"/>
                    </a:lnTo>
                    <a:lnTo>
                      <a:pt x="22" y="21"/>
                    </a:lnTo>
                    <a:lnTo>
                      <a:pt x="21" y="17"/>
                    </a:lnTo>
                    <a:lnTo>
                      <a:pt x="21" y="13"/>
                    </a:lnTo>
                    <a:lnTo>
                      <a:pt x="20" y="9"/>
                    </a:lnTo>
                    <a:lnTo>
                      <a:pt x="19" y="6"/>
                    </a:lnTo>
                    <a:lnTo>
                      <a:pt x="17" y="3"/>
                    </a:lnTo>
                    <a:lnTo>
                      <a:pt x="15" y="2"/>
                    </a:lnTo>
                    <a:lnTo>
                      <a:pt x="13" y="0"/>
                    </a:lnTo>
                    <a:lnTo>
                      <a:pt x="11" y="0"/>
                    </a:lnTo>
                    <a:lnTo>
                      <a:pt x="9" y="0"/>
                    </a:lnTo>
                    <a:lnTo>
                      <a:pt x="7" y="1"/>
                    </a:lnTo>
                    <a:lnTo>
                      <a:pt x="5" y="3"/>
                    </a:lnTo>
                    <a:lnTo>
                      <a:pt x="3" y="5"/>
                    </a:lnTo>
                    <a:lnTo>
                      <a:pt x="2" y="9"/>
                    </a:lnTo>
                    <a:lnTo>
                      <a:pt x="1" y="12"/>
                    </a:lnTo>
                    <a:lnTo>
                      <a:pt x="0" y="15"/>
                    </a:lnTo>
                    <a:lnTo>
                      <a:pt x="0" y="20"/>
                    </a:lnTo>
                  </a:path>
                </a:pathLst>
              </a:custGeom>
              <a:solidFill>
                <a:srgbClr val="339933"/>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9261" name="Group 45"/>
            <p:cNvGrpSpPr>
              <a:grpSpLocks/>
            </p:cNvGrpSpPr>
            <p:nvPr/>
          </p:nvGrpSpPr>
          <p:grpSpPr bwMode="auto">
            <a:xfrm>
              <a:off x="1740" y="2985"/>
              <a:ext cx="303" cy="399"/>
              <a:chOff x="1740" y="2985"/>
              <a:chExt cx="303" cy="399"/>
            </a:xfrm>
          </p:grpSpPr>
          <p:sp>
            <p:nvSpPr>
              <p:cNvPr id="9252" name="Freeform 36"/>
              <p:cNvSpPr>
                <a:spLocks/>
              </p:cNvSpPr>
              <p:nvPr/>
            </p:nvSpPr>
            <p:spPr bwMode="auto">
              <a:xfrm>
                <a:off x="1746" y="3012"/>
                <a:ext cx="297" cy="372"/>
              </a:xfrm>
              <a:custGeom>
                <a:avLst/>
                <a:gdLst>
                  <a:gd name="T0" fmla="*/ 2 w 297"/>
                  <a:gd name="T1" fmla="*/ 352 h 372"/>
                  <a:gd name="T2" fmla="*/ 1 w 297"/>
                  <a:gd name="T3" fmla="*/ 347 h 372"/>
                  <a:gd name="T4" fmla="*/ 0 w 297"/>
                  <a:gd name="T5" fmla="*/ 333 h 372"/>
                  <a:gd name="T6" fmla="*/ 0 w 297"/>
                  <a:gd name="T7" fmla="*/ 314 h 372"/>
                  <a:gd name="T8" fmla="*/ 0 w 297"/>
                  <a:gd name="T9" fmla="*/ 289 h 372"/>
                  <a:gd name="T10" fmla="*/ 2 w 297"/>
                  <a:gd name="T11" fmla="*/ 262 h 372"/>
                  <a:gd name="T12" fmla="*/ 6 w 297"/>
                  <a:gd name="T13" fmla="*/ 233 h 372"/>
                  <a:gd name="T14" fmla="*/ 15 w 297"/>
                  <a:gd name="T15" fmla="*/ 208 h 372"/>
                  <a:gd name="T16" fmla="*/ 26 w 297"/>
                  <a:gd name="T17" fmla="*/ 186 h 372"/>
                  <a:gd name="T18" fmla="*/ 40 w 297"/>
                  <a:gd name="T19" fmla="*/ 170 h 372"/>
                  <a:gd name="T20" fmla="*/ 54 w 297"/>
                  <a:gd name="T21" fmla="*/ 161 h 372"/>
                  <a:gd name="T22" fmla="*/ 68 w 297"/>
                  <a:gd name="T23" fmla="*/ 155 h 372"/>
                  <a:gd name="T24" fmla="*/ 80 w 297"/>
                  <a:gd name="T25" fmla="*/ 150 h 372"/>
                  <a:gd name="T26" fmla="*/ 94 w 297"/>
                  <a:gd name="T27" fmla="*/ 146 h 372"/>
                  <a:gd name="T28" fmla="*/ 107 w 297"/>
                  <a:gd name="T29" fmla="*/ 139 h 372"/>
                  <a:gd name="T30" fmla="*/ 121 w 297"/>
                  <a:gd name="T31" fmla="*/ 127 h 372"/>
                  <a:gd name="T32" fmla="*/ 134 w 297"/>
                  <a:gd name="T33" fmla="*/ 107 h 372"/>
                  <a:gd name="T34" fmla="*/ 146 w 297"/>
                  <a:gd name="T35" fmla="*/ 85 h 372"/>
                  <a:gd name="T36" fmla="*/ 155 w 297"/>
                  <a:gd name="T37" fmla="*/ 63 h 372"/>
                  <a:gd name="T38" fmla="*/ 161 w 297"/>
                  <a:gd name="T39" fmla="*/ 45 h 372"/>
                  <a:gd name="T40" fmla="*/ 164 w 297"/>
                  <a:gd name="T41" fmla="*/ 29 h 372"/>
                  <a:gd name="T42" fmla="*/ 167 w 297"/>
                  <a:gd name="T43" fmla="*/ 17 h 372"/>
                  <a:gd name="T44" fmla="*/ 168 w 297"/>
                  <a:gd name="T45" fmla="*/ 7 h 372"/>
                  <a:gd name="T46" fmla="*/ 168 w 297"/>
                  <a:gd name="T47" fmla="*/ 1 h 372"/>
                  <a:gd name="T48" fmla="*/ 168 w 297"/>
                  <a:gd name="T49" fmla="*/ 0 h 372"/>
                  <a:gd name="T50" fmla="*/ 296 w 297"/>
                  <a:gd name="T51" fmla="*/ 19 h 372"/>
                  <a:gd name="T52" fmla="*/ 295 w 297"/>
                  <a:gd name="T53" fmla="*/ 24 h 372"/>
                  <a:gd name="T54" fmla="*/ 293 w 297"/>
                  <a:gd name="T55" fmla="*/ 39 h 372"/>
                  <a:gd name="T56" fmla="*/ 288 w 297"/>
                  <a:gd name="T57" fmla="*/ 60 h 372"/>
                  <a:gd name="T58" fmla="*/ 282 w 297"/>
                  <a:gd name="T59" fmla="*/ 85 h 372"/>
                  <a:gd name="T60" fmla="*/ 274 w 297"/>
                  <a:gd name="T61" fmla="*/ 112 h 372"/>
                  <a:gd name="T62" fmla="*/ 265 w 297"/>
                  <a:gd name="T63" fmla="*/ 136 h 372"/>
                  <a:gd name="T64" fmla="*/ 254 w 297"/>
                  <a:gd name="T65" fmla="*/ 157 h 372"/>
                  <a:gd name="T66" fmla="*/ 242 w 297"/>
                  <a:gd name="T67" fmla="*/ 171 h 372"/>
                  <a:gd name="T68" fmla="*/ 229 w 297"/>
                  <a:gd name="T69" fmla="*/ 180 h 372"/>
                  <a:gd name="T70" fmla="*/ 213 w 297"/>
                  <a:gd name="T71" fmla="*/ 186 h 372"/>
                  <a:gd name="T72" fmla="*/ 194 w 297"/>
                  <a:gd name="T73" fmla="*/ 190 h 372"/>
                  <a:gd name="T74" fmla="*/ 177 w 297"/>
                  <a:gd name="T75" fmla="*/ 195 h 372"/>
                  <a:gd name="T76" fmla="*/ 160 w 297"/>
                  <a:gd name="T77" fmla="*/ 201 h 372"/>
                  <a:gd name="T78" fmla="*/ 145 w 297"/>
                  <a:gd name="T79" fmla="*/ 211 h 372"/>
                  <a:gd name="T80" fmla="*/ 133 w 297"/>
                  <a:gd name="T81" fmla="*/ 223 h 372"/>
                  <a:gd name="T82" fmla="*/ 125 w 297"/>
                  <a:gd name="T83" fmla="*/ 241 h 372"/>
                  <a:gd name="T84" fmla="*/ 121 w 297"/>
                  <a:gd name="T85" fmla="*/ 263 h 372"/>
                  <a:gd name="T86" fmla="*/ 118 w 297"/>
                  <a:gd name="T87" fmla="*/ 285 h 372"/>
                  <a:gd name="T88" fmla="*/ 117 w 297"/>
                  <a:gd name="T89" fmla="*/ 307 h 372"/>
                  <a:gd name="T90" fmla="*/ 117 w 297"/>
                  <a:gd name="T91" fmla="*/ 326 h 372"/>
                  <a:gd name="T92" fmla="*/ 118 w 297"/>
                  <a:gd name="T93" fmla="*/ 344 h 372"/>
                  <a:gd name="T94" fmla="*/ 119 w 297"/>
                  <a:gd name="T95" fmla="*/ 358 h 372"/>
                  <a:gd name="T96" fmla="*/ 120 w 297"/>
                  <a:gd name="T97" fmla="*/ 367 h 372"/>
                  <a:gd name="T98" fmla="*/ 121 w 297"/>
                  <a:gd name="T99" fmla="*/ 371 h 372"/>
                  <a:gd name="T100" fmla="*/ 2 w 297"/>
                  <a:gd name="T101" fmla="*/ 352 h 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97" h="372">
                    <a:moveTo>
                      <a:pt x="2" y="352"/>
                    </a:moveTo>
                    <a:lnTo>
                      <a:pt x="1" y="347"/>
                    </a:lnTo>
                    <a:lnTo>
                      <a:pt x="0" y="333"/>
                    </a:lnTo>
                    <a:lnTo>
                      <a:pt x="0" y="314"/>
                    </a:lnTo>
                    <a:lnTo>
                      <a:pt x="0" y="289"/>
                    </a:lnTo>
                    <a:lnTo>
                      <a:pt x="2" y="262"/>
                    </a:lnTo>
                    <a:lnTo>
                      <a:pt x="6" y="233"/>
                    </a:lnTo>
                    <a:lnTo>
                      <a:pt x="15" y="208"/>
                    </a:lnTo>
                    <a:lnTo>
                      <a:pt x="26" y="186"/>
                    </a:lnTo>
                    <a:lnTo>
                      <a:pt x="40" y="170"/>
                    </a:lnTo>
                    <a:lnTo>
                      <a:pt x="54" y="161"/>
                    </a:lnTo>
                    <a:lnTo>
                      <a:pt x="68" y="155"/>
                    </a:lnTo>
                    <a:lnTo>
                      <a:pt x="80" y="150"/>
                    </a:lnTo>
                    <a:lnTo>
                      <a:pt x="94" y="146"/>
                    </a:lnTo>
                    <a:lnTo>
                      <a:pt x="107" y="139"/>
                    </a:lnTo>
                    <a:lnTo>
                      <a:pt x="121" y="127"/>
                    </a:lnTo>
                    <a:lnTo>
                      <a:pt x="134" y="107"/>
                    </a:lnTo>
                    <a:lnTo>
                      <a:pt x="146" y="85"/>
                    </a:lnTo>
                    <a:lnTo>
                      <a:pt x="155" y="63"/>
                    </a:lnTo>
                    <a:lnTo>
                      <a:pt x="161" y="45"/>
                    </a:lnTo>
                    <a:lnTo>
                      <a:pt x="164" y="29"/>
                    </a:lnTo>
                    <a:lnTo>
                      <a:pt x="167" y="17"/>
                    </a:lnTo>
                    <a:lnTo>
                      <a:pt x="168" y="7"/>
                    </a:lnTo>
                    <a:lnTo>
                      <a:pt x="168" y="1"/>
                    </a:lnTo>
                    <a:lnTo>
                      <a:pt x="168" y="0"/>
                    </a:lnTo>
                    <a:lnTo>
                      <a:pt x="296" y="19"/>
                    </a:lnTo>
                    <a:lnTo>
                      <a:pt x="295" y="24"/>
                    </a:lnTo>
                    <a:lnTo>
                      <a:pt x="293" y="39"/>
                    </a:lnTo>
                    <a:lnTo>
                      <a:pt x="288" y="60"/>
                    </a:lnTo>
                    <a:lnTo>
                      <a:pt x="282" y="85"/>
                    </a:lnTo>
                    <a:lnTo>
                      <a:pt x="274" y="112"/>
                    </a:lnTo>
                    <a:lnTo>
                      <a:pt x="265" y="136"/>
                    </a:lnTo>
                    <a:lnTo>
                      <a:pt x="254" y="157"/>
                    </a:lnTo>
                    <a:lnTo>
                      <a:pt x="242" y="171"/>
                    </a:lnTo>
                    <a:lnTo>
                      <a:pt x="229" y="180"/>
                    </a:lnTo>
                    <a:lnTo>
                      <a:pt x="213" y="186"/>
                    </a:lnTo>
                    <a:lnTo>
                      <a:pt x="194" y="190"/>
                    </a:lnTo>
                    <a:lnTo>
                      <a:pt x="177" y="195"/>
                    </a:lnTo>
                    <a:lnTo>
                      <a:pt x="160" y="201"/>
                    </a:lnTo>
                    <a:lnTo>
                      <a:pt x="145" y="211"/>
                    </a:lnTo>
                    <a:lnTo>
                      <a:pt x="133" y="223"/>
                    </a:lnTo>
                    <a:lnTo>
                      <a:pt x="125" y="241"/>
                    </a:lnTo>
                    <a:lnTo>
                      <a:pt x="121" y="263"/>
                    </a:lnTo>
                    <a:lnTo>
                      <a:pt x="118" y="285"/>
                    </a:lnTo>
                    <a:lnTo>
                      <a:pt x="117" y="307"/>
                    </a:lnTo>
                    <a:lnTo>
                      <a:pt x="117" y="326"/>
                    </a:lnTo>
                    <a:lnTo>
                      <a:pt x="118" y="344"/>
                    </a:lnTo>
                    <a:lnTo>
                      <a:pt x="119" y="358"/>
                    </a:lnTo>
                    <a:lnTo>
                      <a:pt x="120" y="367"/>
                    </a:lnTo>
                    <a:lnTo>
                      <a:pt x="121" y="371"/>
                    </a:lnTo>
                    <a:lnTo>
                      <a:pt x="2" y="352"/>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53" name="Freeform 37"/>
              <p:cNvSpPr>
                <a:spLocks/>
              </p:cNvSpPr>
              <p:nvPr/>
            </p:nvSpPr>
            <p:spPr bwMode="auto">
              <a:xfrm>
                <a:off x="1740" y="2985"/>
                <a:ext cx="297" cy="374"/>
              </a:xfrm>
              <a:custGeom>
                <a:avLst/>
                <a:gdLst>
                  <a:gd name="T0" fmla="*/ 2 w 297"/>
                  <a:gd name="T1" fmla="*/ 354 h 374"/>
                  <a:gd name="T2" fmla="*/ 1 w 297"/>
                  <a:gd name="T3" fmla="*/ 350 h 374"/>
                  <a:gd name="T4" fmla="*/ 0 w 297"/>
                  <a:gd name="T5" fmla="*/ 336 h 374"/>
                  <a:gd name="T6" fmla="*/ 0 w 297"/>
                  <a:gd name="T7" fmla="*/ 315 h 374"/>
                  <a:gd name="T8" fmla="*/ 0 w 297"/>
                  <a:gd name="T9" fmla="*/ 290 h 374"/>
                  <a:gd name="T10" fmla="*/ 2 w 297"/>
                  <a:gd name="T11" fmla="*/ 263 h 374"/>
                  <a:gd name="T12" fmla="*/ 7 w 297"/>
                  <a:gd name="T13" fmla="*/ 236 h 374"/>
                  <a:gd name="T14" fmla="*/ 15 w 297"/>
                  <a:gd name="T15" fmla="*/ 209 h 374"/>
                  <a:gd name="T16" fmla="*/ 26 w 297"/>
                  <a:gd name="T17" fmla="*/ 187 h 374"/>
                  <a:gd name="T18" fmla="*/ 41 w 297"/>
                  <a:gd name="T19" fmla="*/ 172 h 374"/>
                  <a:gd name="T20" fmla="*/ 54 w 297"/>
                  <a:gd name="T21" fmla="*/ 161 h 374"/>
                  <a:gd name="T22" fmla="*/ 68 w 297"/>
                  <a:gd name="T23" fmla="*/ 156 h 374"/>
                  <a:gd name="T24" fmla="*/ 81 w 297"/>
                  <a:gd name="T25" fmla="*/ 152 h 374"/>
                  <a:gd name="T26" fmla="*/ 94 w 297"/>
                  <a:gd name="T27" fmla="*/ 148 h 374"/>
                  <a:gd name="T28" fmla="*/ 107 w 297"/>
                  <a:gd name="T29" fmla="*/ 141 h 374"/>
                  <a:gd name="T30" fmla="*/ 121 w 297"/>
                  <a:gd name="T31" fmla="*/ 128 h 374"/>
                  <a:gd name="T32" fmla="*/ 134 w 297"/>
                  <a:gd name="T33" fmla="*/ 109 h 374"/>
                  <a:gd name="T34" fmla="*/ 146 w 297"/>
                  <a:gd name="T35" fmla="*/ 85 h 374"/>
                  <a:gd name="T36" fmla="*/ 154 w 297"/>
                  <a:gd name="T37" fmla="*/ 65 h 374"/>
                  <a:gd name="T38" fmla="*/ 161 w 297"/>
                  <a:gd name="T39" fmla="*/ 46 h 374"/>
                  <a:gd name="T40" fmla="*/ 165 w 297"/>
                  <a:gd name="T41" fmla="*/ 30 h 374"/>
                  <a:gd name="T42" fmla="*/ 167 w 297"/>
                  <a:gd name="T43" fmla="*/ 18 h 374"/>
                  <a:gd name="T44" fmla="*/ 168 w 297"/>
                  <a:gd name="T45" fmla="*/ 7 h 374"/>
                  <a:gd name="T46" fmla="*/ 168 w 297"/>
                  <a:gd name="T47" fmla="*/ 2 h 374"/>
                  <a:gd name="T48" fmla="*/ 168 w 297"/>
                  <a:gd name="T49" fmla="*/ 0 h 374"/>
                  <a:gd name="T50" fmla="*/ 296 w 297"/>
                  <a:gd name="T51" fmla="*/ 20 h 374"/>
                  <a:gd name="T52" fmla="*/ 295 w 297"/>
                  <a:gd name="T53" fmla="*/ 25 h 374"/>
                  <a:gd name="T54" fmla="*/ 292 w 297"/>
                  <a:gd name="T55" fmla="*/ 39 h 374"/>
                  <a:gd name="T56" fmla="*/ 287 w 297"/>
                  <a:gd name="T57" fmla="*/ 61 h 374"/>
                  <a:gd name="T58" fmla="*/ 281 w 297"/>
                  <a:gd name="T59" fmla="*/ 86 h 374"/>
                  <a:gd name="T60" fmla="*/ 273 w 297"/>
                  <a:gd name="T61" fmla="*/ 112 h 374"/>
                  <a:gd name="T62" fmla="*/ 264 w 297"/>
                  <a:gd name="T63" fmla="*/ 138 h 374"/>
                  <a:gd name="T64" fmla="*/ 253 w 297"/>
                  <a:gd name="T65" fmla="*/ 158 h 374"/>
                  <a:gd name="T66" fmla="*/ 242 w 297"/>
                  <a:gd name="T67" fmla="*/ 173 h 374"/>
                  <a:gd name="T68" fmla="*/ 228 w 297"/>
                  <a:gd name="T69" fmla="*/ 181 h 374"/>
                  <a:gd name="T70" fmla="*/ 212 w 297"/>
                  <a:gd name="T71" fmla="*/ 187 h 374"/>
                  <a:gd name="T72" fmla="*/ 194 w 297"/>
                  <a:gd name="T73" fmla="*/ 191 h 374"/>
                  <a:gd name="T74" fmla="*/ 176 w 297"/>
                  <a:gd name="T75" fmla="*/ 197 h 374"/>
                  <a:gd name="T76" fmla="*/ 159 w 297"/>
                  <a:gd name="T77" fmla="*/ 203 h 374"/>
                  <a:gd name="T78" fmla="*/ 145 w 297"/>
                  <a:gd name="T79" fmla="*/ 212 h 374"/>
                  <a:gd name="T80" fmla="*/ 132 w 297"/>
                  <a:gd name="T81" fmla="*/ 224 h 374"/>
                  <a:gd name="T82" fmla="*/ 124 w 297"/>
                  <a:gd name="T83" fmla="*/ 242 h 374"/>
                  <a:gd name="T84" fmla="*/ 121 w 297"/>
                  <a:gd name="T85" fmla="*/ 265 h 374"/>
                  <a:gd name="T86" fmla="*/ 118 w 297"/>
                  <a:gd name="T87" fmla="*/ 287 h 374"/>
                  <a:gd name="T88" fmla="*/ 117 w 297"/>
                  <a:gd name="T89" fmla="*/ 309 h 374"/>
                  <a:gd name="T90" fmla="*/ 117 w 297"/>
                  <a:gd name="T91" fmla="*/ 329 h 374"/>
                  <a:gd name="T92" fmla="*/ 118 w 297"/>
                  <a:gd name="T93" fmla="*/ 346 h 374"/>
                  <a:gd name="T94" fmla="*/ 119 w 297"/>
                  <a:gd name="T95" fmla="*/ 360 h 374"/>
                  <a:gd name="T96" fmla="*/ 120 w 297"/>
                  <a:gd name="T97" fmla="*/ 369 h 374"/>
                  <a:gd name="T98" fmla="*/ 121 w 297"/>
                  <a:gd name="T99" fmla="*/ 373 h 374"/>
                  <a:gd name="T100" fmla="*/ 2 w 297"/>
                  <a:gd name="T101" fmla="*/ 354 h 3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97" h="374">
                    <a:moveTo>
                      <a:pt x="2" y="354"/>
                    </a:moveTo>
                    <a:lnTo>
                      <a:pt x="1" y="350"/>
                    </a:lnTo>
                    <a:lnTo>
                      <a:pt x="0" y="336"/>
                    </a:lnTo>
                    <a:lnTo>
                      <a:pt x="0" y="315"/>
                    </a:lnTo>
                    <a:lnTo>
                      <a:pt x="0" y="290"/>
                    </a:lnTo>
                    <a:lnTo>
                      <a:pt x="2" y="263"/>
                    </a:lnTo>
                    <a:lnTo>
                      <a:pt x="7" y="236"/>
                    </a:lnTo>
                    <a:lnTo>
                      <a:pt x="15" y="209"/>
                    </a:lnTo>
                    <a:lnTo>
                      <a:pt x="26" y="187"/>
                    </a:lnTo>
                    <a:lnTo>
                      <a:pt x="41" y="172"/>
                    </a:lnTo>
                    <a:lnTo>
                      <a:pt x="54" y="161"/>
                    </a:lnTo>
                    <a:lnTo>
                      <a:pt x="68" y="156"/>
                    </a:lnTo>
                    <a:lnTo>
                      <a:pt x="81" y="152"/>
                    </a:lnTo>
                    <a:lnTo>
                      <a:pt x="94" y="148"/>
                    </a:lnTo>
                    <a:lnTo>
                      <a:pt x="107" y="141"/>
                    </a:lnTo>
                    <a:lnTo>
                      <a:pt x="121" y="128"/>
                    </a:lnTo>
                    <a:lnTo>
                      <a:pt x="134" y="109"/>
                    </a:lnTo>
                    <a:lnTo>
                      <a:pt x="146" y="85"/>
                    </a:lnTo>
                    <a:lnTo>
                      <a:pt x="154" y="65"/>
                    </a:lnTo>
                    <a:lnTo>
                      <a:pt x="161" y="46"/>
                    </a:lnTo>
                    <a:lnTo>
                      <a:pt x="165" y="30"/>
                    </a:lnTo>
                    <a:lnTo>
                      <a:pt x="167" y="18"/>
                    </a:lnTo>
                    <a:lnTo>
                      <a:pt x="168" y="7"/>
                    </a:lnTo>
                    <a:lnTo>
                      <a:pt x="168" y="2"/>
                    </a:lnTo>
                    <a:lnTo>
                      <a:pt x="168" y="0"/>
                    </a:lnTo>
                    <a:lnTo>
                      <a:pt x="296" y="20"/>
                    </a:lnTo>
                    <a:lnTo>
                      <a:pt x="295" y="25"/>
                    </a:lnTo>
                    <a:lnTo>
                      <a:pt x="292" y="39"/>
                    </a:lnTo>
                    <a:lnTo>
                      <a:pt x="287" y="61"/>
                    </a:lnTo>
                    <a:lnTo>
                      <a:pt x="281" y="86"/>
                    </a:lnTo>
                    <a:lnTo>
                      <a:pt x="273" y="112"/>
                    </a:lnTo>
                    <a:lnTo>
                      <a:pt x="264" y="138"/>
                    </a:lnTo>
                    <a:lnTo>
                      <a:pt x="253" y="158"/>
                    </a:lnTo>
                    <a:lnTo>
                      <a:pt x="242" y="173"/>
                    </a:lnTo>
                    <a:lnTo>
                      <a:pt x="228" y="181"/>
                    </a:lnTo>
                    <a:lnTo>
                      <a:pt x="212" y="187"/>
                    </a:lnTo>
                    <a:lnTo>
                      <a:pt x="194" y="191"/>
                    </a:lnTo>
                    <a:lnTo>
                      <a:pt x="176" y="197"/>
                    </a:lnTo>
                    <a:lnTo>
                      <a:pt x="159" y="203"/>
                    </a:lnTo>
                    <a:lnTo>
                      <a:pt x="145" y="212"/>
                    </a:lnTo>
                    <a:lnTo>
                      <a:pt x="132" y="224"/>
                    </a:lnTo>
                    <a:lnTo>
                      <a:pt x="124" y="242"/>
                    </a:lnTo>
                    <a:lnTo>
                      <a:pt x="121" y="265"/>
                    </a:lnTo>
                    <a:lnTo>
                      <a:pt x="118" y="287"/>
                    </a:lnTo>
                    <a:lnTo>
                      <a:pt x="117" y="309"/>
                    </a:lnTo>
                    <a:lnTo>
                      <a:pt x="117" y="329"/>
                    </a:lnTo>
                    <a:lnTo>
                      <a:pt x="118" y="346"/>
                    </a:lnTo>
                    <a:lnTo>
                      <a:pt x="119" y="360"/>
                    </a:lnTo>
                    <a:lnTo>
                      <a:pt x="120" y="369"/>
                    </a:lnTo>
                    <a:lnTo>
                      <a:pt x="121" y="373"/>
                    </a:lnTo>
                    <a:lnTo>
                      <a:pt x="2" y="354"/>
                    </a:lnTo>
                  </a:path>
                </a:pathLst>
              </a:custGeom>
              <a:solidFill>
                <a:srgbClr val="00CC6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54" name="Freeform 38"/>
              <p:cNvSpPr>
                <a:spLocks/>
              </p:cNvSpPr>
              <p:nvPr/>
            </p:nvSpPr>
            <p:spPr bwMode="auto">
              <a:xfrm>
                <a:off x="1757" y="3015"/>
                <a:ext cx="258" cy="319"/>
              </a:xfrm>
              <a:custGeom>
                <a:avLst/>
                <a:gdLst>
                  <a:gd name="T0" fmla="*/ 1 w 258"/>
                  <a:gd name="T1" fmla="*/ 303 h 319"/>
                  <a:gd name="T2" fmla="*/ 1 w 258"/>
                  <a:gd name="T3" fmla="*/ 299 h 319"/>
                  <a:gd name="T4" fmla="*/ 0 w 258"/>
                  <a:gd name="T5" fmla="*/ 287 h 319"/>
                  <a:gd name="T6" fmla="*/ 0 w 258"/>
                  <a:gd name="T7" fmla="*/ 270 h 319"/>
                  <a:gd name="T8" fmla="*/ 0 w 258"/>
                  <a:gd name="T9" fmla="*/ 248 h 319"/>
                  <a:gd name="T10" fmla="*/ 0 w 258"/>
                  <a:gd name="T11" fmla="*/ 226 h 319"/>
                  <a:gd name="T12" fmla="*/ 4 w 258"/>
                  <a:gd name="T13" fmla="*/ 203 h 319"/>
                  <a:gd name="T14" fmla="*/ 11 w 258"/>
                  <a:gd name="T15" fmla="*/ 181 h 319"/>
                  <a:gd name="T16" fmla="*/ 22 w 258"/>
                  <a:gd name="T17" fmla="*/ 164 h 319"/>
                  <a:gd name="T18" fmla="*/ 35 w 258"/>
                  <a:gd name="T19" fmla="*/ 152 h 319"/>
                  <a:gd name="T20" fmla="*/ 50 w 258"/>
                  <a:gd name="T21" fmla="*/ 143 h 319"/>
                  <a:gd name="T22" fmla="*/ 66 w 258"/>
                  <a:gd name="T23" fmla="*/ 135 h 319"/>
                  <a:gd name="T24" fmla="*/ 82 w 258"/>
                  <a:gd name="T25" fmla="*/ 128 h 319"/>
                  <a:gd name="T26" fmla="*/ 99 w 258"/>
                  <a:gd name="T27" fmla="*/ 120 h 319"/>
                  <a:gd name="T28" fmla="*/ 113 w 258"/>
                  <a:gd name="T29" fmla="*/ 107 h 319"/>
                  <a:gd name="T30" fmla="*/ 127 w 258"/>
                  <a:gd name="T31" fmla="*/ 91 h 319"/>
                  <a:gd name="T32" fmla="*/ 138 w 258"/>
                  <a:gd name="T33" fmla="*/ 68 h 319"/>
                  <a:gd name="T34" fmla="*/ 145 w 258"/>
                  <a:gd name="T35" fmla="*/ 48 h 319"/>
                  <a:gd name="T36" fmla="*/ 151 w 258"/>
                  <a:gd name="T37" fmla="*/ 34 h 319"/>
                  <a:gd name="T38" fmla="*/ 154 w 258"/>
                  <a:gd name="T39" fmla="*/ 21 h 319"/>
                  <a:gd name="T40" fmla="*/ 158 w 258"/>
                  <a:gd name="T41" fmla="*/ 12 h 319"/>
                  <a:gd name="T42" fmla="*/ 160 w 258"/>
                  <a:gd name="T43" fmla="*/ 6 h 319"/>
                  <a:gd name="T44" fmla="*/ 161 w 258"/>
                  <a:gd name="T45" fmla="*/ 2 h 319"/>
                  <a:gd name="T46" fmla="*/ 162 w 258"/>
                  <a:gd name="T47" fmla="*/ 0 h 319"/>
                  <a:gd name="T48" fmla="*/ 162 w 258"/>
                  <a:gd name="T49" fmla="*/ 0 h 319"/>
                  <a:gd name="T50" fmla="*/ 257 w 258"/>
                  <a:gd name="T51" fmla="*/ 17 h 319"/>
                  <a:gd name="T52" fmla="*/ 256 w 258"/>
                  <a:gd name="T53" fmla="*/ 21 h 319"/>
                  <a:gd name="T54" fmla="*/ 253 w 258"/>
                  <a:gd name="T55" fmla="*/ 32 h 319"/>
                  <a:gd name="T56" fmla="*/ 249 w 258"/>
                  <a:gd name="T57" fmla="*/ 48 h 319"/>
                  <a:gd name="T58" fmla="*/ 244 w 258"/>
                  <a:gd name="T59" fmla="*/ 68 h 319"/>
                  <a:gd name="T60" fmla="*/ 237 w 258"/>
                  <a:gd name="T61" fmla="*/ 88 h 319"/>
                  <a:gd name="T62" fmla="*/ 230 w 258"/>
                  <a:gd name="T63" fmla="*/ 107 h 319"/>
                  <a:gd name="T64" fmla="*/ 221 w 258"/>
                  <a:gd name="T65" fmla="*/ 123 h 319"/>
                  <a:gd name="T66" fmla="*/ 211 w 258"/>
                  <a:gd name="T67" fmla="*/ 134 h 319"/>
                  <a:gd name="T68" fmla="*/ 199 w 258"/>
                  <a:gd name="T69" fmla="*/ 140 h 319"/>
                  <a:gd name="T70" fmla="*/ 183 w 258"/>
                  <a:gd name="T71" fmla="*/ 146 h 319"/>
                  <a:gd name="T72" fmla="*/ 166 w 258"/>
                  <a:gd name="T73" fmla="*/ 152 h 319"/>
                  <a:gd name="T74" fmla="*/ 148 w 258"/>
                  <a:gd name="T75" fmla="*/ 157 h 319"/>
                  <a:gd name="T76" fmla="*/ 129 w 258"/>
                  <a:gd name="T77" fmla="*/ 165 h 319"/>
                  <a:gd name="T78" fmla="*/ 113 w 258"/>
                  <a:gd name="T79" fmla="*/ 176 h 319"/>
                  <a:gd name="T80" fmla="*/ 100 w 258"/>
                  <a:gd name="T81" fmla="*/ 189 h 319"/>
                  <a:gd name="T82" fmla="*/ 90 w 258"/>
                  <a:gd name="T83" fmla="*/ 206 h 319"/>
                  <a:gd name="T84" fmla="*/ 85 w 258"/>
                  <a:gd name="T85" fmla="*/ 223 h 319"/>
                  <a:gd name="T86" fmla="*/ 82 w 258"/>
                  <a:gd name="T87" fmla="*/ 241 h 319"/>
                  <a:gd name="T88" fmla="*/ 82 w 258"/>
                  <a:gd name="T89" fmla="*/ 260 h 319"/>
                  <a:gd name="T90" fmla="*/ 82 w 258"/>
                  <a:gd name="T91" fmla="*/ 278 h 319"/>
                  <a:gd name="T92" fmla="*/ 84 w 258"/>
                  <a:gd name="T93" fmla="*/ 293 h 319"/>
                  <a:gd name="T94" fmla="*/ 86 w 258"/>
                  <a:gd name="T95" fmla="*/ 305 h 319"/>
                  <a:gd name="T96" fmla="*/ 88 w 258"/>
                  <a:gd name="T97" fmla="*/ 314 h 319"/>
                  <a:gd name="T98" fmla="*/ 88 w 258"/>
                  <a:gd name="T99" fmla="*/ 318 h 319"/>
                  <a:gd name="T100" fmla="*/ 1 w 258"/>
                  <a:gd name="T101" fmla="*/ 303 h 3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58" h="319">
                    <a:moveTo>
                      <a:pt x="1" y="303"/>
                    </a:moveTo>
                    <a:lnTo>
                      <a:pt x="1" y="299"/>
                    </a:lnTo>
                    <a:lnTo>
                      <a:pt x="0" y="287"/>
                    </a:lnTo>
                    <a:lnTo>
                      <a:pt x="0" y="270"/>
                    </a:lnTo>
                    <a:lnTo>
                      <a:pt x="0" y="248"/>
                    </a:lnTo>
                    <a:lnTo>
                      <a:pt x="0" y="226"/>
                    </a:lnTo>
                    <a:lnTo>
                      <a:pt x="4" y="203"/>
                    </a:lnTo>
                    <a:lnTo>
                      <a:pt x="11" y="181"/>
                    </a:lnTo>
                    <a:lnTo>
                      <a:pt x="22" y="164"/>
                    </a:lnTo>
                    <a:lnTo>
                      <a:pt x="35" y="152"/>
                    </a:lnTo>
                    <a:lnTo>
                      <a:pt x="50" y="143"/>
                    </a:lnTo>
                    <a:lnTo>
                      <a:pt x="66" y="135"/>
                    </a:lnTo>
                    <a:lnTo>
                      <a:pt x="82" y="128"/>
                    </a:lnTo>
                    <a:lnTo>
                      <a:pt x="99" y="120"/>
                    </a:lnTo>
                    <a:lnTo>
                      <a:pt x="113" y="107"/>
                    </a:lnTo>
                    <a:lnTo>
                      <a:pt x="127" y="91"/>
                    </a:lnTo>
                    <a:lnTo>
                      <a:pt x="138" y="68"/>
                    </a:lnTo>
                    <a:lnTo>
                      <a:pt x="145" y="48"/>
                    </a:lnTo>
                    <a:lnTo>
                      <a:pt x="151" y="34"/>
                    </a:lnTo>
                    <a:lnTo>
                      <a:pt x="154" y="21"/>
                    </a:lnTo>
                    <a:lnTo>
                      <a:pt x="158" y="12"/>
                    </a:lnTo>
                    <a:lnTo>
                      <a:pt x="160" y="6"/>
                    </a:lnTo>
                    <a:lnTo>
                      <a:pt x="161" y="2"/>
                    </a:lnTo>
                    <a:lnTo>
                      <a:pt x="162" y="0"/>
                    </a:lnTo>
                    <a:lnTo>
                      <a:pt x="162" y="0"/>
                    </a:lnTo>
                    <a:lnTo>
                      <a:pt x="257" y="17"/>
                    </a:lnTo>
                    <a:lnTo>
                      <a:pt x="256" y="21"/>
                    </a:lnTo>
                    <a:lnTo>
                      <a:pt x="253" y="32"/>
                    </a:lnTo>
                    <a:lnTo>
                      <a:pt x="249" y="48"/>
                    </a:lnTo>
                    <a:lnTo>
                      <a:pt x="244" y="68"/>
                    </a:lnTo>
                    <a:lnTo>
                      <a:pt x="237" y="88"/>
                    </a:lnTo>
                    <a:lnTo>
                      <a:pt x="230" y="107"/>
                    </a:lnTo>
                    <a:lnTo>
                      <a:pt x="221" y="123"/>
                    </a:lnTo>
                    <a:lnTo>
                      <a:pt x="211" y="134"/>
                    </a:lnTo>
                    <a:lnTo>
                      <a:pt x="199" y="140"/>
                    </a:lnTo>
                    <a:lnTo>
                      <a:pt x="183" y="146"/>
                    </a:lnTo>
                    <a:lnTo>
                      <a:pt x="166" y="152"/>
                    </a:lnTo>
                    <a:lnTo>
                      <a:pt x="148" y="157"/>
                    </a:lnTo>
                    <a:lnTo>
                      <a:pt x="129" y="165"/>
                    </a:lnTo>
                    <a:lnTo>
                      <a:pt x="113" y="176"/>
                    </a:lnTo>
                    <a:lnTo>
                      <a:pt x="100" y="189"/>
                    </a:lnTo>
                    <a:lnTo>
                      <a:pt x="90" y="206"/>
                    </a:lnTo>
                    <a:lnTo>
                      <a:pt x="85" y="223"/>
                    </a:lnTo>
                    <a:lnTo>
                      <a:pt x="82" y="241"/>
                    </a:lnTo>
                    <a:lnTo>
                      <a:pt x="82" y="260"/>
                    </a:lnTo>
                    <a:lnTo>
                      <a:pt x="82" y="278"/>
                    </a:lnTo>
                    <a:lnTo>
                      <a:pt x="84" y="293"/>
                    </a:lnTo>
                    <a:lnTo>
                      <a:pt x="86" y="305"/>
                    </a:lnTo>
                    <a:lnTo>
                      <a:pt x="88" y="314"/>
                    </a:lnTo>
                    <a:lnTo>
                      <a:pt x="88" y="318"/>
                    </a:lnTo>
                    <a:lnTo>
                      <a:pt x="1" y="303"/>
                    </a:lnTo>
                  </a:path>
                </a:pathLst>
              </a:custGeom>
              <a:solidFill>
                <a:srgbClr val="CCFF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55" name="Freeform 39"/>
              <p:cNvSpPr>
                <a:spLocks/>
              </p:cNvSpPr>
              <p:nvPr/>
            </p:nvSpPr>
            <p:spPr bwMode="auto">
              <a:xfrm>
                <a:off x="1809" y="3134"/>
                <a:ext cx="122" cy="55"/>
              </a:xfrm>
              <a:custGeom>
                <a:avLst/>
                <a:gdLst>
                  <a:gd name="T0" fmla="*/ 64 w 122"/>
                  <a:gd name="T1" fmla="*/ 51 h 55"/>
                  <a:gd name="T2" fmla="*/ 75 w 122"/>
                  <a:gd name="T3" fmla="*/ 48 h 55"/>
                  <a:gd name="T4" fmla="*/ 87 w 122"/>
                  <a:gd name="T5" fmla="*/ 45 h 55"/>
                  <a:gd name="T6" fmla="*/ 96 w 122"/>
                  <a:gd name="T7" fmla="*/ 40 h 55"/>
                  <a:gd name="T8" fmla="*/ 105 w 122"/>
                  <a:gd name="T9" fmla="*/ 36 h 55"/>
                  <a:gd name="T10" fmla="*/ 112 w 122"/>
                  <a:gd name="T11" fmla="*/ 30 h 55"/>
                  <a:gd name="T12" fmla="*/ 117 w 122"/>
                  <a:gd name="T13" fmla="*/ 25 h 55"/>
                  <a:gd name="T14" fmla="*/ 120 w 122"/>
                  <a:gd name="T15" fmla="*/ 20 h 55"/>
                  <a:gd name="T16" fmla="*/ 121 w 122"/>
                  <a:gd name="T17" fmla="*/ 14 h 55"/>
                  <a:gd name="T18" fmla="*/ 119 w 122"/>
                  <a:gd name="T19" fmla="*/ 10 h 55"/>
                  <a:gd name="T20" fmla="*/ 115 w 122"/>
                  <a:gd name="T21" fmla="*/ 6 h 55"/>
                  <a:gd name="T22" fmla="*/ 108 w 122"/>
                  <a:gd name="T23" fmla="*/ 3 h 55"/>
                  <a:gd name="T24" fmla="*/ 100 w 122"/>
                  <a:gd name="T25" fmla="*/ 1 h 55"/>
                  <a:gd name="T26" fmla="*/ 91 w 122"/>
                  <a:gd name="T27" fmla="*/ 0 h 55"/>
                  <a:gd name="T28" fmla="*/ 80 w 122"/>
                  <a:gd name="T29" fmla="*/ 0 h 55"/>
                  <a:gd name="T30" fmla="*/ 69 w 122"/>
                  <a:gd name="T31" fmla="*/ 0 h 55"/>
                  <a:gd name="T32" fmla="*/ 56 w 122"/>
                  <a:gd name="T33" fmla="*/ 2 h 55"/>
                  <a:gd name="T34" fmla="*/ 45 w 122"/>
                  <a:gd name="T35" fmla="*/ 5 h 55"/>
                  <a:gd name="T36" fmla="*/ 33 w 122"/>
                  <a:gd name="T37" fmla="*/ 9 h 55"/>
                  <a:gd name="T38" fmla="*/ 24 w 122"/>
                  <a:gd name="T39" fmla="*/ 13 h 55"/>
                  <a:gd name="T40" fmla="*/ 15 w 122"/>
                  <a:gd name="T41" fmla="*/ 18 h 55"/>
                  <a:gd name="T42" fmla="*/ 8 w 122"/>
                  <a:gd name="T43" fmla="*/ 22 h 55"/>
                  <a:gd name="T44" fmla="*/ 3 w 122"/>
                  <a:gd name="T45" fmla="*/ 28 h 55"/>
                  <a:gd name="T46" fmla="*/ 0 w 122"/>
                  <a:gd name="T47" fmla="*/ 33 h 55"/>
                  <a:gd name="T48" fmla="*/ 0 w 122"/>
                  <a:gd name="T49" fmla="*/ 38 h 55"/>
                  <a:gd name="T50" fmla="*/ 1 w 122"/>
                  <a:gd name="T51" fmla="*/ 43 h 55"/>
                  <a:gd name="T52" fmla="*/ 5 w 122"/>
                  <a:gd name="T53" fmla="*/ 47 h 55"/>
                  <a:gd name="T54" fmla="*/ 12 w 122"/>
                  <a:gd name="T55" fmla="*/ 50 h 55"/>
                  <a:gd name="T56" fmla="*/ 20 w 122"/>
                  <a:gd name="T57" fmla="*/ 52 h 55"/>
                  <a:gd name="T58" fmla="*/ 29 w 122"/>
                  <a:gd name="T59" fmla="*/ 54 h 55"/>
                  <a:gd name="T60" fmla="*/ 40 w 122"/>
                  <a:gd name="T61" fmla="*/ 54 h 55"/>
                  <a:gd name="T62" fmla="*/ 51 w 122"/>
                  <a:gd name="T63" fmla="*/ 52 h 55"/>
                  <a:gd name="T64" fmla="*/ 64 w 122"/>
                  <a:gd name="T65" fmla="*/ 51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2" h="55">
                    <a:moveTo>
                      <a:pt x="64" y="51"/>
                    </a:moveTo>
                    <a:lnTo>
                      <a:pt x="75" y="48"/>
                    </a:lnTo>
                    <a:lnTo>
                      <a:pt x="87" y="45"/>
                    </a:lnTo>
                    <a:lnTo>
                      <a:pt x="96" y="40"/>
                    </a:lnTo>
                    <a:lnTo>
                      <a:pt x="105" y="36"/>
                    </a:lnTo>
                    <a:lnTo>
                      <a:pt x="112" y="30"/>
                    </a:lnTo>
                    <a:lnTo>
                      <a:pt x="117" y="25"/>
                    </a:lnTo>
                    <a:lnTo>
                      <a:pt x="120" y="20"/>
                    </a:lnTo>
                    <a:lnTo>
                      <a:pt x="121" y="14"/>
                    </a:lnTo>
                    <a:lnTo>
                      <a:pt x="119" y="10"/>
                    </a:lnTo>
                    <a:lnTo>
                      <a:pt x="115" y="6"/>
                    </a:lnTo>
                    <a:lnTo>
                      <a:pt x="108" y="3"/>
                    </a:lnTo>
                    <a:lnTo>
                      <a:pt x="100" y="1"/>
                    </a:lnTo>
                    <a:lnTo>
                      <a:pt x="91" y="0"/>
                    </a:lnTo>
                    <a:lnTo>
                      <a:pt x="80" y="0"/>
                    </a:lnTo>
                    <a:lnTo>
                      <a:pt x="69" y="0"/>
                    </a:lnTo>
                    <a:lnTo>
                      <a:pt x="56" y="2"/>
                    </a:lnTo>
                    <a:lnTo>
                      <a:pt x="45" y="5"/>
                    </a:lnTo>
                    <a:lnTo>
                      <a:pt x="33" y="9"/>
                    </a:lnTo>
                    <a:lnTo>
                      <a:pt x="24" y="13"/>
                    </a:lnTo>
                    <a:lnTo>
                      <a:pt x="15" y="18"/>
                    </a:lnTo>
                    <a:lnTo>
                      <a:pt x="8" y="22"/>
                    </a:lnTo>
                    <a:lnTo>
                      <a:pt x="3" y="28"/>
                    </a:lnTo>
                    <a:lnTo>
                      <a:pt x="0" y="33"/>
                    </a:lnTo>
                    <a:lnTo>
                      <a:pt x="0" y="38"/>
                    </a:lnTo>
                    <a:lnTo>
                      <a:pt x="1" y="43"/>
                    </a:lnTo>
                    <a:lnTo>
                      <a:pt x="5" y="47"/>
                    </a:lnTo>
                    <a:lnTo>
                      <a:pt x="12" y="50"/>
                    </a:lnTo>
                    <a:lnTo>
                      <a:pt x="20" y="52"/>
                    </a:lnTo>
                    <a:lnTo>
                      <a:pt x="29" y="54"/>
                    </a:lnTo>
                    <a:lnTo>
                      <a:pt x="40" y="54"/>
                    </a:lnTo>
                    <a:lnTo>
                      <a:pt x="51" y="52"/>
                    </a:lnTo>
                    <a:lnTo>
                      <a:pt x="64" y="51"/>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56" name="Freeform 40"/>
              <p:cNvSpPr>
                <a:spLocks/>
              </p:cNvSpPr>
              <p:nvPr/>
            </p:nvSpPr>
            <p:spPr bwMode="auto">
              <a:xfrm>
                <a:off x="1818" y="3138"/>
                <a:ext cx="103" cy="47"/>
              </a:xfrm>
              <a:custGeom>
                <a:avLst/>
                <a:gdLst>
                  <a:gd name="T0" fmla="*/ 53 w 103"/>
                  <a:gd name="T1" fmla="*/ 43 h 47"/>
                  <a:gd name="T2" fmla="*/ 64 w 103"/>
                  <a:gd name="T3" fmla="*/ 41 h 47"/>
                  <a:gd name="T4" fmla="*/ 73 w 103"/>
                  <a:gd name="T5" fmla="*/ 37 h 47"/>
                  <a:gd name="T6" fmla="*/ 81 w 103"/>
                  <a:gd name="T7" fmla="*/ 34 h 47"/>
                  <a:gd name="T8" fmla="*/ 88 w 103"/>
                  <a:gd name="T9" fmla="*/ 29 h 47"/>
                  <a:gd name="T10" fmla="*/ 94 w 103"/>
                  <a:gd name="T11" fmla="*/ 26 h 47"/>
                  <a:gd name="T12" fmla="*/ 99 w 103"/>
                  <a:gd name="T13" fmla="*/ 21 h 47"/>
                  <a:gd name="T14" fmla="*/ 101 w 103"/>
                  <a:gd name="T15" fmla="*/ 17 h 47"/>
                  <a:gd name="T16" fmla="*/ 102 w 103"/>
                  <a:gd name="T17" fmla="*/ 12 h 47"/>
                  <a:gd name="T18" fmla="*/ 100 w 103"/>
                  <a:gd name="T19" fmla="*/ 9 h 47"/>
                  <a:gd name="T20" fmla="*/ 96 w 103"/>
                  <a:gd name="T21" fmla="*/ 5 h 47"/>
                  <a:gd name="T22" fmla="*/ 91 w 103"/>
                  <a:gd name="T23" fmla="*/ 2 h 47"/>
                  <a:gd name="T24" fmla="*/ 84 w 103"/>
                  <a:gd name="T25" fmla="*/ 1 h 47"/>
                  <a:gd name="T26" fmla="*/ 76 w 103"/>
                  <a:gd name="T27" fmla="*/ 0 h 47"/>
                  <a:gd name="T28" fmla="*/ 68 w 103"/>
                  <a:gd name="T29" fmla="*/ 0 h 47"/>
                  <a:gd name="T30" fmla="*/ 58 w 103"/>
                  <a:gd name="T31" fmla="*/ 0 h 47"/>
                  <a:gd name="T32" fmla="*/ 48 w 103"/>
                  <a:gd name="T33" fmla="*/ 2 h 47"/>
                  <a:gd name="T34" fmla="*/ 37 w 103"/>
                  <a:gd name="T35" fmla="*/ 4 h 47"/>
                  <a:gd name="T36" fmla="*/ 28 w 103"/>
                  <a:gd name="T37" fmla="*/ 6 h 47"/>
                  <a:gd name="T38" fmla="*/ 20 w 103"/>
                  <a:gd name="T39" fmla="*/ 11 h 47"/>
                  <a:gd name="T40" fmla="*/ 13 w 103"/>
                  <a:gd name="T41" fmla="*/ 14 h 47"/>
                  <a:gd name="T42" fmla="*/ 7 w 103"/>
                  <a:gd name="T43" fmla="*/ 19 h 47"/>
                  <a:gd name="T44" fmla="*/ 2 w 103"/>
                  <a:gd name="T45" fmla="*/ 24 h 47"/>
                  <a:gd name="T46" fmla="*/ 0 w 103"/>
                  <a:gd name="T47" fmla="*/ 28 h 47"/>
                  <a:gd name="T48" fmla="*/ 0 w 103"/>
                  <a:gd name="T49" fmla="*/ 33 h 47"/>
                  <a:gd name="T50" fmla="*/ 1 w 103"/>
                  <a:gd name="T51" fmla="*/ 36 h 47"/>
                  <a:gd name="T52" fmla="*/ 5 w 103"/>
                  <a:gd name="T53" fmla="*/ 40 h 47"/>
                  <a:gd name="T54" fmla="*/ 10 w 103"/>
                  <a:gd name="T55" fmla="*/ 42 h 47"/>
                  <a:gd name="T56" fmla="*/ 17 w 103"/>
                  <a:gd name="T57" fmla="*/ 44 h 47"/>
                  <a:gd name="T58" fmla="*/ 25 w 103"/>
                  <a:gd name="T59" fmla="*/ 46 h 47"/>
                  <a:gd name="T60" fmla="*/ 33 w 103"/>
                  <a:gd name="T61" fmla="*/ 46 h 47"/>
                  <a:gd name="T62" fmla="*/ 43 w 103"/>
                  <a:gd name="T63" fmla="*/ 44 h 47"/>
                  <a:gd name="T64" fmla="*/ 53 w 103"/>
                  <a:gd name="T65" fmla="*/ 43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3" h="47">
                    <a:moveTo>
                      <a:pt x="53" y="43"/>
                    </a:moveTo>
                    <a:lnTo>
                      <a:pt x="64" y="41"/>
                    </a:lnTo>
                    <a:lnTo>
                      <a:pt x="73" y="37"/>
                    </a:lnTo>
                    <a:lnTo>
                      <a:pt x="81" y="34"/>
                    </a:lnTo>
                    <a:lnTo>
                      <a:pt x="88" y="29"/>
                    </a:lnTo>
                    <a:lnTo>
                      <a:pt x="94" y="26"/>
                    </a:lnTo>
                    <a:lnTo>
                      <a:pt x="99" y="21"/>
                    </a:lnTo>
                    <a:lnTo>
                      <a:pt x="101" y="17"/>
                    </a:lnTo>
                    <a:lnTo>
                      <a:pt x="102" y="12"/>
                    </a:lnTo>
                    <a:lnTo>
                      <a:pt x="100" y="9"/>
                    </a:lnTo>
                    <a:lnTo>
                      <a:pt x="96" y="5"/>
                    </a:lnTo>
                    <a:lnTo>
                      <a:pt x="91" y="2"/>
                    </a:lnTo>
                    <a:lnTo>
                      <a:pt x="84" y="1"/>
                    </a:lnTo>
                    <a:lnTo>
                      <a:pt x="76" y="0"/>
                    </a:lnTo>
                    <a:lnTo>
                      <a:pt x="68" y="0"/>
                    </a:lnTo>
                    <a:lnTo>
                      <a:pt x="58" y="0"/>
                    </a:lnTo>
                    <a:lnTo>
                      <a:pt x="48" y="2"/>
                    </a:lnTo>
                    <a:lnTo>
                      <a:pt x="37" y="4"/>
                    </a:lnTo>
                    <a:lnTo>
                      <a:pt x="28" y="6"/>
                    </a:lnTo>
                    <a:lnTo>
                      <a:pt x="20" y="11"/>
                    </a:lnTo>
                    <a:lnTo>
                      <a:pt x="13" y="14"/>
                    </a:lnTo>
                    <a:lnTo>
                      <a:pt x="7" y="19"/>
                    </a:lnTo>
                    <a:lnTo>
                      <a:pt x="2" y="24"/>
                    </a:lnTo>
                    <a:lnTo>
                      <a:pt x="0" y="28"/>
                    </a:lnTo>
                    <a:lnTo>
                      <a:pt x="0" y="33"/>
                    </a:lnTo>
                    <a:lnTo>
                      <a:pt x="1" y="36"/>
                    </a:lnTo>
                    <a:lnTo>
                      <a:pt x="5" y="40"/>
                    </a:lnTo>
                    <a:lnTo>
                      <a:pt x="10" y="42"/>
                    </a:lnTo>
                    <a:lnTo>
                      <a:pt x="17" y="44"/>
                    </a:lnTo>
                    <a:lnTo>
                      <a:pt x="25" y="46"/>
                    </a:lnTo>
                    <a:lnTo>
                      <a:pt x="33" y="46"/>
                    </a:lnTo>
                    <a:lnTo>
                      <a:pt x="43" y="44"/>
                    </a:lnTo>
                    <a:lnTo>
                      <a:pt x="53" y="43"/>
                    </a:lnTo>
                  </a:path>
                </a:pathLst>
              </a:custGeom>
              <a:solidFill>
                <a:srgbClr val="339933"/>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57" name="Freeform 41"/>
              <p:cNvSpPr>
                <a:spLocks/>
              </p:cNvSpPr>
              <p:nvPr/>
            </p:nvSpPr>
            <p:spPr bwMode="auto">
              <a:xfrm>
                <a:off x="1911" y="3001"/>
                <a:ext cx="26" cy="40"/>
              </a:xfrm>
              <a:custGeom>
                <a:avLst/>
                <a:gdLst>
                  <a:gd name="T0" fmla="*/ 2 w 26"/>
                  <a:gd name="T1" fmla="*/ 14 h 40"/>
                  <a:gd name="T2" fmla="*/ 0 w 26"/>
                  <a:gd name="T3" fmla="*/ 17 h 40"/>
                  <a:gd name="T4" fmla="*/ 0 w 26"/>
                  <a:gd name="T5" fmla="*/ 21 h 40"/>
                  <a:gd name="T6" fmla="*/ 0 w 26"/>
                  <a:gd name="T7" fmla="*/ 25 h 40"/>
                  <a:gd name="T8" fmla="*/ 0 w 26"/>
                  <a:gd name="T9" fmla="*/ 28 h 40"/>
                  <a:gd name="T10" fmla="*/ 0 w 26"/>
                  <a:gd name="T11" fmla="*/ 31 h 40"/>
                  <a:gd name="T12" fmla="*/ 1 w 26"/>
                  <a:gd name="T13" fmla="*/ 34 h 40"/>
                  <a:gd name="T14" fmla="*/ 2 w 26"/>
                  <a:gd name="T15" fmla="*/ 36 h 40"/>
                  <a:gd name="T16" fmla="*/ 4 w 26"/>
                  <a:gd name="T17" fmla="*/ 37 h 40"/>
                  <a:gd name="T18" fmla="*/ 6 w 26"/>
                  <a:gd name="T19" fmla="*/ 39 h 40"/>
                  <a:gd name="T20" fmla="*/ 8 w 26"/>
                  <a:gd name="T21" fmla="*/ 39 h 40"/>
                  <a:gd name="T22" fmla="*/ 11 w 26"/>
                  <a:gd name="T23" fmla="*/ 37 h 40"/>
                  <a:gd name="T24" fmla="*/ 13 w 26"/>
                  <a:gd name="T25" fmla="*/ 36 h 40"/>
                  <a:gd name="T26" fmla="*/ 16 w 26"/>
                  <a:gd name="T27" fmla="*/ 34 h 40"/>
                  <a:gd name="T28" fmla="*/ 18 w 26"/>
                  <a:gd name="T29" fmla="*/ 31 h 40"/>
                  <a:gd name="T30" fmla="*/ 20 w 26"/>
                  <a:gd name="T31" fmla="*/ 27 h 40"/>
                  <a:gd name="T32" fmla="*/ 22 w 26"/>
                  <a:gd name="T33" fmla="*/ 24 h 40"/>
                  <a:gd name="T34" fmla="*/ 23 w 26"/>
                  <a:gd name="T35" fmla="*/ 21 h 40"/>
                  <a:gd name="T36" fmla="*/ 24 w 26"/>
                  <a:gd name="T37" fmla="*/ 16 h 40"/>
                  <a:gd name="T38" fmla="*/ 25 w 26"/>
                  <a:gd name="T39" fmla="*/ 13 h 40"/>
                  <a:gd name="T40" fmla="*/ 24 w 26"/>
                  <a:gd name="T41" fmla="*/ 10 h 40"/>
                  <a:gd name="T42" fmla="*/ 24 w 26"/>
                  <a:gd name="T43" fmla="*/ 6 h 40"/>
                  <a:gd name="T44" fmla="*/ 23 w 26"/>
                  <a:gd name="T45" fmla="*/ 4 h 40"/>
                  <a:gd name="T46" fmla="*/ 22 w 26"/>
                  <a:gd name="T47" fmla="*/ 2 h 40"/>
                  <a:gd name="T48" fmla="*/ 20 w 26"/>
                  <a:gd name="T49" fmla="*/ 1 h 40"/>
                  <a:gd name="T50" fmla="*/ 18 w 26"/>
                  <a:gd name="T51" fmla="*/ 0 h 40"/>
                  <a:gd name="T52" fmla="*/ 15 w 26"/>
                  <a:gd name="T53" fmla="*/ 0 h 40"/>
                  <a:gd name="T54" fmla="*/ 13 w 26"/>
                  <a:gd name="T55" fmla="*/ 1 h 40"/>
                  <a:gd name="T56" fmla="*/ 10 w 26"/>
                  <a:gd name="T57" fmla="*/ 2 h 40"/>
                  <a:gd name="T58" fmla="*/ 8 w 26"/>
                  <a:gd name="T59" fmla="*/ 4 h 40"/>
                  <a:gd name="T60" fmla="*/ 6 w 26"/>
                  <a:gd name="T61" fmla="*/ 7 h 40"/>
                  <a:gd name="T62" fmla="*/ 4 w 26"/>
                  <a:gd name="T63" fmla="*/ 10 h 40"/>
                  <a:gd name="T64" fmla="*/ 2 w 26"/>
                  <a:gd name="T65" fmla="*/ 1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6" h="40">
                    <a:moveTo>
                      <a:pt x="2" y="14"/>
                    </a:moveTo>
                    <a:lnTo>
                      <a:pt x="0" y="17"/>
                    </a:lnTo>
                    <a:lnTo>
                      <a:pt x="0" y="21"/>
                    </a:lnTo>
                    <a:lnTo>
                      <a:pt x="0" y="25"/>
                    </a:lnTo>
                    <a:lnTo>
                      <a:pt x="0" y="28"/>
                    </a:lnTo>
                    <a:lnTo>
                      <a:pt x="0" y="31"/>
                    </a:lnTo>
                    <a:lnTo>
                      <a:pt x="1" y="34"/>
                    </a:lnTo>
                    <a:lnTo>
                      <a:pt x="2" y="36"/>
                    </a:lnTo>
                    <a:lnTo>
                      <a:pt x="4" y="37"/>
                    </a:lnTo>
                    <a:lnTo>
                      <a:pt x="6" y="39"/>
                    </a:lnTo>
                    <a:lnTo>
                      <a:pt x="8" y="39"/>
                    </a:lnTo>
                    <a:lnTo>
                      <a:pt x="11" y="37"/>
                    </a:lnTo>
                    <a:lnTo>
                      <a:pt x="13" y="36"/>
                    </a:lnTo>
                    <a:lnTo>
                      <a:pt x="16" y="34"/>
                    </a:lnTo>
                    <a:lnTo>
                      <a:pt x="18" y="31"/>
                    </a:lnTo>
                    <a:lnTo>
                      <a:pt x="20" y="27"/>
                    </a:lnTo>
                    <a:lnTo>
                      <a:pt x="22" y="24"/>
                    </a:lnTo>
                    <a:lnTo>
                      <a:pt x="23" y="21"/>
                    </a:lnTo>
                    <a:lnTo>
                      <a:pt x="24" y="16"/>
                    </a:lnTo>
                    <a:lnTo>
                      <a:pt x="25" y="13"/>
                    </a:lnTo>
                    <a:lnTo>
                      <a:pt x="24" y="10"/>
                    </a:lnTo>
                    <a:lnTo>
                      <a:pt x="24" y="6"/>
                    </a:lnTo>
                    <a:lnTo>
                      <a:pt x="23" y="4"/>
                    </a:lnTo>
                    <a:lnTo>
                      <a:pt x="22" y="2"/>
                    </a:lnTo>
                    <a:lnTo>
                      <a:pt x="20" y="1"/>
                    </a:lnTo>
                    <a:lnTo>
                      <a:pt x="18" y="0"/>
                    </a:lnTo>
                    <a:lnTo>
                      <a:pt x="15" y="0"/>
                    </a:lnTo>
                    <a:lnTo>
                      <a:pt x="13" y="1"/>
                    </a:lnTo>
                    <a:lnTo>
                      <a:pt x="10" y="2"/>
                    </a:lnTo>
                    <a:lnTo>
                      <a:pt x="8" y="4"/>
                    </a:lnTo>
                    <a:lnTo>
                      <a:pt x="6" y="7"/>
                    </a:lnTo>
                    <a:lnTo>
                      <a:pt x="4" y="10"/>
                    </a:lnTo>
                    <a:lnTo>
                      <a:pt x="2" y="14"/>
                    </a:lnTo>
                  </a:path>
                </a:pathLst>
              </a:custGeom>
              <a:solidFill>
                <a:srgbClr val="339933"/>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58" name="Freeform 42"/>
              <p:cNvSpPr>
                <a:spLocks/>
              </p:cNvSpPr>
              <p:nvPr/>
            </p:nvSpPr>
            <p:spPr bwMode="auto">
              <a:xfrm>
                <a:off x="1991" y="3014"/>
                <a:ext cx="27" cy="40"/>
              </a:xfrm>
              <a:custGeom>
                <a:avLst/>
                <a:gdLst>
                  <a:gd name="T0" fmla="*/ 3 w 27"/>
                  <a:gd name="T1" fmla="*/ 13 h 40"/>
                  <a:gd name="T2" fmla="*/ 2 w 27"/>
                  <a:gd name="T3" fmla="*/ 18 h 40"/>
                  <a:gd name="T4" fmla="*/ 1 w 27"/>
                  <a:gd name="T5" fmla="*/ 21 h 40"/>
                  <a:gd name="T6" fmla="*/ 0 w 27"/>
                  <a:gd name="T7" fmla="*/ 26 h 40"/>
                  <a:gd name="T8" fmla="*/ 0 w 27"/>
                  <a:gd name="T9" fmla="*/ 29 h 40"/>
                  <a:gd name="T10" fmla="*/ 1 w 27"/>
                  <a:gd name="T11" fmla="*/ 32 h 40"/>
                  <a:gd name="T12" fmla="*/ 2 w 27"/>
                  <a:gd name="T13" fmla="*/ 35 h 40"/>
                  <a:gd name="T14" fmla="*/ 3 w 27"/>
                  <a:gd name="T15" fmla="*/ 36 h 40"/>
                  <a:gd name="T16" fmla="*/ 5 w 27"/>
                  <a:gd name="T17" fmla="*/ 39 h 40"/>
                  <a:gd name="T18" fmla="*/ 7 w 27"/>
                  <a:gd name="T19" fmla="*/ 39 h 40"/>
                  <a:gd name="T20" fmla="*/ 9 w 27"/>
                  <a:gd name="T21" fmla="*/ 39 h 40"/>
                  <a:gd name="T22" fmla="*/ 12 w 27"/>
                  <a:gd name="T23" fmla="*/ 39 h 40"/>
                  <a:gd name="T24" fmla="*/ 14 w 27"/>
                  <a:gd name="T25" fmla="*/ 36 h 40"/>
                  <a:gd name="T26" fmla="*/ 17 w 27"/>
                  <a:gd name="T27" fmla="*/ 34 h 40"/>
                  <a:gd name="T28" fmla="*/ 19 w 27"/>
                  <a:gd name="T29" fmla="*/ 32 h 40"/>
                  <a:gd name="T30" fmla="*/ 21 w 27"/>
                  <a:gd name="T31" fmla="*/ 28 h 40"/>
                  <a:gd name="T32" fmla="*/ 23 w 27"/>
                  <a:gd name="T33" fmla="*/ 25 h 40"/>
                  <a:gd name="T34" fmla="*/ 24 w 27"/>
                  <a:gd name="T35" fmla="*/ 21 h 40"/>
                  <a:gd name="T36" fmla="*/ 25 w 27"/>
                  <a:gd name="T37" fmla="*/ 17 h 40"/>
                  <a:gd name="T38" fmla="*/ 26 w 27"/>
                  <a:gd name="T39" fmla="*/ 13 h 40"/>
                  <a:gd name="T40" fmla="*/ 26 w 27"/>
                  <a:gd name="T41" fmla="*/ 10 h 40"/>
                  <a:gd name="T42" fmla="*/ 25 w 27"/>
                  <a:gd name="T43" fmla="*/ 6 h 40"/>
                  <a:gd name="T44" fmla="*/ 24 w 27"/>
                  <a:gd name="T45" fmla="*/ 4 h 40"/>
                  <a:gd name="T46" fmla="*/ 23 w 27"/>
                  <a:gd name="T47" fmla="*/ 2 h 40"/>
                  <a:gd name="T48" fmla="*/ 21 w 27"/>
                  <a:gd name="T49" fmla="*/ 1 h 40"/>
                  <a:gd name="T50" fmla="*/ 19 w 27"/>
                  <a:gd name="T51" fmla="*/ 0 h 40"/>
                  <a:gd name="T52" fmla="*/ 16 w 27"/>
                  <a:gd name="T53" fmla="*/ 0 h 40"/>
                  <a:gd name="T54" fmla="*/ 14 w 27"/>
                  <a:gd name="T55" fmla="*/ 1 h 40"/>
                  <a:gd name="T56" fmla="*/ 12 w 27"/>
                  <a:gd name="T57" fmla="*/ 2 h 40"/>
                  <a:gd name="T58" fmla="*/ 9 w 27"/>
                  <a:gd name="T59" fmla="*/ 4 h 40"/>
                  <a:gd name="T60" fmla="*/ 7 w 27"/>
                  <a:gd name="T61" fmla="*/ 6 h 40"/>
                  <a:gd name="T62" fmla="*/ 5 w 27"/>
                  <a:gd name="T63" fmla="*/ 10 h 40"/>
                  <a:gd name="T64" fmla="*/ 3 w 27"/>
                  <a:gd name="T65" fmla="*/ 13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7" h="40">
                    <a:moveTo>
                      <a:pt x="3" y="13"/>
                    </a:moveTo>
                    <a:lnTo>
                      <a:pt x="2" y="18"/>
                    </a:lnTo>
                    <a:lnTo>
                      <a:pt x="1" y="21"/>
                    </a:lnTo>
                    <a:lnTo>
                      <a:pt x="0" y="26"/>
                    </a:lnTo>
                    <a:lnTo>
                      <a:pt x="0" y="29"/>
                    </a:lnTo>
                    <a:lnTo>
                      <a:pt x="1" y="32"/>
                    </a:lnTo>
                    <a:lnTo>
                      <a:pt x="2" y="35"/>
                    </a:lnTo>
                    <a:lnTo>
                      <a:pt x="3" y="36"/>
                    </a:lnTo>
                    <a:lnTo>
                      <a:pt x="5" y="39"/>
                    </a:lnTo>
                    <a:lnTo>
                      <a:pt x="7" y="39"/>
                    </a:lnTo>
                    <a:lnTo>
                      <a:pt x="9" y="39"/>
                    </a:lnTo>
                    <a:lnTo>
                      <a:pt x="12" y="39"/>
                    </a:lnTo>
                    <a:lnTo>
                      <a:pt x="14" y="36"/>
                    </a:lnTo>
                    <a:lnTo>
                      <a:pt x="17" y="34"/>
                    </a:lnTo>
                    <a:lnTo>
                      <a:pt x="19" y="32"/>
                    </a:lnTo>
                    <a:lnTo>
                      <a:pt x="21" y="28"/>
                    </a:lnTo>
                    <a:lnTo>
                      <a:pt x="23" y="25"/>
                    </a:lnTo>
                    <a:lnTo>
                      <a:pt x="24" y="21"/>
                    </a:lnTo>
                    <a:lnTo>
                      <a:pt x="25" y="17"/>
                    </a:lnTo>
                    <a:lnTo>
                      <a:pt x="26" y="13"/>
                    </a:lnTo>
                    <a:lnTo>
                      <a:pt x="26" y="10"/>
                    </a:lnTo>
                    <a:lnTo>
                      <a:pt x="25" y="6"/>
                    </a:lnTo>
                    <a:lnTo>
                      <a:pt x="24" y="4"/>
                    </a:lnTo>
                    <a:lnTo>
                      <a:pt x="23" y="2"/>
                    </a:lnTo>
                    <a:lnTo>
                      <a:pt x="21" y="1"/>
                    </a:lnTo>
                    <a:lnTo>
                      <a:pt x="19" y="0"/>
                    </a:lnTo>
                    <a:lnTo>
                      <a:pt x="16" y="0"/>
                    </a:lnTo>
                    <a:lnTo>
                      <a:pt x="14" y="1"/>
                    </a:lnTo>
                    <a:lnTo>
                      <a:pt x="12" y="2"/>
                    </a:lnTo>
                    <a:lnTo>
                      <a:pt x="9" y="4"/>
                    </a:lnTo>
                    <a:lnTo>
                      <a:pt x="7" y="6"/>
                    </a:lnTo>
                    <a:lnTo>
                      <a:pt x="5" y="10"/>
                    </a:lnTo>
                    <a:lnTo>
                      <a:pt x="3" y="13"/>
                    </a:lnTo>
                  </a:path>
                </a:pathLst>
              </a:custGeom>
              <a:solidFill>
                <a:srgbClr val="339933"/>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59" name="Freeform 43"/>
              <p:cNvSpPr>
                <a:spLocks/>
              </p:cNvSpPr>
              <p:nvPr/>
            </p:nvSpPr>
            <p:spPr bwMode="auto">
              <a:xfrm>
                <a:off x="1830" y="3306"/>
                <a:ext cx="22" cy="43"/>
              </a:xfrm>
              <a:custGeom>
                <a:avLst/>
                <a:gdLst>
                  <a:gd name="T0" fmla="*/ 0 w 22"/>
                  <a:gd name="T1" fmla="*/ 20 h 43"/>
                  <a:gd name="T2" fmla="*/ 0 w 22"/>
                  <a:gd name="T3" fmla="*/ 23 h 43"/>
                  <a:gd name="T4" fmla="*/ 0 w 22"/>
                  <a:gd name="T5" fmla="*/ 28 h 43"/>
                  <a:gd name="T6" fmla="*/ 0 w 22"/>
                  <a:gd name="T7" fmla="*/ 31 h 43"/>
                  <a:gd name="T8" fmla="*/ 1 w 22"/>
                  <a:gd name="T9" fmla="*/ 35 h 43"/>
                  <a:gd name="T10" fmla="*/ 2 w 22"/>
                  <a:gd name="T11" fmla="*/ 37 h 43"/>
                  <a:gd name="T12" fmla="*/ 4 w 22"/>
                  <a:gd name="T13" fmla="*/ 39 h 43"/>
                  <a:gd name="T14" fmla="*/ 6 w 22"/>
                  <a:gd name="T15" fmla="*/ 40 h 43"/>
                  <a:gd name="T16" fmla="*/ 8 w 22"/>
                  <a:gd name="T17" fmla="*/ 42 h 43"/>
                  <a:gd name="T18" fmla="*/ 11 w 22"/>
                  <a:gd name="T19" fmla="*/ 42 h 43"/>
                  <a:gd name="T20" fmla="*/ 13 w 22"/>
                  <a:gd name="T21" fmla="*/ 40 h 43"/>
                  <a:gd name="T22" fmla="*/ 15 w 22"/>
                  <a:gd name="T23" fmla="*/ 38 h 43"/>
                  <a:gd name="T24" fmla="*/ 17 w 22"/>
                  <a:gd name="T25" fmla="*/ 36 h 43"/>
                  <a:gd name="T26" fmla="*/ 18 w 22"/>
                  <a:gd name="T27" fmla="*/ 32 h 43"/>
                  <a:gd name="T28" fmla="*/ 19 w 22"/>
                  <a:gd name="T29" fmla="*/ 29 h 43"/>
                  <a:gd name="T30" fmla="*/ 20 w 22"/>
                  <a:gd name="T31" fmla="*/ 26 h 43"/>
                  <a:gd name="T32" fmla="*/ 21 w 22"/>
                  <a:gd name="T33" fmla="*/ 21 h 43"/>
                  <a:gd name="T34" fmla="*/ 20 w 22"/>
                  <a:gd name="T35" fmla="*/ 17 h 43"/>
                  <a:gd name="T36" fmla="*/ 20 w 22"/>
                  <a:gd name="T37" fmla="*/ 13 h 43"/>
                  <a:gd name="T38" fmla="*/ 19 w 22"/>
                  <a:gd name="T39" fmla="*/ 10 h 43"/>
                  <a:gd name="T40" fmla="*/ 18 w 22"/>
                  <a:gd name="T41" fmla="*/ 6 h 43"/>
                  <a:gd name="T42" fmla="*/ 17 w 22"/>
                  <a:gd name="T43" fmla="*/ 4 h 43"/>
                  <a:gd name="T44" fmla="*/ 15 w 22"/>
                  <a:gd name="T45" fmla="*/ 2 h 43"/>
                  <a:gd name="T46" fmla="*/ 13 w 22"/>
                  <a:gd name="T47" fmla="*/ 1 h 43"/>
                  <a:gd name="T48" fmla="*/ 11 w 22"/>
                  <a:gd name="T49" fmla="*/ 0 h 43"/>
                  <a:gd name="T50" fmla="*/ 8 w 22"/>
                  <a:gd name="T51" fmla="*/ 0 h 43"/>
                  <a:gd name="T52" fmla="*/ 6 w 22"/>
                  <a:gd name="T53" fmla="*/ 1 h 43"/>
                  <a:gd name="T54" fmla="*/ 4 w 22"/>
                  <a:gd name="T55" fmla="*/ 3 h 43"/>
                  <a:gd name="T56" fmla="*/ 2 w 22"/>
                  <a:gd name="T57" fmla="*/ 5 h 43"/>
                  <a:gd name="T58" fmla="*/ 1 w 22"/>
                  <a:gd name="T59" fmla="*/ 9 h 43"/>
                  <a:gd name="T60" fmla="*/ 0 w 22"/>
                  <a:gd name="T61" fmla="*/ 12 h 43"/>
                  <a:gd name="T62" fmla="*/ 0 w 22"/>
                  <a:gd name="T63" fmla="*/ 15 h 43"/>
                  <a:gd name="T64" fmla="*/ 0 w 22"/>
                  <a:gd name="T65" fmla="*/ 2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2" h="43">
                    <a:moveTo>
                      <a:pt x="0" y="20"/>
                    </a:moveTo>
                    <a:lnTo>
                      <a:pt x="0" y="23"/>
                    </a:lnTo>
                    <a:lnTo>
                      <a:pt x="0" y="28"/>
                    </a:lnTo>
                    <a:lnTo>
                      <a:pt x="0" y="31"/>
                    </a:lnTo>
                    <a:lnTo>
                      <a:pt x="1" y="35"/>
                    </a:lnTo>
                    <a:lnTo>
                      <a:pt x="2" y="37"/>
                    </a:lnTo>
                    <a:lnTo>
                      <a:pt x="4" y="39"/>
                    </a:lnTo>
                    <a:lnTo>
                      <a:pt x="6" y="40"/>
                    </a:lnTo>
                    <a:lnTo>
                      <a:pt x="8" y="42"/>
                    </a:lnTo>
                    <a:lnTo>
                      <a:pt x="11" y="42"/>
                    </a:lnTo>
                    <a:lnTo>
                      <a:pt x="13" y="40"/>
                    </a:lnTo>
                    <a:lnTo>
                      <a:pt x="15" y="38"/>
                    </a:lnTo>
                    <a:lnTo>
                      <a:pt x="17" y="36"/>
                    </a:lnTo>
                    <a:lnTo>
                      <a:pt x="18" y="32"/>
                    </a:lnTo>
                    <a:lnTo>
                      <a:pt x="19" y="29"/>
                    </a:lnTo>
                    <a:lnTo>
                      <a:pt x="20" y="26"/>
                    </a:lnTo>
                    <a:lnTo>
                      <a:pt x="21" y="21"/>
                    </a:lnTo>
                    <a:lnTo>
                      <a:pt x="20" y="17"/>
                    </a:lnTo>
                    <a:lnTo>
                      <a:pt x="20" y="13"/>
                    </a:lnTo>
                    <a:lnTo>
                      <a:pt x="19" y="10"/>
                    </a:lnTo>
                    <a:lnTo>
                      <a:pt x="18" y="6"/>
                    </a:lnTo>
                    <a:lnTo>
                      <a:pt x="17" y="4"/>
                    </a:lnTo>
                    <a:lnTo>
                      <a:pt x="15" y="2"/>
                    </a:lnTo>
                    <a:lnTo>
                      <a:pt x="13" y="1"/>
                    </a:lnTo>
                    <a:lnTo>
                      <a:pt x="11" y="0"/>
                    </a:lnTo>
                    <a:lnTo>
                      <a:pt x="8" y="0"/>
                    </a:lnTo>
                    <a:lnTo>
                      <a:pt x="6" y="1"/>
                    </a:lnTo>
                    <a:lnTo>
                      <a:pt x="4" y="3"/>
                    </a:lnTo>
                    <a:lnTo>
                      <a:pt x="2" y="5"/>
                    </a:lnTo>
                    <a:lnTo>
                      <a:pt x="1" y="9"/>
                    </a:lnTo>
                    <a:lnTo>
                      <a:pt x="0" y="12"/>
                    </a:lnTo>
                    <a:lnTo>
                      <a:pt x="0" y="15"/>
                    </a:lnTo>
                    <a:lnTo>
                      <a:pt x="0" y="20"/>
                    </a:lnTo>
                  </a:path>
                </a:pathLst>
              </a:custGeom>
              <a:solidFill>
                <a:srgbClr val="339933"/>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60" name="Freeform 44"/>
              <p:cNvSpPr>
                <a:spLocks/>
              </p:cNvSpPr>
              <p:nvPr/>
            </p:nvSpPr>
            <p:spPr bwMode="auto">
              <a:xfrm>
                <a:off x="1750" y="3291"/>
                <a:ext cx="23" cy="43"/>
              </a:xfrm>
              <a:custGeom>
                <a:avLst/>
                <a:gdLst>
                  <a:gd name="T0" fmla="*/ 0 w 23"/>
                  <a:gd name="T1" fmla="*/ 20 h 43"/>
                  <a:gd name="T2" fmla="*/ 0 w 23"/>
                  <a:gd name="T3" fmla="*/ 24 h 43"/>
                  <a:gd name="T4" fmla="*/ 0 w 23"/>
                  <a:gd name="T5" fmla="*/ 28 h 43"/>
                  <a:gd name="T6" fmla="*/ 1 w 23"/>
                  <a:gd name="T7" fmla="*/ 31 h 43"/>
                  <a:gd name="T8" fmla="*/ 2 w 23"/>
                  <a:gd name="T9" fmla="*/ 35 h 43"/>
                  <a:gd name="T10" fmla="*/ 4 w 23"/>
                  <a:gd name="T11" fmla="*/ 37 h 43"/>
                  <a:gd name="T12" fmla="*/ 6 w 23"/>
                  <a:gd name="T13" fmla="*/ 39 h 43"/>
                  <a:gd name="T14" fmla="*/ 8 w 23"/>
                  <a:gd name="T15" fmla="*/ 40 h 43"/>
                  <a:gd name="T16" fmla="*/ 10 w 23"/>
                  <a:gd name="T17" fmla="*/ 42 h 43"/>
                  <a:gd name="T18" fmla="*/ 12 w 23"/>
                  <a:gd name="T19" fmla="*/ 40 h 43"/>
                  <a:gd name="T20" fmla="*/ 14 w 23"/>
                  <a:gd name="T21" fmla="*/ 39 h 43"/>
                  <a:gd name="T22" fmla="*/ 16 w 23"/>
                  <a:gd name="T23" fmla="*/ 38 h 43"/>
                  <a:gd name="T24" fmla="*/ 18 w 23"/>
                  <a:gd name="T25" fmla="*/ 35 h 43"/>
                  <a:gd name="T26" fmla="*/ 19 w 23"/>
                  <a:gd name="T27" fmla="*/ 32 h 43"/>
                  <a:gd name="T28" fmla="*/ 20 w 23"/>
                  <a:gd name="T29" fmla="*/ 29 h 43"/>
                  <a:gd name="T30" fmla="*/ 21 w 23"/>
                  <a:gd name="T31" fmla="*/ 24 h 43"/>
                  <a:gd name="T32" fmla="*/ 22 w 23"/>
                  <a:gd name="T33" fmla="*/ 21 h 43"/>
                  <a:gd name="T34" fmla="*/ 21 w 23"/>
                  <a:gd name="T35" fmla="*/ 17 h 43"/>
                  <a:gd name="T36" fmla="*/ 21 w 23"/>
                  <a:gd name="T37" fmla="*/ 13 h 43"/>
                  <a:gd name="T38" fmla="*/ 20 w 23"/>
                  <a:gd name="T39" fmla="*/ 9 h 43"/>
                  <a:gd name="T40" fmla="*/ 19 w 23"/>
                  <a:gd name="T41" fmla="*/ 6 h 43"/>
                  <a:gd name="T42" fmla="*/ 17 w 23"/>
                  <a:gd name="T43" fmla="*/ 3 h 43"/>
                  <a:gd name="T44" fmla="*/ 15 w 23"/>
                  <a:gd name="T45" fmla="*/ 2 h 43"/>
                  <a:gd name="T46" fmla="*/ 13 w 23"/>
                  <a:gd name="T47" fmla="*/ 0 h 43"/>
                  <a:gd name="T48" fmla="*/ 11 w 23"/>
                  <a:gd name="T49" fmla="*/ 0 h 43"/>
                  <a:gd name="T50" fmla="*/ 9 w 23"/>
                  <a:gd name="T51" fmla="*/ 0 h 43"/>
                  <a:gd name="T52" fmla="*/ 7 w 23"/>
                  <a:gd name="T53" fmla="*/ 1 h 43"/>
                  <a:gd name="T54" fmla="*/ 5 w 23"/>
                  <a:gd name="T55" fmla="*/ 3 h 43"/>
                  <a:gd name="T56" fmla="*/ 3 w 23"/>
                  <a:gd name="T57" fmla="*/ 5 h 43"/>
                  <a:gd name="T58" fmla="*/ 2 w 23"/>
                  <a:gd name="T59" fmla="*/ 9 h 43"/>
                  <a:gd name="T60" fmla="*/ 1 w 23"/>
                  <a:gd name="T61" fmla="*/ 12 h 43"/>
                  <a:gd name="T62" fmla="*/ 0 w 23"/>
                  <a:gd name="T63" fmla="*/ 15 h 43"/>
                  <a:gd name="T64" fmla="*/ 0 w 23"/>
                  <a:gd name="T65" fmla="*/ 2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 h="43">
                    <a:moveTo>
                      <a:pt x="0" y="20"/>
                    </a:moveTo>
                    <a:lnTo>
                      <a:pt x="0" y="24"/>
                    </a:lnTo>
                    <a:lnTo>
                      <a:pt x="0" y="28"/>
                    </a:lnTo>
                    <a:lnTo>
                      <a:pt x="1" y="31"/>
                    </a:lnTo>
                    <a:lnTo>
                      <a:pt x="2" y="35"/>
                    </a:lnTo>
                    <a:lnTo>
                      <a:pt x="4" y="37"/>
                    </a:lnTo>
                    <a:lnTo>
                      <a:pt x="6" y="39"/>
                    </a:lnTo>
                    <a:lnTo>
                      <a:pt x="8" y="40"/>
                    </a:lnTo>
                    <a:lnTo>
                      <a:pt x="10" y="42"/>
                    </a:lnTo>
                    <a:lnTo>
                      <a:pt x="12" y="40"/>
                    </a:lnTo>
                    <a:lnTo>
                      <a:pt x="14" y="39"/>
                    </a:lnTo>
                    <a:lnTo>
                      <a:pt x="16" y="38"/>
                    </a:lnTo>
                    <a:lnTo>
                      <a:pt x="18" y="35"/>
                    </a:lnTo>
                    <a:lnTo>
                      <a:pt x="19" y="32"/>
                    </a:lnTo>
                    <a:lnTo>
                      <a:pt x="20" y="29"/>
                    </a:lnTo>
                    <a:lnTo>
                      <a:pt x="21" y="24"/>
                    </a:lnTo>
                    <a:lnTo>
                      <a:pt x="22" y="21"/>
                    </a:lnTo>
                    <a:lnTo>
                      <a:pt x="21" y="17"/>
                    </a:lnTo>
                    <a:lnTo>
                      <a:pt x="21" y="13"/>
                    </a:lnTo>
                    <a:lnTo>
                      <a:pt x="20" y="9"/>
                    </a:lnTo>
                    <a:lnTo>
                      <a:pt x="19" y="6"/>
                    </a:lnTo>
                    <a:lnTo>
                      <a:pt x="17" y="3"/>
                    </a:lnTo>
                    <a:lnTo>
                      <a:pt x="15" y="2"/>
                    </a:lnTo>
                    <a:lnTo>
                      <a:pt x="13" y="0"/>
                    </a:lnTo>
                    <a:lnTo>
                      <a:pt x="11" y="0"/>
                    </a:lnTo>
                    <a:lnTo>
                      <a:pt x="9" y="0"/>
                    </a:lnTo>
                    <a:lnTo>
                      <a:pt x="7" y="1"/>
                    </a:lnTo>
                    <a:lnTo>
                      <a:pt x="5" y="3"/>
                    </a:lnTo>
                    <a:lnTo>
                      <a:pt x="3" y="5"/>
                    </a:lnTo>
                    <a:lnTo>
                      <a:pt x="2" y="9"/>
                    </a:lnTo>
                    <a:lnTo>
                      <a:pt x="1" y="12"/>
                    </a:lnTo>
                    <a:lnTo>
                      <a:pt x="0" y="15"/>
                    </a:lnTo>
                    <a:lnTo>
                      <a:pt x="0" y="20"/>
                    </a:lnTo>
                  </a:path>
                </a:pathLst>
              </a:custGeom>
              <a:solidFill>
                <a:srgbClr val="339933"/>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nvGrpSpPr>
            <p:cNvPr id="9271" name="Group 55"/>
            <p:cNvGrpSpPr>
              <a:grpSpLocks/>
            </p:cNvGrpSpPr>
            <p:nvPr/>
          </p:nvGrpSpPr>
          <p:grpSpPr bwMode="auto">
            <a:xfrm>
              <a:off x="1698" y="2928"/>
              <a:ext cx="303" cy="399"/>
              <a:chOff x="1698" y="2928"/>
              <a:chExt cx="303" cy="399"/>
            </a:xfrm>
          </p:grpSpPr>
          <p:sp>
            <p:nvSpPr>
              <p:cNvPr id="9262" name="Freeform 46"/>
              <p:cNvSpPr>
                <a:spLocks/>
              </p:cNvSpPr>
              <p:nvPr/>
            </p:nvSpPr>
            <p:spPr bwMode="auto">
              <a:xfrm>
                <a:off x="1705" y="2954"/>
                <a:ext cx="296" cy="373"/>
              </a:xfrm>
              <a:custGeom>
                <a:avLst/>
                <a:gdLst>
                  <a:gd name="T0" fmla="*/ 2 w 296"/>
                  <a:gd name="T1" fmla="*/ 353 h 373"/>
                  <a:gd name="T2" fmla="*/ 1 w 296"/>
                  <a:gd name="T3" fmla="*/ 348 h 373"/>
                  <a:gd name="T4" fmla="*/ 0 w 296"/>
                  <a:gd name="T5" fmla="*/ 334 h 373"/>
                  <a:gd name="T6" fmla="*/ 0 w 296"/>
                  <a:gd name="T7" fmla="*/ 315 h 373"/>
                  <a:gd name="T8" fmla="*/ 0 w 296"/>
                  <a:gd name="T9" fmla="*/ 290 h 373"/>
                  <a:gd name="T10" fmla="*/ 2 w 296"/>
                  <a:gd name="T11" fmla="*/ 262 h 373"/>
                  <a:gd name="T12" fmla="*/ 6 w 296"/>
                  <a:gd name="T13" fmla="*/ 234 h 373"/>
                  <a:gd name="T14" fmla="*/ 15 w 296"/>
                  <a:gd name="T15" fmla="*/ 209 h 373"/>
                  <a:gd name="T16" fmla="*/ 26 w 296"/>
                  <a:gd name="T17" fmla="*/ 186 h 373"/>
                  <a:gd name="T18" fmla="*/ 40 w 296"/>
                  <a:gd name="T19" fmla="*/ 170 h 373"/>
                  <a:gd name="T20" fmla="*/ 54 w 296"/>
                  <a:gd name="T21" fmla="*/ 161 h 373"/>
                  <a:gd name="T22" fmla="*/ 68 w 296"/>
                  <a:gd name="T23" fmla="*/ 155 h 373"/>
                  <a:gd name="T24" fmla="*/ 80 w 296"/>
                  <a:gd name="T25" fmla="*/ 151 h 373"/>
                  <a:gd name="T26" fmla="*/ 94 w 296"/>
                  <a:gd name="T27" fmla="*/ 146 h 373"/>
                  <a:gd name="T28" fmla="*/ 107 w 296"/>
                  <a:gd name="T29" fmla="*/ 139 h 373"/>
                  <a:gd name="T30" fmla="*/ 121 w 296"/>
                  <a:gd name="T31" fmla="*/ 127 h 373"/>
                  <a:gd name="T32" fmla="*/ 134 w 296"/>
                  <a:gd name="T33" fmla="*/ 108 h 373"/>
                  <a:gd name="T34" fmla="*/ 146 w 296"/>
                  <a:gd name="T35" fmla="*/ 85 h 373"/>
                  <a:gd name="T36" fmla="*/ 154 w 296"/>
                  <a:gd name="T37" fmla="*/ 63 h 373"/>
                  <a:gd name="T38" fmla="*/ 160 w 296"/>
                  <a:gd name="T39" fmla="*/ 45 h 373"/>
                  <a:gd name="T40" fmla="*/ 164 w 296"/>
                  <a:gd name="T41" fmla="*/ 29 h 373"/>
                  <a:gd name="T42" fmla="*/ 167 w 296"/>
                  <a:gd name="T43" fmla="*/ 17 h 373"/>
                  <a:gd name="T44" fmla="*/ 168 w 296"/>
                  <a:gd name="T45" fmla="*/ 7 h 373"/>
                  <a:gd name="T46" fmla="*/ 168 w 296"/>
                  <a:gd name="T47" fmla="*/ 1 h 373"/>
                  <a:gd name="T48" fmla="*/ 168 w 296"/>
                  <a:gd name="T49" fmla="*/ 0 h 373"/>
                  <a:gd name="T50" fmla="*/ 295 w 296"/>
                  <a:gd name="T51" fmla="*/ 19 h 373"/>
                  <a:gd name="T52" fmla="*/ 294 w 296"/>
                  <a:gd name="T53" fmla="*/ 25 h 373"/>
                  <a:gd name="T54" fmla="*/ 292 w 296"/>
                  <a:gd name="T55" fmla="*/ 39 h 373"/>
                  <a:gd name="T56" fmla="*/ 287 w 296"/>
                  <a:gd name="T57" fmla="*/ 60 h 373"/>
                  <a:gd name="T58" fmla="*/ 281 w 296"/>
                  <a:gd name="T59" fmla="*/ 85 h 373"/>
                  <a:gd name="T60" fmla="*/ 273 w 296"/>
                  <a:gd name="T61" fmla="*/ 112 h 373"/>
                  <a:gd name="T62" fmla="*/ 264 w 296"/>
                  <a:gd name="T63" fmla="*/ 136 h 373"/>
                  <a:gd name="T64" fmla="*/ 253 w 296"/>
                  <a:gd name="T65" fmla="*/ 158 h 373"/>
                  <a:gd name="T66" fmla="*/ 242 w 296"/>
                  <a:gd name="T67" fmla="*/ 171 h 373"/>
                  <a:gd name="T68" fmla="*/ 228 w 296"/>
                  <a:gd name="T69" fmla="*/ 180 h 373"/>
                  <a:gd name="T70" fmla="*/ 212 w 296"/>
                  <a:gd name="T71" fmla="*/ 186 h 373"/>
                  <a:gd name="T72" fmla="*/ 194 w 296"/>
                  <a:gd name="T73" fmla="*/ 191 h 373"/>
                  <a:gd name="T74" fmla="*/ 176 w 296"/>
                  <a:gd name="T75" fmla="*/ 195 h 373"/>
                  <a:gd name="T76" fmla="*/ 159 w 296"/>
                  <a:gd name="T77" fmla="*/ 202 h 373"/>
                  <a:gd name="T78" fmla="*/ 145 w 296"/>
                  <a:gd name="T79" fmla="*/ 211 h 373"/>
                  <a:gd name="T80" fmla="*/ 132 w 296"/>
                  <a:gd name="T81" fmla="*/ 224 h 373"/>
                  <a:gd name="T82" fmla="*/ 124 w 296"/>
                  <a:gd name="T83" fmla="*/ 242 h 373"/>
                  <a:gd name="T84" fmla="*/ 121 w 296"/>
                  <a:gd name="T85" fmla="*/ 263 h 373"/>
                  <a:gd name="T86" fmla="*/ 118 w 296"/>
                  <a:gd name="T87" fmla="*/ 286 h 373"/>
                  <a:gd name="T88" fmla="*/ 117 w 296"/>
                  <a:gd name="T89" fmla="*/ 308 h 373"/>
                  <a:gd name="T90" fmla="*/ 117 w 296"/>
                  <a:gd name="T91" fmla="*/ 327 h 373"/>
                  <a:gd name="T92" fmla="*/ 118 w 296"/>
                  <a:gd name="T93" fmla="*/ 345 h 373"/>
                  <a:gd name="T94" fmla="*/ 119 w 296"/>
                  <a:gd name="T95" fmla="*/ 359 h 373"/>
                  <a:gd name="T96" fmla="*/ 120 w 296"/>
                  <a:gd name="T97" fmla="*/ 368 h 373"/>
                  <a:gd name="T98" fmla="*/ 121 w 296"/>
                  <a:gd name="T99" fmla="*/ 372 h 373"/>
                  <a:gd name="T100" fmla="*/ 2 w 296"/>
                  <a:gd name="T101" fmla="*/ 353 h 3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96" h="373">
                    <a:moveTo>
                      <a:pt x="2" y="353"/>
                    </a:moveTo>
                    <a:lnTo>
                      <a:pt x="1" y="348"/>
                    </a:lnTo>
                    <a:lnTo>
                      <a:pt x="0" y="334"/>
                    </a:lnTo>
                    <a:lnTo>
                      <a:pt x="0" y="315"/>
                    </a:lnTo>
                    <a:lnTo>
                      <a:pt x="0" y="290"/>
                    </a:lnTo>
                    <a:lnTo>
                      <a:pt x="2" y="262"/>
                    </a:lnTo>
                    <a:lnTo>
                      <a:pt x="6" y="234"/>
                    </a:lnTo>
                    <a:lnTo>
                      <a:pt x="15" y="209"/>
                    </a:lnTo>
                    <a:lnTo>
                      <a:pt x="26" y="186"/>
                    </a:lnTo>
                    <a:lnTo>
                      <a:pt x="40" y="170"/>
                    </a:lnTo>
                    <a:lnTo>
                      <a:pt x="54" y="161"/>
                    </a:lnTo>
                    <a:lnTo>
                      <a:pt x="68" y="155"/>
                    </a:lnTo>
                    <a:lnTo>
                      <a:pt x="80" y="151"/>
                    </a:lnTo>
                    <a:lnTo>
                      <a:pt x="94" y="146"/>
                    </a:lnTo>
                    <a:lnTo>
                      <a:pt x="107" y="139"/>
                    </a:lnTo>
                    <a:lnTo>
                      <a:pt x="121" y="127"/>
                    </a:lnTo>
                    <a:lnTo>
                      <a:pt x="134" y="108"/>
                    </a:lnTo>
                    <a:lnTo>
                      <a:pt x="146" y="85"/>
                    </a:lnTo>
                    <a:lnTo>
                      <a:pt x="154" y="63"/>
                    </a:lnTo>
                    <a:lnTo>
                      <a:pt x="160" y="45"/>
                    </a:lnTo>
                    <a:lnTo>
                      <a:pt x="164" y="29"/>
                    </a:lnTo>
                    <a:lnTo>
                      <a:pt x="167" y="17"/>
                    </a:lnTo>
                    <a:lnTo>
                      <a:pt x="168" y="7"/>
                    </a:lnTo>
                    <a:lnTo>
                      <a:pt x="168" y="1"/>
                    </a:lnTo>
                    <a:lnTo>
                      <a:pt x="168" y="0"/>
                    </a:lnTo>
                    <a:lnTo>
                      <a:pt x="295" y="19"/>
                    </a:lnTo>
                    <a:lnTo>
                      <a:pt x="294" y="25"/>
                    </a:lnTo>
                    <a:lnTo>
                      <a:pt x="292" y="39"/>
                    </a:lnTo>
                    <a:lnTo>
                      <a:pt x="287" y="60"/>
                    </a:lnTo>
                    <a:lnTo>
                      <a:pt x="281" y="85"/>
                    </a:lnTo>
                    <a:lnTo>
                      <a:pt x="273" y="112"/>
                    </a:lnTo>
                    <a:lnTo>
                      <a:pt x="264" y="136"/>
                    </a:lnTo>
                    <a:lnTo>
                      <a:pt x="253" y="158"/>
                    </a:lnTo>
                    <a:lnTo>
                      <a:pt x="242" y="171"/>
                    </a:lnTo>
                    <a:lnTo>
                      <a:pt x="228" y="180"/>
                    </a:lnTo>
                    <a:lnTo>
                      <a:pt x="212" y="186"/>
                    </a:lnTo>
                    <a:lnTo>
                      <a:pt x="194" y="191"/>
                    </a:lnTo>
                    <a:lnTo>
                      <a:pt x="176" y="195"/>
                    </a:lnTo>
                    <a:lnTo>
                      <a:pt x="159" y="202"/>
                    </a:lnTo>
                    <a:lnTo>
                      <a:pt x="145" y="211"/>
                    </a:lnTo>
                    <a:lnTo>
                      <a:pt x="132" y="224"/>
                    </a:lnTo>
                    <a:lnTo>
                      <a:pt x="124" y="242"/>
                    </a:lnTo>
                    <a:lnTo>
                      <a:pt x="121" y="263"/>
                    </a:lnTo>
                    <a:lnTo>
                      <a:pt x="118" y="286"/>
                    </a:lnTo>
                    <a:lnTo>
                      <a:pt x="117" y="308"/>
                    </a:lnTo>
                    <a:lnTo>
                      <a:pt x="117" y="327"/>
                    </a:lnTo>
                    <a:lnTo>
                      <a:pt x="118" y="345"/>
                    </a:lnTo>
                    <a:lnTo>
                      <a:pt x="119" y="359"/>
                    </a:lnTo>
                    <a:lnTo>
                      <a:pt x="120" y="368"/>
                    </a:lnTo>
                    <a:lnTo>
                      <a:pt x="121" y="372"/>
                    </a:lnTo>
                    <a:lnTo>
                      <a:pt x="2" y="353"/>
                    </a:lnTo>
                  </a:path>
                </a:pathLst>
              </a:custGeom>
              <a:solidFill>
                <a:srgbClr val="000000"/>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63" name="Freeform 47"/>
              <p:cNvSpPr>
                <a:spLocks/>
              </p:cNvSpPr>
              <p:nvPr/>
            </p:nvSpPr>
            <p:spPr bwMode="auto">
              <a:xfrm>
                <a:off x="1698" y="2928"/>
                <a:ext cx="298" cy="373"/>
              </a:xfrm>
              <a:custGeom>
                <a:avLst/>
                <a:gdLst>
                  <a:gd name="T0" fmla="*/ 2 w 298"/>
                  <a:gd name="T1" fmla="*/ 353 h 373"/>
                  <a:gd name="T2" fmla="*/ 1 w 298"/>
                  <a:gd name="T3" fmla="*/ 349 h 373"/>
                  <a:gd name="T4" fmla="*/ 0 w 298"/>
                  <a:gd name="T5" fmla="*/ 335 h 373"/>
                  <a:gd name="T6" fmla="*/ 0 w 298"/>
                  <a:gd name="T7" fmla="*/ 315 h 373"/>
                  <a:gd name="T8" fmla="*/ 0 w 298"/>
                  <a:gd name="T9" fmla="*/ 290 h 373"/>
                  <a:gd name="T10" fmla="*/ 2 w 298"/>
                  <a:gd name="T11" fmla="*/ 262 h 373"/>
                  <a:gd name="T12" fmla="*/ 7 w 298"/>
                  <a:gd name="T13" fmla="*/ 235 h 373"/>
                  <a:gd name="T14" fmla="*/ 15 w 298"/>
                  <a:gd name="T15" fmla="*/ 209 h 373"/>
                  <a:gd name="T16" fmla="*/ 27 w 298"/>
                  <a:gd name="T17" fmla="*/ 186 h 373"/>
                  <a:gd name="T18" fmla="*/ 41 w 298"/>
                  <a:gd name="T19" fmla="*/ 171 h 373"/>
                  <a:gd name="T20" fmla="*/ 54 w 298"/>
                  <a:gd name="T21" fmla="*/ 161 h 373"/>
                  <a:gd name="T22" fmla="*/ 68 w 298"/>
                  <a:gd name="T23" fmla="*/ 155 h 373"/>
                  <a:gd name="T24" fmla="*/ 81 w 298"/>
                  <a:gd name="T25" fmla="*/ 152 h 373"/>
                  <a:gd name="T26" fmla="*/ 94 w 298"/>
                  <a:gd name="T27" fmla="*/ 147 h 373"/>
                  <a:gd name="T28" fmla="*/ 108 w 298"/>
                  <a:gd name="T29" fmla="*/ 141 h 373"/>
                  <a:gd name="T30" fmla="*/ 121 w 298"/>
                  <a:gd name="T31" fmla="*/ 128 h 373"/>
                  <a:gd name="T32" fmla="*/ 135 w 298"/>
                  <a:gd name="T33" fmla="*/ 109 h 373"/>
                  <a:gd name="T34" fmla="*/ 146 w 298"/>
                  <a:gd name="T35" fmla="*/ 85 h 373"/>
                  <a:gd name="T36" fmla="*/ 155 w 298"/>
                  <a:gd name="T37" fmla="*/ 64 h 373"/>
                  <a:gd name="T38" fmla="*/ 162 w 298"/>
                  <a:gd name="T39" fmla="*/ 46 h 373"/>
                  <a:gd name="T40" fmla="*/ 165 w 298"/>
                  <a:gd name="T41" fmla="*/ 30 h 373"/>
                  <a:gd name="T42" fmla="*/ 167 w 298"/>
                  <a:gd name="T43" fmla="*/ 18 h 373"/>
                  <a:gd name="T44" fmla="*/ 168 w 298"/>
                  <a:gd name="T45" fmla="*/ 7 h 373"/>
                  <a:gd name="T46" fmla="*/ 168 w 298"/>
                  <a:gd name="T47" fmla="*/ 2 h 373"/>
                  <a:gd name="T48" fmla="*/ 168 w 298"/>
                  <a:gd name="T49" fmla="*/ 0 h 373"/>
                  <a:gd name="T50" fmla="*/ 297 w 298"/>
                  <a:gd name="T51" fmla="*/ 20 h 373"/>
                  <a:gd name="T52" fmla="*/ 296 w 298"/>
                  <a:gd name="T53" fmla="*/ 25 h 373"/>
                  <a:gd name="T54" fmla="*/ 293 w 298"/>
                  <a:gd name="T55" fmla="*/ 39 h 373"/>
                  <a:gd name="T56" fmla="*/ 288 w 298"/>
                  <a:gd name="T57" fmla="*/ 61 h 373"/>
                  <a:gd name="T58" fmla="*/ 282 w 298"/>
                  <a:gd name="T59" fmla="*/ 86 h 373"/>
                  <a:gd name="T60" fmla="*/ 274 w 298"/>
                  <a:gd name="T61" fmla="*/ 112 h 373"/>
                  <a:gd name="T62" fmla="*/ 265 w 298"/>
                  <a:gd name="T63" fmla="*/ 137 h 373"/>
                  <a:gd name="T64" fmla="*/ 254 w 298"/>
                  <a:gd name="T65" fmla="*/ 158 h 373"/>
                  <a:gd name="T66" fmla="*/ 243 w 298"/>
                  <a:gd name="T67" fmla="*/ 172 h 373"/>
                  <a:gd name="T68" fmla="*/ 229 w 298"/>
                  <a:gd name="T69" fmla="*/ 180 h 373"/>
                  <a:gd name="T70" fmla="*/ 213 w 298"/>
                  <a:gd name="T71" fmla="*/ 186 h 373"/>
                  <a:gd name="T72" fmla="*/ 194 w 298"/>
                  <a:gd name="T73" fmla="*/ 191 h 373"/>
                  <a:gd name="T74" fmla="*/ 177 w 298"/>
                  <a:gd name="T75" fmla="*/ 196 h 373"/>
                  <a:gd name="T76" fmla="*/ 160 w 298"/>
                  <a:gd name="T77" fmla="*/ 202 h 373"/>
                  <a:gd name="T78" fmla="*/ 145 w 298"/>
                  <a:gd name="T79" fmla="*/ 211 h 373"/>
                  <a:gd name="T80" fmla="*/ 133 w 298"/>
                  <a:gd name="T81" fmla="*/ 224 h 373"/>
                  <a:gd name="T82" fmla="*/ 125 w 298"/>
                  <a:gd name="T83" fmla="*/ 242 h 373"/>
                  <a:gd name="T84" fmla="*/ 121 w 298"/>
                  <a:gd name="T85" fmla="*/ 265 h 373"/>
                  <a:gd name="T86" fmla="*/ 118 w 298"/>
                  <a:gd name="T87" fmla="*/ 286 h 373"/>
                  <a:gd name="T88" fmla="*/ 117 w 298"/>
                  <a:gd name="T89" fmla="*/ 308 h 373"/>
                  <a:gd name="T90" fmla="*/ 117 w 298"/>
                  <a:gd name="T91" fmla="*/ 328 h 373"/>
                  <a:gd name="T92" fmla="*/ 118 w 298"/>
                  <a:gd name="T93" fmla="*/ 345 h 373"/>
                  <a:gd name="T94" fmla="*/ 119 w 298"/>
                  <a:gd name="T95" fmla="*/ 359 h 373"/>
                  <a:gd name="T96" fmla="*/ 120 w 298"/>
                  <a:gd name="T97" fmla="*/ 368 h 373"/>
                  <a:gd name="T98" fmla="*/ 121 w 298"/>
                  <a:gd name="T99" fmla="*/ 372 h 373"/>
                  <a:gd name="T100" fmla="*/ 2 w 298"/>
                  <a:gd name="T101" fmla="*/ 353 h 3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98" h="373">
                    <a:moveTo>
                      <a:pt x="2" y="353"/>
                    </a:moveTo>
                    <a:lnTo>
                      <a:pt x="1" y="349"/>
                    </a:lnTo>
                    <a:lnTo>
                      <a:pt x="0" y="335"/>
                    </a:lnTo>
                    <a:lnTo>
                      <a:pt x="0" y="315"/>
                    </a:lnTo>
                    <a:lnTo>
                      <a:pt x="0" y="290"/>
                    </a:lnTo>
                    <a:lnTo>
                      <a:pt x="2" y="262"/>
                    </a:lnTo>
                    <a:lnTo>
                      <a:pt x="7" y="235"/>
                    </a:lnTo>
                    <a:lnTo>
                      <a:pt x="15" y="209"/>
                    </a:lnTo>
                    <a:lnTo>
                      <a:pt x="27" y="186"/>
                    </a:lnTo>
                    <a:lnTo>
                      <a:pt x="41" y="171"/>
                    </a:lnTo>
                    <a:lnTo>
                      <a:pt x="54" y="161"/>
                    </a:lnTo>
                    <a:lnTo>
                      <a:pt x="68" y="155"/>
                    </a:lnTo>
                    <a:lnTo>
                      <a:pt x="81" y="152"/>
                    </a:lnTo>
                    <a:lnTo>
                      <a:pt x="94" y="147"/>
                    </a:lnTo>
                    <a:lnTo>
                      <a:pt x="108" y="141"/>
                    </a:lnTo>
                    <a:lnTo>
                      <a:pt x="121" y="128"/>
                    </a:lnTo>
                    <a:lnTo>
                      <a:pt x="135" y="109"/>
                    </a:lnTo>
                    <a:lnTo>
                      <a:pt x="146" y="85"/>
                    </a:lnTo>
                    <a:lnTo>
                      <a:pt x="155" y="64"/>
                    </a:lnTo>
                    <a:lnTo>
                      <a:pt x="162" y="46"/>
                    </a:lnTo>
                    <a:lnTo>
                      <a:pt x="165" y="30"/>
                    </a:lnTo>
                    <a:lnTo>
                      <a:pt x="167" y="18"/>
                    </a:lnTo>
                    <a:lnTo>
                      <a:pt x="168" y="7"/>
                    </a:lnTo>
                    <a:lnTo>
                      <a:pt x="168" y="2"/>
                    </a:lnTo>
                    <a:lnTo>
                      <a:pt x="168" y="0"/>
                    </a:lnTo>
                    <a:lnTo>
                      <a:pt x="297" y="20"/>
                    </a:lnTo>
                    <a:lnTo>
                      <a:pt x="296" y="25"/>
                    </a:lnTo>
                    <a:lnTo>
                      <a:pt x="293" y="39"/>
                    </a:lnTo>
                    <a:lnTo>
                      <a:pt x="288" y="61"/>
                    </a:lnTo>
                    <a:lnTo>
                      <a:pt x="282" y="86"/>
                    </a:lnTo>
                    <a:lnTo>
                      <a:pt x="274" y="112"/>
                    </a:lnTo>
                    <a:lnTo>
                      <a:pt x="265" y="137"/>
                    </a:lnTo>
                    <a:lnTo>
                      <a:pt x="254" y="158"/>
                    </a:lnTo>
                    <a:lnTo>
                      <a:pt x="243" y="172"/>
                    </a:lnTo>
                    <a:lnTo>
                      <a:pt x="229" y="180"/>
                    </a:lnTo>
                    <a:lnTo>
                      <a:pt x="213" y="186"/>
                    </a:lnTo>
                    <a:lnTo>
                      <a:pt x="194" y="191"/>
                    </a:lnTo>
                    <a:lnTo>
                      <a:pt x="177" y="196"/>
                    </a:lnTo>
                    <a:lnTo>
                      <a:pt x="160" y="202"/>
                    </a:lnTo>
                    <a:lnTo>
                      <a:pt x="145" y="211"/>
                    </a:lnTo>
                    <a:lnTo>
                      <a:pt x="133" y="224"/>
                    </a:lnTo>
                    <a:lnTo>
                      <a:pt x="125" y="242"/>
                    </a:lnTo>
                    <a:lnTo>
                      <a:pt x="121" y="265"/>
                    </a:lnTo>
                    <a:lnTo>
                      <a:pt x="118" y="286"/>
                    </a:lnTo>
                    <a:lnTo>
                      <a:pt x="117" y="308"/>
                    </a:lnTo>
                    <a:lnTo>
                      <a:pt x="117" y="328"/>
                    </a:lnTo>
                    <a:lnTo>
                      <a:pt x="118" y="345"/>
                    </a:lnTo>
                    <a:lnTo>
                      <a:pt x="119" y="359"/>
                    </a:lnTo>
                    <a:lnTo>
                      <a:pt x="120" y="368"/>
                    </a:lnTo>
                    <a:lnTo>
                      <a:pt x="121" y="372"/>
                    </a:lnTo>
                    <a:lnTo>
                      <a:pt x="2" y="353"/>
                    </a:lnTo>
                  </a:path>
                </a:pathLst>
              </a:custGeom>
              <a:solidFill>
                <a:srgbClr val="00CC66"/>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64" name="Freeform 48"/>
              <p:cNvSpPr>
                <a:spLocks/>
              </p:cNvSpPr>
              <p:nvPr/>
            </p:nvSpPr>
            <p:spPr bwMode="auto">
              <a:xfrm>
                <a:off x="1715" y="2957"/>
                <a:ext cx="258" cy="320"/>
              </a:xfrm>
              <a:custGeom>
                <a:avLst/>
                <a:gdLst>
                  <a:gd name="T0" fmla="*/ 1 w 258"/>
                  <a:gd name="T1" fmla="*/ 304 h 320"/>
                  <a:gd name="T2" fmla="*/ 1 w 258"/>
                  <a:gd name="T3" fmla="*/ 300 h 320"/>
                  <a:gd name="T4" fmla="*/ 0 w 258"/>
                  <a:gd name="T5" fmla="*/ 288 h 320"/>
                  <a:gd name="T6" fmla="*/ 0 w 258"/>
                  <a:gd name="T7" fmla="*/ 271 h 320"/>
                  <a:gd name="T8" fmla="*/ 0 w 258"/>
                  <a:gd name="T9" fmla="*/ 249 h 320"/>
                  <a:gd name="T10" fmla="*/ 0 w 258"/>
                  <a:gd name="T11" fmla="*/ 226 h 320"/>
                  <a:gd name="T12" fmla="*/ 4 w 258"/>
                  <a:gd name="T13" fmla="*/ 203 h 320"/>
                  <a:gd name="T14" fmla="*/ 11 w 258"/>
                  <a:gd name="T15" fmla="*/ 182 h 320"/>
                  <a:gd name="T16" fmla="*/ 22 w 258"/>
                  <a:gd name="T17" fmla="*/ 165 h 320"/>
                  <a:gd name="T18" fmla="*/ 35 w 258"/>
                  <a:gd name="T19" fmla="*/ 152 h 320"/>
                  <a:gd name="T20" fmla="*/ 50 w 258"/>
                  <a:gd name="T21" fmla="*/ 143 h 320"/>
                  <a:gd name="T22" fmla="*/ 66 w 258"/>
                  <a:gd name="T23" fmla="*/ 135 h 320"/>
                  <a:gd name="T24" fmla="*/ 82 w 258"/>
                  <a:gd name="T25" fmla="*/ 128 h 320"/>
                  <a:gd name="T26" fmla="*/ 99 w 258"/>
                  <a:gd name="T27" fmla="*/ 120 h 320"/>
                  <a:gd name="T28" fmla="*/ 113 w 258"/>
                  <a:gd name="T29" fmla="*/ 108 h 320"/>
                  <a:gd name="T30" fmla="*/ 127 w 258"/>
                  <a:gd name="T31" fmla="*/ 92 h 320"/>
                  <a:gd name="T32" fmla="*/ 138 w 258"/>
                  <a:gd name="T33" fmla="*/ 68 h 320"/>
                  <a:gd name="T34" fmla="*/ 145 w 258"/>
                  <a:gd name="T35" fmla="*/ 48 h 320"/>
                  <a:gd name="T36" fmla="*/ 151 w 258"/>
                  <a:gd name="T37" fmla="*/ 34 h 320"/>
                  <a:gd name="T38" fmla="*/ 154 w 258"/>
                  <a:gd name="T39" fmla="*/ 21 h 320"/>
                  <a:gd name="T40" fmla="*/ 158 w 258"/>
                  <a:gd name="T41" fmla="*/ 12 h 320"/>
                  <a:gd name="T42" fmla="*/ 160 w 258"/>
                  <a:gd name="T43" fmla="*/ 6 h 320"/>
                  <a:gd name="T44" fmla="*/ 161 w 258"/>
                  <a:gd name="T45" fmla="*/ 2 h 320"/>
                  <a:gd name="T46" fmla="*/ 162 w 258"/>
                  <a:gd name="T47" fmla="*/ 0 h 320"/>
                  <a:gd name="T48" fmla="*/ 162 w 258"/>
                  <a:gd name="T49" fmla="*/ 0 h 320"/>
                  <a:gd name="T50" fmla="*/ 257 w 258"/>
                  <a:gd name="T51" fmla="*/ 17 h 320"/>
                  <a:gd name="T52" fmla="*/ 256 w 258"/>
                  <a:gd name="T53" fmla="*/ 21 h 320"/>
                  <a:gd name="T54" fmla="*/ 253 w 258"/>
                  <a:gd name="T55" fmla="*/ 33 h 320"/>
                  <a:gd name="T56" fmla="*/ 249 w 258"/>
                  <a:gd name="T57" fmla="*/ 48 h 320"/>
                  <a:gd name="T58" fmla="*/ 244 w 258"/>
                  <a:gd name="T59" fmla="*/ 68 h 320"/>
                  <a:gd name="T60" fmla="*/ 237 w 258"/>
                  <a:gd name="T61" fmla="*/ 88 h 320"/>
                  <a:gd name="T62" fmla="*/ 230 w 258"/>
                  <a:gd name="T63" fmla="*/ 108 h 320"/>
                  <a:gd name="T64" fmla="*/ 221 w 258"/>
                  <a:gd name="T65" fmla="*/ 124 h 320"/>
                  <a:gd name="T66" fmla="*/ 211 w 258"/>
                  <a:gd name="T67" fmla="*/ 134 h 320"/>
                  <a:gd name="T68" fmla="*/ 199 w 258"/>
                  <a:gd name="T69" fmla="*/ 141 h 320"/>
                  <a:gd name="T70" fmla="*/ 183 w 258"/>
                  <a:gd name="T71" fmla="*/ 146 h 320"/>
                  <a:gd name="T72" fmla="*/ 166 w 258"/>
                  <a:gd name="T73" fmla="*/ 152 h 320"/>
                  <a:gd name="T74" fmla="*/ 148 w 258"/>
                  <a:gd name="T75" fmla="*/ 158 h 320"/>
                  <a:gd name="T76" fmla="*/ 129 w 258"/>
                  <a:gd name="T77" fmla="*/ 166 h 320"/>
                  <a:gd name="T78" fmla="*/ 113 w 258"/>
                  <a:gd name="T79" fmla="*/ 176 h 320"/>
                  <a:gd name="T80" fmla="*/ 100 w 258"/>
                  <a:gd name="T81" fmla="*/ 190 h 320"/>
                  <a:gd name="T82" fmla="*/ 90 w 258"/>
                  <a:gd name="T83" fmla="*/ 207 h 320"/>
                  <a:gd name="T84" fmla="*/ 85 w 258"/>
                  <a:gd name="T85" fmla="*/ 224 h 320"/>
                  <a:gd name="T86" fmla="*/ 82 w 258"/>
                  <a:gd name="T87" fmla="*/ 242 h 320"/>
                  <a:gd name="T88" fmla="*/ 82 w 258"/>
                  <a:gd name="T89" fmla="*/ 260 h 320"/>
                  <a:gd name="T90" fmla="*/ 82 w 258"/>
                  <a:gd name="T91" fmla="*/ 279 h 320"/>
                  <a:gd name="T92" fmla="*/ 84 w 258"/>
                  <a:gd name="T93" fmla="*/ 293 h 320"/>
                  <a:gd name="T94" fmla="*/ 86 w 258"/>
                  <a:gd name="T95" fmla="*/ 306 h 320"/>
                  <a:gd name="T96" fmla="*/ 88 w 258"/>
                  <a:gd name="T97" fmla="*/ 315 h 320"/>
                  <a:gd name="T98" fmla="*/ 88 w 258"/>
                  <a:gd name="T99" fmla="*/ 319 h 320"/>
                  <a:gd name="T100" fmla="*/ 1 w 258"/>
                  <a:gd name="T101" fmla="*/ 304 h 3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58" h="320">
                    <a:moveTo>
                      <a:pt x="1" y="304"/>
                    </a:moveTo>
                    <a:lnTo>
                      <a:pt x="1" y="300"/>
                    </a:lnTo>
                    <a:lnTo>
                      <a:pt x="0" y="288"/>
                    </a:lnTo>
                    <a:lnTo>
                      <a:pt x="0" y="271"/>
                    </a:lnTo>
                    <a:lnTo>
                      <a:pt x="0" y="249"/>
                    </a:lnTo>
                    <a:lnTo>
                      <a:pt x="0" y="226"/>
                    </a:lnTo>
                    <a:lnTo>
                      <a:pt x="4" y="203"/>
                    </a:lnTo>
                    <a:lnTo>
                      <a:pt x="11" y="182"/>
                    </a:lnTo>
                    <a:lnTo>
                      <a:pt x="22" y="165"/>
                    </a:lnTo>
                    <a:lnTo>
                      <a:pt x="35" y="152"/>
                    </a:lnTo>
                    <a:lnTo>
                      <a:pt x="50" y="143"/>
                    </a:lnTo>
                    <a:lnTo>
                      <a:pt x="66" y="135"/>
                    </a:lnTo>
                    <a:lnTo>
                      <a:pt x="82" y="128"/>
                    </a:lnTo>
                    <a:lnTo>
                      <a:pt x="99" y="120"/>
                    </a:lnTo>
                    <a:lnTo>
                      <a:pt x="113" y="108"/>
                    </a:lnTo>
                    <a:lnTo>
                      <a:pt x="127" y="92"/>
                    </a:lnTo>
                    <a:lnTo>
                      <a:pt x="138" y="68"/>
                    </a:lnTo>
                    <a:lnTo>
                      <a:pt x="145" y="48"/>
                    </a:lnTo>
                    <a:lnTo>
                      <a:pt x="151" y="34"/>
                    </a:lnTo>
                    <a:lnTo>
                      <a:pt x="154" y="21"/>
                    </a:lnTo>
                    <a:lnTo>
                      <a:pt x="158" y="12"/>
                    </a:lnTo>
                    <a:lnTo>
                      <a:pt x="160" y="6"/>
                    </a:lnTo>
                    <a:lnTo>
                      <a:pt x="161" y="2"/>
                    </a:lnTo>
                    <a:lnTo>
                      <a:pt x="162" y="0"/>
                    </a:lnTo>
                    <a:lnTo>
                      <a:pt x="162" y="0"/>
                    </a:lnTo>
                    <a:lnTo>
                      <a:pt x="257" y="17"/>
                    </a:lnTo>
                    <a:lnTo>
                      <a:pt x="256" y="21"/>
                    </a:lnTo>
                    <a:lnTo>
                      <a:pt x="253" y="33"/>
                    </a:lnTo>
                    <a:lnTo>
                      <a:pt x="249" y="48"/>
                    </a:lnTo>
                    <a:lnTo>
                      <a:pt x="244" y="68"/>
                    </a:lnTo>
                    <a:lnTo>
                      <a:pt x="237" y="88"/>
                    </a:lnTo>
                    <a:lnTo>
                      <a:pt x="230" y="108"/>
                    </a:lnTo>
                    <a:lnTo>
                      <a:pt x="221" y="124"/>
                    </a:lnTo>
                    <a:lnTo>
                      <a:pt x="211" y="134"/>
                    </a:lnTo>
                    <a:lnTo>
                      <a:pt x="199" y="141"/>
                    </a:lnTo>
                    <a:lnTo>
                      <a:pt x="183" y="146"/>
                    </a:lnTo>
                    <a:lnTo>
                      <a:pt x="166" y="152"/>
                    </a:lnTo>
                    <a:lnTo>
                      <a:pt x="148" y="158"/>
                    </a:lnTo>
                    <a:lnTo>
                      <a:pt x="129" y="166"/>
                    </a:lnTo>
                    <a:lnTo>
                      <a:pt x="113" y="176"/>
                    </a:lnTo>
                    <a:lnTo>
                      <a:pt x="100" y="190"/>
                    </a:lnTo>
                    <a:lnTo>
                      <a:pt x="90" y="207"/>
                    </a:lnTo>
                    <a:lnTo>
                      <a:pt x="85" y="224"/>
                    </a:lnTo>
                    <a:lnTo>
                      <a:pt x="82" y="242"/>
                    </a:lnTo>
                    <a:lnTo>
                      <a:pt x="82" y="260"/>
                    </a:lnTo>
                    <a:lnTo>
                      <a:pt x="82" y="279"/>
                    </a:lnTo>
                    <a:lnTo>
                      <a:pt x="84" y="293"/>
                    </a:lnTo>
                    <a:lnTo>
                      <a:pt x="86" y="306"/>
                    </a:lnTo>
                    <a:lnTo>
                      <a:pt x="88" y="315"/>
                    </a:lnTo>
                    <a:lnTo>
                      <a:pt x="88" y="319"/>
                    </a:lnTo>
                    <a:lnTo>
                      <a:pt x="1" y="304"/>
                    </a:lnTo>
                  </a:path>
                </a:pathLst>
              </a:custGeom>
              <a:solidFill>
                <a:srgbClr val="CCFFCC"/>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65" name="Freeform 49"/>
              <p:cNvSpPr>
                <a:spLocks/>
              </p:cNvSpPr>
              <p:nvPr/>
            </p:nvSpPr>
            <p:spPr bwMode="auto">
              <a:xfrm>
                <a:off x="1767" y="3076"/>
                <a:ext cx="122" cy="55"/>
              </a:xfrm>
              <a:custGeom>
                <a:avLst/>
                <a:gdLst>
                  <a:gd name="T0" fmla="*/ 64 w 122"/>
                  <a:gd name="T1" fmla="*/ 51 h 55"/>
                  <a:gd name="T2" fmla="*/ 75 w 122"/>
                  <a:gd name="T3" fmla="*/ 48 h 55"/>
                  <a:gd name="T4" fmla="*/ 87 w 122"/>
                  <a:gd name="T5" fmla="*/ 45 h 55"/>
                  <a:gd name="T6" fmla="*/ 96 w 122"/>
                  <a:gd name="T7" fmla="*/ 40 h 55"/>
                  <a:gd name="T8" fmla="*/ 105 w 122"/>
                  <a:gd name="T9" fmla="*/ 36 h 55"/>
                  <a:gd name="T10" fmla="*/ 112 w 122"/>
                  <a:gd name="T11" fmla="*/ 30 h 55"/>
                  <a:gd name="T12" fmla="*/ 117 w 122"/>
                  <a:gd name="T13" fmla="*/ 25 h 55"/>
                  <a:gd name="T14" fmla="*/ 120 w 122"/>
                  <a:gd name="T15" fmla="*/ 20 h 55"/>
                  <a:gd name="T16" fmla="*/ 121 w 122"/>
                  <a:gd name="T17" fmla="*/ 14 h 55"/>
                  <a:gd name="T18" fmla="*/ 119 w 122"/>
                  <a:gd name="T19" fmla="*/ 10 h 55"/>
                  <a:gd name="T20" fmla="*/ 115 w 122"/>
                  <a:gd name="T21" fmla="*/ 6 h 55"/>
                  <a:gd name="T22" fmla="*/ 108 w 122"/>
                  <a:gd name="T23" fmla="*/ 3 h 55"/>
                  <a:gd name="T24" fmla="*/ 100 w 122"/>
                  <a:gd name="T25" fmla="*/ 1 h 55"/>
                  <a:gd name="T26" fmla="*/ 91 w 122"/>
                  <a:gd name="T27" fmla="*/ 0 h 55"/>
                  <a:gd name="T28" fmla="*/ 80 w 122"/>
                  <a:gd name="T29" fmla="*/ 0 h 55"/>
                  <a:gd name="T30" fmla="*/ 69 w 122"/>
                  <a:gd name="T31" fmla="*/ 0 h 55"/>
                  <a:gd name="T32" fmla="*/ 56 w 122"/>
                  <a:gd name="T33" fmla="*/ 2 h 55"/>
                  <a:gd name="T34" fmla="*/ 45 w 122"/>
                  <a:gd name="T35" fmla="*/ 5 h 55"/>
                  <a:gd name="T36" fmla="*/ 33 w 122"/>
                  <a:gd name="T37" fmla="*/ 9 h 55"/>
                  <a:gd name="T38" fmla="*/ 24 w 122"/>
                  <a:gd name="T39" fmla="*/ 13 h 55"/>
                  <a:gd name="T40" fmla="*/ 15 w 122"/>
                  <a:gd name="T41" fmla="*/ 18 h 55"/>
                  <a:gd name="T42" fmla="*/ 8 w 122"/>
                  <a:gd name="T43" fmla="*/ 22 h 55"/>
                  <a:gd name="T44" fmla="*/ 3 w 122"/>
                  <a:gd name="T45" fmla="*/ 28 h 55"/>
                  <a:gd name="T46" fmla="*/ 0 w 122"/>
                  <a:gd name="T47" fmla="*/ 33 h 55"/>
                  <a:gd name="T48" fmla="*/ 0 w 122"/>
                  <a:gd name="T49" fmla="*/ 38 h 55"/>
                  <a:gd name="T50" fmla="*/ 1 w 122"/>
                  <a:gd name="T51" fmla="*/ 43 h 55"/>
                  <a:gd name="T52" fmla="*/ 5 w 122"/>
                  <a:gd name="T53" fmla="*/ 47 h 55"/>
                  <a:gd name="T54" fmla="*/ 12 w 122"/>
                  <a:gd name="T55" fmla="*/ 50 h 55"/>
                  <a:gd name="T56" fmla="*/ 20 w 122"/>
                  <a:gd name="T57" fmla="*/ 52 h 55"/>
                  <a:gd name="T58" fmla="*/ 29 w 122"/>
                  <a:gd name="T59" fmla="*/ 54 h 55"/>
                  <a:gd name="T60" fmla="*/ 40 w 122"/>
                  <a:gd name="T61" fmla="*/ 54 h 55"/>
                  <a:gd name="T62" fmla="*/ 51 w 122"/>
                  <a:gd name="T63" fmla="*/ 52 h 55"/>
                  <a:gd name="T64" fmla="*/ 64 w 122"/>
                  <a:gd name="T65" fmla="*/ 51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2" h="55">
                    <a:moveTo>
                      <a:pt x="64" y="51"/>
                    </a:moveTo>
                    <a:lnTo>
                      <a:pt x="75" y="48"/>
                    </a:lnTo>
                    <a:lnTo>
                      <a:pt x="87" y="45"/>
                    </a:lnTo>
                    <a:lnTo>
                      <a:pt x="96" y="40"/>
                    </a:lnTo>
                    <a:lnTo>
                      <a:pt x="105" y="36"/>
                    </a:lnTo>
                    <a:lnTo>
                      <a:pt x="112" y="30"/>
                    </a:lnTo>
                    <a:lnTo>
                      <a:pt x="117" y="25"/>
                    </a:lnTo>
                    <a:lnTo>
                      <a:pt x="120" y="20"/>
                    </a:lnTo>
                    <a:lnTo>
                      <a:pt x="121" y="14"/>
                    </a:lnTo>
                    <a:lnTo>
                      <a:pt x="119" y="10"/>
                    </a:lnTo>
                    <a:lnTo>
                      <a:pt x="115" y="6"/>
                    </a:lnTo>
                    <a:lnTo>
                      <a:pt x="108" y="3"/>
                    </a:lnTo>
                    <a:lnTo>
                      <a:pt x="100" y="1"/>
                    </a:lnTo>
                    <a:lnTo>
                      <a:pt x="91" y="0"/>
                    </a:lnTo>
                    <a:lnTo>
                      <a:pt x="80" y="0"/>
                    </a:lnTo>
                    <a:lnTo>
                      <a:pt x="69" y="0"/>
                    </a:lnTo>
                    <a:lnTo>
                      <a:pt x="56" y="2"/>
                    </a:lnTo>
                    <a:lnTo>
                      <a:pt x="45" y="5"/>
                    </a:lnTo>
                    <a:lnTo>
                      <a:pt x="33" y="9"/>
                    </a:lnTo>
                    <a:lnTo>
                      <a:pt x="24" y="13"/>
                    </a:lnTo>
                    <a:lnTo>
                      <a:pt x="15" y="18"/>
                    </a:lnTo>
                    <a:lnTo>
                      <a:pt x="8" y="22"/>
                    </a:lnTo>
                    <a:lnTo>
                      <a:pt x="3" y="28"/>
                    </a:lnTo>
                    <a:lnTo>
                      <a:pt x="0" y="33"/>
                    </a:lnTo>
                    <a:lnTo>
                      <a:pt x="0" y="38"/>
                    </a:lnTo>
                    <a:lnTo>
                      <a:pt x="1" y="43"/>
                    </a:lnTo>
                    <a:lnTo>
                      <a:pt x="5" y="47"/>
                    </a:lnTo>
                    <a:lnTo>
                      <a:pt x="12" y="50"/>
                    </a:lnTo>
                    <a:lnTo>
                      <a:pt x="20" y="52"/>
                    </a:lnTo>
                    <a:lnTo>
                      <a:pt x="29" y="54"/>
                    </a:lnTo>
                    <a:lnTo>
                      <a:pt x="40" y="54"/>
                    </a:lnTo>
                    <a:lnTo>
                      <a:pt x="51" y="52"/>
                    </a:lnTo>
                    <a:lnTo>
                      <a:pt x="64" y="51"/>
                    </a:lnTo>
                  </a:path>
                </a:pathLst>
              </a:custGeom>
              <a:solidFill>
                <a:srgbClr val="B2B2B2"/>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66" name="Freeform 50"/>
              <p:cNvSpPr>
                <a:spLocks/>
              </p:cNvSpPr>
              <p:nvPr/>
            </p:nvSpPr>
            <p:spPr bwMode="auto">
              <a:xfrm>
                <a:off x="1777" y="3080"/>
                <a:ext cx="103" cy="47"/>
              </a:xfrm>
              <a:custGeom>
                <a:avLst/>
                <a:gdLst>
                  <a:gd name="T0" fmla="*/ 53 w 103"/>
                  <a:gd name="T1" fmla="*/ 43 h 47"/>
                  <a:gd name="T2" fmla="*/ 64 w 103"/>
                  <a:gd name="T3" fmla="*/ 41 h 47"/>
                  <a:gd name="T4" fmla="*/ 73 w 103"/>
                  <a:gd name="T5" fmla="*/ 37 h 47"/>
                  <a:gd name="T6" fmla="*/ 81 w 103"/>
                  <a:gd name="T7" fmla="*/ 34 h 47"/>
                  <a:gd name="T8" fmla="*/ 88 w 103"/>
                  <a:gd name="T9" fmla="*/ 29 h 47"/>
                  <a:gd name="T10" fmla="*/ 94 w 103"/>
                  <a:gd name="T11" fmla="*/ 26 h 47"/>
                  <a:gd name="T12" fmla="*/ 99 w 103"/>
                  <a:gd name="T13" fmla="*/ 21 h 47"/>
                  <a:gd name="T14" fmla="*/ 101 w 103"/>
                  <a:gd name="T15" fmla="*/ 17 h 47"/>
                  <a:gd name="T16" fmla="*/ 102 w 103"/>
                  <a:gd name="T17" fmla="*/ 12 h 47"/>
                  <a:gd name="T18" fmla="*/ 100 w 103"/>
                  <a:gd name="T19" fmla="*/ 9 h 47"/>
                  <a:gd name="T20" fmla="*/ 96 w 103"/>
                  <a:gd name="T21" fmla="*/ 5 h 47"/>
                  <a:gd name="T22" fmla="*/ 91 w 103"/>
                  <a:gd name="T23" fmla="*/ 2 h 47"/>
                  <a:gd name="T24" fmla="*/ 84 w 103"/>
                  <a:gd name="T25" fmla="*/ 1 h 47"/>
                  <a:gd name="T26" fmla="*/ 76 w 103"/>
                  <a:gd name="T27" fmla="*/ 0 h 47"/>
                  <a:gd name="T28" fmla="*/ 68 w 103"/>
                  <a:gd name="T29" fmla="*/ 0 h 47"/>
                  <a:gd name="T30" fmla="*/ 58 w 103"/>
                  <a:gd name="T31" fmla="*/ 0 h 47"/>
                  <a:gd name="T32" fmla="*/ 48 w 103"/>
                  <a:gd name="T33" fmla="*/ 2 h 47"/>
                  <a:gd name="T34" fmla="*/ 37 w 103"/>
                  <a:gd name="T35" fmla="*/ 4 h 47"/>
                  <a:gd name="T36" fmla="*/ 28 w 103"/>
                  <a:gd name="T37" fmla="*/ 6 h 47"/>
                  <a:gd name="T38" fmla="*/ 20 w 103"/>
                  <a:gd name="T39" fmla="*/ 11 h 47"/>
                  <a:gd name="T40" fmla="*/ 13 w 103"/>
                  <a:gd name="T41" fmla="*/ 14 h 47"/>
                  <a:gd name="T42" fmla="*/ 7 w 103"/>
                  <a:gd name="T43" fmla="*/ 19 h 47"/>
                  <a:gd name="T44" fmla="*/ 2 w 103"/>
                  <a:gd name="T45" fmla="*/ 24 h 47"/>
                  <a:gd name="T46" fmla="*/ 0 w 103"/>
                  <a:gd name="T47" fmla="*/ 28 h 47"/>
                  <a:gd name="T48" fmla="*/ 0 w 103"/>
                  <a:gd name="T49" fmla="*/ 33 h 47"/>
                  <a:gd name="T50" fmla="*/ 1 w 103"/>
                  <a:gd name="T51" fmla="*/ 36 h 47"/>
                  <a:gd name="T52" fmla="*/ 5 w 103"/>
                  <a:gd name="T53" fmla="*/ 40 h 47"/>
                  <a:gd name="T54" fmla="*/ 10 w 103"/>
                  <a:gd name="T55" fmla="*/ 42 h 47"/>
                  <a:gd name="T56" fmla="*/ 17 w 103"/>
                  <a:gd name="T57" fmla="*/ 44 h 47"/>
                  <a:gd name="T58" fmla="*/ 25 w 103"/>
                  <a:gd name="T59" fmla="*/ 46 h 47"/>
                  <a:gd name="T60" fmla="*/ 33 w 103"/>
                  <a:gd name="T61" fmla="*/ 46 h 47"/>
                  <a:gd name="T62" fmla="*/ 43 w 103"/>
                  <a:gd name="T63" fmla="*/ 44 h 47"/>
                  <a:gd name="T64" fmla="*/ 53 w 103"/>
                  <a:gd name="T65" fmla="*/ 43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3" h="47">
                    <a:moveTo>
                      <a:pt x="53" y="43"/>
                    </a:moveTo>
                    <a:lnTo>
                      <a:pt x="64" y="41"/>
                    </a:lnTo>
                    <a:lnTo>
                      <a:pt x="73" y="37"/>
                    </a:lnTo>
                    <a:lnTo>
                      <a:pt x="81" y="34"/>
                    </a:lnTo>
                    <a:lnTo>
                      <a:pt x="88" y="29"/>
                    </a:lnTo>
                    <a:lnTo>
                      <a:pt x="94" y="26"/>
                    </a:lnTo>
                    <a:lnTo>
                      <a:pt x="99" y="21"/>
                    </a:lnTo>
                    <a:lnTo>
                      <a:pt x="101" y="17"/>
                    </a:lnTo>
                    <a:lnTo>
                      <a:pt x="102" y="12"/>
                    </a:lnTo>
                    <a:lnTo>
                      <a:pt x="100" y="9"/>
                    </a:lnTo>
                    <a:lnTo>
                      <a:pt x="96" y="5"/>
                    </a:lnTo>
                    <a:lnTo>
                      <a:pt x="91" y="2"/>
                    </a:lnTo>
                    <a:lnTo>
                      <a:pt x="84" y="1"/>
                    </a:lnTo>
                    <a:lnTo>
                      <a:pt x="76" y="0"/>
                    </a:lnTo>
                    <a:lnTo>
                      <a:pt x="68" y="0"/>
                    </a:lnTo>
                    <a:lnTo>
                      <a:pt x="58" y="0"/>
                    </a:lnTo>
                    <a:lnTo>
                      <a:pt x="48" y="2"/>
                    </a:lnTo>
                    <a:lnTo>
                      <a:pt x="37" y="4"/>
                    </a:lnTo>
                    <a:lnTo>
                      <a:pt x="28" y="6"/>
                    </a:lnTo>
                    <a:lnTo>
                      <a:pt x="20" y="11"/>
                    </a:lnTo>
                    <a:lnTo>
                      <a:pt x="13" y="14"/>
                    </a:lnTo>
                    <a:lnTo>
                      <a:pt x="7" y="19"/>
                    </a:lnTo>
                    <a:lnTo>
                      <a:pt x="2" y="24"/>
                    </a:lnTo>
                    <a:lnTo>
                      <a:pt x="0" y="28"/>
                    </a:lnTo>
                    <a:lnTo>
                      <a:pt x="0" y="33"/>
                    </a:lnTo>
                    <a:lnTo>
                      <a:pt x="1" y="36"/>
                    </a:lnTo>
                    <a:lnTo>
                      <a:pt x="5" y="40"/>
                    </a:lnTo>
                    <a:lnTo>
                      <a:pt x="10" y="42"/>
                    </a:lnTo>
                    <a:lnTo>
                      <a:pt x="17" y="44"/>
                    </a:lnTo>
                    <a:lnTo>
                      <a:pt x="25" y="46"/>
                    </a:lnTo>
                    <a:lnTo>
                      <a:pt x="33" y="46"/>
                    </a:lnTo>
                    <a:lnTo>
                      <a:pt x="43" y="44"/>
                    </a:lnTo>
                    <a:lnTo>
                      <a:pt x="53" y="43"/>
                    </a:lnTo>
                  </a:path>
                </a:pathLst>
              </a:custGeom>
              <a:solidFill>
                <a:srgbClr val="339933"/>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67" name="Freeform 51"/>
              <p:cNvSpPr>
                <a:spLocks/>
              </p:cNvSpPr>
              <p:nvPr/>
            </p:nvSpPr>
            <p:spPr bwMode="auto">
              <a:xfrm>
                <a:off x="1869" y="2944"/>
                <a:ext cx="27" cy="40"/>
              </a:xfrm>
              <a:custGeom>
                <a:avLst/>
                <a:gdLst>
                  <a:gd name="T0" fmla="*/ 3 w 27"/>
                  <a:gd name="T1" fmla="*/ 14 h 40"/>
                  <a:gd name="T2" fmla="*/ 1 w 27"/>
                  <a:gd name="T3" fmla="*/ 17 h 40"/>
                  <a:gd name="T4" fmla="*/ 1 w 27"/>
                  <a:gd name="T5" fmla="*/ 21 h 40"/>
                  <a:gd name="T6" fmla="*/ 0 w 27"/>
                  <a:gd name="T7" fmla="*/ 25 h 40"/>
                  <a:gd name="T8" fmla="*/ 0 w 27"/>
                  <a:gd name="T9" fmla="*/ 28 h 40"/>
                  <a:gd name="T10" fmla="*/ 1 w 27"/>
                  <a:gd name="T11" fmla="*/ 31 h 40"/>
                  <a:gd name="T12" fmla="*/ 2 w 27"/>
                  <a:gd name="T13" fmla="*/ 34 h 40"/>
                  <a:gd name="T14" fmla="*/ 3 w 27"/>
                  <a:gd name="T15" fmla="*/ 36 h 40"/>
                  <a:gd name="T16" fmla="*/ 5 w 27"/>
                  <a:gd name="T17" fmla="*/ 37 h 40"/>
                  <a:gd name="T18" fmla="*/ 7 w 27"/>
                  <a:gd name="T19" fmla="*/ 39 h 40"/>
                  <a:gd name="T20" fmla="*/ 9 w 27"/>
                  <a:gd name="T21" fmla="*/ 39 h 40"/>
                  <a:gd name="T22" fmla="*/ 12 w 27"/>
                  <a:gd name="T23" fmla="*/ 37 h 40"/>
                  <a:gd name="T24" fmla="*/ 14 w 27"/>
                  <a:gd name="T25" fmla="*/ 36 h 40"/>
                  <a:gd name="T26" fmla="*/ 17 w 27"/>
                  <a:gd name="T27" fmla="*/ 34 h 40"/>
                  <a:gd name="T28" fmla="*/ 19 w 27"/>
                  <a:gd name="T29" fmla="*/ 31 h 40"/>
                  <a:gd name="T30" fmla="*/ 21 w 27"/>
                  <a:gd name="T31" fmla="*/ 27 h 40"/>
                  <a:gd name="T32" fmla="*/ 23 w 27"/>
                  <a:gd name="T33" fmla="*/ 24 h 40"/>
                  <a:gd name="T34" fmla="*/ 24 w 27"/>
                  <a:gd name="T35" fmla="*/ 21 h 40"/>
                  <a:gd name="T36" fmla="*/ 25 w 27"/>
                  <a:gd name="T37" fmla="*/ 16 h 40"/>
                  <a:gd name="T38" fmla="*/ 26 w 27"/>
                  <a:gd name="T39" fmla="*/ 13 h 40"/>
                  <a:gd name="T40" fmla="*/ 25 w 27"/>
                  <a:gd name="T41" fmla="*/ 10 h 40"/>
                  <a:gd name="T42" fmla="*/ 25 w 27"/>
                  <a:gd name="T43" fmla="*/ 6 h 40"/>
                  <a:gd name="T44" fmla="*/ 24 w 27"/>
                  <a:gd name="T45" fmla="*/ 4 h 40"/>
                  <a:gd name="T46" fmla="*/ 23 w 27"/>
                  <a:gd name="T47" fmla="*/ 2 h 40"/>
                  <a:gd name="T48" fmla="*/ 21 w 27"/>
                  <a:gd name="T49" fmla="*/ 1 h 40"/>
                  <a:gd name="T50" fmla="*/ 19 w 27"/>
                  <a:gd name="T51" fmla="*/ 0 h 40"/>
                  <a:gd name="T52" fmla="*/ 16 w 27"/>
                  <a:gd name="T53" fmla="*/ 0 h 40"/>
                  <a:gd name="T54" fmla="*/ 14 w 27"/>
                  <a:gd name="T55" fmla="*/ 1 h 40"/>
                  <a:gd name="T56" fmla="*/ 11 w 27"/>
                  <a:gd name="T57" fmla="*/ 2 h 40"/>
                  <a:gd name="T58" fmla="*/ 9 w 27"/>
                  <a:gd name="T59" fmla="*/ 4 h 40"/>
                  <a:gd name="T60" fmla="*/ 7 w 27"/>
                  <a:gd name="T61" fmla="*/ 7 h 40"/>
                  <a:gd name="T62" fmla="*/ 5 w 27"/>
                  <a:gd name="T63" fmla="*/ 10 h 40"/>
                  <a:gd name="T64" fmla="*/ 3 w 27"/>
                  <a:gd name="T65" fmla="*/ 14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7" h="40">
                    <a:moveTo>
                      <a:pt x="3" y="14"/>
                    </a:moveTo>
                    <a:lnTo>
                      <a:pt x="1" y="17"/>
                    </a:lnTo>
                    <a:lnTo>
                      <a:pt x="1" y="21"/>
                    </a:lnTo>
                    <a:lnTo>
                      <a:pt x="0" y="25"/>
                    </a:lnTo>
                    <a:lnTo>
                      <a:pt x="0" y="28"/>
                    </a:lnTo>
                    <a:lnTo>
                      <a:pt x="1" y="31"/>
                    </a:lnTo>
                    <a:lnTo>
                      <a:pt x="2" y="34"/>
                    </a:lnTo>
                    <a:lnTo>
                      <a:pt x="3" y="36"/>
                    </a:lnTo>
                    <a:lnTo>
                      <a:pt x="5" y="37"/>
                    </a:lnTo>
                    <a:lnTo>
                      <a:pt x="7" y="39"/>
                    </a:lnTo>
                    <a:lnTo>
                      <a:pt x="9" y="39"/>
                    </a:lnTo>
                    <a:lnTo>
                      <a:pt x="12" y="37"/>
                    </a:lnTo>
                    <a:lnTo>
                      <a:pt x="14" y="36"/>
                    </a:lnTo>
                    <a:lnTo>
                      <a:pt x="17" y="34"/>
                    </a:lnTo>
                    <a:lnTo>
                      <a:pt x="19" y="31"/>
                    </a:lnTo>
                    <a:lnTo>
                      <a:pt x="21" y="27"/>
                    </a:lnTo>
                    <a:lnTo>
                      <a:pt x="23" y="24"/>
                    </a:lnTo>
                    <a:lnTo>
                      <a:pt x="24" y="21"/>
                    </a:lnTo>
                    <a:lnTo>
                      <a:pt x="25" y="16"/>
                    </a:lnTo>
                    <a:lnTo>
                      <a:pt x="26" y="13"/>
                    </a:lnTo>
                    <a:lnTo>
                      <a:pt x="25" y="10"/>
                    </a:lnTo>
                    <a:lnTo>
                      <a:pt x="25" y="6"/>
                    </a:lnTo>
                    <a:lnTo>
                      <a:pt x="24" y="4"/>
                    </a:lnTo>
                    <a:lnTo>
                      <a:pt x="23" y="2"/>
                    </a:lnTo>
                    <a:lnTo>
                      <a:pt x="21" y="1"/>
                    </a:lnTo>
                    <a:lnTo>
                      <a:pt x="19" y="0"/>
                    </a:lnTo>
                    <a:lnTo>
                      <a:pt x="16" y="0"/>
                    </a:lnTo>
                    <a:lnTo>
                      <a:pt x="14" y="1"/>
                    </a:lnTo>
                    <a:lnTo>
                      <a:pt x="11" y="2"/>
                    </a:lnTo>
                    <a:lnTo>
                      <a:pt x="9" y="4"/>
                    </a:lnTo>
                    <a:lnTo>
                      <a:pt x="7" y="7"/>
                    </a:lnTo>
                    <a:lnTo>
                      <a:pt x="5" y="10"/>
                    </a:lnTo>
                    <a:lnTo>
                      <a:pt x="3" y="14"/>
                    </a:lnTo>
                  </a:path>
                </a:pathLst>
              </a:custGeom>
              <a:solidFill>
                <a:srgbClr val="339933"/>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68" name="Freeform 52"/>
              <p:cNvSpPr>
                <a:spLocks/>
              </p:cNvSpPr>
              <p:nvPr/>
            </p:nvSpPr>
            <p:spPr bwMode="auto">
              <a:xfrm>
                <a:off x="1950" y="2956"/>
                <a:ext cx="26" cy="40"/>
              </a:xfrm>
              <a:custGeom>
                <a:avLst/>
                <a:gdLst>
                  <a:gd name="T0" fmla="*/ 2 w 26"/>
                  <a:gd name="T1" fmla="*/ 13 h 40"/>
                  <a:gd name="T2" fmla="*/ 1 w 26"/>
                  <a:gd name="T3" fmla="*/ 18 h 40"/>
                  <a:gd name="T4" fmla="*/ 0 w 26"/>
                  <a:gd name="T5" fmla="*/ 21 h 40"/>
                  <a:gd name="T6" fmla="*/ 0 w 26"/>
                  <a:gd name="T7" fmla="*/ 26 h 40"/>
                  <a:gd name="T8" fmla="*/ 0 w 26"/>
                  <a:gd name="T9" fmla="*/ 29 h 40"/>
                  <a:gd name="T10" fmla="*/ 0 w 26"/>
                  <a:gd name="T11" fmla="*/ 32 h 40"/>
                  <a:gd name="T12" fmla="*/ 1 w 26"/>
                  <a:gd name="T13" fmla="*/ 35 h 40"/>
                  <a:gd name="T14" fmla="*/ 2 w 26"/>
                  <a:gd name="T15" fmla="*/ 36 h 40"/>
                  <a:gd name="T16" fmla="*/ 4 w 26"/>
                  <a:gd name="T17" fmla="*/ 39 h 40"/>
                  <a:gd name="T18" fmla="*/ 6 w 26"/>
                  <a:gd name="T19" fmla="*/ 39 h 40"/>
                  <a:gd name="T20" fmla="*/ 8 w 26"/>
                  <a:gd name="T21" fmla="*/ 39 h 40"/>
                  <a:gd name="T22" fmla="*/ 11 w 26"/>
                  <a:gd name="T23" fmla="*/ 39 h 40"/>
                  <a:gd name="T24" fmla="*/ 13 w 26"/>
                  <a:gd name="T25" fmla="*/ 36 h 40"/>
                  <a:gd name="T26" fmla="*/ 16 w 26"/>
                  <a:gd name="T27" fmla="*/ 34 h 40"/>
                  <a:gd name="T28" fmla="*/ 18 w 26"/>
                  <a:gd name="T29" fmla="*/ 32 h 40"/>
                  <a:gd name="T30" fmla="*/ 20 w 26"/>
                  <a:gd name="T31" fmla="*/ 28 h 40"/>
                  <a:gd name="T32" fmla="*/ 22 w 26"/>
                  <a:gd name="T33" fmla="*/ 25 h 40"/>
                  <a:gd name="T34" fmla="*/ 23 w 26"/>
                  <a:gd name="T35" fmla="*/ 21 h 40"/>
                  <a:gd name="T36" fmla="*/ 24 w 26"/>
                  <a:gd name="T37" fmla="*/ 17 h 40"/>
                  <a:gd name="T38" fmla="*/ 25 w 26"/>
                  <a:gd name="T39" fmla="*/ 13 h 40"/>
                  <a:gd name="T40" fmla="*/ 25 w 26"/>
                  <a:gd name="T41" fmla="*/ 10 h 40"/>
                  <a:gd name="T42" fmla="*/ 24 w 26"/>
                  <a:gd name="T43" fmla="*/ 6 h 40"/>
                  <a:gd name="T44" fmla="*/ 23 w 26"/>
                  <a:gd name="T45" fmla="*/ 4 h 40"/>
                  <a:gd name="T46" fmla="*/ 22 w 26"/>
                  <a:gd name="T47" fmla="*/ 2 h 40"/>
                  <a:gd name="T48" fmla="*/ 20 w 26"/>
                  <a:gd name="T49" fmla="*/ 1 h 40"/>
                  <a:gd name="T50" fmla="*/ 18 w 26"/>
                  <a:gd name="T51" fmla="*/ 0 h 40"/>
                  <a:gd name="T52" fmla="*/ 15 w 26"/>
                  <a:gd name="T53" fmla="*/ 0 h 40"/>
                  <a:gd name="T54" fmla="*/ 13 w 26"/>
                  <a:gd name="T55" fmla="*/ 1 h 40"/>
                  <a:gd name="T56" fmla="*/ 11 w 26"/>
                  <a:gd name="T57" fmla="*/ 2 h 40"/>
                  <a:gd name="T58" fmla="*/ 8 w 26"/>
                  <a:gd name="T59" fmla="*/ 4 h 40"/>
                  <a:gd name="T60" fmla="*/ 6 w 26"/>
                  <a:gd name="T61" fmla="*/ 6 h 40"/>
                  <a:gd name="T62" fmla="*/ 4 w 26"/>
                  <a:gd name="T63" fmla="*/ 10 h 40"/>
                  <a:gd name="T64" fmla="*/ 2 w 26"/>
                  <a:gd name="T65" fmla="*/ 13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6" h="40">
                    <a:moveTo>
                      <a:pt x="2" y="13"/>
                    </a:moveTo>
                    <a:lnTo>
                      <a:pt x="1" y="18"/>
                    </a:lnTo>
                    <a:lnTo>
                      <a:pt x="0" y="21"/>
                    </a:lnTo>
                    <a:lnTo>
                      <a:pt x="0" y="26"/>
                    </a:lnTo>
                    <a:lnTo>
                      <a:pt x="0" y="29"/>
                    </a:lnTo>
                    <a:lnTo>
                      <a:pt x="0" y="32"/>
                    </a:lnTo>
                    <a:lnTo>
                      <a:pt x="1" y="35"/>
                    </a:lnTo>
                    <a:lnTo>
                      <a:pt x="2" y="36"/>
                    </a:lnTo>
                    <a:lnTo>
                      <a:pt x="4" y="39"/>
                    </a:lnTo>
                    <a:lnTo>
                      <a:pt x="6" y="39"/>
                    </a:lnTo>
                    <a:lnTo>
                      <a:pt x="8" y="39"/>
                    </a:lnTo>
                    <a:lnTo>
                      <a:pt x="11" y="39"/>
                    </a:lnTo>
                    <a:lnTo>
                      <a:pt x="13" y="36"/>
                    </a:lnTo>
                    <a:lnTo>
                      <a:pt x="16" y="34"/>
                    </a:lnTo>
                    <a:lnTo>
                      <a:pt x="18" y="32"/>
                    </a:lnTo>
                    <a:lnTo>
                      <a:pt x="20" y="28"/>
                    </a:lnTo>
                    <a:lnTo>
                      <a:pt x="22" y="25"/>
                    </a:lnTo>
                    <a:lnTo>
                      <a:pt x="23" y="21"/>
                    </a:lnTo>
                    <a:lnTo>
                      <a:pt x="24" y="17"/>
                    </a:lnTo>
                    <a:lnTo>
                      <a:pt x="25" y="13"/>
                    </a:lnTo>
                    <a:lnTo>
                      <a:pt x="25" y="10"/>
                    </a:lnTo>
                    <a:lnTo>
                      <a:pt x="24" y="6"/>
                    </a:lnTo>
                    <a:lnTo>
                      <a:pt x="23" y="4"/>
                    </a:lnTo>
                    <a:lnTo>
                      <a:pt x="22" y="2"/>
                    </a:lnTo>
                    <a:lnTo>
                      <a:pt x="20" y="1"/>
                    </a:lnTo>
                    <a:lnTo>
                      <a:pt x="18" y="0"/>
                    </a:lnTo>
                    <a:lnTo>
                      <a:pt x="15" y="0"/>
                    </a:lnTo>
                    <a:lnTo>
                      <a:pt x="13" y="1"/>
                    </a:lnTo>
                    <a:lnTo>
                      <a:pt x="11" y="2"/>
                    </a:lnTo>
                    <a:lnTo>
                      <a:pt x="8" y="4"/>
                    </a:lnTo>
                    <a:lnTo>
                      <a:pt x="6" y="6"/>
                    </a:lnTo>
                    <a:lnTo>
                      <a:pt x="4" y="10"/>
                    </a:lnTo>
                    <a:lnTo>
                      <a:pt x="2" y="13"/>
                    </a:lnTo>
                  </a:path>
                </a:pathLst>
              </a:custGeom>
              <a:solidFill>
                <a:srgbClr val="339933"/>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69" name="Freeform 53"/>
              <p:cNvSpPr>
                <a:spLocks/>
              </p:cNvSpPr>
              <p:nvPr/>
            </p:nvSpPr>
            <p:spPr bwMode="auto">
              <a:xfrm>
                <a:off x="1788" y="3248"/>
                <a:ext cx="23" cy="43"/>
              </a:xfrm>
              <a:custGeom>
                <a:avLst/>
                <a:gdLst>
                  <a:gd name="T0" fmla="*/ 0 w 23"/>
                  <a:gd name="T1" fmla="*/ 20 h 43"/>
                  <a:gd name="T2" fmla="*/ 0 w 23"/>
                  <a:gd name="T3" fmla="*/ 23 h 43"/>
                  <a:gd name="T4" fmla="*/ 0 w 23"/>
                  <a:gd name="T5" fmla="*/ 28 h 43"/>
                  <a:gd name="T6" fmla="*/ 1 w 23"/>
                  <a:gd name="T7" fmla="*/ 31 h 43"/>
                  <a:gd name="T8" fmla="*/ 2 w 23"/>
                  <a:gd name="T9" fmla="*/ 35 h 43"/>
                  <a:gd name="T10" fmla="*/ 3 w 23"/>
                  <a:gd name="T11" fmla="*/ 37 h 43"/>
                  <a:gd name="T12" fmla="*/ 5 w 23"/>
                  <a:gd name="T13" fmla="*/ 39 h 43"/>
                  <a:gd name="T14" fmla="*/ 7 w 23"/>
                  <a:gd name="T15" fmla="*/ 40 h 43"/>
                  <a:gd name="T16" fmla="*/ 9 w 23"/>
                  <a:gd name="T17" fmla="*/ 42 h 43"/>
                  <a:gd name="T18" fmla="*/ 12 w 23"/>
                  <a:gd name="T19" fmla="*/ 42 h 43"/>
                  <a:gd name="T20" fmla="*/ 14 w 23"/>
                  <a:gd name="T21" fmla="*/ 40 h 43"/>
                  <a:gd name="T22" fmla="*/ 16 w 23"/>
                  <a:gd name="T23" fmla="*/ 38 h 43"/>
                  <a:gd name="T24" fmla="*/ 18 w 23"/>
                  <a:gd name="T25" fmla="*/ 36 h 43"/>
                  <a:gd name="T26" fmla="*/ 19 w 23"/>
                  <a:gd name="T27" fmla="*/ 32 h 43"/>
                  <a:gd name="T28" fmla="*/ 20 w 23"/>
                  <a:gd name="T29" fmla="*/ 29 h 43"/>
                  <a:gd name="T30" fmla="*/ 21 w 23"/>
                  <a:gd name="T31" fmla="*/ 26 h 43"/>
                  <a:gd name="T32" fmla="*/ 22 w 23"/>
                  <a:gd name="T33" fmla="*/ 21 h 43"/>
                  <a:gd name="T34" fmla="*/ 21 w 23"/>
                  <a:gd name="T35" fmla="*/ 17 h 43"/>
                  <a:gd name="T36" fmla="*/ 21 w 23"/>
                  <a:gd name="T37" fmla="*/ 13 h 43"/>
                  <a:gd name="T38" fmla="*/ 20 w 23"/>
                  <a:gd name="T39" fmla="*/ 10 h 43"/>
                  <a:gd name="T40" fmla="*/ 19 w 23"/>
                  <a:gd name="T41" fmla="*/ 6 h 43"/>
                  <a:gd name="T42" fmla="*/ 18 w 23"/>
                  <a:gd name="T43" fmla="*/ 4 h 43"/>
                  <a:gd name="T44" fmla="*/ 16 w 23"/>
                  <a:gd name="T45" fmla="*/ 2 h 43"/>
                  <a:gd name="T46" fmla="*/ 14 w 23"/>
                  <a:gd name="T47" fmla="*/ 1 h 43"/>
                  <a:gd name="T48" fmla="*/ 12 w 23"/>
                  <a:gd name="T49" fmla="*/ 0 h 43"/>
                  <a:gd name="T50" fmla="*/ 9 w 23"/>
                  <a:gd name="T51" fmla="*/ 0 h 43"/>
                  <a:gd name="T52" fmla="*/ 7 w 23"/>
                  <a:gd name="T53" fmla="*/ 1 h 43"/>
                  <a:gd name="T54" fmla="*/ 5 w 23"/>
                  <a:gd name="T55" fmla="*/ 3 h 43"/>
                  <a:gd name="T56" fmla="*/ 3 w 23"/>
                  <a:gd name="T57" fmla="*/ 5 h 43"/>
                  <a:gd name="T58" fmla="*/ 2 w 23"/>
                  <a:gd name="T59" fmla="*/ 9 h 43"/>
                  <a:gd name="T60" fmla="*/ 1 w 23"/>
                  <a:gd name="T61" fmla="*/ 12 h 43"/>
                  <a:gd name="T62" fmla="*/ 0 w 23"/>
                  <a:gd name="T63" fmla="*/ 15 h 43"/>
                  <a:gd name="T64" fmla="*/ 0 w 23"/>
                  <a:gd name="T65" fmla="*/ 2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 h="43">
                    <a:moveTo>
                      <a:pt x="0" y="20"/>
                    </a:moveTo>
                    <a:lnTo>
                      <a:pt x="0" y="23"/>
                    </a:lnTo>
                    <a:lnTo>
                      <a:pt x="0" y="28"/>
                    </a:lnTo>
                    <a:lnTo>
                      <a:pt x="1" y="31"/>
                    </a:lnTo>
                    <a:lnTo>
                      <a:pt x="2" y="35"/>
                    </a:lnTo>
                    <a:lnTo>
                      <a:pt x="3" y="37"/>
                    </a:lnTo>
                    <a:lnTo>
                      <a:pt x="5" y="39"/>
                    </a:lnTo>
                    <a:lnTo>
                      <a:pt x="7" y="40"/>
                    </a:lnTo>
                    <a:lnTo>
                      <a:pt x="9" y="42"/>
                    </a:lnTo>
                    <a:lnTo>
                      <a:pt x="12" y="42"/>
                    </a:lnTo>
                    <a:lnTo>
                      <a:pt x="14" y="40"/>
                    </a:lnTo>
                    <a:lnTo>
                      <a:pt x="16" y="38"/>
                    </a:lnTo>
                    <a:lnTo>
                      <a:pt x="18" y="36"/>
                    </a:lnTo>
                    <a:lnTo>
                      <a:pt x="19" y="32"/>
                    </a:lnTo>
                    <a:lnTo>
                      <a:pt x="20" y="29"/>
                    </a:lnTo>
                    <a:lnTo>
                      <a:pt x="21" y="26"/>
                    </a:lnTo>
                    <a:lnTo>
                      <a:pt x="22" y="21"/>
                    </a:lnTo>
                    <a:lnTo>
                      <a:pt x="21" y="17"/>
                    </a:lnTo>
                    <a:lnTo>
                      <a:pt x="21" y="13"/>
                    </a:lnTo>
                    <a:lnTo>
                      <a:pt x="20" y="10"/>
                    </a:lnTo>
                    <a:lnTo>
                      <a:pt x="19" y="6"/>
                    </a:lnTo>
                    <a:lnTo>
                      <a:pt x="18" y="4"/>
                    </a:lnTo>
                    <a:lnTo>
                      <a:pt x="16" y="2"/>
                    </a:lnTo>
                    <a:lnTo>
                      <a:pt x="14" y="1"/>
                    </a:lnTo>
                    <a:lnTo>
                      <a:pt x="12" y="0"/>
                    </a:lnTo>
                    <a:lnTo>
                      <a:pt x="9" y="0"/>
                    </a:lnTo>
                    <a:lnTo>
                      <a:pt x="7" y="1"/>
                    </a:lnTo>
                    <a:lnTo>
                      <a:pt x="5" y="3"/>
                    </a:lnTo>
                    <a:lnTo>
                      <a:pt x="3" y="5"/>
                    </a:lnTo>
                    <a:lnTo>
                      <a:pt x="2" y="9"/>
                    </a:lnTo>
                    <a:lnTo>
                      <a:pt x="1" y="12"/>
                    </a:lnTo>
                    <a:lnTo>
                      <a:pt x="0" y="15"/>
                    </a:lnTo>
                    <a:lnTo>
                      <a:pt x="0" y="20"/>
                    </a:lnTo>
                  </a:path>
                </a:pathLst>
              </a:custGeom>
              <a:solidFill>
                <a:srgbClr val="339933"/>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70" name="Freeform 54"/>
              <p:cNvSpPr>
                <a:spLocks/>
              </p:cNvSpPr>
              <p:nvPr/>
            </p:nvSpPr>
            <p:spPr bwMode="auto">
              <a:xfrm>
                <a:off x="1708" y="3234"/>
                <a:ext cx="23" cy="43"/>
              </a:xfrm>
              <a:custGeom>
                <a:avLst/>
                <a:gdLst>
                  <a:gd name="T0" fmla="*/ 0 w 23"/>
                  <a:gd name="T1" fmla="*/ 20 h 43"/>
                  <a:gd name="T2" fmla="*/ 0 w 23"/>
                  <a:gd name="T3" fmla="*/ 24 h 43"/>
                  <a:gd name="T4" fmla="*/ 0 w 23"/>
                  <a:gd name="T5" fmla="*/ 28 h 43"/>
                  <a:gd name="T6" fmla="*/ 1 w 23"/>
                  <a:gd name="T7" fmla="*/ 31 h 43"/>
                  <a:gd name="T8" fmla="*/ 2 w 23"/>
                  <a:gd name="T9" fmla="*/ 35 h 43"/>
                  <a:gd name="T10" fmla="*/ 4 w 23"/>
                  <a:gd name="T11" fmla="*/ 37 h 43"/>
                  <a:gd name="T12" fmla="*/ 6 w 23"/>
                  <a:gd name="T13" fmla="*/ 39 h 43"/>
                  <a:gd name="T14" fmla="*/ 8 w 23"/>
                  <a:gd name="T15" fmla="*/ 40 h 43"/>
                  <a:gd name="T16" fmla="*/ 10 w 23"/>
                  <a:gd name="T17" fmla="*/ 42 h 43"/>
                  <a:gd name="T18" fmla="*/ 12 w 23"/>
                  <a:gd name="T19" fmla="*/ 40 h 43"/>
                  <a:gd name="T20" fmla="*/ 14 w 23"/>
                  <a:gd name="T21" fmla="*/ 39 h 43"/>
                  <a:gd name="T22" fmla="*/ 16 w 23"/>
                  <a:gd name="T23" fmla="*/ 38 h 43"/>
                  <a:gd name="T24" fmla="*/ 18 w 23"/>
                  <a:gd name="T25" fmla="*/ 35 h 43"/>
                  <a:gd name="T26" fmla="*/ 19 w 23"/>
                  <a:gd name="T27" fmla="*/ 32 h 43"/>
                  <a:gd name="T28" fmla="*/ 20 w 23"/>
                  <a:gd name="T29" fmla="*/ 29 h 43"/>
                  <a:gd name="T30" fmla="*/ 21 w 23"/>
                  <a:gd name="T31" fmla="*/ 24 h 43"/>
                  <a:gd name="T32" fmla="*/ 22 w 23"/>
                  <a:gd name="T33" fmla="*/ 21 h 43"/>
                  <a:gd name="T34" fmla="*/ 21 w 23"/>
                  <a:gd name="T35" fmla="*/ 17 h 43"/>
                  <a:gd name="T36" fmla="*/ 21 w 23"/>
                  <a:gd name="T37" fmla="*/ 13 h 43"/>
                  <a:gd name="T38" fmla="*/ 20 w 23"/>
                  <a:gd name="T39" fmla="*/ 9 h 43"/>
                  <a:gd name="T40" fmla="*/ 19 w 23"/>
                  <a:gd name="T41" fmla="*/ 6 h 43"/>
                  <a:gd name="T42" fmla="*/ 17 w 23"/>
                  <a:gd name="T43" fmla="*/ 3 h 43"/>
                  <a:gd name="T44" fmla="*/ 15 w 23"/>
                  <a:gd name="T45" fmla="*/ 2 h 43"/>
                  <a:gd name="T46" fmla="*/ 13 w 23"/>
                  <a:gd name="T47" fmla="*/ 0 h 43"/>
                  <a:gd name="T48" fmla="*/ 11 w 23"/>
                  <a:gd name="T49" fmla="*/ 0 h 43"/>
                  <a:gd name="T50" fmla="*/ 9 w 23"/>
                  <a:gd name="T51" fmla="*/ 0 h 43"/>
                  <a:gd name="T52" fmla="*/ 7 w 23"/>
                  <a:gd name="T53" fmla="*/ 1 h 43"/>
                  <a:gd name="T54" fmla="*/ 5 w 23"/>
                  <a:gd name="T55" fmla="*/ 3 h 43"/>
                  <a:gd name="T56" fmla="*/ 3 w 23"/>
                  <a:gd name="T57" fmla="*/ 5 h 43"/>
                  <a:gd name="T58" fmla="*/ 2 w 23"/>
                  <a:gd name="T59" fmla="*/ 9 h 43"/>
                  <a:gd name="T60" fmla="*/ 1 w 23"/>
                  <a:gd name="T61" fmla="*/ 12 h 43"/>
                  <a:gd name="T62" fmla="*/ 0 w 23"/>
                  <a:gd name="T63" fmla="*/ 15 h 43"/>
                  <a:gd name="T64" fmla="*/ 0 w 23"/>
                  <a:gd name="T65" fmla="*/ 20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 h="43">
                    <a:moveTo>
                      <a:pt x="0" y="20"/>
                    </a:moveTo>
                    <a:lnTo>
                      <a:pt x="0" y="24"/>
                    </a:lnTo>
                    <a:lnTo>
                      <a:pt x="0" y="28"/>
                    </a:lnTo>
                    <a:lnTo>
                      <a:pt x="1" y="31"/>
                    </a:lnTo>
                    <a:lnTo>
                      <a:pt x="2" y="35"/>
                    </a:lnTo>
                    <a:lnTo>
                      <a:pt x="4" y="37"/>
                    </a:lnTo>
                    <a:lnTo>
                      <a:pt x="6" y="39"/>
                    </a:lnTo>
                    <a:lnTo>
                      <a:pt x="8" y="40"/>
                    </a:lnTo>
                    <a:lnTo>
                      <a:pt x="10" y="42"/>
                    </a:lnTo>
                    <a:lnTo>
                      <a:pt x="12" y="40"/>
                    </a:lnTo>
                    <a:lnTo>
                      <a:pt x="14" y="39"/>
                    </a:lnTo>
                    <a:lnTo>
                      <a:pt x="16" y="38"/>
                    </a:lnTo>
                    <a:lnTo>
                      <a:pt x="18" y="35"/>
                    </a:lnTo>
                    <a:lnTo>
                      <a:pt x="19" y="32"/>
                    </a:lnTo>
                    <a:lnTo>
                      <a:pt x="20" y="29"/>
                    </a:lnTo>
                    <a:lnTo>
                      <a:pt x="21" y="24"/>
                    </a:lnTo>
                    <a:lnTo>
                      <a:pt x="22" y="21"/>
                    </a:lnTo>
                    <a:lnTo>
                      <a:pt x="21" y="17"/>
                    </a:lnTo>
                    <a:lnTo>
                      <a:pt x="21" y="13"/>
                    </a:lnTo>
                    <a:lnTo>
                      <a:pt x="20" y="9"/>
                    </a:lnTo>
                    <a:lnTo>
                      <a:pt x="19" y="6"/>
                    </a:lnTo>
                    <a:lnTo>
                      <a:pt x="17" y="3"/>
                    </a:lnTo>
                    <a:lnTo>
                      <a:pt x="15" y="2"/>
                    </a:lnTo>
                    <a:lnTo>
                      <a:pt x="13" y="0"/>
                    </a:lnTo>
                    <a:lnTo>
                      <a:pt x="11" y="0"/>
                    </a:lnTo>
                    <a:lnTo>
                      <a:pt x="9" y="0"/>
                    </a:lnTo>
                    <a:lnTo>
                      <a:pt x="7" y="1"/>
                    </a:lnTo>
                    <a:lnTo>
                      <a:pt x="5" y="3"/>
                    </a:lnTo>
                    <a:lnTo>
                      <a:pt x="3" y="5"/>
                    </a:lnTo>
                    <a:lnTo>
                      <a:pt x="2" y="9"/>
                    </a:lnTo>
                    <a:lnTo>
                      <a:pt x="1" y="12"/>
                    </a:lnTo>
                    <a:lnTo>
                      <a:pt x="0" y="15"/>
                    </a:lnTo>
                    <a:lnTo>
                      <a:pt x="0" y="20"/>
                    </a:lnTo>
                  </a:path>
                </a:pathLst>
              </a:custGeom>
              <a:solidFill>
                <a:srgbClr val="339933"/>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grpSp>
      <p:sp>
        <p:nvSpPr>
          <p:cNvPr id="9273" name="Rectangle 57"/>
          <p:cNvSpPr>
            <a:spLocks noChangeArrowheads="1"/>
          </p:cNvSpPr>
          <p:nvPr/>
        </p:nvSpPr>
        <p:spPr bwMode="auto">
          <a:xfrm>
            <a:off x="2546350" y="4538663"/>
            <a:ext cx="3698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a:lnSpc>
                <a:spcPct val="100000"/>
              </a:lnSpc>
              <a:spcBef>
                <a:spcPct val="0"/>
              </a:spcBef>
            </a:pPr>
            <a:r>
              <a:rPr lang="en-US" sz="2400">
                <a:solidFill>
                  <a:srgbClr val="000000"/>
                </a:solidFill>
                <a:effectLst>
                  <a:outerShdw blurRad="38100" dist="38100" dir="2700000" algn="tl">
                    <a:srgbClr val="FFFFFF"/>
                  </a:outerShdw>
                </a:effectLst>
                <a:latin typeface="Arial" pitchFamily="34" charset="0"/>
              </a:rPr>
              <a:t>?</a:t>
            </a:r>
          </a:p>
        </p:txBody>
      </p:sp>
      <p:sp>
        <p:nvSpPr>
          <p:cNvPr id="9274" name="Rectangle 58"/>
          <p:cNvSpPr>
            <a:spLocks noChangeArrowheads="1"/>
          </p:cNvSpPr>
          <p:nvPr/>
        </p:nvSpPr>
        <p:spPr bwMode="auto">
          <a:xfrm>
            <a:off x="2343150" y="4098925"/>
            <a:ext cx="12382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a:lnSpc>
                <a:spcPct val="100000"/>
              </a:lnSpc>
              <a:spcBef>
                <a:spcPct val="0"/>
              </a:spcBef>
            </a:pPr>
            <a:r>
              <a:rPr lang="en-US" sz="1800">
                <a:solidFill>
                  <a:srgbClr val="000000"/>
                </a:solidFill>
                <a:latin typeface="Arial" pitchFamily="34" charset="0"/>
              </a:rPr>
              <a:t>Subquery</a:t>
            </a:r>
          </a:p>
        </p:txBody>
      </p:sp>
      <p:sp>
        <p:nvSpPr>
          <p:cNvPr id="9275" name="Arc 59"/>
          <p:cNvSpPr>
            <a:spLocks/>
          </p:cNvSpPr>
          <p:nvPr/>
        </p:nvSpPr>
        <p:spPr bwMode="auto">
          <a:xfrm rot="19620000">
            <a:off x="6019800" y="3638550"/>
            <a:ext cx="381000" cy="800100"/>
          </a:xfrm>
          <a:custGeom>
            <a:avLst/>
            <a:gdLst>
              <a:gd name="G0" fmla="+- 0 0 0"/>
              <a:gd name="G1" fmla="+- 0 0 0"/>
              <a:gd name="G2" fmla="+- 21600 0 0"/>
              <a:gd name="T0" fmla="*/ 21600 w 21600"/>
              <a:gd name="T1" fmla="*/ 0 h 21600"/>
              <a:gd name="T2" fmla="*/ 0 w 21600"/>
              <a:gd name="T3" fmla="*/ 21600 h 21600"/>
              <a:gd name="T4" fmla="*/ 0 w 21600"/>
              <a:gd name="T5" fmla="*/ 0 h 21600"/>
            </a:gdLst>
            <a:ahLst/>
            <a:cxnLst>
              <a:cxn ang="0">
                <a:pos x="T0" y="T1"/>
              </a:cxn>
              <a:cxn ang="0">
                <a:pos x="T2" y="T3"/>
              </a:cxn>
              <a:cxn ang="0">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close/>
              </a:path>
            </a:pathLst>
          </a:custGeom>
          <a:noFill/>
          <a:ln w="50800" cap="rnd">
            <a:solidFill>
              <a:srgbClr val="FF5050"/>
            </a:solidFill>
            <a:round/>
            <a:headEnd type="stealth" w="med" len="lg"/>
            <a:tailEnd type="none" w="sm" len="sm"/>
          </a:ln>
          <a:effectLst>
            <a:outerShdw dist="53882" dir="2700000" algn="ctr" rotWithShape="0">
              <a:srgbClr val="000000"/>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275"/>
                                        </p:tgtEl>
                                        <p:attrNameLst>
                                          <p:attrName>style.visibility</p:attrName>
                                        </p:attrNameLst>
                                      </p:cBhvr>
                                      <p:to>
                                        <p:strVal val="visible"/>
                                      </p:to>
                                    </p:set>
                                    <p:animEffect transition="in" filter="wipe(down)">
                                      <p:cBhvr>
                                        <p:cTn id="7" dur="500"/>
                                        <p:tgtEl>
                                          <p:spTgt spid="92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7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ChangeArrowheads="1"/>
          </p:cNvSpPr>
          <p:nvPr/>
        </p:nvSpPr>
        <p:spPr bwMode="blackWhite">
          <a:xfrm>
            <a:off x="939800" y="1573213"/>
            <a:ext cx="7480300" cy="1465262"/>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lIns="92075" tIns="46038" rIns="92075" bIns="46038" anchor="ctr"/>
          <a:lstStyle/>
          <a:p>
            <a:pPr algn="l">
              <a:lnSpc>
                <a:spcPct val="100000"/>
              </a:lnSpc>
              <a:spcBef>
                <a:spcPct val="0"/>
              </a:spcBef>
              <a:tabLst>
                <a:tab pos="1200150" algn="l"/>
              </a:tabLst>
            </a:pPr>
            <a:endParaRPr lang="en-US" sz="1800">
              <a:solidFill>
                <a:srgbClr val="000000"/>
              </a:solidFill>
              <a:latin typeface="Courier New" pitchFamily="49" charset="0"/>
            </a:endParaRPr>
          </a:p>
          <a:p>
            <a:pPr algn="l">
              <a:lnSpc>
                <a:spcPct val="100000"/>
              </a:lnSpc>
              <a:spcBef>
                <a:spcPct val="0"/>
              </a:spcBef>
              <a:tabLst>
                <a:tab pos="1200150" algn="l"/>
              </a:tabLst>
            </a:pPr>
            <a:endParaRPr lang="en-US" sz="1800">
              <a:solidFill>
                <a:srgbClr val="000000"/>
              </a:solidFill>
              <a:latin typeface="Courier New" pitchFamily="49" charset="0"/>
            </a:endParaRPr>
          </a:p>
        </p:txBody>
      </p:sp>
      <p:sp>
        <p:nvSpPr>
          <p:cNvPr id="11267" name="Rectangle 3"/>
          <p:cNvSpPr>
            <a:spLocks noGrp="1" noChangeArrowheads="1"/>
          </p:cNvSpPr>
          <p:nvPr>
            <p:ph type="title"/>
          </p:nvPr>
        </p:nvSpPr>
        <p:spPr>
          <a:noFill/>
          <a:ln/>
        </p:spPr>
        <p:txBody>
          <a:bodyPr/>
          <a:lstStyle/>
          <a:p>
            <a:r>
              <a:rPr lang="en-US"/>
              <a:t>Subqueries</a:t>
            </a:r>
          </a:p>
        </p:txBody>
      </p:sp>
      <p:sp>
        <p:nvSpPr>
          <p:cNvPr id="11268" name="Rectangle 4"/>
          <p:cNvSpPr>
            <a:spLocks noGrp="1" noChangeArrowheads="1"/>
          </p:cNvSpPr>
          <p:nvPr>
            <p:ph type="body" idx="1"/>
          </p:nvPr>
        </p:nvSpPr>
        <p:spPr>
          <a:xfrm>
            <a:off x="860425" y="3559175"/>
            <a:ext cx="7385050" cy="1066800"/>
          </a:xfrm>
          <a:noFill/>
          <a:ln/>
        </p:spPr>
        <p:txBody>
          <a:bodyPr/>
          <a:lstStyle/>
          <a:p>
            <a:pPr lvl="1"/>
            <a:r>
              <a:rPr lang="en-US"/>
              <a:t>The subquery (inner query) executes once before the main query.</a:t>
            </a:r>
          </a:p>
          <a:p>
            <a:pPr lvl="1"/>
            <a:r>
              <a:rPr lang="en-US"/>
              <a:t>The result of the subquery is used by the main query (outer query).</a:t>
            </a:r>
          </a:p>
        </p:txBody>
      </p:sp>
      <p:sp>
        <p:nvSpPr>
          <p:cNvPr id="11269" name="Rectangle 5"/>
          <p:cNvSpPr>
            <a:spLocks noChangeArrowheads="1"/>
          </p:cNvSpPr>
          <p:nvPr/>
        </p:nvSpPr>
        <p:spPr bwMode="ltGray">
          <a:xfrm>
            <a:off x="3678238" y="2419350"/>
            <a:ext cx="4189412" cy="552450"/>
          </a:xfrm>
          <a:prstGeom prst="rect">
            <a:avLst/>
          </a:prstGeom>
          <a:solidFill>
            <a:srgbClr val="FF99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1270" name="Rectangle 6"/>
          <p:cNvSpPr>
            <a:spLocks noChangeArrowheads="1"/>
          </p:cNvSpPr>
          <p:nvPr/>
        </p:nvSpPr>
        <p:spPr bwMode="blackWhite">
          <a:xfrm>
            <a:off x="1062038" y="1560513"/>
            <a:ext cx="7694612" cy="1490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l">
              <a:lnSpc>
                <a:spcPct val="100000"/>
              </a:lnSpc>
              <a:spcBef>
                <a:spcPct val="0"/>
              </a:spcBef>
              <a:tabLst>
                <a:tab pos="1200150" algn="l"/>
              </a:tabLst>
            </a:pPr>
            <a:r>
              <a:rPr lang="en-US" sz="1800">
                <a:solidFill>
                  <a:srgbClr val="000000"/>
                </a:solidFill>
                <a:latin typeface="Courier New" pitchFamily="49" charset="0"/>
              </a:rPr>
              <a:t>SELECT	</a:t>
            </a:r>
            <a:r>
              <a:rPr lang="en-US" sz="1800" i="1">
                <a:solidFill>
                  <a:srgbClr val="000000"/>
                </a:solidFill>
                <a:latin typeface="Courier New" pitchFamily="49" charset="0"/>
              </a:rPr>
              <a:t>select_list</a:t>
            </a:r>
            <a:endParaRPr lang="en-US" sz="1800">
              <a:solidFill>
                <a:srgbClr val="000000"/>
              </a:solidFill>
              <a:latin typeface="Courier New" pitchFamily="49" charset="0"/>
            </a:endParaRPr>
          </a:p>
          <a:p>
            <a:pPr algn="l">
              <a:lnSpc>
                <a:spcPct val="100000"/>
              </a:lnSpc>
              <a:spcBef>
                <a:spcPct val="0"/>
              </a:spcBef>
              <a:tabLst>
                <a:tab pos="1200150" algn="l"/>
              </a:tabLst>
            </a:pPr>
            <a:r>
              <a:rPr lang="en-US" sz="1800">
                <a:solidFill>
                  <a:srgbClr val="000000"/>
                </a:solidFill>
                <a:latin typeface="Courier New" pitchFamily="49" charset="0"/>
              </a:rPr>
              <a:t>FROM	</a:t>
            </a:r>
            <a:r>
              <a:rPr lang="en-US" sz="1800" i="1">
                <a:solidFill>
                  <a:srgbClr val="000000"/>
                </a:solidFill>
                <a:latin typeface="Courier New" pitchFamily="49" charset="0"/>
              </a:rPr>
              <a:t>table</a:t>
            </a:r>
            <a:endParaRPr lang="en-US" sz="1800">
              <a:solidFill>
                <a:srgbClr val="000000"/>
              </a:solidFill>
              <a:latin typeface="Courier New" pitchFamily="49" charset="0"/>
            </a:endParaRPr>
          </a:p>
          <a:p>
            <a:pPr algn="l">
              <a:lnSpc>
                <a:spcPct val="100000"/>
              </a:lnSpc>
              <a:spcBef>
                <a:spcPct val="0"/>
              </a:spcBef>
              <a:tabLst>
                <a:tab pos="1200150" algn="l"/>
              </a:tabLst>
            </a:pPr>
            <a:r>
              <a:rPr lang="en-US" sz="1800">
                <a:solidFill>
                  <a:srgbClr val="000000"/>
                </a:solidFill>
                <a:latin typeface="Courier New" pitchFamily="49" charset="0"/>
              </a:rPr>
              <a:t>WHERE	</a:t>
            </a:r>
            <a:r>
              <a:rPr lang="en-US" sz="1800" i="1">
                <a:solidFill>
                  <a:srgbClr val="000000"/>
                </a:solidFill>
                <a:latin typeface="Courier New" pitchFamily="49" charset="0"/>
              </a:rPr>
              <a:t>expr operator</a:t>
            </a:r>
          </a:p>
          <a:p>
            <a:pPr algn="l">
              <a:lnSpc>
                <a:spcPct val="100000"/>
              </a:lnSpc>
              <a:spcBef>
                <a:spcPct val="0"/>
              </a:spcBef>
              <a:tabLst>
                <a:tab pos="1200150" algn="l"/>
              </a:tabLst>
            </a:pPr>
            <a:r>
              <a:rPr lang="en-US" sz="1800">
                <a:solidFill>
                  <a:srgbClr val="000000"/>
                </a:solidFill>
                <a:latin typeface="Courier New" pitchFamily="49" charset="0"/>
              </a:rPr>
              <a:t>		 	(SELECT	</a:t>
            </a:r>
            <a:r>
              <a:rPr lang="en-US" sz="1800" i="1">
                <a:solidFill>
                  <a:srgbClr val="000000"/>
                </a:solidFill>
                <a:latin typeface="Courier New" pitchFamily="49" charset="0"/>
              </a:rPr>
              <a:t>select_list</a:t>
            </a:r>
          </a:p>
          <a:p>
            <a:pPr algn="l">
              <a:lnSpc>
                <a:spcPct val="100000"/>
              </a:lnSpc>
              <a:spcBef>
                <a:spcPct val="0"/>
              </a:spcBef>
              <a:tabLst>
                <a:tab pos="1200150" algn="l"/>
              </a:tabLst>
            </a:pPr>
            <a:r>
              <a:rPr lang="en-US" sz="1800">
                <a:solidFill>
                  <a:srgbClr val="000000"/>
                </a:solidFill>
                <a:latin typeface="Courier New" pitchFamily="49" charset="0"/>
              </a:rPr>
              <a:t>		       FROM		</a:t>
            </a:r>
            <a:r>
              <a:rPr lang="en-US" sz="1800" i="1">
                <a:solidFill>
                  <a:srgbClr val="000000"/>
                </a:solidFill>
                <a:latin typeface="Courier New" pitchFamily="49" charset="0"/>
              </a:rPr>
              <a:t>table</a:t>
            </a:r>
            <a:r>
              <a:rPr lang="en-US" sz="1800">
                <a:solidFill>
                  <a:srgbClr val="000000"/>
                </a:solidFill>
                <a:latin typeface="Courier New" pitchFamily="49" charset="0"/>
              </a:rPr>
              <a:t>);</a:t>
            </a:r>
          </a:p>
        </p:txBody>
      </p:sp>
    </p:spTree>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ChangeArrowheads="1"/>
          </p:cNvSpPr>
          <p:nvPr/>
        </p:nvSpPr>
        <p:spPr bwMode="blackWhite">
          <a:xfrm>
            <a:off x="949325" y="1384300"/>
            <a:ext cx="7470775" cy="1762125"/>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anchor="ctr"/>
          <a:lstStyle/>
          <a:p>
            <a:endParaRPr lang="en-US"/>
          </a:p>
        </p:txBody>
      </p:sp>
      <p:grpSp>
        <p:nvGrpSpPr>
          <p:cNvPr id="13318" name="Group 6"/>
          <p:cNvGrpSpPr>
            <a:grpSpLocks/>
          </p:cNvGrpSpPr>
          <p:nvPr/>
        </p:nvGrpSpPr>
        <p:grpSpPr bwMode="auto">
          <a:xfrm>
            <a:off x="3335338" y="1708150"/>
            <a:ext cx="4811712" cy="1379538"/>
            <a:chOff x="2101" y="1076"/>
            <a:chExt cx="3031" cy="869"/>
          </a:xfrm>
        </p:grpSpPr>
        <p:sp>
          <p:nvSpPr>
            <p:cNvPr id="13315" name="Rectangle 3"/>
            <p:cNvSpPr>
              <a:spLocks noChangeArrowheads="1"/>
            </p:cNvSpPr>
            <p:nvPr/>
          </p:nvSpPr>
          <p:spPr bwMode="ltGray">
            <a:xfrm>
              <a:off x="2101" y="1413"/>
              <a:ext cx="3031" cy="532"/>
            </a:xfrm>
            <a:prstGeom prst="rect">
              <a:avLst/>
            </a:prstGeom>
            <a:solidFill>
              <a:srgbClr val="FF99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3316" name="Arc 4"/>
            <p:cNvSpPr>
              <a:spLocks/>
            </p:cNvSpPr>
            <p:nvPr/>
          </p:nvSpPr>
          <p:spPr bwMode="auto">
            <a:xfrm rot="10800000">
              <a:off x="2317" y="1290"/>
              <a:ext cx="1084" cy="248"/>
            </a:xfrm>
            <a:custGeom>
              <a:avLst/>
              <a:gdLst>
                <a:gd name="G0" fmla="+- 21600 0 0"/>
                <a:gd name="G1" fmla="+- 0 0 0"/>
                <a:gd name="G2" fmla="+- 21600 0 0"/>
                <a:gd name="T0" fmla="*/ 27008 w 27008"/>
                <a:gd name="T1" fmla="*/ 20912 h 21600"/>
                <a:gd name="T2" fmla="*/ 0 w 27008"/>
                <a:gd name="T3" fmla="*/ 0 h 21600"/>
                <a:gd name="T4" fmla="*/ 21600 w 27008"/>
                <a:gd name="T5" fmla="*/ 0 h 21600"/>
              </a:gdLst>
              <a:ahLst/>
              <a:cxnLst>
                <a:cxn ang="0">
                  <a:pos x="T0" y="T1"/>
                </a:cxn>
                <a:cxn ang="0">
                  <a:pos x="T2" y="T3"/>
                </a:cxn>
                <a:cxn ang="0">
                  <a:pos x="T4" y="T5"/>
                </a:cxn>
              </a:cxnLst>
              <a:rect l="0" t="0" r="r" b="b"/>
              <a:pathLst>
                <a:path w="27008" h="21600" fill="none" extrusionOk="0">
                  <a:moveTo>
                    <a:pt x="27008" y="20912"/>
                  </a:moveTo>
                  <a:cubicBezTo>
                    <a:pt x="25241" y="21368"/>
                    <a:pt x="23424" y="21599"/>
                    <a:pt x="21600" y="21600"/>
                  </a:cubicBezTo>
                  <a:cubicBezTo>
                    <a:pt x="9670" y="21600"/>
                    <a:pt x="0" y="11929"/>
                    <a:pt x="0" y="0"/>
                  </a:cubicBezTo>
                </a:path>
                <a:path w="27008" h="21600" stroke="0" extrusionOk="0">
                  <a:moveTo>
                    <a:pt x="27008" y="20912"/>
                  </a:moveTo>
                  <a:cubicBezTo>
                    <a:pt x="25241" y="21368"/>
                    <a:pt x="23424" y="21599"/>
                    <a:pt x="21600" y="21600"/>
                  </a:cubicBezTo>
                  <a:cubicBezTo>
                    <a:pt x="9670" y="21600"/>
                    <a:pt x="0" y="11929"/>
                    <a:pt x="0" y="0"/>
                  </a:cubicBezTo>
                  <a:lnTo>
                    <a:pt x="21600" y="0"/>
                  </a:lnTo>
                  <a:close/>
                </a:path>
              </a:pathLst>
            </a:custGeom>
            <a:noFill/>
            <a:ln w="25400" cap="rnd">
              <a:solidFill>
                <a:srgbClr val="FF5050"/>
              </a:solidFill>
              <a:round/>
              <a:headEnd type="stealth" w="med" len="lg"/>
              <a:tailEnd type="none" w="sm" len="sm"/>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13317" name="Rectangle 5"/>
            <p:cNvSpPr>
              <a:spLocks noChangeArrowheads="1"/>
            </p:cNvSpPr>
            <p:nvPr/>
          </p:nvSpPr>
          <p:spPr bwMode="auto">
            <a:xfrm>
              <a:off x="2379" y="1076"/>
              <a:ext cx="401" cy="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sz="1600">
                  <a:solidFill>
                    <a:srgbClr val="FF5050"/>
                  </a:solidFill>
                  <a:latin typeface="Arial" pitchFamily="34" charset="0"/>
                </a:rPr>
                <a:t>2975</a:t>
              </a:r>
            </a:p>
          </p:txBody>
        </p:sp>
      </p:grpSp>
      <p:sp>
        <p:nvSpPr>
          <p:cNvPr id="13319" name="Rectangle 7"/>
          <p:cNvSpPr>
            <a:spLocks noChangeArrowheads="1"/>
          </p:cNvSpPr>
          <p:nvPr/>
        </p:nvSpPr>
        <p:spPr bwMode="auto">
          <a:xfrm>
            <a:off x="1079500" y="1379538"/>
            <a:ext cx="5672138"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l">
              <a:lnSpc>
                <a:spcPct val="100000"/>
              </a:lnSpc>
              <a:spcBef>
                <a:spcPct val="0"/>
              </a:spcBef>
            </a:pPr>
            <a:r>
              <a:rPr lang="en-US" sz="1800">
                <a:solidFill>
                  <a:srgbClr val="000000"/>
                </a:solidFill>
                <a:latin typeface="Courier New" pitchFamily="49" charset="0"/>
              </a:rPr>
              <a:t>SQL&gt; SELECT ename</a:t>
            </a:r>
          </a:p>
          <a:p>
            <a:pPr algn="l">
              <a:lnSpc>
                <a:spcPct val="100000"/>
              </a:lnSpc>
              <a:spcBef>
                <a:spcPct val="0"/>
              </a:spcBef>
            </a:pPr>
            <a:r>
              <a:rPr lang="en-US" sz="1800">
                <a:solidFill>
                  <a:srgbClr val="000000"/>
                </a:solidFill>
                <a:latin typeface="Courier New" pitchFamily="49" charset="0"/>
              </a:rPr>
              <a:t>  2  FROM   emp</a:t>
            </a:r>
          </a:p>
          <a:p>
            <a:pPr algn="l">
              <a:lnSpc>
                <a:spcPct val="100000"/>
              </a:lnSpc>
              <a:spcBef>
                <a:spcPct val="0"/>
              </a:spcBef>
            </a:pPr>
            <a:r>
              <a:rPr lang="en-US" sz="1800">
                <a:solidFill>
                  <a:srgbClr val="000000"/>
                </a:solidFill>
                <a:latin typeface="Courier New" pitchFamily="49" charset="0"/>
              </a:rPr>
              <a:t>  3  WHERE  sal &gt; </a:t>
            </a:r>
          </a:p>
          <a:p>
            <a:pPr algn="l">
              <a:lnSpc>
                <a:spcPct val="100000"/>
              </a:lnSpc>
              <a:spcBef>
                <a:spcPct val="0"/>
              </a:spcBef>
            </a:pPr>
            <a:r>
              <a:rPr lang="en-US" sz="1800">
                <a:solidFill>
                  <a:srgbClr val="000000"/>
                </a:solidFill>
                <a:latin typeface="Courier New" pitchFamily="49" charset="0"/>
              </a:rPr>
              <a:t>  4		    (SELECT sal</a:t>
            </a:r>
          </a:p>
          <a:p>
            <a:pPr algn="l">
              <a:lnSpc>
                <a:spcPct val="100000"/>
              </a:lnSpc>
              <a:spcBef>
                <a:spcPct val="0"/>
              </a:spcBef>
            </a:pPr>
            <a:r>
              <a:rPr lang="en-US" sz="1800">
                <a:solidFill>
                  <a:srgbClr val="000000"/>
                </a:solidFill>
                <a:latin typeface="Courier New" pitchFamily="49" charset="0"/>
              </a:rPr>
              <a:t>  5               FROM   emp</a:t>
            </a:r>
          </a:p>
          <a:p>
            <a:pPr algn="l">
              <a:lnSpc>
                <a:spcPct val="100000"/>
              </a:lnSpc>
              <a:spcBef>
                <a:spcPct val="0"/>
              </a:spcBef>
            </a:pPr>
            <a:r>
              <a:rPr lang="en-US" sz="1800">
                <a:solidFill>
                  <a:srgbClr val="000000"/>
                </a:solidFill>
                <a:latin typeface="Courier New" pitchFamily="49" charset="0"/>
              </a:rPr>
              <a:t>  6               WHERE  empno=7566);</a:t>
            </a:r>
          </a:p>
        </p:txBody>
      </p:sp>
      <p:sp>
        <p:nvSpPr>
          <p:cNvPr id="13320" name="Rectangle 8"/>
          <p:cNvSpPr>
            <a:spLocks noChangeArrowheads="1"/>
          </p:cNvSpPr>
          <p:nvPr/>
        </p:nvSpPr>
        <p:spPr bwMode="auto">
          <a:xfrm>
            <a:off x="950913" y="1431925"/>
            <a:ext cx="7315200" cy="1806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l" defTabSz="400050">
              <a:lnSpc>
                <a:spcPct val="125000"/>
              </a:lnSpc>
              <a:spcBef>
                <a:spcPct val="0"/>
              </a:spcBef>
              <a:tabLst>
                <a:tab pos="400050" algn="r"/>
                <a:tab pos="685800" algn="l"/>
              </a:tabLst>
            </a:pPr>
            <a:endParaRPr lang="en-US" sz="1800">
              <a:solidFill>
                <a:srgbClr val="000000"/>
              </a:solidFill>
              <a:latin typeface="Courier New" pitchFamily="49" charset="0"/>
            </a:endParaRPr>
          </a:p>
          <a:p>
            <a:pPr algn="l" defTabSz="400050">
              <a:lnSpc>
                <a:spcPct val="125000"/>
              </a:lnSpc>
              <a:spcBef>
                <a:spcPct val="0"/>
              </a:spcBef>
              <a:tabLst>
                <a:tab pos="400050" algn="r"/>
                <a:tab pos="685800" algn="l"/>
              </a:tabLst>
            </a:pPr>
            <a:endParaRPr lang="en-US" sz="1800">
              <a:solidFill>
                <a:srgbClr val="000000"/>
              </a:solidFill>
              <a:latin typeface="Courier New" pitchFamily="49" charset="0"/>
            </a:endParaRPr>
          </a:p>
          <a:p>
            <a:pPr algn="l" defTabSz="400050">
              <a:lnSpc>
                <a:spcPct val="125000"/>
              </a:lnSpc>
              <a:spcBef>
                <a:spcPct val="0"/>
              </a:spcBef>
              <a:tabLst>
                <a:tab pos="400050" algn="r"/>
                <a:tab pos="685800" algn="l"/>
              </a:tabLst>
            </a:pPr>
            <a:endParaRPr lang="en-US" sz="1800">
              <a:solidFill>
                <a:srgbClr val="000000"/>
              </a:solidFill>
              <a:latin typeface="Courier New" pitchFamily="49" charset="0"/>
            </a:endParaRPr>
          </a:p>
          <a:p>
            <a:pPr algn="l" defTabSz="400050">
              <a:lnSpc>
                <a:spcPct val="125000"/>
              </a:lnSpc>
              <a:spcBef>
                <a:spcPct val="0"/>
              </a:spcBef>
              <a:tabLst>
                <a:tab pos="400050" algn="r"/>
                <a:tab pos="685800" algn="l"/>
              </a:tabLst>
            </a:pPr>
            <a:endParaRPr lang="en-US" sz="1800">
              <a:solidFill>
                <a:srgbClr val="000000"/>
              </a:solidFill>
              <a:latin typeface="Courier New" pitchFamily="49" charset="0"/>
            </a:endParaRPr>
          </a:p>
          <a:p>
            <a:pPr algn="l" defTabSz="400050">
              <a:lnSpc>
                <a:spcPct val="125000"/>
              </a:lnSpc>
              <a:spcBef>
                <a:spcPct val="0"/>
              </a:spcBef>
              <a:tabLst>
                <a:tab pos="400050" algn="r"/>
                <a:tab pos="685800" algn="l"/>
              </a:tabLst>
            </a:pPr>
            <a:endParaRPr lang="en-US" sz="1800">
              <a:solidFill>
                <a:srgbClr val="000000"/>
              </a:solidFill>
              <a:latin typeface="Courier New" pitchFamily="49" charset="0"/>
            </a:endParaRPr>
          </a:p>
        </p:txBody>
      </p:sp>
      <p:sp>
        <p:nvSpPr>
          <p:cNvPr id="13321" name="Rectangle 9"/>
          <p:cNvSpPr>
            <a:spLocks noGrp="1" noChangeArrowheads="1"/>
          </p:cNvSpPr>
          <p:nvPr>
            <p:ph type="title"/>
          </p:nvPr>
        </p:nvSpPr>
        <p:spPr>
          <a:noFill/>
          <a:ln/>
        </p:spPr>
        <p:txBody>
          <a:bodyPr/>
          <a:lstStyle/>
          <a:p>
            <a:r>
              <a:rPr lang="en-US"/>
              <a:t>Using a Subquery</a:t>
            </a:r>
          </a:p>
        </p:txBody>
      </p:sp>
      <p:sp>
        <p:nvSpPr>
          <p:cNvPr id="13322" name="Rectangle 10"/>
          <p:cNvSpPr>
            <a:spLocks noChangeArrowheads="1"/>
          </p:cNvSpPr>
          <p:nvPr/>
        </p:nvSpPr>
        <p:spPr bwMode="blackWhite">
          <a:xfrm>
            <a:off x="920750" y="3543300"/>
            <a:ext cx="7499350" cy="1465263"/>
          </a:xfrm>
          <a:prstGeom prst="rect">
            <a:avLst/>
          </a:prstGeom>
          <a:solidFill>
            <a:srgbClr val="DDDDDD"/>
          </a:solidFill>
          <a:ln w="25400">
            <a:solidFill>
              <a:srgbClr val="000000"/>
            </a:solidFill>
            <a:miter lim="800000"/>
            <a:headEnd/>
            <a:tailEnd/>
          </a:ln>
          <a:effectLst>
            <a:outerShdw dist="89803" dir="2700000" algn="ctr" rotWithShape="0">
              <a:srgbClr val="000000"/>
            </a:outerShdw>
          </a:effectLst>
        </p:spPr>
        <p:txBody>
          <a:bodyPr wrap="none" lIns="92075" tIns="46038" rIns="92075" bIns="46038" anchor="ctr"/>
          <a:lstStyle/>
          <a:p>
            <a:pPr algn="l">
              <a:lnSpc>
                <a:spcPct val="100000"/>
              </a:lnSpc>
              <a:spcBef>
                <a:spcPct val="0"/>
              </a:spcBef>
              <a:tabLst>
                <a:tab pos="1200150" algn="l"/>
              </a:tabLst>
            </a:pPr>
            <a:r>
              <a:rPr lang="en-US" sz="1800">
                <a:solidFill>
                  <a:srgbClr val="000000"/>
                </a:solidFill>
                <a:latin typeface="Courier New" pitchFamily="49" charset="0"/>
              </a:rPr>
              <a:t>ENAME</a:t>
            </a:r>
          </a:p>
          <a:p>
            <a:pPr algn="l">
              <a:lnSpc>
                <a:spcPct val="100000"/>
              </a:lnSpc>
              <a:spcBef>
                <a:spcPct val="0"/>
              </a:spcBef>
              <a:tabLst>
                <a:tab pos="1200150" algn="l"/>
              </a:tabLst>
            </a:pPr>
            <a:r>
              <a:rPr lang="en-US" sz="1800">
                <a:solidFill>
                  <a:srgbClr val="000000"/>
                </a:solidFill>
                <a:latin typeface="Courier New" pitchFamily="49" charset="0"/>
              </a:rPr>
              <a:t>----------</a:t>
            </a:r>
          </a:p>
          <a:p>
            <a:pPr algn="l">
              <a:lnSpc>
                <a:spcPct val="100000"/>
              </a:lnSpc>
              <a:spcBef>
                <a:spcPct val="0"/>
              </a:spcBef>
              <a:tabLst>
                <a:tab pos="1200150" algn="l"/>
              </a:tabLst>
            </a:pPr>
            <a:r>
              <a:rPr lang="en-US" sz="1800">
                <a:solidFill>
                  <a:srgbClr val="000000"/>
                </a:solidFill>
                <a:latin typeface="Courier New" pitchFamily="49" charset="0"/>
              </a:rPr>
              <a:t>KING</a:t>
            </a:r>
          </a:p>
          <a:p>
            <a:pPr algn="l">
              <a:lnSpc>
                <a:spcPct val="100000"/>
              </a:lnSpc>
              <a:spcBef>
                <a:spcPct val="0"/>
              </a:spcBef>
              <a:tabLst>
                <a:tab pos="1200150" algn="l"/>
              </a:tabLst>
            </a:pPr>
            <a:r>
              <a:rPr lang="en-US" sz="1800">
                <a:solidFill>
                  <a:srgbClr val="000000"/>
                </a:solidFill>
                <a:latin typeface="Courier New" pitchFamily="49" charset="0"/>
              </a:rPr>
              <a:t>FORD</a:t>
            </a:r>
          </a:p>
          <a:p>
            <a:pPr algn="l">
              <a:lnSpc>
                <a:spcPct val="100000"/>
              </a:lnSpc>
              <a:spcBef>
                <a:spcPct val="0"/>
              </a:spcBef>
              <a:tabLst>
                <a:tab pos="1200150" algn="l"/>
              </a:tabLst>
            </a:pPr>
            <a:r>
              <a:rPr lang="en-US" sz="1800">
                <a:solidFill>
                  <a:srgbClr val="000000"/>
                </a:solidFill>
                <a:latin typeface="Courier New" pitchFamily="49" charset="0"/>
              </a:rPr>
              <a:t>SCOTT</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13318"/>
                                        </p:tgtEl>
                                        <p:attrNameLst>
                                          <p:attrName>style.visibility</p:attrName>
                                        </p:attrNameLst>
                                      </p:cBhvr>
                                      <p:to>
                                        <p:strVal val="visible"/>
                                      </p:to>
                                    </p:set>
                                    <p:animEffect transition="in" filter="wipe(up)">
                                      <p:cBhvr>
                                        <p:cTn id="7" dur="500"/>
                                        <p:tgtEl>
                                          <p:spTgt spid="133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3322"/>
                                        </p:tgtEl>
                                        <p:attrNameLst>
                                          <p:attrName>style.visibility</p:attrName>
                                        </p:attrNameLst>
                                      </p:cBhvr>
                                      <p:to>
                                        <p:strVal val="visible"/>
                                      </p:to>
                                    </p:set>
                                    <p:animEffect transition="in" filter="wipe(up)">
                                      <p:cBhvr>
                                        <p:cTn id="12" dur="500"/>
                                        <p:tgtEl>
                                          <p:spTgt spid="133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22" grpId="0" animBg="1"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noFill/>
          <a:ln/>
        </p:spPr>
        <p:txBody>
          <a:bodyPr/>
          <a:lstStyle/>
          <a:p>
            <a:r>
              <a:rPr lang="en-US"/>
              <a:t>Guidelines for Using Subqueries</a:t>
            </a:r>
          </a:p>
        </p:txBody>
      </p:sp>
      <p:sp>
        <p:nvSpPr>
          <p:cNvPr id="15363" name="Rectangle 3"/>
          <p:cNvSpPr>
            <a:spLocks noGrp="1" noChangeArrowheads="1"/>
          </p:cNvSpPr>
          <p:nvPr>
            <p:ph type="body" idx="1"/>
          </p:nvPr>
        </p:nvSpPr>
        <p:spPr>
          <a:xfrm>
            <a:off x="860425" y="1516063"/>
            <a:ext cx="7385050" cy="4346575"/>
          </a:xfrm>
          <a:noFill/>
          <a:ln/>
        </p:spPr>
        <p:txBody>
          <a:bodyPr/>
          <a:lstStyle/>
          <a:p>
            <a:pPr lvl="1"/>
            <a:r>
              <a:rPr lang="en-US"/>
              <a:t>Enclose subqueries in parentheses. </a:t>
            </a:r>
          </a:p>
          <a:p>
            <a:pPr lvl="1"/>
            <a:r>
              <a:rPr lang="en-US"/>
              <a:t>Place subqueries on the right side of the comparison operator.</a:t>
            </a:r>
          </a:p>
          <a:p>
            <a:pPr lvl="1"/>
            <a:r>
              <a:rPr lang="en-US"/>
              <a:t>Do not add an ORDER BY clause to a subquery.</a:t>
            </a:r>
          </a:p>
          <a:p>
            <a:pPr lvl="1"/>
            <a:r>
              <a:rPr lang="en-US"/>
              <a:t>Use single-row operators with single-row subqueries.</a:t>
            </a:r>
          </a:p>
          <a:p>
            <a:pPr lvl="1"/>
            <a:r>
              <a:rPr lang="en-US"/>
              <a:t>Use multiple-row operators with multiple-row subqueries.</a:t>
            </a:r>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922338" y="358775"/>
            <a:ext cx="7299325" cy="881063"/>
          </a:xfrm>
          <a:noFill/>
          <a:ln/>
        </p:spPr>
        <p:txBody>
          <a:bodyPr/>
          <a:lstStyle/>
          <a:p>
            <a:r>
              <a:rPr lang="en-US"/>
              <a:t>Types of Subqueries</a:t>
            </a:r>
          </a:p>
        </p:txBody>
      </p:sp>
      <p:sp>
        <p:nvSpPr>
          <p:cNvPr id="17411" name="Rectangle 3"/>
          <p:cNvSpPr>
            <a:spLocks noGrp="1" noChangeArrowheads="1"/>
          </p:cNvSpPr>
          <p:nvPr>
            <p:ph type="body" idx="1"/>
          </p:nvPr>
        </p:nvSpPr>
        <p:spPr>
          <a:xfrm>
            <a:off x="860425" y="998538"/>
            <a:ext cx="7385050" cy="439737"/>
          </a:xfrm>
          <a:noFill/>
          <a:ln/>
        </p:spPr>
        <p:txBody>
          <a:bodyPr/>
          <a:lstStyle/>
          <a:p>
            <a:pPr lvl="1"/>
            <a:r>
              <a:rPr lang="en-US" sz="2400"/>
              <a:t>Single-row subquery</a:t>
            </a:r>
          </a:p>
        </p:txBody>
      </p:sp>
      <p:grpSp>
        <p:nvGrpSpPr>
          <p:cNvPr id="17419" name="Group 11"/>
          <p:cNvGrpSpPr>
            <a:grpSpLocks/>
          </p:cNvGrpSpPr>
          <p:nvPr/>
        </p:nvGrpSpPr>
        <p:grpSpPr bwMode="auto">
          <a:xfrm>
            <a:off x="1881188" y="1489075"/>
            <a:ext cx="3967162" cy="1038225"/>
            <a:chOff x="1185" y="938"/>
            <a:chExt cx="2499" cy="654"/>
          </a:xfrm>
        </p:grpSpPr>
        <p:sp>
          <p:nvSpPr>
            <p:cNvPr id="17412" name="Rectangle 4"/>
            <p:cNvSpPr>
              <a:spLocks noChangeArrowheads="1"/>
            </p:cNvSpPr>
            <p:nvPr/>
          </p:nvSpPr>
          <p:spPr bwMode="blackWhite">
            <a:xfrm>
              <a:off x="1200" y="939"/>
              <a:ext cx="1231" cy="653"/>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anchor="ctr"/>
            <a:lstStyle/>
            <a:p>
              <a:endParaRPr lang="en-US"/>
            </a:p>
          </p:txBody>
        </p:sp>
        <p:sp>
          <p:nvSpPr>
            <p:cNvPr id="17413" name="Rectangle 5"/>
            <p:cNvSpPr>
              <a:spLocks noChangeArrowheads="1"/>
            </p:cNvSpPr>
            <p:nvPr/>
          </p:nvSpPr>
          <p:spPr bwMode="auto">
            <a:xfrm>
              <a:off x="1185" y="938"/>
              <a:ext cx="8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a:lnSpc>
                  <a:spcPct val="100000"/>
                </a:lnSpc>
                <a:spcBef>
                  <a:spcPct val="0"/>
                </a:spcBef>
              </a:pPr>
              <a:r>
                <a:rPr lang="en-US" sz="1800">
                  <a:solidFill>
                    <a:srgbClr val="000000"/>
                  </a:solidFill>
                  <a:latin typeface="Arial" pitchFamily="34" charset="0"/>
                </a:rPr>
                <a:t>Main query</a:t>
              </a:r>
            </a:p>
          </p:txBody>
        </p:sp>
        <p:sp>
          <p:nvSpPr>
            <p:cNvPr id="17414" name="Rectangle 6"/>
            <p:cNvSpPr>
              <a:spLocks noChangeArrowheads="1"/>
            </p:cNvSpPr>
            <p:nvPr/>
          </p:nvSpPr>
          <p:spPr bwMode="ltGray">
            <a:xfrm>
              <a:off x="1458" y="1236"/>
              <a:ext cx="967" cy="347"/>
            </a:xfrm>
            <a:prstGeom prst="rect">
              <a:avLst/>
            </a:prstGeom>
            <a:solidFill>
              <a:srgbClr val="FF99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415" name="Rectangle 7"/>
            <p:cNvSpPr>
              <a:spLocks noChangeArrowheads="1"/>
            </p:cNvSpPr>
            <p:nvPr/>
          </p:nvSpPr>
          <p:spPr bwMode="auto">
            <a:xfrm>
              <a:off x="1551" y="1305"/>
              <a:ext cx="7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a:lnSpc>
                  <a:spcPct val="100000"/>
                </a:lnSpc>
                <a:spcBef>
                  <a:spcPct val="0"/>
                </a:spcBef>
              </a:pPr>
              <a:r>
                <a:rPr lang="en-US" sz="1800">
                  <a:solidFill>
                    <a:srgbClr val="000000"/>
                  </a:solidFill>
                  <a:latin typeface="Arial" pitchFamily="34" charset="0"/>
                </a:rPr>
                <a:t>Subquery</a:t>
              </a:r>
            </a:p>
          </p:txBody>
        </p:sp>
        <p:sp>
          <p:nvSpPr>
            <p:cNvPr id="17416" name="Rectangle 8"/>
            <p:cNvSpPr>
              <a:spLocks noChangeArrowheads="1"/>
            </p:cNvSpPr>
            <p:nvPr/>
          </p:nvSpPr>
          <p:spPr bwMode="auto">
            <a:xfrm>
              <a:off x="3388" y="1254"/>
              <a:ext cx="17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defTabSz="822325">
                <a:lnSpc>
                  <a:spcPct val="100000"/>
                </a:lnSpc>
                <a:spcBef>
                  <a:spcPct val="50000"/>
                </a:spcBef>
              </a:pPr>
              <a:r>
                <a:rPr lang="en-US">
                  <a:solidFill>
                    <a:srgbClr val="D3EAF8"/>
                  </a:solidFill>
                  <a:effectLst>
                    <a:outerShdw blurRad="38100" dist="38100" dir="2700000" algn="tl">
                      <a:srgbClr val="000000"/>
                    </a:outerShdw>
                  </a:effectLst>
                  <a:latin typeface="Arial" pitchFamily="34" charset="0"/>
                </a:rPr>
                <a:t> </a:t>
              </a:r>
            </a:p>
          </p:txBody>
        </p:sp>
        <p:sp>
          <p:nvSpPr>
            <p:cNvPr id="17417" name="Line 9"/>
            <p:cNvSpPr>
              <a:spLocks noChangeShapeType="1"/>
            </p:cNvSpPr>
            <p:nvPr/>
          </p:nvSpPr>
          <p:spPr bwMode="auto">
            <a:xfrm>
              <a:off x="2336" y="1415"/>
              <a:ext cx="1348" cy="0"/>
            </a:xfrm>
            <a:prstGeom prst="line">
              <a:avLst/>
            </a:prstGeom>
            <a:noFill/>
            <a:ln w="50800">
              <a:solidFill>
                <a:srgbClr val="FFCC00"/>
              </a:solidFill>
              <a:round/>
              <a:headEnd type="none" w="sm" len="sm"/>
              <a:tailEnd type="stealth" w="med" len="lg"/>
            </a:ln>
            <a:effectLst>
              <a:outerShdw dist="53882" dir="2700000" algn="ctr" rotWithShape="0">
                <a:srgbClr val="000000"/>
              </a:outerShdw>
            </a:effectLst>
            <a:extLst>
              <a:ext uri="{909E8E84-426E-40DD-AFC4-6F175D3DCCD1}">
                <a14:hiddenFill xmlns:a14="http://schemas.microsoft.com/office/drawing/2010/main">
                  <a:noFill/>
                </a14:hiddenFill>
              </a:ext>
            </a:extLst>
          </p:spPr>
          <p:txBody>
            <a:bodyPr/>
            <a:lstStyle/>
            <a:p>
              <a:endParaRPr lang="en-US"/>
            </a:p>
          </p:txBody>
        </p:sp>
        <p:sp>
          <p:nvSpPr>
            <p:cNvPr id="17418" name="Rectangle 10"/>
            <p:cNvSpPr>
              <a:spLocks noChangeArrowheads="1"/>
            </p:cNvSpPr>
            <p:nvPr/>
          </p:nvSpPr>
          <p:spPr bwMode="auto">
            <a:xfrm>
              <a:off x="2664" y="1169"/>
              <a:ext cx="61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defTabSz="822325">
                <a:lnSpc>
                  <a:spcPct val="100000"/>
                </a:lnSpc>
                <a:spcBef>
                  <a:spcPct val="50000"/>
                </a:spcBef>
              </a:pPr>
              <a:r>
                <a:rPr lang="en-US" sz="1800">
                  <a:solidFill>
                    <a:srgbClr val="FFFFCC"/>
                  </a:solidFill>
                  <a:effectLst>
                    <a:outerShdw blurRad="38100" dist="38100" dir="2700000" algn="tl">
                      <a:srgbClr val="000000"/>
                    </a:outerShdw>
                  </a:effectLst>
                  <a:latin typeface="Arial" pitchFamily="34" charset="0"/>
                </a:rPr>
                <a:t>returns</a:t>
              </a:r>
            </a:p>
          </p:txBody>
        </p:sp>
      </p:grpSp>
      <p:sp>
        <p:nvSpPr>
          <p:cNvPr id="17420" name="Rectangle 12"/>
          <p:cNvSpPr>
            <a:spLocks noChangeArrowheads="1"/>
          </p:cNvSpPr>
          <p:nvPr/>
        </p:nvSpPr>
        <p:spPr bwMode="auto">
          <a:xfrm>
            <a:off x="5972175" y="2014538"/>
            <a:ext cx="1233488"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defTabSz="822325">
              <a:lnSpc>
                <a:spcPct val="100000"/>
              </a:lnSpc>
              <a:spcBef>
                <a:spcPct val="50000"/>
              </a:spcBef>
            </a:pPr>
            <a:r>
              <a:rPr lang="en-US" sz="2400">
                <a:solidFill>
                  <a:srgbClr val="FFFFCC"/>
                </a:solidFill>
                <a:effectLst>
                  <a:outerShdw blurRad="38100" dist="38100" dir="2700000" algn="tl">
                    <a:srgbClr val="000000"/>
                  </a:outerShdw>
                </a:effectLst>
                <a:latin typeface="Arial" pitchFamily="34" charset="0"/>
              </a:rPr>
              <a:t>CLERK</a:t>
            </a:r>
          </a:p>
        </p:txBody>
      </p:sp>
      <p:grpSp>
        <p:nvGrpSpPr>
          <p:cNvPr id="17431" name="Group 23"/>
          <p:cNvGrpSpPr>
            <a:grpSpLocks/>
          </p:cNvGrpSpPr>
          <p:nvPr/>
        </p:nvGrpSpPr>
        <p:grpSpPr bwMode="auto">
          <a:xfrm>
            <a:off x="860425" y="2746375"/>
            <a:ext cx="7324725" cy="1676400"/>
            <a:chOff x="542" y="1730"/>
            <a:chExt cx="4614" cy="1056"/>
          </a:xfrm>
        </p:grpSpPr>
        <p:sp>
          <p:nvSpPr>
            <p:cNvPr id="17421" name="Rectangle 13"/>
            <p:cNvSpPr>
              <a:spLocks noChangeArrowheads="1"/>
            </p:cNvSpPr>
            <p:nvPr/>
          </p:nvSpPr>
          <p:spPr bwMode="auto">
            <a:xfrm>
              <a:off x="542" y="1730"/>
              <a:ext cx="4614" cy="284"/>
            </a:xfrm>
            <a:prstGeom prst="rect">
              <a:avLst/>
            </a:prstGeom>
            <a:noFill/>
            <a:ln>
              <a:noFill/>
            </a:ln>
            <a:effectLst>
              <a:outerShdw dist="53882"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92075" tIns="46038" rIns="92075" bIns="46038"/>
            <a:lstStyle/>
            <a:p>
              <a:pPr marL="341313" lvl="1" indent="-227013" algn="l" defTabSz="346075">
                <a:lnSpc>
                  <a:spcPct val="95000"/>
                </a:lnSpc>
                <a:spcBef>
                  <a:spcPct val="35000"/>
                </a:spcBef>
                <a:buClr>
                  <a:srgbClr val="FFCC66"/>
                </a:buClr>
                <a:buSzPct val="100000"/>
                <a:buFontTx/>
                <a:buChar char="•"/>
                <a:tabLst>
                  <a:tab pos="571500" algn="l"/>
                </a:tabLst>
              </a:pPr>
              <a:r>
                <a:rPr lang="en-US" sz="2400">
                  <a:solidFill>
                    <a:srgbClr val="F8F8D3"/>
                  </a:solidFill>
                  <a:latin typeface="Arial" pitchFamily="34" charset="0"/>
                </a:rPr>
                <a:t>Multiple-row subquery</a:t>
              </a:r>
            </a:p>
          </p:txBody>
        </p:sp>
        <p:sp>
          <p:nvSpPr>
            <p:cNvPr id="17422" name="Rectangle 14"/>
            <p:cNvSpPr>
              <a:spLocks noChangeArrowheads="1"/>
            </p:cNvSpPr>
            <p:nvPr/>
          </p:nvSpPr>
          <p:spPr bwMode="auto">
            <a:xfrm>
              <a:off x="3762" y="2268"/>
              <a:ext cx="1108"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defTabSz="822325">
                <a:lnSpc>
                  <a:spcPct val="100000"/>
                </a:lnSpc>
                <a:spcBef>
                  <a:spcPct val="0"/>
                </a:spcBef>
              </a:pPr>
              <a:r>
                <a:rPr lang="en-US" sz="2400">
                  <a:solidFill>
                    <a:srgbClr val="FFFFCC"/>
                  </a:solidFill>
                  <a:effectLst>
                    <a:outerShdw blurRad="38100" dist="38100" dir="2700000" algn="tl">
                      <a:srgbClr val="000000"/>
                    </a:outerShdw>
                  </a:effectLst>
                  <a:latin typeface="Arial" pitchFamily="34" charset="0"/>
                </a:rPr>
                <a:t>CLERK</a:t>
              </a:r>
            </a:p>
            <a:p>
              <a:pPr algn="l" defTabSz="822325">
                <a:lnSpc>
                  <a:spcPct val="100000"/>
                </a:lnSpc>
                <a:spcBef>
                  <a:spcPct val="0"/>
                </a:spcBef>
              </a:pPr>
              <a:r>
                <a:rPr lang="en-US" sz="2400">
                  <a:solidFill>
                    <a:srgbClr val="FFFFCC"/>
                  </a:solidFill>
                  <a:effectLst>
                    <a:outerShdw blurRad="38100" dist="38100" dir="2700000" algn="tl">
                      <a:srgbClr val="000000"/>
                    </a:outerShdw>
                  </a:effectLst>
                  <a:latin typeface="Arial" pitchFamily="34" charset="0"/>
                </a:rPr>
                <a:t>MANAGER</a:t>
              </a:r>
            </a:p>
          </p:txBody>
        </p:sp>
        <p:grpSp>
          <p:nvGrpSpPr>
            <p:cNvPr id="17430" name="Group 22"/>
            <p:cNvGrpSpPr>
              <a:grpSpLocks/>
            </p:cNvGrpSpPr>
            <p:nvPr/>
          </p:nvGrpSpPr>
          <p:grpSpPr bwMode="auto">
            <a:xfrm>
              <a:off x="1185" y="2042"/>
              <a:ext cx="2499" cy="654"/>
              <a:chOff x="1185" y="2042"/>
              <a:chExt cx="2499" cy="654"/>
            </a:xfrm>
          </p:grpSpPr>
          <p:sp>
            <p:nvSpPr>
              <p:cNvPr id="17423" name="Rectangle 15"/>
              <p:cNvSpPr>
                <a:spLocks noChangeArrowheads="1"/>
              </p:cNvSpPr>
              <p:nvPr/>
            </p:nvSpPr>
            <p:spPr bwMode="blackWhite">
              <a:xfrm>
                <a:off x="1200" y="2043"/>
                <a:ext cx="1231" cy="653"/>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anchor="ctr"/>
              <a:lstStyle/>
              <a:p>
                <a:endParaRPr lang="en-US"/>
              </a:p>
            </p:txBody>
          </p:sp>
          <p:sp>
            <p:nvSpPr>
              <p:cNvPr id="17424" name="Rectangle 16"/>
              <p:cNvSpPr>
                <a:spLocks noChangeArrowheads="1"/>
              </p:cNvSpPr>
              <p:nvPr/>
            </p:nvSpPr>
            <p:spPr bwMode="auto">
              <a:xfrm>
                <a:off x="1185" y="2042"/>
                <a:ext cx="8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a:lnSpc>
                    <a:spcPct val="100000"/>
                  </a:lnSpc>
                  <a:spcBef>
                    <a:spcPct val="0"/>
                  </a:spcBef>
                </a:pPr>
                <a:r>
                  <a:rPr lang="en-US" sz="1800">
                    <a:solidFill>
                      <a:srgbClr val="000000"/>
                    </a:solidFill>
                    <a:latin typeface="Arial" pitchFamily="34" charset="0"/>
                  </a:rPr>
                  <a:t>Main query</a:t>
                </a:r>
              </a:p>
            </p:txBody>
          </p:sp>
          <p:sp>
            <p:nvSpPr>
              <p:cNvPr id="17425" name="Rectangle 17"/>
              <p:cNvSpPr>
                <a:spLocks noChangeArrowheads="1"/>
              </p:cNvSpPr>
              <p:nvPr/>
            </p:nvSpPr>
            <p:spPr bwMode="ltGray">
              <a:xfrm>
                <a:off x="1458" y="2340"/>
                <a:ext cx="967" cy="347"/>
              </a:xfrm>
              <a:prstGeom prst="rect">
                <a:avLst/>
              </a:prstGeom>
              <a:solidFill>
                <a:srgbClr val="FF99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426" name="Rectangle 18"/>
              <p:cNvSpPr>
                <a:spLocks noChangeArrowheads="1"/>
              </p:cNvSpPr>
              <p:nvPr/>
            </p:nvSpPr>
            <p:spPr bwMode="auto">
              <a:xfrm>
                <a:off x="1551" y="2409"/>
                <a:ext cx="7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a:lnSpc>
                    <a:spcPct val="100000"/>
                  </a:lnSpc>
                  <a:spcBef>
                    <a:spcPct val="0"/>
                  </a:spcBef>
                </a:pPr>
                <a:r>
                  <a:rPr lang="en-US" sz="1800">
                    <a:solidFill>
                      <a:srgbClr val="000000"/>
                    </a:solidFill>
                    <a:latin typeface="Arial" pitchFamily="34" charset="0"/>
                  </a:rPr>
                  <a:t>Subquery</a:t>
                </a:r>
              </a:p>
            </p:txBody>
          </p:sp>
          <p:sp>
            <p:nvSpPr>
              <p:cNvPr id="17427" name="Rectangle 19"/>
              <p:cNvSpPr>
                <a:spLocks noChangeArrowheads="1"/>
              </p:cNvSpPr>
              <p:nvPr/>
            </p:nvSpPr>
            <p:spPr bwMode="auto">
              <a:xfrm>
                <a:off x="3388" y="2358"/>
                <a:ext cx="17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defTabSz="822325">
                  <a:lnSpc>
                    <a:spcPct val="100000"/>
                  </a:lnSpc>
                  <a:spcBef>
                    <a:spcPct val="50000"/>
                  </a:spcBef>
                </a:pPr>
                <a:r>
                  <a:rPr lang="en-US">
                    <a:solidFill>
                      <a:srgbClr val="D3EAF8"/>
                    </a:solidFill>
                    <a:effectLst>
                      <a:outerShdw blurRad="38100" dist="38100" dir="2700000" algn="tl">
                        <a:srgbClr val="000000"/>
                      </a:outerShdw>
                    </a:effectLst>
                    <a:latin typeface="Arial" pitchFamily="34" charset="0"/>
                  </a:rPr>
                  <a:t> </a:t>
                </a:r>
              </a:p>
            </p:txBody>
          </p:sp>
          <p:sp>
            <p:nvSpPr>
              <p:cNvPr id="17428" name="Line 20"/>
              <p:cNvSpPr>
                <a:spLocks noChangeShapeType="1"/>
              </p:cNvSpPr>
              <p:nvPr/>
            </p:nvSpPr>
            <p:spPr bwMode="auto">
              <a:xfrm>
                <a:off x="2336" y="2519"/>
                <a:ext cx="1348" cy="0"/>
              </a:xfrm>
              <a:prstGeom prst="line">
                <a:avLst/>
              </a:prstGeom>
              <a:noFill/>
              <a:ln w="50800">
                <a:solidFill>
                  <a:srgbClr val="FFCC00"/>
                </a:solidFill>
                <a:round/>
                <a:headEnd type="none" w="sm" len="sm"/>
                <a:tailEnd type="stealth" w="med" len="lg"/>
              </a:ln>
              <a:effectLst>
                <a:outerShdw dist="53882" dir="2700000" algn="ctr" rotWithShape="0">
                  <a:srgbClr val="000000"/>
                </a:outerShdw>
              </a:effectLst>
              <a:extLst>
                <a:ext uri="{909E8E84-426E-40DD-AFC4-6F175D3DCCD1}">
                  <a14:hiddenFill xmlns:a14="http://schemas.microsoft.com/office/drawing/2010/main">
                    <a:noFill/>
                  </a14:hiddenFill>
                </a:ext>
              </a:extLst>
            </p:spPr>
            <p:txBody>
              <a:bodyPr/>
              <a:lstStyle/>
              <a:p>
                <a:endParaRPr lang="en-US"/>
              </a:p>
            </p:txBody>
          </p:sp>
          <p:sp>
            <p:nvSpPr>
              <p:cNvPr id="17429" name="Rectangle 21"/>
              <p:cNvSpPr>
                <a:spLocks noChangeArrowheads="1"/>
              </p:cNvSpPr>
              <p:nvPr/>
            </p:nvSpPr>
            <p:spPr bwMode="auto">
              <a:xfrm>
                <a:off x="2664" y="2273"/>
                <a:ext cx="61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defTabSz="822325">
                  <a:lnSpc>
                    <a:spcPct val="100000"/>
                  </a:lnSpc>
                  <a:spcBef>
                    <a:spcPct val="50000"/>
                  </a:spcBef>
                </a:pPr>
                <a:r>
                  <a:rPr lang="en-US" sz="1800">
                    <a:solidFill>
                      <a:srgbClr val="FFFFCC"/>
                    </a:solidFill>
                    <a:effectLst>
                      <a:outerShdw blurRad="38100" dist="38100" dir="2700000" algn="tl">
                        <a:srgbClr val="000000"/>
                      </a:outerShdw>
                    </a:effectLst>
                    <a:latin typeface="Arial" pitchFamily="34" charset="0"/>
                  </a:rPr>
                  <a:t>returns</a:t>
                </a:r>
              </a:p>
            </p:txBody>
          </p:sp>
        </p:grpSp>
      </p:grpSp>
      <p:grpSp>
        <p:nvGrpSpPr>
          <p:cNvPr id="17443" name="Group 35"/>
          <p:cNvGrpSpPr>
            <a:grpSpLocks/>
          </p:cNvGrpSpPr>
          <p:nvPr/>
        </p:nvGrpSpPr>
        <p:grpSpPr bwMode="auto">
          <a:xfrm>
            <a:off x="841375" y="4457700"/>
            <a:ext cx="7718425" cy="1889125"/>
            <a:chOff x="530" y="2808"/>
            <a:chExt cx="4862" cy="1190"/>
          </a:xfrm>
        </p:grpSpPr>
        <p:sp>
          <p:nvSpPr>
            <p:cNvPr id="17432" name="Rectangle 24"/>
            <p:cNvSpPr>
              <a:spLocks noChangeArrowheads="1"/>
            </p:cNvSpPr>
            <p:nvPr/>
          </p:nvSpPr>
          <p:spPr bwMode="auto">
            <a:xfrm>
              <a:off x="2267" y="2808"/>
              <a:ext cx="2521"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433" name="Rectangle 25"/>
            <p:cNvSpPr>
              <a:spLocks noChangeArrowheads="1"/>
            </p:cNvSpPr>
            <p:nvPr/>
          </p:nvSpPr>
          <p:spPr bwMode="auto">
            <a:xfrm>
              <a:off x="530" y="2844"/>
              <a:ext cx="4614" cy="284"/>
            </a:xfrm>
            <a:prstGeom prst="rect">
              <a:avLst/>
            </a:prstGeom>
            <a:noFill/>
            <a:ln>
              <a:noFill/>
            </a:ln>
            <a:effectLst>
              <a:outerShdw dist="53882"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92075" tIns="46038" rIns="92075" bIns="46038"/>
            <a:lstStyle/>
            <a:p>
              <a:pPr marL="341313" lvl="1" indent="-227013" algn="l" defTabSz="346075">
                <a:lnSpc>
                  <a:spcPct val="95000"/>
                </a:lnSpc>
                <a:spcBef>
                  <a:spcPct val="35000"/>
                </a:spcBef>
                <a:buClr>
                  <a:srgbClr val="FFCC66"/>
                </a:buClr>
                <a:buSzPct val="100000"/>
                <a:buFontTx/>
                <a:buChar char="•"/>
                <a:tabLst>
                  <a:tab pos="571500" algn="l"/>
                </a:tabLst>
              </a:pPr>
              <a:r>
                <a:rPr lang="en-US" sz="2400">
                  <a:solidFill>
                    <a:srgbClr val="F8F8D3"/>
                  </a:solidFill>
                  <a:latin typeface="Arial" pitchFamily="34" charset="0"/>
                </a:rPr>
                <a:t>Multiple-column subquery</a:t>
              </a:r>
            </a:p>
          </p:txBody>
        </p:sp>
        <p:sp>
          <p:nvSpPr>
            <p:cNvPr id="17434" name="Rectangle 26"/>
            <p:cNvSpPr>
              <a:spLocks noChangeArrowheads="1"/>
            </p:cNvSpPr>
            <p:nvPr/>
          </p:nvSpPr>
          <p:spPr bwMode="auto">
            <a:xfrm>
              <a:off x="3750" y="3480"/>
              <a:ext cx="1642" cy="5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defTabSz="822325">
                <a:lnSpc>
                  <a:spcPct val="100000"/>
                </a:lnSpc>
                <a:spcBef>
                  <a:spcPct val="50000"/>
                </a:spcBef>
              </a:pPr>
              <a:r>
                <a:rPr lang="en-US" sz="2400">
                  <a:solidFill>
                    <a:srgbClr val="FFFFCC"/>
                  </a:solidFill>
                  <a:effectLst>
                    <a:outerShdw blurRad="38100" dist="38100" dir="2700000" algn="tl">
                      <a:srgbClr val="000000"/>
                    </a:outerShdw>
                  </a:effectLst>
                  <a:latin typeface="Arial" pitchFamily="34" charset="0"/>
                </a:rPr>
                <a:t>CLERK        7900</a:t>
              </a:r>
              <a:br>
                <a:rPr lang="en-US" sz="2400">
                  <a:solidFill>
                    <a:srgbClr val="FFFFCC"/>
                  </a:solidFill>
                  <a:effectLst>
                    <a:outerShdw blurRad="38100" dist="38100" dir="2700000" algn="tl">
                      <a:srgbClr val="000000"/>
                    </a:outerShdw>
                  </a:effectLst>
                  <a:latin typeface="Arial" pitchFamily="34" charset="0"/>
                </a:rPr>
              </a:br>
              <a:r>
                <a:rPr lang="en-US" sz="2400">
                  <a:solidFill>
                    <a:srgbClr val="FFFFCC"/>
                  </a:solidFill>
                  <a:effectLst>
                    <a:outerShdw blurRad="38100" dist="38100" dir="2700000" algn="tl">
                      <a:srgbClr val="000000"/>
                    </a:outerShdw>
                  </a:effectLst>
                  <a:latin typeface="Arial" pitchFamily="34" charset="0"/>
                </a:rPr>
                <a:t>MANAGER  7698</a:t>
              </a:r>
            </a:p>
          </p:txBody>
        </p:sp>
        <p:grpSp>
          <p:nvGrpSpPr>
            <p:cNvPr id="17442" name="Group 34"/>
            <p:cNvGrpSpPr>
              <a:grpSpLocks/>
            </p:cNvGrpSpPr>
            <p:nvPr/>
          </p:nvGrpSpPr>
          <p:grpSpPr bwMode="auto">
            <a:xfrm>
              <a:off x="1173" y="3146"/>
              <a:ext cx="2499" cy="654"/>
              <a:chOff x="1173" y="3146"/>
              <a:chExt cx="2499" cy="654"/>
            </a:xfrm>
          </p:grpSpPr>
          <p:sp>
            <p:nvSpPr>
              <p:cNvPr id="17435" name="Rectangle 27"/>
              <p:cNvSpPr>
                <a:spLocks noChangeArrowheads="1"/>
              </p:cNvSpPr>
              <p:nvPr/>
            </p:nvSpPr>
            <p:spPr bwMode="blackWhite">
              <a:xfrm>
                <a:off x="1188" y="3147"/>
                <a:ext cx="1231" cy="653"/>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anchor="ctr"/>
              <a:lstStyle/>
              <a:p>
                <a:endParaRPr lang="en-US"/>
              </a:p>
            </p:txBody>
          </p:sp>
          <p:sp>
            <p:nvSpPr>
              <p:cNvPr id="17436" name="Rectangle 28"/>
              <p:cNvSpPr>
                <a:spLocks noChangeArrowheads="1"/>
              </p:cNvSpPr>
              <p:nvPr/>
            </p:nvSpPr>
            <p:spPr bwMode="auto">
              <a:xfrm>
                <a:off x="1173" y="3146"/>
                <a:ext cx="876"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a:lnSpc>
                    <a:spcPct val="100000"/>
                  </a:lnSpc>
                  <a:spcBef>
                    <a:spcPct val="0"/>
                  </a:spcBef>
                </a:pPr>
                <a:r>
                  <a:rPr lang="en-US" sz="1800">
                    <a:solidFill>
                      <a:srgbClr val="000000"/>
                    </a:solidFill>
                    <a:latin typeface="Arial" pitchFamily="34" charset="0"/>
                  </a:rPr>
                  <a:t>Main query</a:t>
                </a:r>
              </a:p>
            </p:txBody>
          </p:sp>
          <p:sp>
            <p:nvSpPr>
              <p:cNvPr id="17437" name="Rectangle 29"/>
              <p:cNvSpPr>
                <a:spLocks noChangeArrowheads="1"/>
              </p:cNvSpPr>
              <p:nvPr/>
            </p:nvSpPr>
            <p:spPr bwMode="ltGray">
              <a:xfrm>
                <a:off x="1446" y="3444"/>
                <a:ext cx="967" cy="347"/>
              </a:xfrm>
              <a:prstGeom prst="rect">
                <a:avLst/>
              </a:prstGeom>
              <a:solidFill>
                <a:srgbClr val="FF99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438" name="Rectangle 30"/>
              <p:cNvSpPr>
                <a:spLocks noChangeArrowheads="1"/>
              </p:cNvSpPr>
              <p:nvPr/>
            </p:nvSpPr>
            <p:spPr bwMode="auto">
              <a:xfrm>
                <a:off x="1539" y="3513"/>
                <a:ext cx="780"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a:lnSpc>
                    <a:spcPct val="100000"/>
                  </a:lnSpc>
                  <a:spcBef>
                    <a:spcPct val="0"/>
                  </a:spcBef>
                </a:pPr>
                <a:r>
                  <a:rPr lang="en-US" sz="1800">
                    <a:solidFill>
                      <a:srgbClr val="000000"/>
                    </a:solidFill>
                    <a:latin typeface="Arial" pitchFamily="34" charset="0"/>
                  </a:rPr>
                  <a:t>Subquery</a:t>
                </a:r>
              </a:p>
            </p:txBody>
          </p:sp>
          <p:sp>
            <p:nvSpPr>
              <p:cNvPr id="17439" name="Rectangle 31"/>
              <p:cNvSpPr>
                <a:spLocks noChangeArrowheads="1"/>
              </p:cNvSpPr>
              <p:nvPr/>
            </p:nvSpPr>
            <p:spPr bwMode="auto">
              <a:xfrm>
                <a:off x="3376" y="3462"/>
                <a:ext cx="178" cy="3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defTabSz="822325">
                  <a:lnSpc>
                    <a:spcPct val="100000"/>
                  </a:lnSpc>
                  <a:spcBef>
                    <a:spcPct val="50000"/>
                  </a:spcBef>
                </a:pPr>
                <a:r>
                  <a:rPr lang="en-US">
                    <a:solidFill>
                      <a:srgbClr val="D3EAF8"/>
                    </a:solidFill>
                    <a:effectLst>
                      <a:outerShdw blurRad="38100" dist="38100" dir="2700000" algn="tl">
                        <a:srgbClr val="000000"/>
                      </a:outerShdw>
                    </a:effectLst>
                    <a:latin typeface="Arial" pitchFamily="34" charset="0"/>
                  </a:rPr>
                  <a:t> </a:t>
                </a:r>
              </a:p>
            </p:txBody>
          </p:sp>
          <p:sp>
            <p:nvSpPr>
              <p:cNvPr id="17440" name="Line 32"/>
              <p:cNvSpPr>
                <a:spLocks noChangeShapeType="1"/>
              </p:cNvSpPr>
              <p:nvPr/>
            </p:nvSpPr>
            <p:spPr bwMode="auto">
              <a:xfrm>
                <a:off x="2324" y="3623"/>
                <a:ext cx="1348" cy="0"/>
              </a:xfrm>
              <a:prstGeom prst="line">
                <a:avLst/>
              </a:prstGeom>
              <a:noFill/>
              <a:ln w="50800">
                <a:solidFill>
                  <a:srgbClr val="FFCC00"/>
                </a:solidFill>
                <a:round/>
                <a:headEnd type="none" w="sm" len="sm"/>
                <a:tailEnd type="stealth" w="med" len="lg"/>
              </a:ln>
              <a:effectLst>
                <a:outerShdw dist="53882" dir="2700000" algn="ctr" rotWithShape="0">
                  <a:srgbClr val="000000"/>
                </a:outerShdw>
              </a:effectLst>
              <a:extLst>
                <a:ext uri="{909E8E84-426E-40DD-AFC4-6F175D3DCCD1}">
                  <a14:hiddenFill xmlns:a14="http://schemas.microsoft.com/office/drawing/2010/main">
                    <a:noFill/>
                  </a14:hiddenFill>
                </a:ext>
              </a:extLst>
            </p:spPr>
            <p:txBody>
              <a:bodyPr/>
              <a:lstStyle/>
              <a:p>
                <a:endParaRPr lang="en-US"/>
              </a:p>
            </p:txBody>
          </p:sp>
          <p:sp>
            <p:nvSpPr>
              <p:cNvPr id="17441" name="Rectangle 33"/>
              <p:cNvSpPr>
                <a:spLocks noChangeArrowheads="1"/>
              </p:cNvSpPr>
              <p:nvPr/>
            </p:nvSpPr>
            <p:spPr bwMode="auto">
              <a:xfrm>
                <a:off x="2652" y="3377"/>
                <a:ext cx="612" cy="2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defTabSz="822325">
                  <a:lnSpc>
                    <a:spcPct val="100000"/>
                  </a:lnSpc>
                  <a:spcBef>
                    <a:spcPct val="50000"/>
                  </a:spcBef>
                </a:pPr>
                <a:r>
                  <a:rPr lang="en-US" sz="1800">
                    <a:solidFill>
                      <a:srgbClr val="FFFFCC"/>
                    </a:solidFill>
                    <a:effectLst>
                      <a:outerShdw blurRad="38100" dist="38100" dir="2700000" algn="tl">
                        <a:srgbClr val="000000"/>
                      </a:outerShdw>
                    </a:effectLst>
                    <a:latin typeface="Arial" pitchFamily="34" charset="0"/>
                  </a:rPr>
                  <a:t>returns</a:t>
                </a:r>
              </a:p>
            </p:txBody>
          </p:sp>
        </p:grpSp>
      </p:gr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7431"/>
                                        </p:tgtEl>
                                        <p:attrNameLst>
                                          <p:attrName>style.visibility</p:attrName>
                                        </p:attrNameLst>
                                      </p:cBhvr>
                                      <p:to>
                                        <p:strVal val="visible"/>
                                      </p:to>
                                    </p:set>
                                    <p:animEffect transition="in" filter="wipe(left)">
                                      <p:cBhvr>
                                        <p:cTn id="7" dur="500"/>
                                        <p:tgtEl>
                                          <p:spTgt spid="1743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7443"/>
                                        </p:tgtEl>
                                        <p:attrNameLst>
                                          <p:attrName>style.visibility</p:attrName>
                                        </p:attrNameLst>
                                      </p:cBhvr>
                                      <p:to>
                                        <p:strVal val="visible"/>
                                      </p:to>
                                    </p:set>
                                    <p:animEffect transition="in" filter="wipe(left)">
                                      <p:cBhvr>
                                        <p:cTn id="12" dur="500"/>
                                        <p:tgtEl>
                                          <p:spTgt spid="174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noFill/>
          <a:ln/>
        </p:spPr>
        <p:txBody>
          <a:bodyPr/>
          <a:lstStyle/>
          <a:p>
            <a:r>
              <a:rPr lang="en-US"/>
              <a:t>Single-Row Subqueries</a:t>
            </a:r>
          </a:p>
        </p:txBody>
      </p:sp>
      <p:sp>
        <p:nvSpPr>
          <p:cNvPr id="19459" name="Rectangle 3"/>
          <p:cNvSpPr>
            <a:spLocks noGrp="1" noChangeArrowheads="1"/>
          </p:cNvSpPr>
          <p:nvPr>
            <p:ph type="body" idx="1"/>
          </p:nvPr>
        </p:nvSpPr>
        <p:spPr>
          <a:xfrm>
            <a:off x="825500" y="1293813"/>
            <a:ext cx="7385050" cy="1054100"/>
          </a:xfrm>
          <a:noFill/>
          <a:ln/>
        </p:spPr>
        <p:txBody>
          <a:bodyPr/>
          <a:lstStyle/>
          <a:p>
            <a:pPr lvl="1"/>
            <a:r>
              <a:rPr lang="en-US"/>
              <a:t>Return only one row</a:t>
            </a:r>
          </a:p>
          <a:p>
            <a:pPr lvl="1"/>
            <a:r>
              <a:rPr lang="en-US"/>
              <a:t>Use single-row comparison operators</a:t>
            </a:r>
          </a:p>
        </p:txBody>
      </p:sp>
      <p:sp>
        <p:nvSpPr>
          <p:cNvPr id="19460" name="Rectangle 4"/>
          <p:cNvSpPr>
            <a:spLocks noChangeArrowheads="1"/>
          </p:cNvSpPr>
          <p:nvPr/>
        </p:nvSpPr>
        <p:spPr bwMode="auto">
          <a:xfrm>
            <a:off x="2441575" y="2554288"/>
            <a:ext cx="1293813" cy="3419475"/>
          </a:xfrm>
          <a:prstGeom prst="rect">
            <a:avLst/>
          </a:prstGeom>
          <a:solidFill>
            <a:srgbClr val="FFCC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l"/>
            <a:r>
              <a:rPr lang="en-US" sz="1800">
                <a:solidFill>
                  <a:srgbClr val="000000"/>
                </a:solidFill>
                <a:latin typeface="Arial" pitchFamily="34" charset="0"/>
              </a:rPr>
              <a:t>Operator</a:t>
            </a:r>
          </a:p>
          <a:p>
            <a:r>
              <a:rPr lang="en-US" sz="1800">
                <a:solidFill>
                  <a:srgbClr val="000000"/>
                </a:solidFill>
                <a:latin typeface="Arial" pitchFamily="34" charset="0"/>
              </a:rPr>
              <a:t>=</a:t>
            </a:r>
          </a:p>
          <a:p>
            <a:r>
              <a:rPr lang="en-US" sz="1800">
                <a:solidFill>
                  <a:srgbClr val="000000"/>
                </a:solidFill>
                <a:latin typeface="Arial" pitchFamily="34" charset="0"/>
              </a:rPr>
              <a:t>&gt;</a:t>
            </a:r>
          </a:p>
          <a:p>
            <a:r>
              <a:rPr lang="en-US" sz="1800">
                <a:solidFill>
                  <a:srgbClr val="000000"/>
                </a:solidFill>
                <a:latin typeface="Arial" pitchFamily="34" charset="0"/>
              </a:rPr>
              <a:t>      &gt;=	</a:t>
            </a:r>
          </a:p>
          <a:p>
            <a:r>
              <a:rPr lang="en-US" sz="1800">
                <a:solidFill>
                  <a:srgbClr val="000000"/>
                </a:solidFill>
                <a:latin typeface="Arial" pitchFamily="34" charset="0"/>
              </a:rPr>
              <a:t>&lt;</a:t>
            </a:r>
          </a:p>
          <a:p>
            <a:r>
              <a:rPr lang="en-US" sz="1800">
                <a:solidFill>
                  <a:srgbClr val="000000"/>
                </a:solidFill>
                <a:latin typeface="Arial" pitchFamily="34" charset="0"/>
              </a:rPr>
              <a:t>      &lt;=	</a:t>
            </a:r>
          </a:p>
          <a:p>
            <a:r>
              <a:rPr lang="en-US" sz="1800">
                <a:solidFill>
                  <a:srgbClr val="000000"/>
                </a:solidFill>
                <a:latin typeface="Arial" pitchFamily="34" charset="0"/>
              </a:rPr>
              <a:t>&lt;&gt;</a:t>
            </a:r>
          </a:p>
        </p:txBody>
      </p:sp>
      <p:sp>
        <p:nvSpPr>
          <p:cNvPr id="19461" name="Rectangle 5"/>
          <p:cNvSpPr>
            <a:spLocks noChangeArrowheads="1"/>
          </p:cNvSpPr>
          <p:nvPr/>
        </p:nvSpPr>
        <p:spPr bwMode="auto">
          <a:xfrm>
            <a:off x="3727450" y="2554288"/>
            <a:ext cx="3178175" cy="3419475"/>
          </a:xfrm>
          <a:prstGeom prst="rect">
            <a:avLst/>
          </a:prstGeom>
          <a:solidFill>
            <a:srgbClr val="FFCC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l"/>
            <a:r>
              <a:rPr lang="en-US" sz="1800">
                <a:solidFill>
                  <a:srgbClr val="000000"/>
                </a:solidFill>
                <a:latin typeface="Arial" pitchFamily="34" charset="0"/>
              </a:rPr>
              <a:t>Meaning</a:t>
            </a:r>
          </a:p>
          <a:p>
            <a:pPr algn="l"/>
            <a:r>
              <a:rPr lang="en-US" sz="1800">
                <a:solidFill>
                  <a:srgbClr val="000000"/>
                </a:solidFill>
                <a:latin typeface="Arial" pitchFamily="34" charset="0"/>
              </a:rPr>
              <a:t>Equal to</a:t>
            </a:r>
          </a:p>
          <a:p>
            <a:pPr algn="l"/>
            <a:r>
              <a:rPr lang="en-US" sz="1800">
                <a:solidFill>
                  <a:srgbClr val="000000"/>
                </a:solidFill>
                <a:latin typeface="Arial" pitchFamily="34" charset="0"/>
              </a:rPr>
              <a:t>Greater than </a:t>
            </a:r>
          </a:p>
          <a:p>
            <a:pPr algn="l"/>
            <a:r>
              <a:rPr lang="en-US" sz="1800">
                <a:solidFill>
                  <a:srgbClr val="000000"/>
                </a:solidFill>
                <a:latin typeface="Arial" pitchFamily="34" charset="0"/>
              </a:rPr>
              <a:t>Greater than or equal to </a:t>
            </a:r>
          </a:p>
          <a:p>
            <a:pPr algn="l"/>
            <a:r>
              <a:rPr lang="en-US" sz="1800">
                <a:solidFill>
                  <a:srgbClr val="000000"/>
                </a:solidFill>
                <a:latin typeface="Arial" pitchFamily="34" charset="0"/>
              </a:rPr>
              <a:t>Less than </a:t>
            </a:r>
          </a:p>
          <a:p>
            <a:pPr algn="l"/>
            <a:r>
              <a:rPr lang="en-US" sz="1800">
                <a:solidFill>
                  <a:srgbClr val="000000"/>
                </a:solidFill>
                <a:latin typeface="Arial" pitchFamily="34" charset="0"/>
              </a:rPr>
              <a:t>Less than or equal to</a:t>
            </a:r>
          </a:p>
          <a:p>
            <a:pPr algn="l"/>
            <a:r>
              <a:rPr lang="en-US" sz="1800">
                <a:solidFill>
                  <a:srgbClr val="000000"/>
                </a:solidFill>
                <a:latin typeface="Arial" pitchFamily="34" charset="0"/>
              </a:rPr>
              <a:t>Not equal to</a:t>
            </a:r>
          </a:p>
        </p:txBody>
      </p:sp>
      <p:sp>
        <p:nvSpPr>
          <p:cNvPr id="19462" name="Line 6"/>
          <p:cNvSpPr>
            <a:spLocks noChangeShapeType="1"/>
          </p:cNvSpPr>
          <p:nvPr/>
        </p:nvSpPr>
        <p:spPr bwMode="auto">
          <a:xfrm flipV="1">
            <a:off x="2439988" y="2971800"/>
            <a:ext cx="4475162" cy="1588"/>
          </a:xfrm>
          <a:prstGeom prst="line">
            <a:avLst/>
          </a:prstGeom>
          <a:noFill/>
          <a:ln w="508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63" name="Line 7"/>
          <p:cNvSpPr>
            <a:spLocks noChangeShapeType="1"/>
          </p:cNvSpPr>
          <p:nvPr/>
        </p:nvSpPr>
        <p:spPr bwMode="auto">
          <a:xfrm>
            <a:off x="2454275" y="3968750"/>
            <a:ext cx="4448175" cy="0"/>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64" name="Line 8"/>
          <p:cNvSpPr>
            <a:spLocks noChangeShapeType="1"/>
          </p:cNvSpPr>
          <p:nvPr/>
        </p:nvSpPr>
        <p:spPr bwMode="auto">
          <a:xfrm>
            <a:off x="2439988" y="3463925"/>
            <a:ext cx="4462462" cy="0"/>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65" name="Line 9"/>
          <p:cNvSpPr>
            <a:spLocks noChangeShapeType="1"/>
          </p:cNvSpPr>
          <p:nvPr/>
        </p:nvSpPr>
        <p:spPr bwMode="auto">
          <a:xfrm>
            <a:off x="2454275" y="4506913"/>
            <a:ext cx="4448175" cy="0"/>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66" name="Line 10"/>
          <p:cNvSpPr>
            <a:spLocks noChangeShapeType="1"/>
          </p:cNvSpPr>
          <p:nvPr/>
        </p:nvSpPr>
        <p:spPr bwMode="auto">
          <a:xfrm>
            <a:off x="2425700" y="5019675"/>
            <a:ext cx="4483100" cy="0"/>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9467" name="Line 11"/>
          <p:cNvSpPr>
            <a:spLocks noChangeShapeType="1"/>
          </p:cNvSpPr>
          <p:nvPr/>
        </p:nvSpPr>
        <p:spPr bwMode="auto">
          <a:xfrm>
            <a:off x="2444750" y="5534025"/>
            <a:ext cx="4470400" cy="0"/>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transition spd="slow"/>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ChangeArrowheads="1"/>
          </p:cNvSpPr>
          <p:nvPr/>
        </p:nvSpPr>
        <p:spPr bwMode="blackWhite">
          <a:xfrm>
            <a:off x="939800" y="1473200"/>
            <a:ext cx="7480300" cy="2838450"/>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lIns="92075" tIns="46038" rIns="92075" bIns="46038" anchor="ctr"/>
          <a:lstStyle/>
          <a:p>
            <a:pPr algn="l">
              <a:lnSpc>
                <a:spcPct val="100000"/>
              </a:lnSpc>
              <a:spcBef>
                <a:spcPct val="0"/>
              </a:spcBef>
              <a:tabLst>
                <a:tab pos="1200150" algn="l"/>
                <a:tab pos="2857500" algn="l"/>
                <a:tab pos="4572000" algn="l"/>
              </a:tabLst>
            </a:pPr>
            <a:endParaRPr lang="en-US" sz="1800">
              <a:solidFill>
                <a:srgbClr val="000000"/>
              </a:solidFill>
              <a:latin typeface="Courier New" pitchFamily="49" charset="0"/>
            </a:endParaRPr>
          </a:p>
          <a:p>
            <a:pPr algn="l">
              <a:lnSpc>
                <a:spcPct val="100000"/>
              </a:lnSpc>
              <a:spcBef>
                <a:spcPct val="0"/>
              </a:spcBef>
              <a:tabLst>
                <a:tab pos="1200150" algn="l"/>
                <a:tab pos="2857500" algn="l"/>
                <a:tab pos="4572000" algn="l"/>
              </a:tabLst>
            </a:pPr>
            <a:r>
              <a:rPr lang="en-US" sz="1800">
                <a:solidFill>
                  <a:srgbClr val="000000"/>
                </a:solidFill>
                <a:latin typeface="Courier New" pitchFamily="49" charset="0"/>
              </a:rPr>
              <a:t> </a:t>
            </a:r>
          </a:p>
        </p:txBody>
      </p:sp>
      <p:sp>
        <p:nvSpPr>
          <p:cNvPr id="21507" name="Rectangle 3"/>
          <p:cNvSpPr>
            <a:spLocks noGrp="1" noChangeArrowheads="1"/>
          </p:cNvSpPr>
          <p:nvPr>
            <p:ph type="title"/>
          </p:nvPr>
        </p:nvSpPr>
        <p:spPr>
          <a:xfrm>
            <a:off x="742950" y="530225"/>
            <a:ext cx="7677150" cy="881063"/>
          </a:xfrm>
          <a:noFill/>
          <a:ln/>
        </p:spPr>
        <p:txBody>
          <a:bodyPr/>
          <a:lstStyle/>
          <a:p>
            <a:r>
              <a:rPr lang="en-US"/>
              <a:t>Executing Single-Row Subqueries</a:t>
            </a:r>
          </a:p>
        </p:txBody>
      </p:sp>
      <p:grpSp>
        <p:nvGrpSpPr>
          <p:cNvPr id="21511" name="Group 7"/>
          <p:cNvGrpSpPr>
            <a:grpSpLocks/>
          </p:cNvGrpSpPr>
          <p:nvPr/>
        </p:nvGrpSpPr>
        <p:grpSpPr bwMode="auto">
          <a:xfrm>
            <a:off x="3754438" y="1993900"/>
            <a:ext cx="4335462" cy="1189038"/>
            <a:chOff x="2365" y="1256"/>
            <a:chExt cx="2731" cy="749"/>
          </a:xfrm>
        </p:grpSpPr>
        <p:sp>
          <p:nvSpPr>
            <p:cNvPr id="21508" name="Rectangle 4"/>
            <p:cNvSpPr>
              <a:spLocks noChangeArrowheads="1"/>
            </p:cNvSpPr>
            <p:nvPr/>
          </p:nvSpPr>
          <p:spPr bwMode="ltGray">
            <a:xfrm>
              <a:off x="2365" y="1473"/>
              <a:ext cx="2731" cy="532"/>
            </a:xfrm>
            <a:prstGeom prst="rect">
              <a:avLst/>
            </a:prstGeom>
            <a:solidFill>
              <a:srgbClr val="FF99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09" name="Arc 5"/>
            <p:cNvSpPr>
              <a:spLocks/>
            </p:cNvSpPr>
            <p:nvPr/>
          </p:nvSpPr>
          <p:spPr bwMode="auto">
            <a:xfrm rot="10800000">
              <a:off x="2629" y="1338"/>
              <a:ext cx="1777" cy="383"/>
            </a:xfrm>
            <a:custGeom>
              <a:avLst/>
              <a:gdLst>
                <a:gd name="G0" fmla="+- 21600 0 0"/>
                <a:gd name="G1" fmla="+- 2587 0 0"/>
                <a:gd name="G2" fmla="+- 21600 0 0"/>
                <a:gd name="T0" fmla="*/ 27031 w 27031"/>
                <a:gd name="T1" fmla="*/ 23493 h 24187"/>
                <a:gd name="T2" fmla="*/ 156 w 27031"/>
                <a:gd name="T3" fmla="*/ 0 h 24187"/>
                <a:gd name="T4" fmla="*/ 21600 w 27031"/>
                <a:gd name="T5" fmla="*/ 2587 h 24187"/>
              </a:gdLst>
              <a:ahLst/>
              <a:cxnLst>
                <a:cxn ang="0">
                  <a:pos x="T0" y="T1"/>
                </a:cxn>
                <a:cxn ang="0">
                  <a:pos x="T2" y="T3"/>
                </a:cxn>
                <a:cxn ang="0">
                  <a:pos x="T4" y="T5"/>
                </a:cxn>
              </a:cxnLst>
              <a:rect l="0" t="0" r="r" b="b"/>
              <a:pathLst>
                <a:path w="27031" h="24187" fill="none" extrusionOk="0">
                  <a:moveTo>
                    <a:pt x="27031" y="23493"/>
                  </a:moveTo>
                  <a:cubicBezTo>
                    <a:pt x="25257" y="23953"/>
                    <a:pt x="23432" y="24186"/>
                    <a:pt x="21600" y="24187"/>
                  </a:cubicBezTo>
                  <a:cubicBezTo>
                    <a:pt x="9670" y="24187"/>
                    <a:pt x="0" y="14516"/>
                    <a:pt x="0" y="2587"/>
                  </a:cubicBezTo>
                  <a:cubicBezTo>
                    <a:pt x="-1" y="1722"/>
                    <a:pt x="51" y="858"/>
                    <a:pt x="155" y="-1"/>
                  </a:cubicBezTo>
                </a:path>
                <a:path w="27031" h="24187" stroke="0" extrusionOk="0">
                  <a:moveTo>
                    <a:pt x="27031" y="23493"/>
                  </a:moveTo>
                  <a:cubicBezTo>
                    <a:pt x="25257" y="23953"/>
                    <a:pt x="23432" y="24186"/>
                    <a:pt x="21600" y="24187"/>
                  </a:cubicBezTo>
                  <a:cubicBezTo>
                    <a:pt x="9670" y="24187"/>
                    <a:pt x="0" y="14516"/>
                    <a:pt x="0" y="2587"/>
                  </a:cubicBezTo>
                  <a:cubicBezTo>
                    <a:pt x="-1" y="1722"/>
                    <a:pt x="51" y="858"/>
                    <a:pt x="155" y="-1"/>
                  </a:cubicBezTo>
                  <a:lnTo>
                    <a:pt x="21600" y="2587"/>
                  </a:lnTo>
                  <a:close/>
                </a:path>
              </a:pathLst>
            </a:custGeom>
            <a:noFill/>
            <a:ln w="25400" cap="rnd">
              <a:solidFill>
                <a:srgbClr val="FF5050"/>
              </a:solidFill>
              <a:round/>
              <a:headEnd type="stealth" w="med" len="lg"/>
              <a:tailEnd type="none" w="sm" len="sm"/>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21510" name="Rectangle 6"/>
            <p:cNvSpPr>
              <a:spLocks noChangeArrowheads="1"/>
            </p:cNvSpPr>
            <p:nvPr/>
          </p:nvSpPr>
          <p:spPr bwMode="auto">
            <a:xfrm>
              <a:off x="3898" y="1256"/>
              <a:ext cx="557" cy="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sz="1600">
                  <a:solidFill>
                    <a:srgbClr val="FF5050"/>
                  </a:solidFill>
                  <a:latin typeface="Arial" pitchFamily="34" charset="0"/>
                </a:rPr>
                <a:t>CLERK</a:t>
              </a:r>
            </a:p>
          </p:txBody>
        </p:sp>
      </p:grpSp>
      <p:grpSp>
        <p:nvGrpSpPr>
          <p:cNvPr id="21515" name="Group 11"/>
          <p:cNvGrpSpPr>
            <a:grpSpLocks/>
          </p:cNvGrpSpPr>
          <p:nvPr/>
        </p:nvGrpSpPr>
        <p:grpSpPr bwMode="auto">
          <a:xfrm>
            <a:off x="3754438" y="3098800"/>
            <a:ext cx="4335462" cy="1150938"/>
            <a:chOff x="2365" y="1952"/>
            <a:chExt cx="2731" cy="725"/>
          </a:xfrm>
        </p:grpSpPr>
        <p:sp>
          <p:nvSpPr>
            <p:cNvPr id="21512" name="Rectangle 8"/>
            <p:cNvSpPr>
              <a:spLocks noChangeArrowheads="1"/>
            </p:cNvSpPr>
            <p:nvPr/>
          </p:nvSpPr>
          <p:spPr bwMode="ltGray">
            <a:xfrm>
              <a:off x="2365" y="2145"/>
              <a:ext cx="2731" cy="532"/>
            </a:xfrm>
            <a:prstGeom prst="rect">
              <a:avLst/>
            </a:prstGeom>
            <a:solidFill>
              <a:srgbClr val="FF99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513" name="Arc 9"/>
            <p:cNvSpPr>
              <a:spLocks/>
            </p:cNvSpPr>
            <p:nvPr/>
          </p:nvSpPr>
          <p:spPr bwMode="auto">
            <a:xfrm rot="10800000">
              <a:off x="2629" y="2046"/>
              <a:ext cx="1777" cy="383"/>
            </a:xfrm>
            <a:custGeom>
              <a:avLst/>
              <a:gdLst>
                <a:gd name="G0" fmla="+- 21600 0 0"/>
                <a:gd name="G1" fmla="+- 2587 0 0"/>
                <a:gd name="G2" fmla="+- 21600 0 0"/>
                <a:gd name="T0" fmla="*/ 27031 w 27031"/>
                <a:gd name="T1" fmla="*/ 23493 h 24187"/>
                <a:gd name="T2" fmla="*/ 156 w 27031"/>
                <a:gd name="T3" fmla="*/ 0 h 24187"/>
                <a:gd name="T4" fmla="*/ 21600 w 27031"/>
                <a:gd name="T5" fmla="*/ 2587 h 24187"/>
              </a:gdLst>
              <a:ahLst/>
              <a:cxnLst>
                <a:cxn ang="0">
                  <a:pos x="T0" y="T1"/>
                </a:cxn>
                <a:cxn ang="0">
                  <a:pos x="T2" y="T3"/>
                </a:cxn>
                <a:cxn ang="0">
                  <a:pos x="T4" y="T5"/>
                </a:cxn>
              </a:cxnLst>
              <a:rect l="0" t="0" r="r" b="b"/>
              <a:pathLst>
                <a:path w="27031" h="24187" fill="none" extrusionOk="0">
                  <a:moveTo>
                    <a:pt x="27031" y="23493"/>
                  </a:moveTo>
                  <a:cubicBezTo>
                    <a:pt x="25257" y="23953"/>
                    <a:pt x="23432" y="24186"/>
                    <a:pt x="21600" y="24187"/>
                  </a:cubicBezTo>
                  <a:cubicBezTo>
                    <a:pt x="9670" y="24187"/>
                    <a:pt x="0" y="14516"/>
                    <a:pt x="0" y="2587"/>
                  </a:cubicBezTo>
                  <a:cubicBezTo>
                    <a:pt x="-1" y="1722"/>
                    <a:pt x="51" y="858"/>
                    <a:pt x="155" y="-1"/>
                  </a:cubicBezTo>
                </a:path>
                <a:path w="27031" h="24187" stroke="0" extrusionOk="0">
                  <a:moveTo>
                    <a:pt x="27031" y="23493"/>
                  </a:moveTo>
                  <a:cubicBezTo>
                    <a:pt x="25257" y="23953"/>
                    <a:pt x="23432" y="24186"/>
                    <a:pt x="21600" y="24187"/>
                  </a:cubicBezTo>
                  <a:cubicBezTo>
                    <a:pt x="9670" y="24187"/>
                    <a:pt x="0" y="14516"/>
                    <a:pt x="0" y="2587"/>
                  </a:cubicBezTo>
                  <a:cubicBezTo>
                    <a:pt x="-1" y="1722"/>
                    <a:pt x="51" y="858"/>
                    <a:pt x="155" y="-1"/>
                  </a:cubicBezTo>
                  <a:lnTo>
                    <a:pt x="21600" y="2587"/>
                  </a:lnTo>
                  <a:close/>
                </a:path>
              </a:pathLst>
            </a:custGeom>
            <a:noFill/>
            <a:ln w="25400" cap="rnd">
              <a:solidFill>
                <a:srgbClr val="FF5050"/>
              </a:solidFill>
              <a:round/>
              <a:headEnd type="stealth" w="med" len="lg"/>
              <a:tailEnd type="none" w="sm" len="sm"/>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21514" name="Rectangle 10"/>
            <p:cNvSpPr>
              <a:spLocks noChangeArrowheads="1"/>
            </p:cNvSpPr>
            <p:nvPr/>
          </p:nvSpPr>
          <p:spPr bwMode="auto">
            <a:xfrm>
              <a:off x="3920" y="1952"/>
              <a:ext cx="401" cy="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sz="1600">
                  <a:solidFill>
                    <a:srgbClr val="FF5050"/>
                  </a:solidFill>
                  <a:latin typeface="Arial" pitchFamily="34" charset="0"/>
                </a:rPr>
                <a:t>1100</a:t>
              </a:r>
            </a:p>
          </p:txBody>
        </p:sp>
      </p:grpSp>
      <p:sp>
        <p:nvSpPr>
          <p:cNvPr id="21516" name="Rectangle 12"/>
          <p:cNvSpPr>
            <a:spLocks noChangeArrowheads="1"/>
          </p:cNvSpPr>
          <p:nvPr/>
        </p:nvSpPr>
        <p:spPr bwMode="blackWhite">
          <a:xfrm>
            <a:off x="941388" y="4733925"/>
            <a:ext cx="7478712" cy="915988"/>
          </a:xfrm>
          <a:prstGeom prst="rect">
            <a:avLst/>
          </a:prstGeom>
          <a:solidFill>
            <a:srgbClr val="DDDDDD"/>
          </a:solidFill>
          <a:ln w="25400">
            <a:solidFill>
              <a:srgbClr val="000000"/>
            </a:solidFill>
            <a:miter lim="800000"/>
            <a:headEnd/>
            <a:tailEnd/>
          </a:ln>
          <a:effectLst>
            <a:outerShdw dist="89803" dir="2700000" algn="ctr" rotWithShape="0">
              <a:srgbClr val="000000"/>
            </a:outerShdw>
          </a:effectLst>
        </p:spPr>
        <p:txBody>
          <a:bodyPr wrap="none" lIns="92075" tIns="46038" rIns="92075" bIns="46038" anchor="ctr"/>
          <a:lstStyle/>
          <a:p>
            <a:pPr algn="l">
              <a:lnSpc>
                <a:spcPct val="100000"/>
              </a:lnSpc>
              <a:spcBef>
                <a:spcPct val="0"/>
              </a:spcBef>
              <a:tabLst>
                <a:tab pos="1200150" algn="l"/>
              </a:tabLst>
            </a:pPr>
            <a:r>
              <a:rPr lang="en-US" sz="1800">
                <a:solidFill>
                  <a:srgbClr val="000000"/>
                </a:solidFill>
                <a:latin typeface="Courier New" pitchFamily="49" charset="0"/>
              </a:rPr>
              <a:t>ENAME      JOB</a:t>
            </a:r>
          </a:p>
          <a:p>
            <a:pPr algn="l">
              <a:lnSpc>
                <a:spcPct val="100000"/>
              </a:lnSpc>
              <a:spcBef>
                <a:spcPct val="0"/>
              </a:spcBef>
              <a:tabLst>
                <a:tab pos="1200150" algn="l"/>
              </a:tabLst>
            </a:pPr>
            <a:r>
              <a:rPr lang="en-US" sz="1800">
                <a:solidFill>
                  <a:srgbClr val="000000"/>
                </a:solidFill>
                <a:latin typeface="Courier New" pitchFamily="49" charset="0"/>
              </a:rPr>
              <a:t>---------- ---------</a:t>
            </a:r>
          </a:p>
          <a:p>
            <a:pPr algn="l">
              <a:lnSpc>
                <a:spcPct val="100000"/>
              </a:lnSpc>
              <a:spcBef>
                <a:spcPct val="0"/>
              </a:spcBef>
              <a:tabLst>
                <a:tab pos="1200150" algn="l"/>
              </a:tabLst>
            </a:pPr>
            <a:r>
              <a:rPr lang="en-US" sz="1800">
                <a:solidFill>
                  <a:srgbClr val="000000"/>
                </a:solidFill>
                <a:latin typeface="Courier New" pitchFamily="49" charset="0"/>
              </a:rPr>
              <a:t>MILLER     CLERK</a:t>
            </a:r>
          </a:p>
        </p:txBody>
      </p:sp>
      <p:sp>
        <p:nvSpPr>
          <p:cNvPr id="21517" name="Rectangle 13"/>
          <p:cNvSpPr>
            <a:spLocks noChangeArrowheads="1"/>
          </p:cNvSpPr>
          <p:nvPr/>
        </p:nvSpPr>
        <p:spPr bwMode="blackWhite">
          <a:xfrm>
            <a:off x="928688" y="1460500"/>
            <a:ext cx="7229475" cy="286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l">
              <a:lnSpc>
                <a:spcPct val="100000"/>
              </a:lnSpc>
              <a:spcBef>
                <a:spcPct val="0"/>
              </a:spcBef>
              <a:tabLst>
                <a:tab pos="1200150" algn="l"/>
                <a:tab pos="2857500" algn="l"/>
                <a:tab pos="4572000" algn="l"/>
              </a:tabLst>
            </a:pPr>
            <a:r>
              <a:rPr lang="en-US" sz="1800">
                <a:solidFill>
                  <a:srgbClr val="000000"/>
                </a:solidFill>
                <a:latin typeface="Courier New" pitchFamily="49" charset="0"/>
              </a:rPr>
              <a:t>SQL&gt; SELECT   ename, job</a:t>
            </a:r>
            <a:br>
              <a:rPr lang="en-US" sz="1800">
                <a:solidFill>
                  <a:srgbClr val="000000"/>
                </a:solidFill>
                <a:latin typeface="Courier New" pitchFamily="49" charset="0"/>
              </a:rPr>
            </a:br>
            <a:r>
              <a:rPr lang="en-US" sz="1800">
                <a:solidFill>
                  <a:srgbClr val="000000"/>
                </a:solidFill>
                <a:latin typeface="Courier New" pitchFamily="49" charset="0"/>
              </a:rPr>
              <a:t>  2  FROM     emp</a:t>
            </a:r>
          </a:p>
          <a:p>
            <a:pPr algn="l">
              <a:lnSpc>
                <a:spcPct val="100000"/>
              </a:lnSpc>
              <a:spcBef>
                <a:spcPct val="0"/>
              </a:spcBef>
              <a:tabLst>
                <a:tab pos="1200150" algn="l"/>
                <a:tab pos="2857500" algn="l"/>
                <a:tab pos="4572000" algn="l"/>
              </a:tabLst>
            </a:pPr>
            <a:r>
              <a:rPr lang="en-US" sz="1800">
                <a:solidFill>
                  <a:srgbClr val="000000"/>
                </a:solidFill>
                <a:latin typeface="Courier New" pitchFamily="49" charset="0"/>
              </a:rPr>
              <a:t>  3  WHERE    job = </a:t>
            </a:r>
          </a:p>
          <a:p>
            <a:pPr algn="l">
              <a:lnSpc>
                <a:spcPct val="100000"/>
              </a:lnSpc>
              <a:spcBef>
                <a:spcPct val="0"/>
              </a:spcBef>
              <a:tabLst>
                <a:tab pos="1200150" algn="l"/>
                <a:tab pos="2857500" algn="l"/>
                <a:tab pos="4572000" algn="l"/>
              </a:tabLst>
            </a:pPr>
            <a:r>
              <a:rPr lang="en-US" sz="1800">
                <a:solidFill>
                  <a:srgbClr val="000000"/>
                </a:solidFill>
                <a:latin typeface="Courier New" pitchFamily="49" charset="0"/>
              </a:rPr>
              <a:t>  4		(SELECT  	job</a:t>
            </a:r>
            <a:br>
              <a:rPr lang="en-US" sz="1800">
                <a:solidFill>
                  <a:srgbClr val="000000"/>
                </a:solidFill>
                <a:latin typeface="Courier New" pitchFamily="49" charset="0"/>
              </a:rPr>
            </a:br>
            <a:r>
              <a:rPr lang="en-US" sz="1800">
                <a:solidFill>
                  <a:srgbClr val="000000"/>
                </a:solidFill>
                <a:latin typeface="Courier New" pitchFamily="49" charset="0"/>
              </a:rPr>
              <a:t>  5	     	FROM     	emp</a:t>
            </a:r>
            <a:br>
              <a:rPr lang="en-US" sz="1800">
                <a:solidFill>
                  <a:srgbClr val="000000"/>
                </a:solidFill>
                <a:latin typeface="Courier New" pitchFamily="49" charset="0"/>
              </a:rPr>
            </a:br>
            <a:r>
              <a:rPr lang="en-US" sz="1800">
                <a:solidFill>
                  <a:srgbClr val="000000"/>
                </a:solidFill>
                <a:latin typeface="Courier New" pitchFamily="49" charset="0"/>
              </a:rPr>
              <a:t>  6	    	WHERE    	empno = 7369)</a:t>
            </a:r>
          </a:p>
          <a:p>
            <a:pPr algn="l">
              <a:lnSpc>
                <a:spcPct val="100000"/>
              </a:lnSpc>
              <a:spcBef>
                <a:spcPct val="0"/>
              </a:spcBef>
              <a:tabLst>
                <a:tab pos="1200150" algn="l"/>
                <a:tab pos="2857500" algn="l"/>
                <a:tab pos="4572000" algn="l"/>
              </a:tabLst>
            </a:pPr>
            <a:r>
              <a:rPr lang="en-US" sz="1800">
                <a:solidFill>
                  <a:srgbClr val="000000"/>
                </a:solidFill>
                <a:latin typeface="Courier New" pitchFamily="49" charset="0"/>
              </a:rPr>
              <a:t>  7  AND      sal &gt; </a:t>
            </a:r>
          </a:p>
          <a:p>
            <a:pPr algn="l">
              <a:lnSpc>
                <a:spcPct val="100000"/>
              </a:lnSpc>
              <a:spcBef>
                <a:spcPct val="0"/>
              </a:spcBef>
              <a:tabLst>
                <a:tab pos="1200150" algn="l"/>
                <a:tab pos="2857500" algn="l"/>
                <a:tab pos="4572000" algn="l"/>
              </a:tabLst>
            </a:pPr>
            <a:r>
              <a:rPr lang="en-US" sz="1800">
                <a:solidFill>
                  <a:srgbClr val="000000"/>
                </a:solidFill>
                <a:latin typeface="Courier New" pitchFamily="49" charset="0"/>
              </a:rPr>
              <a:t>  8		(SELECT  	sal</a:t>
            </a:r>
          </a:p>
          <a:p>
            <a:pPr algn="l">
              <a:lnSpc>
                <a:spcPct val="100000"/>
              </a:lnSpc>
              <a:spcBef>
                <a:spcPct val="0"/>
              </a:spcBef>
              <a:tabLst>
                <a:tab pos="1200150" algn="l"/>
                <a:tab pos="2857500" algn="l"/>
                <a:tab pos="4572000" algn="l"/>
              </a:tabLst>
            </a:pPr>
            <a:r>
              <a:rPr lang="en-US" sz="1800">
                <a:solidFill>
                  <a:srgbClr val="000000"/>
                </a:solidFill>
                <a:latin typeface="Courier New" pitchFamily="49" charset="0"/>
              </a:rPr>
              <a:t>  9		FROM	emp</a:t>
            </a:r>
          </a:p>
          <a:p>
            <a:pPr algn="l">
              <a:lnSpc>
                <a:spcPct val="100000"/>
              </a:lnSpc>
              <a:spcBef>
                <a:spcPct val="0"/>
              </a:spcBef>
              <a:tabLst>
                <a:tab pos="1200150" algn="l"/>
                <a:tab pos="2857500" algn="l"/>
                <a:tab pos="4572000" algn="l"/>
              </a:tabLst>
            </a:pPr>
            <a:r>
              <a:rPr lang="en-US" sz="1800">
                <a:solidFill>
                  <a:srgbClr val="000000"/>
                </a:solidFill>
                <a:latin typeface="Courier New" pitchFamily="49" charset="0"/>
              </a:rPr>
              <a:t>  10		WHERE	empno = 7876); </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1511"/>
                                        </p:tgtEl>
                                        <p:attrNameLst>
                                          <p:attrName>style.visibility</p:attrName>
                                        </p:attrNameLst>
                                      </p:cBhvr>
                                      <p:to>
                                        <p:strVal val="visible"/>
                                      </p:to>
                                    </p:set>
                                    <p:animEffect transition="in" filter="wipe(up)">
                                      <p:cBhvr>
                                        <p:cTn id="7" dur="500"/>
                                        <p:tgtEl>
                                          <p:spTgt spid="21511"/>
                                        </p:tgtEl>
                                      </p:cBhvr>
                                    </p:animEffect>
                                  </p:childTnLst>
                                </p:cTn>
                              </p:par>
                            </p:childTnLst>
                          </p:cTn>
                        </p:par>
                        <p:par>
                          <p:cTn id="8" fill="hold" nodeType="afterGroup">
                            <p:stCondLst>
                              <p:cond delay="500"/>
                            </p:stCondLst>
                            <p:childTnLst>
                              <p:par>
                                <p:cTn id="9" presetID="22" presetClass="entr" presetSubtype="1" fill="hold" nodeType="afterEffect">
                                  <p:stCondLst>
                                    <p:cond delay="0"/>
                                  </p:stCondLst>
                                  <p:childTnLst>
                                    <p:set>
                                      <p:cBhvr>
                                        <p:cTn id="10" dur="1" fill="hold">
                                          <p:stCondLst>
                                            <p:cond delay="0"/>
                                          </p:stCondLst>
                                        </p:cTn>
                                        <p:tgtEl>
                                          <p:spTgt spid="21515"/>
                                        </p:tgtEl>
                                        <p:attrNameLst>
                                          <p:attrName>style.visibility</p:attrName>
                                        </p:attrNameLst>
                                      </p:cBhvr>
                                      <p:to>
                                        <p:strVal val="visible"/>
                                      </p:to>
                                    </p:set>
                                    <p:animEffect transition="in" filter="wipe(up)">
                                      <p:cBhvr>
                                        <p:cTn id="11" dur="500"/>
                                        <p:tgtEl>
                                          <p:spTgt spid="2151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1" fill="hold" grpId="0" nodeType="clickEffect">
                                  <p:stCondLst>
                                    <p:cond delay="0"/>
                                  </p:stCondLst>
                                  <p:childTnLst>
                                    <p:set>
                                      <p:cBhvr>
                                        <p:cTn id="15" dur="1" fill="hold">
                                          <p:stCondLst>
                                            <p:cond delay="0"/>
                                          </p:stCondLst>
                                        </p:cTn>
                                        <p:tgtEl>
                                          <p:spTgt spid="21516"/>
                                        </p:tgtEl>
                                        <p:attrNameLst>
                                          <p:attrName>style.visibility</p:attrName>
                                        </p:attrNameLst>
                                      </p:cBhvr>
                                      <p:to>
                                        <p:strVal val="visible"/>
                                      </p:to>
                                    </p:set>
                                    <p:animEffect transition="in" filter="wipe(up)">
                                      <p:cBhvr>
                                        <p:cTn id="16" dur="500"/>
                                        <p:tgtEl>
                                          <p:spTgt spid="215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16" grpId="0" animBg="1"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ChangeArrowheads="1"/>
          </p:cNvSpPr>
          <p:nvPr/>
        </p:nvSpPr>
        <p:spPr bwMode="blackWhite">
          <a:xfrm>
            <a:off x="949325" y="1978025"/>
            <a:ext cx="7470775" cy="1590675"/>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lIns="92075" tIns="46038" rIns="92075" bIns="46038" anchor="ctr"/>
          <a:lstStyle/>
          <a:p>
            <a:pPr algn="l">
              <a:lnSpc>
                <a:spcPct val="100000"/>
              </a:lnSpc>
              <a:spcBef>
                <a:spcPct val="0"/>
              </a:spcBef>
              <a:tabLst>
                <a:tab pos="1200150" algn="l"/>
              </a:tabLst>
            </a:pPr>
            <a:endParaRPr lang="en-US" sz="1800">
              <a:solidFill>
                <a:srgbClr val="000000"/>
              </a:solidFill>
              <a:latin typeface="Courier New" pitchFamily="49" charset="0"/>
            </a:endParaRPr>
          </a:p>
          <a:p>
            <a:pPr algn="l">
              <a:lnSpc>
                <a:spcPct val="100000"/>
              </a:lnSpc>
              <a:spcBef>
                <a:spcPct val="0"/>
              </a:spcBef>
              <a:tabLst>
                <a:tab pos="1200150" algn="l"/>
              </a:tabLst>
            </a:pPr>
            <a:endParaRPr lang="en-US" sz="1800">
              <a:solidFill>
                <a:srgbClr val="000000"/>
              </a:solidFill>
              <a:latin typeface="Courier New" pitchFamily="49" charset="0"/>
            </a:endParaRPr>
          </a:p>
        </p:txBody>
      </p:sp>
      <p:sp>
        <p:nvSpPr>
          <p:cNvPr id="23555" name="Rectangle 3"/>
          <p:cNvSpPr>
            <a:spLocks noGrp="1" noChangeArrowheads="1"/>
          </p:cNvSpPr>
          <p:nvPr>
            <p:ph type="title"/>
          </p:nvPr>
        </p:nvSpPr>
        <p:spPr>
          <a:noFill/>
          <a:ln/>
        </p:spPr>
        <p:txBody>
          <a:bodyPr/>
          <a:lstStyle/>
          <a:p>
            <a:r>
              <a:rPr lang="en-US"/>
              <a:t>Using Group Functions </a:t>
            </a:r>
            <a:br>
              <a:rPr lang="en-US"/>
            </a:br>
            <a:r>
              <a:rPr lang="en-US"/>
              <a:t>in a Subquery</a:t>
            </a:r>
          </a:p>
        </p:txBody>
      </p:sp>
      <p:grpSp>
        <p:nvGrpSpPr>
          <p:cNvPr id="23560" name="Group 8"/>
          <p:cNvGrpSpPr>
            <a:grpSpLocks/>
          </p:cNvGrpSpPr>
          <p:nvPr/>
        </p:nvGrpSpPr>
        <p:grpSpPr bwMode="auto">
          <a:xfrm>
            <a:off x="3678238" y="2184400"/>
            <a:ext cx="4508500" cy="1339850"/>
            <a:chOff x="2317" y="1376"/>
            <a:chExt cx="2840" cy="844"/>
          </a:xfrm>
        </p:grpSpPr>
        <p:sp>
          <p:nvSpPr>
            <p:cNvPr id="23556" name="Rectangle 4"/>
            <p:cNvSpPr>
              <a:spLocks noChangeArrowheads="1"/>
            </p:cNvSpPr>
            <p:nvPr/>
          </p:nvSpPr>
          <p:spPr bwMode="ltGray">
            <a:xfrm>
              <a:off x="2317" y="1812"/>
              <a:ext cx="2840" cy="408"/>
            </a:xfrm>
            <a:prstGeom prst="rect">
              <a:avLst/>
            </a:prstGeom>
            <a:solidFill>
              <a:srgbClr val="FF99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57" name="Rectangle 5"/>
            <p:cNvSpPr>
              <a:spLocks noChangeArrowheads="1"/>
            </p:cNvSpPr>
            <p:nvPr/>
          </p:nvSpPr>
          <p:spPr bwMode="ltGray">
            <a:xfrm>
              <a:off x="3457" y="1824"/>
              <a:ext cx="792" cy="192"/>
            </a:xfrm>
            <a:prstGeom prst="rect">
              <a:avLst/>
            </a:prstGeom>
            <a:solidFill>
              <a:srgbClr val="FF5050">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58" name="Arc 6"/>
            <p:cNvSpPr>
              <a:spLocks/>
            </p:cNvSpPr>
            <p:nvPr/>
          </p:nvSpPr>
          <p:spPr bwMode="auto">
            <a:xfrm rot="10380000">
              <a:off x="2533" y="1578"/>
              <a:ext cx="1969" cy="342"/>
            </a:xfrm>
            <a:custGeom>
              <a:avLst/>
              <a:gdLst>
                <a:gd name="G0" fmla="+- 21600 0 0"/>
                <a:gd name="G1" fmla="+- 0 0 0"/>
                <a:gd name="G2" fmla="+- 21600 0 0"/>
                <a:gd name="T0" fmla="*/ 27023 w 27023"/>
                <a:gd name="T1" fmla="*/ 20908 h 21600"/>
                <a:gd name="T2" fmla="*/ 0 w 27023"/>
                <a:gd name="T3" fmla="*/ 0 h 21600"/>
                <a:gd name="T4" fmla="*/ 21600 w 27023"/>
                <a:gd name="T5" fmla="*/ 0 h 21600"/>
              </a:gdLst>
              <a:ahLst/>
              <a:cxnLst>
                <a:cxn ang="0">
                  <a:pos x="T0" y="T1"/>
                </a:cxn>
                <a:cxn ang="0">
                  <a:pos x="T2" y="T3"/>
                </a:cxn>
                <a:cxn ang="0">
                  <a:pos x="T4" y="T5"/>
                </a:cxn>
              </a:cxnLst>
              <a:rect l="0" t="0" r="r" b="b"/>
              <a:pathLst>
                <a:path w="27023" h="21600" fill="none" extrusionOk="0">
                  <a:moveTo>
                    <a:pt x="27023" y="20908"/>
                  </a:moveTo>
                  <a:cubicBezTo>
                    <a:pt x="25251" y="21367"/>
                    <a:pt x="23429" y="21599"/>
                    <a:pt x="21600" y="21600"/>
                  </a:cubicBezTo>
                  <a:cubicBezTo>
                    <a:pt x="9670" y="21600"/>
                    <a:pt x="0" y="11929"/>
                    <a:pt x="0" y="0"/>
                  </a:cubicBezTo>
                </a:path>
                <a:path w="27023" h="21600" stroke="0" extrusionOk="0">
                  <a:moveTo>
                    <a:pt x="27023" y="20908"/>
                  </a:moveTo>
                  <a:cubicBezTo>
                    <a:pt x="25251" y="21367"/>
                    <a:pt x="23429" y="21599"/>
                    <a:pt x="21600" y="21600"/>
                  </a:cubicBezTo>
                  <a:cubicBezTo>
                    <a:pt x="9670" y="21600"/>
                    <a:pt x="0" y="11929"/>
                    <a:pt x="0" y="0"/>
                  </a:cubicBezTo>
                  <a:lnTo>
                    <a:pt x="21600" y="0"/>
                  </a:lnTo>
                  <a:close/>
                </a:path>
              </a:pathLst>
            </a:custGeom>
            <a:noFill/>
            <a:ln w="25400" cap="rnd">
              <a:solidFill>
                <a:srgbClr val="FF5050"/>
              </a:solidFill>
              <a:round/>
              <a:headEnd type="stealth" w="med" len="lg"/>
              <a:tailEnd type="none" w="sm" len="sm"/>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23559" name="Rectangle 7"/>
            <p:cNvSpPr>
              <a:spLocks noChangeArrowheads="1"/>
            </p:cNvSpPr>
            <p:nvPr/>
          </p:nvSpPr>
          <p:spPr bwMode="auto">
            <a:xfrm>
              <a:off x="3629" y="1376"/>
              <a:ext cx="330" cy="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sz="1600">
                  <a:solidFill>
                    <a:srgbClr val="FF5050"/>
                  </a:solidFill>
                  <a:latin typeface="Arial" pitchFamily="34" charset="0"/>
                </a:rPr>
                <a:t>800</a:t>
              </a:r>
            </a:p>
          </p:txBody>
        </p:sp>
      </p:grpSp>
      <p:sp>
        <p:nvSpPr>
          <p:cNvPr id="23561" name="Rectangle 9"/>
          <p:cNvSpPr>
            <a:spLocks noChangeArrowheads="1"/>
          </p:cNvSpPr>
          <p:nvPr/>
        </p:nvSpPr>
        <p:spPr bwMode="blackWhite">
          <a:xfrm>
            <a:off x="939800" y="4016375"/>
            <a:ext cx="7480300" cy="915988"/>
          </a:xfrm>
          <a:prstGeom prst="rect">
            <a:avLst/>
          </a:prstGeom>
          <a:solidFill>
            <a:srgbClr val="DDDDDD"/>
          </a:solidFill>
          <a:ln w="25400">
            <a:solidFill>
              <a:srgbClr val="000000"/>
            </a:solidFill>
            <a:miter lim="800000"/>
            <a:headEnd/>
            <a:tailEnd/>
          </a:ln>
          <a:effectLst>
            <a:outerShdw dist="89803" dir="2700000" algn="ctr" rotWithShape="0">
              <a:srgbClr val="000000"/>
            </a:outerShdw>
          </a:effectLst>
        </p:spPr>
        <p:txBody>
          <a:bodyPr wrap="none" lIns="92075" tIns="46038" rIns="92075" bIns="46038" anchor="ctr"/>
          <a:lstStyle/>
          <a:p>
            <a:pPr algn="l">
              <a:lnSpc>
                <a:spcPct val="100000"/>
              </a:lnSpc>
              <a:spcBef>
                <a:spcPct val="0"/>
              </a:spcBef>
              <a:tabLst>
                <a:tab pos="1200150" algn="l"/>
              </a:tabLst>
            </a:pPr>
            <a:r>
              <a:rPr lang="en-US" sz="1800">
                <a:solidFill>
                  <a:srgbClr val="000000"/>
                </a:solidFill>
                <a:latin typeface="Courier New" pitchFamily="49" charset="0"/>
              </a:rPr>
              <a:t>ENAME      JOB             SAL</a:t>
            </a:r>
          </a:p>
          <a:p>
            <a:pPr algn="l">
              <a:lnSpc>
                <a:spcPct val="100000"/>
              </a:lnSpc>
              <a:spcBef>
                <a:spcPct val="0"/>
              </a:spcBef>
              <a:tabLst>
                <a:tab pos="1200150" algn="l"/>
              </a:tabLst>
            </a:pPr>
            <a:r>
              <a:rPr lang="en-US" sz="1800">
                <a:solidFill>
                  <a:srgbClr val="000000"/>
                </a:solidFill>
                <a:latin typeface="Courier New" pitchFamily="49" charset="0"/>
              </a:rPr>
              <a:t>---------- --------- ---------</a:t>
            </a:r>
          </a:p>
          <a:p>
            <a:pPr algn="l">
              <a:lnSpc>
                <a:spcPct val="100000"/>
              </a:lnSpc>
              <a:spcBef>
                <a:spcPct val="0"/>
              </a:spcBef>
              <a:tabLst>
                <a:tab pos="1200150" algn="l"/>
              </a:tabLst>
            </a:pPr>
            <a:r>
              <a:rPr lang="en-US" sz="1800">
                <a:solidFill>
                  <a:srgbClr val="000000"/>
                </a:solidFill>
                <a:latin typeface="Courier New" pitchFamily="49" charset="0"/>
              </a:rPr>
              <a:t>SMITH      CLERK           800</a:t>
            </a:r>
          </a:p>
        </p:txBody>
      </p:sp>
      <p:sp>
        <p:nvSpPr>
          <p:cNvPr id="23562" name="Rectangle 10"/>
          <p:cNvSpPr>
            <a:spLocks noChangeArrowheads="1"/>
          </p:cNvSpPr>
          <p:nvPr/>
        </p:nvSpPr>
        <p:spPr bwMode="blackWhite">
          <a:xfrm>
            <a:off x="936625" y="1965325"/>
            <a:ext cx="7308850" cy="1616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l">
              <a:lnSpc>
                <a:spcPct val="100000"/>
              </a:lnSpc>
              <a:spcBef>
                <a:spcPct val="0"/>
              </a:spcBef>
              <a:tabLst>
                <a:tab pos="1200150" algn="l"/>
              </a:tabLst>
            </a:pPr>
            <a:r>
              <a:rPr lang="en-US" sz="1800">
                <a:solidFill>
                  <a:srgbClr val="000000"/>
                </a:solidFill>
                <a:latin typeface="Courier New" pitchFamily="49" charset="0"/>
              </a:rPr>
              <a:t>SQL&gt; SELECT	ename, job, sal</a:t>
            </a:r>
          </a:p>
          <a:p>
            <a:pPr algn="l">
              <a:lnSpc>
                <a:spcPct val="100000"/>
              </a:lnSpc>
              <a:spcBef>
                <a:spcPct val="0"/>
              </a:spcBef>
              <a:tabLst>
                <a:tab pos="1200150" algn="l"/>
              </a:tabLst>
            </a:pPr>
            <a:r>
              <a:rPr lang="en-US" sz="1800">
                <a:solidFill>
                  <a:srgbClr val="000000"/>
                </a:solidFill>
                <a:latin typeface="Courier New" pitchFamily="49" charset="0"/>
              </a:rPr>
              <a:t>  2  FROM	emp</a:t>
            </a:r>
          </a:p>
          <a:p>
            <a:pPr algn="l">
              <a:lnSpc>
                <a:spcPct val="100000"/>
              </a:lnSpc>
              <a:spcBef>
                <a:spcPct val="0"/>
              </a:spcBef>
              <a:tabLst>
                <a:tab pos="1200150" algn="l"/>
              </a:tabLst>
            </a:pPr>
            <a:r>
              <a:rPr lang="en-US" sz="1800">
                <a:solidFill>
                  <a:srgbClr val="000000"/>
                </a:solidFill>
                <a:latin typeface="Courier New" pitchFamily="49" charset="0"/>
              </a:rPr>
              <a:t>  3  WHERE	sal = </a:t>
            </a:r>
          </a:p>
          <a:p>
            <a:pPr algn="l">
              <a:lnSpc>
                <a:spcPct val="100000"/>
              </a:lnSpc>
              <a:spcBef>
                <a:spcPct val="0"/>
              </a:spcBef>
              <a:tabLst>
                <a:tab pos="1200150" algn="l"/>
              </a:tabLst>
            </a:pPr>
            <a:r>
              <a:rPr lang="en-US" sz="1800">
                <a:solidFill>
                  <a:srgbClr val="000000"/>
                </a:solidFill>
                <a:latin typeface="Courier New" pitchFamily="49" charset="0"/>
              </a:rPr>
              <a:t>  4			(SELECT	MIN(sal)</a:t>
            </a:r>
          </a:p>
          <a:p>
            <a:pPr algn="l">
              <a:lnSpc>
                <a:spcPct val="100000"/>
              </a:lnSpc>
              <a:spcBef>
                <a:spcPct val="0"/>
              </a:spcBef>
              <a:tabLst>
                <a:tab pos="1200150" algn="l"/>
              </a:tabLst>
            </a:pPr>
            <a:r>
              <a:rPr lang="en-US" sz="1800">
                <a:solidFill>
                  <a:srgbClr val="000000"/>
                </a:solidFill>
                <a:latin typeface="Courier New" pitchFamily="49" charset="0"/>
              </a:rPr>
              <a:t>  5			FROM		emp);</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3560"/>
                                        </p:tgtEl>
                                        <p:attrNameLst>
                                          <p:attrName>style.visibility</p:attrName>
                                        </p:attrNameLst>
                                      </p:cBhvr>
                                      <p:to>
                                        <p:strVal val="visible"/>
                                      </p:to>
                                    </p:set>
                                    <p:animEffect transition="in" filter="wipe(up)">
                                      <p:cBhvr>
                                        <p:cTn id="7" dur="500"/>
                                        <p:tgtEl>
                                          <p:spTgt spid="2356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3561"/>
                                        </p:tgtEl>
                                        <p:attrNameLst>
                                          <p:attrName>style.visibility</p:attrName>
                                        </p:attrNameLst>
                                      </p:cBhvr>
                                      <p:to>
                                        <p:strVal val="visible"/>
                                      </p:to>
                                    </p:set>
                                    <p:animEffect transition="in" filter="wipe(up)">
                                      <p:cBhvr>
                                        <p:cTn id="12" dur="500"/>
                                        <p:tgtEl>
                                          <p:spTgt spid="235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61" grpId="0" animBg="1"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ChangeArrowheads="1"/>
          </p:cNvSpPr>
          <p:nvPr/>
        </p:nvSpPr>
        <p:spPr bwMode="blackWhite">
          <a:xfrm>
            <a:off x="939800" y="3571875"/>
            <a:ext cx="7480300" cy="2130425"/>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lIns="92075" tIns="46038" rIns="92075" bIns="46038" anchor="ctr"/>
          <a:lstStyle/>
          <a:p>
            <a:pPr algn="l">
              <a:lnSpc>
                <a:spcPct val="100000"/>
              </a:lnSpc>
              <a:spcBef>
                <a:spcPct val="0"/>
              </a:spcBef>
              <a:tabLst>
                <a:tab pos="2400300" algn="l"/>
                <a:tab pos="3600450" algn="l"/>
                <a:tab pos="5029200" algn="l"/>
              </a:tabLst>
            </a:pPr>
            <a:endParaRPr lang="en-US" sz="1800">
              <a:solidFill>
                <a:srgbClr val="000000"/>
              </a:solidFill>
              <a:latin typeface="Courier New" pitchFamily="49" charset="0"/>
            </a:endParaRPr>
          </a:p>
          <a:p>
            <a:pPr algn="l">
              <a:lnSpc>
                <a:spcPct val="100000"/>
              </a:lnSpc>
              <a:spcBef>
                <a:spcPct val="0"/>
              </a:spcBef>
              <a:tabLst>
                <a:tab pos="2400300" algn="l"/>
                <a:tab pos="3600450" algn="l"/>
                <a:tab pos="5029200" algn="l"/>
              </a:tabLst>
            </a:pPr>
            <a:endParaRPr lang="en-US" sz="1800">
              <a:solidFill>
                <a:srgbClr val="000000"/>
              </a:solidFill>
              <a:latin typeface="Courier New" pitchFamily="49" charset="0"/>
            </a:endParaRPr>
          </a:p>
        </p:txBody>
      </p:sp>
      <p:sp>
        <p:nvSpPr>
          <p:cNvPr id="25603" name="Rectangle 3"/>
          <p:cNvSpPr>
            <a:spLocks noGrp="1" noChangeArrowheads="1"/>
          </p:cNvSpPr>
          <p:nvPr>
            <p:ph type="title"/>
          </p:nvPr>
        </p:nvSpPr>
        <p:spPr>
          <a:noFill/>
          <a:ln/>
        </p:spPr>
        <p:txBody>
          <a:bodyPr/>
          <a:lstStyle/>
          <a:p>
            <a:r>
              <a:rPr lang="en-US"/>
              <a:t>HAVING Clause with Subqueries</a:t>
            </a:r>
          </a:p>
        </p:txBody>
      </p:sp>
      <p:sp>
        <p:nvSpPr>
          <p:cNvPr id="25604" name="Rectangle 4"/>
          <p:cNvSpPr>
            <a:spLocks noGrp="1" noChangeArrowheads="1"/>
          </p:cNvSpPr>
          <p:nvPr>
            <p:ph type="body" idx="1"/>
          </p:nvPr>
        </p:nvSpPr>
        <p:spPr>
          <a:xfrm>
            <a:off x="879475" y="1509713"/>
            <a:ext cx="7385050" cy="1866900"/>
          </a:xfrm>
          <a:noFill/>
          <a:ln/>
        </p:spPr>
        <p:txBody>
          <a:bodyPr/>
          <a:lstStyle/>
          <a:p>
            <a:pPr lvl="1"/>
            <a:r>
              <a:rPr lang="en-US"/>
              <a:t>The Oracle Server executes subqueries first.</a:t>
            </a:r>
          </a:p>
          <a:p>
            <a:pPr lvl="1"/>
            <a:r>
              <a:rPr lang="en-US"/>
              <a:t>The Oracle Server returns results into the HAVING clause of the main query.</a:t>
            </a:r>
          </a:p>
        </p:txBody>
      </p:sp>
      <p:grpSp>
        <p:nvGrpSpPr>
          <p:cNvPr id="25609" name="Group 9"/>
          <p:cNvGrpSpPr>
            <a:grpSpLocks/>
          </p:cNvGrpSpPr>
          <p:nvPr/>
        </p:nvGrpSpPr>
        <p:grpSpPr bwMode="auto">
          <a:xfrm>
            <a:off x="1673225" y="4322763"/>
            <a:ext cx="6356350" cy="1354137"/>
            <a:chOff x="1054" y="2723"/>
            <a:chExt cx="4004" cy="853"/>
          </a:xfrm>
        </p:grpSpPr>
        <p:sp>
          <p:nvSpPr>
            <p:cNvPr id="25605" name="Rectangle 5"/>
            <p:cNvSpPr>
              <a:spLocks noChangeArrowheads="1"/>
            </p:cNvSpPr>
            <p:nvPr/>
          </p:nvSpPr>
          <p:spPr bwMode="ltGray">
            <a:xfrm>
              <a:off x="1054" y="2841"/>
              <a:ext cx="1872" cy="207"/>
            </a:xfrm>
            <a:prstGeom prst="rect">
              <a:avLst/>
            </a:prstGeom>
            <a:solidFill>
              <a:srgbClr val="FF5050">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606" name="Rectangle 6"/>
            <p:cNvSpPr>
              <a:spLocks noChangeArrowheads="1"/>
            </p:cNvSpPr>
            <p:nvPr/>
          </p:nvSpPr>
          <p:spPr bwMode="ltGray">
            <a:xfrm>
              <a:off x="2926" y="3020"/>
              <a:ext cx="2132" cy="556"/>
            </a:xfrm>
            <a:prstGeom prst="rect">
              <a:avLst/>
            </a:prstGeom>
            <a:solidFill>
              <a:srgbClr val="FF99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607" name="Arc 7"/>
            <p:cNvSpPr>
              <a:spLocks/>
            </p:cNvSpPr>
            <p:nvPr/>
          </p:nvSpPr>
          <p:spPr bwMode="auto">
            <a:xfrm rot="10860000">
              <a:off x="3263" y="2912"/>
              <a:ext cx="1788" cy="342"/>
            </a:xfrm>
            <a:custGeom>
              <a:avLst/>
              <a:gdLst>
                <a:gd name="G0" fmla="+- 21600 0 0"/>
                <a:gd name="G1" fmla="+- 0 0 0"/>
                <a:gd name="G2" fmla="+- 21600 0 0"/>
                <a:gd name="T0" fmla="*/ 27027 w 27027"/>
                <a:gd name="T1" fmla="*/ 20907 h 21600"/>
                <a:gd name="T2" fmla="*/ 0 w 27027"/>
                <a:gd name="T3" fmla="*/ 0 h 21600"/>
                <a:gd name="T4" fmla="*/ 21600 w 27027"/>
                <a:gd name="T5" fmla="*/ 0 h 21600"/>
              </a:gdLst>
              <a:ahLst/>
              <a:cxnLst>
                <a:cxn ang="0">
                  <a:pos x="T0" y="T1"/>
                </a:cxn>
                <a:cxn ang="0">
                  <a:pos x="T2" y="T3"/>
                </a:cxn>
                <a:cxn ang="0">
                  <a:pos x="T4" y="T5"/>
                </a:cxn>
              </a:cxnLst>
              <a:rect l="0" t="0" r="r" b="b"/>
              <a:pathLst>
                <a:path w="27027" h="21600" fill="none" extrusionOk="0">
                  <a:moveTo>
                    <a:pt x="27027" y="20907"/>
                  </a:moveTo>
                  <a:cubicBezTo>
                    <a:pt x="25254" y="21367"/>
                    <a:pt x="23431" y="21599"/>
                    <a:pt x="21600" y="21600"/>
                  </a:cubicBezTo>
                  <a:cubicBezTo>
                    <a:pt x="9670" y="21600"/>
                    <a:pt x="0" y="11929"/>
                    <a:pt x="0" y="0"/>
                  </a:cubicBezTo>
                </a:path>
                <a:path w="27027" h="21600" stroke="0" extrusionOk="0">
                  <a:moveTo>
                    <a:pt x="27027" y="20907"/>
                  </a:moveTo>
                  <a:cubicBezTo>
                    <a:pt x="25254" y="21367"/>
                    <a:pt x="23431" y="21599"/>
                    <a:pt x="21600" y="21600"/>
                  </a:cubicBezTo>
                  <a:cubicBezTo>
                    <a:pt x="9670" y="21600"/>
                    <a:pt x="0" y="11929"/>
                    <a:pt x="0" y="0"/>
                  </a:cubicBezTo>
                  <a:lnTo>
                    <a:pt x="21600" y="0"/>
                  </a:lnTo>
                  <a:close/>
                </a:path>
              </a:pathLst>
            </a:custGeom>
            <a:noFill/>
            <a:ln w="25400" cap="rnd">
              <a:solidFill>
                <a:srgbClr val="FF5050"/>
              </a:solidFill>
              <a:round/>
              <a:headEnd type="stealth" w="med" len="lg"/>
              <a:tailEnd type="none" w="sm" len="sm"/>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25608" name="Rectangle 8"/>
            <p:cNvSpPr>
              <a:spLocks noChangeArrowheads="1"/>
            </p:cNvSpPr>
            <p:nvPr/>
          </p:nvSpPr>
          <p:spPr bwMode="auto">
            <a:xfrm>
              <a:off x="3904" y="2723"/>
              <a:ext cx="330" cy="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sz="1600">
                  <a:solidFill>
                    <a:srgbClr val="FF5050"/>
                  </a:solidFill>
                  <a:latin typeface="Arial" pitchFamily="34" charset="0"/>
                </a:rPr>
                <a:t>800</a:t>
              </a:r>
            </a:p>
          </p:txBody>
        </p:sp>
      </p:grpSp>
      <p:sp>
        <p:nvSpPr>
          <p:cNvPr id="25610" name="Rectangle 10"/>
          <p:cNvSpPr>
            <a:spLocks noChangeArrowheads="1"/>
          </p:cNvSpPr>
          <p:nvPr/>
        </p:nvSpPr>
        <p:spPr bwMode="blackWhite">
          <a:xfrm>
            <a:off x="1038225" y="3597275"/>
            <a:ext cx="7169150" cy="215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l">
              <a:lnSpc>
                <a:spcPct val="100000"/>
              </a:lnSpc>
              <a:spcBef>
                <a:spcPct val="0"/>
              </a:spcBef>
              <a:tabLst>
                <a:tab pos="2400300" algn="l"/>
                <a:tab pos="3600450" algn="l"/>
                <a:tab pos="5029200" algn="l"/>
              </a:tabLst>
            </a:pPr>
            <a:r>
              <a:rPr lang="en-US" sz="1800">
                <a:solidFill>
                  <a:srgbClr val="000000"/>
                </a:solidFill>
                <a:latin typeface="Courier New" pitchFamily="49" charset="0"/>
              </a:rPr>
              <a:t>SQL&gt; SELECT	deptno, MIN(sal)</a:t>
            </a:r>
          </a:p>
          <a:p>
            <a:pPr algn="l">
              <a:lnSpc>
                <a:spcPct val="100000"/>
              </a:lnSpc>
              <a:spcBef>
                <a:spcPct val="0"/>
              </a:spcBef>
              <a:tabLst>
                <a:tab pos="2400300" algn="l"/>
                <a:tab pos="3600450" algn="l"/>
                <a:tab pos="5029200" algn="l"/>
              </a:tabLst>
            </a:pPr>
            <a:r>
              <a:rPr lang="en-US" sz="1800">
                <a:solidFill>
                  <a:srgbClr val="000000"/>
                </a:solidFill>
                <a:latin typeface="Courier New" pitchFamily="49" charset="0"/>
              </a:rPr>
              <a:t>  2  FROM	emp</a:t>
            </a:r>
          </a:p>
          <a:p>
            <a:pPr algn="l">
              <a:lnSpc>
                <a:spcPct val="100000"/>
              </a:lnSpc>
              <a:spcBef>
                <a:spcPct val="0"/>
              </a:spcBef>
              <a:tabLst>
                <a:tab pos="2400300" algn="l"/>
                <a:tab pos="3600450" algn="l"/>
                <a:tab pos="5029200" algn="l"/>
              </a:tabLst>
            </a:pPr>
            <a:r>
              <a:rPr lang="en-US" sz="1800">
                <a:solidFill>
                  <a:srgbClr val="000000"/>
                </a:solidFill>
                <a:latin typeface="Courier New" pitchFamily="49" charset="0"/>
              </a:rPr>
              <a:t>  3  GROUP BY	deptno</a:t>
            </a:r>
          </a:p>
          <a:p>
            <a:pPr algn="l">
              <a:lnSpc>
                <a:spcPct val="100000"/>
              </a:lnSpc>
              <a:spcBef>
                <a:spcPct val="0"/>
              </a:spcBef>
              <a:tabLst>
                <a:tab pos="2400300" algn="l"/>
                <a:tab pos="3600450" algn="l"/>
                <a:tab pos="5029200" algn="l"/>
              </a:tabLst>
            </a:pPr>
            <a:r>
              <a:rPr lang="en-US" sz="1800">
                <a:solidFill>
                  <a:srgbClr val="000000"/>
                </a:solidFill>
                <a:latin typeface="Courier New" pitchFamily="49" charset="0"/>
              </a:rPr>
              <a:t>  4  HAVING	MIN(sal) &gt;</a:t>
            </a:r>
          </a:p>
          <a:p>
            <a:pPr algn="l">
              <a:lnSpc>
                <a:spcPct val="100000"/>
              </a:lnSpc>
              <a:spcBef>
                <a:spcPct val="0"/>
              </a:spcBef>
              <a:tabLst>
                <a:tab pos="2400300" algn="l"/>
                <a:tab pos="3600450" algn="l"/>
                <a:tab pos="5029200" algn="l"/>
              </a:tabLst>
            </a:pPr>
            <a:r>
              <a:rPr lang="en-US" sz="1800">
                <a:solidFill>
                  <a:srgbClr val="000000"/>
                </a:solidFill>
                <a:latin typeface="Courier New" pitchFamily="49" charset="0"/>
              </a:rPr>
              <a:t>  5		(SELECT	MIN(sal)</a:t>
            </a:r>
          </a:p>
          <a:p>
            <a:pPr algn="l">
              <a:lnSpc>
                <a:spcPct val="100000"/>
              </a:lnSpc>
              <a:spcBef>
                <a:spcPct val="0"/>
              </a:spcBef>
              <a:tabLst>
                <a:tab pos="2400300" algn="l"/>
                <a:tab pos="3600450" algn="l"/>
                <a:tab pos="5029200" algn="l"/>
              </a:tabLst>
            </a:pPr>
            <a:r>
              <a:rPr lang="en-US" sz="1800">
                <a:solidFill>
                  <a:srgbClr val="000000"/>
                </a:solidFill>
                <a:latin typeface="Courier New" pitchFamily="49" charset="0"/>
              </a:rPr>
              <a:t>  6		FROM	emp</a:t>
            </a:r>
          </a:p>
          <a:p>
            <a:pPr algn="l">
              <a:lnSpc>
                <a:spcPct val="100000"/>
              </a:lnSpc>
              <a:spcBef>
                <a:spcPct val="0"/>
              </a:spcBef>
              <a:tabLst>
                <a:tab pos="2400300" algn="l"/>
                <a:tab pos="3600450" algn="l"/>
                <a:tab pos="5029200" algn="l"/>
              </a:tabLst>
            </a:pPr>
            <a:r>
              <a:rPr lang="en-US" sz="1800">
                <a:solidFill>
                  <a:srgbClr val="000000"/>
                </a:solidFill>
                <a:latin typeface="Courier New" pitchFamily="49" charset="0"/>
              </a:rPr>
              <a:t>  7		WHERE	deptno = 20);</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5609"/>
                                        </p:tgtEl>
                                        <p:attrNameLst>
                                          <p:attrName>style.visibility</p:attrName>
                                        </p:attrNameLst>
                                      </p:cBhvr>
                                      <p:to>
                                        <p:strVal val="visible"/>
                                      </p:to>
                                    </p:set>
                                    <p:animEffect transition="in" filter="wipe(up)">
                                      <p:cBhvr>
                                        <p:cTn id="7" dur="500"/>
                                        <p:tgtEl>
                                          <p:spTgt spid="256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ChangeArrowheads="1"/>
          </p:cNvSpPr>
          <p:nvPr/>
        </p:nvSpPr>
        <p:spPr bwMode="blackWhite">
          <a:xfrm>
            <a:off x="933450" y="1812925"/>
            <a:ext cx="7486650" cy="1754188"/>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lIns="92075" tIns="46038" rIns="92075" bIns="46038" anchor="ctr"/>
          <a:lstStyle/>
          <a:p>
            <a:pPr algn="l">
              <a:lnSpc>
                <a:spcPct val="100000"/>
              </a:lnSpc>
              <a:spcBef>
                <a:spcPct val="0"/>
              </a:spcBef>
              <a:tabLst>
                <a:tab pos="1200150" algn="l"/>
                <a:tab pos="3087688" algn="l"/>
              </a:tabLst>
            </a:pPr>
            <a:endParaRPr lang="en-US" sz="1800">
              <a:solidFill>
                <a:srgbClr val="000000"/>
              </a:solidFill>
              <a:latin typeface="Courier New" pitchFamily="49" charset="0"/>
            </a:endParaRPr>
          </a:p>
          <a:p>
            <a:pPr algn="l">
              <a:lnSpc>
                <a:spcPct val="100000"/>
              </a:lnSpc>
              <a:spcBef>
                <a:spcPct val="0"/>
              </a:spcBef>
              <a:tabLst>
                <a:tab pos="1200150" algn="l"/>
                <a:tab pos="3087688" algn="l"/>
              </a:tabLst>
            </a:pPr>
            <a:endParaRPr lang="en-US" sz="1800">
              <a:solidFill>
                <a:srgbClr val="000000"/>
              </a:solidFill>
              <a:latin typeface="Courier New" pitchFamily="49" charset="0"/>
            </a:endParaRPr>
          </a:p>
        </p:txBody>
      </p:sp>
      <p:sp>
        <p:nvSpPr>
          <p:cNvPr id="27651" name="Rectangle 3"/>
          <p:cNvSpPr>
            <a:spLocks noGrp="1" noChangeArrowheads="1"/>
          </p:cNvSpPr>
          <p:nvPr>
            <p:ph type="title"/>
          </p:nvPr>
        </p:nvSpPr>
        <p:spPr>
          <a:noFill/>
          <a:ln/>
        </p:spPr>
        <p:txBody>
          <a:bodyPr/>
          <a:lstStyle/>
          <a:p>
            <a:r>
              <a:rPr lang="en-US"/>
              <a:t>What Is Wrong </a:t>
            </a:r>
            <a:br>
              <a:rPr lang="en-US"/>
            </a:br>
            <a:r>
              <a:rPr lang="en-US"/>
              <a:t>with This Statement?</a:t>
            </a:r>
          </a:p>
        </p:txBody>
      </p:sp>
      <p:grpSp>
        <p:nvGrpSpPr>
          <p:cNvPr id="27656" name="Group 8"/>
          <p:cNvGrpSpPr>
            <a:grpSpLocks/>
          </p:cNvGrpSpPr>
          <p:nvPr/>
        </p:nvGrpSpPr>
        <p:grpSpPr bwMode="auto">
          <a:xfrm>
            <a:off x="3105150" y="2374900"/>
            <a:ext cx="5041900" cy="1174750"/>
            <a:chOff x="1956" y="1496"/>
            <a:chExt cx="3176" cy="740"/>
          </a:xfrm>
        </p:grpSpPr>
        <p:sp>
          <p:nvSpPr>
            <p:cNvPr id="27652" name="Rectangle 4"/>
            <p:cNvSpPr>
              <a:spLocks noChangeArrowheads="1"/>
            </p:cNvSpPr>
            <p:nvPr/>
          </p:nvSpPr>
          <p:spPr bwMode="ltGray">
            <a:xfrm>
              <a:off x="2532" y="1668"/>
              <a:ext cx="2600" cy="567"/>
            </a:xfrm>
            <a:prstGeom prst="rect">
              <a:avLst/>
            </a:prstGeom>
            <a:solidFill>
              <a:srgbClr val="FF99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27655" name="Group 7"/>
            <p:cNvGrpSpPr>
              <a:grpSpLocks/>
            </p:cNvGrpSpPr>
            <p:nvPr/>
          </p:nvGrpSpPr>
          <p:grpSpPr bwMode="auto">
            <a:xfrm>
              <a:off x="1956" y="1496"/>
              <a:ext cx="2228" cy="740"/>
              <a:chOff x="1956" y="1496"/>
              <a:chExt cx="2228" cy="740"/>
            </a:xfrm>
          </p:grpSpPr>
          <p:sp>
            <p:nvSpPr>
              <p:cNvPr id="27653" name="Rectangle 5"/>
              <p:cNvSpPr>
                <a:spLocks noChangeArrowheads="1"/>
              </p:cNvSpPr>
              <p:nvPr/>
            </p:nvSpPr>
            <p:spPr bwMode="ltGray">
              <a:xfrm>
                <a:off x="2568" y="2016"/>
                <a:ext cx="1616" cy="220"/>
              </a:xfrm>
              <a:prstGeom prst="rect">
                <a:avLst/>
              </a:prstGeom>
              <a:solidFill>
                <a:srgbClr val="FF5050">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7654" name="Rectangle 6"/>
              <p:cNvSpPr>
                <a:spLocks noChangeArrowheads="1"/>
              </p:cNvSpPr>
              <p:nvPr/>
            </p:nvSpPr>
            <p:spPr bwMode="ltGray">
              <a:xfrm>
                <a:off x="1956" y="1496"/>
                <a:ext cx="288" cy="220"/>
              </a:xfrm>
              <a:prstGeom prst="rect">
                <a:avLst/>
              </a:prstGeom>
              <a:solidFill>
                <a:srgbClr val="FF5050">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grpSp>
      <p:sp>
        <p:nvSpPr>
          <p:cNvPr id="27657" name="Rectangle 9"/>
          <p:cNvSpPr>
            <a:spLocks noChangeArrowheads="1"/>
          </p:cNvSpPr>
          <p:nvPr/>
        </p:nvSpPr>
        <p:spPr bwMode="blackWhite">
          <a:xfrm>
            <a:off x="946150" y="4127500"/>
            <a:ext cx="7473950" cy="1465263"/>
          </a:xfrm>
          <a:prstGeom prst="rect">
            <a:avLst/>
          </a:prstGeom>
          <a:solidFill>
            <a:srgbClr val="DDDDDD"/>
          </a:solidFill>
          <a:ln w="25400">
            <a:solidFill>
              <a:srgbClr val="000000"/>
            </a:solidFill>
            <a:miter lim="800000"/>
            <a:headEnd/>
            <a:tailEnd/>
          </a:ln>
          <a:effectLst>
            <a:outerShdw dist="89803" dir="2700000" algn="ctr" rotWithShape="0">
              <a:srgbClr val="000000"/>
            </a:outerShdw>
          </a:effectLst>
        </p:spPr>
        <p:txBody>
          <a:bodyPr wrap="none" lIns="92075" tIns="46038" rIns="92075" bIns="46038" anchor="ctr"/>
          <a:lstStyle/>
          <a:p>
            <a:pPr algn="l">
              <a:lnSpc>
                <a:spcPct val="100000"/>
              </a:lnSpc>
              <a:spcBef>
                <a:spcPct val="0"/>
              </a:spcBef>
              <a:tabLst>
                <a:tab pos="1200150" algn="l"/>
              </a:tabLst>
            </a:pPr>
            <a:r>
              <a:rPr lang="en-US" sz="1800">
                <a:solidFill>
                  <a:srgbClr val="000000"/>
                </a:solidFill>
                <a:latin typeface="Courier New" pitchFamily="49" charset="0"/>
              </a:rPr>
              <a:t>ERROR:</a:t>
            </a:r>
          </a:p>
          <a:p>
            <a:pPr algn="l">
              <a:lnSpc>
                <a:spcPct val="100000"/>
              </a:lnSpc>
              <a:spcBef>
                <a:spcPct val="0"/>
              </a:spcBef>
              <a:tabLst>
                <a:tab pos="1200150" algn="l"/>
              </a:tabLst>
            </a:pPr>
            <a:r>
              <a:rPr lang="en-US" sz="1800">
                <a:solidFill>
                  <a:srgbClr val="000000"/>
                </a:solidFill>
                <a:latin typeface="Courier New" pitchFamily="49" charset="0"/>
              </a:rPr>
              <a:t>ORA-01427: single-row subquery returns more than</a:t>
            </a:r>
            <a:br>
              <a:rPr lang="en-US" sz="1800">
                <a:solidFill>
                  <a:srgbClr val="000000"/>
                </a:solidFill>
                <a:latin typeface="Courier New" pitchFamily="49" charset="0"/>
              </a:rPr>
            </a:br>
            <a:r>
              <a:rPr lang="en-US" sz="1800">
                <a:solidFill>
                  <a:srgbClr val="000000"/>
                </a:solidFill>
                <a:latin typeface="Courier New" pitchFamily="49" charset="0"/>
              </a:rPr>
              <a:t>one row</a:t>
            </a:r>
          </a:p>
          <a:p>
            <a:pPr algn="l">
              <a:lnSpc>
                <a:spcPct val="100000"/>
              </a:lnSpc>
              <a:spcBef>
                <a:spcPct val="0"/>
              </a:spcBef>
              <a:tabLst>
                <a:tab pos="1200150" algn="l"/>
              </a:tabLst>
            </a:pPr>
            <a:endParaRPr lang="en-US" sz="1800">
              <a:solidFill>
                <a:srgbClr val="000000"/>
              </a:solidFill>
              <a:latin typeface="Courier New" pitchFamily="49" charset="0"/>
            </a:endParaRPr>
          </a:p>
          <a:p>
            <a:pPr algn="l">
              <a:lnSpc>
                <a:spcPct val="100000"/>
              </a:lnSpc>
              <a:spcBef>
                <a:spcPct val="0"/>
              </a:spcBef>
              <a:tabLst>
                <a:tab pos="1200150" algn="l"/>
              </a:tabLst>
            </a:pPr>
            <a:r>
              <a:rPr lang="en-US" sz="1800">
                <a:solidFill>
                  <a:srgbClr val="000000"/>
                </a:solidFill>
                <a:latin typeface="Courier New" pitchFamily="49" charset="0"/>
              </a:rPr>
              <a:t>no rows selected</a:t>
            </a:r>
          </a:p>
        </p:txBody>
      </p:sp>
      <p:sp>
        <p:nvSpPr>
          <p:cNvPr id="27658" name="Rectangle 10"/>
          <p:cNvSpPr>
            <a:spLocks noChangeArrowheads="1"/>
          </p:cNvSpPr>
          <p:nvPr/>
        </p:nvSpPr>
        <p:spPr bwMode="blackWhite">
          <a:xfrm>
            <a:off x="933450" y="1800225"/>
            <a:ext cx="7315200" cy="17795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l">
              <a:lnSpc>
                <a:spcPct val="100000"/>
              </a:lnSpc>
              <a:spcBef>
                <a:spcPct val="0"/>
              </a:spcBef>
              <a:tabLst>
                <a:tab pos="1200150" algn="l"/>
                <a:tab pos="3087688" algn="l"/>
              </a:tabLst>
            </a:pPr>
            <a:r>
              <a:rPr lang="en-US" sz="1800">
                <a:solidFill>
                  <a:srgbClr val="000000"/>
                </a:solidFill>
                <a:latin typeface="Courier New" pitchFamily="49" charset="0"/>
              </a:rPr>
              <a:t>SQL&gt; SELECT empno, ename</a:t>
            </a:r>
          </a:p>
          <a:p>
            <a:pPr algn="l">
              <a:lnSpc>
                <a:spcPct val="100000"/>
              </a:lnSpc>
              <a:spcBef>
                <a:spcPct val="0"/>
              </a:spcBef>
              <a:tabLst>
                <a:tab pos="1200150" algn="l"/>
                <a:tab pos="3087688" algn="l"/>
              </a:tabLst>
            </a:pPr>
            <a:r>
              <a:rPr lang="en-US" sz="1800">
                <a:solidFill>
                  <a:srgbClr val="000000"/>
                </a:solidFill>
                <a:latin typeface="Courier New" pitchFamily="49" charset="0"/>
              </a:rPr>
              <a:t>  2  FROM   emp</a:t>
            </a:r>
          </a:p>
          <a:p>
            <a:pPr algn="l">
              <a:lnSpc>
                <a:spcPct val="100000"/>
              </a:lnSpc>
              <a:spcBef>
                <a:spcPct val="0"/>
              </a:spcBef>
              <a:tabLst>
                <a:tab pos="1200150" algn="l"/>
                <a:tab pos="3087688" algn="l"/>
              </a:tabLst>
            </a:pPr>
            <a:r>
              <a:rPr lang="en-US" sz="1800">
                <a:solidFill>
                  <a:srgbClr val="000000"/>
                </a:solidFill>
                <a:latin typeface="Courier New" pitchFamily="49" charset="0"/>
              </a:rPr>
              <a:t>  3  WHERE  sal = </a:t>
            </a:r>
          </a:p>
          <a:p>
            <a:pPr algn="l">
              <a:lnSpc>
                <a:spcPct val="100000"/>
              </a:lnSpc>
              <a:spcBef>
                <a:spcPct val="0"/>
              </a:spcBef>
              <a:tabLst>
                <a:tab pos="1200150" algn="l"/>
                <a:tab pos="3087688" algn="l"/>
              </a:tabLst>
            </a:pPr>
            <a:r>
              <a:rPr lang="en-US" sz="1800">
                <a:solidFill>
                  <a:srgbClr val="000000"/>
                </a:solidFill>
                <a:latin typeface="Courier New" pitchFamily="49" charset="0"/>
              </a:rPr>
              <a:t>  4		(SELECT   MIN(sal)</a:t>
            </a:r>
          </a:p>
          <a:p>
            <a:pPr algn="l">
              <a:lnSpc>
                <a:spcPct val="100000"/>
              </a:lnSpc>
              <a:spcBef>
                <a:spcPct val="0"/>
              </a:spcBef>
              <a:tabLst>
                <a:tab pos="1200150" algn="l"/>
                <a:tab pos="3087688" algn="l"/>
              </a:tabLst>
            </a:pPr>
            <a:r>
              <a:rPr lang="en-US" sz="1800">
                <a:solidFill>
                  <a:srgbClr val="000000"/>
                </a:solidFill>
                <a:latin typeface="Courier New" pitchFamily="49" charset="0"/>
              </a:rPr>
              <a:t>  5		FROM      emp</a:t>
            </a:r>
          </a:p>
          <a:p>
            <a:pPr algn="l">
              <a:lnSpc>
                <a:spcPct val="100000"/>
              </a:lnSpc>
              <a:spcBef>
                <a:spcPct val="0"/>
              </a:spcBef>
              <a:tabLst>
                <a:tab pos="1200150" algn="l"/>
                <a:tab pos="3087688" algn="l"/>
              </a:tabLst>
            </a:pPr>
            <a:r>
              <a:rPr lang="en-US" sz="1800">
                <a:solidFill>
                  <a:srgbClr val="000000"/>
                </a:solidFill>
                <a:latin typeface="Courier New" pitchFamily="49" charset="0"/>
              </a:rPr>
              <a:t>  6		GROUP BY  deptno);</a:t>
            </a:r>
          </a:p>
        </p:txBody>
      </p:sp>
      <p:sp>
        <p:nvSpPr>
          <p:cNvPr id="27659" name="Rectangle 11"/>
          <p:cNvSpPr>
            <a:spLocks noChangeArrowheads="1"/>
          </p:cNvSpPr>
          <p:nvPr/>
        </p:nvSpPr>
        <p:spPr bwMode="auto">
          <a:xfrm rot="20640000">
            <a:off x="527050" y="3019425"/>
            <a:ext cx="3841750" cy="822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a:lnSpc>
                <a:spcPct val="100000"/>
              </a:lnSpc>
              <a:spcBef>
                <a:spcPct val="0"/>
              </a:spcBef>
            </a:pPr>
            <a:r>
              <a:rPr lang="en-US" sz="2400">
                <a:solidFill>
                  <a:srgbClr val="FF3300"/>
                </a:solidFill>
                <a:effectLst>
                  <a:outerShdw blurRad="38100" dist="38100" dir="2700000" algn="tl">
                    <a:srgbClr val="000000"/>
                  </a:outerShdw>
                </a:effectLst>
                <a:latin typeface="Arial" pitchFamily="34" charset="0"/>
              </a:rPr>
              <a:t>Single-row operator with </a:t>
            </a:r>
          </a:p>
          <a:p>
            <a:pPr algn="l">
              <a:lnSpc>
                <a:spcPct val="100000"/>
              </a:lnSpc>
              <a:spcBef>
                <a:spcPct val="0"/>
              </a:spcBef>
            </a:pPr>
            <a:r>
              <a:rPr lang="en-US" sz="2400">
                <a:solidFill>
                  <a:srgbClr val="FF3300"/>
                </a:solidFill>
                <a:effectLst>
                  <a:outerShdw blurRad="38100" dist="38100" dir="2700000" algn="tl">
                    <a:srgbClr val="000000"/>
                  </a:outerShdw>
                </a:effectLst>
                <a:latin typeface="Arial" pitchFamily="34" charset="0"/>
              </a:rPr>
              <a:t>multiple-row subquery</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7656"/>
                                        </p:tgtEl>
                                        <p:attrNameLst>
                                          <p:attrName>style.visibility</p:attrName>
                                        </p:attrNameLst>
                                      </p:cBhvr>
                                      <p:to>
                                        <p:strVal val="visible"/>
                                      </p:to>
                                    </p:set>
                                    <p:animEffect transition="in" filter="wipe(up)">
                                      <p:cBhvr>
                                        <p:cTn id="7" dur="500"/>
                                        <p:tgtEl>
                                          <p:spTgt spid="2765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7657"/>
                                        </p:tgtEl>
                                        <p:attrNameLst>
                                          <p:attrName>style.visibility</p:attrName>
                                        </p:attrNameLst>
                                      </p:cBhvr>
                                      <p:to>
                                        <p:strVal val="visible"/>
                                      </p:to>
                                    </p:set>
                                    <p:animEffect transition="in" filter="wipe(up)">
                                      <p:cBhvr>
                                        <p:cTn id="12" dur="500"/>
                                        <p:tgtEl>
                                          <p:spTgt spid="27657"/>
                                        </p:tgtEl>
                                      </p:cBhvr>
                                    </p:animEffect>
                                  </p:childTnLst>
                                </p:cTn>
                              </p:par>
                            </p:childTnLst>
                          </p:cTn>
                        </p:par>
                        <p:par>
                          <p:cTn id="13" fill="hold" nodeType="afterGroup">
                            <p:stCondLst>
                              <p:cond delay="500"/>
                            </p:stCondLst>
                            <p:childTnLst>
                              <p:par>
                                <p:cTn id="14" presetID="22" presetClass="entr" presetSubtype="4" fill="hold" grpId="0" nodeType="afterEffect">
                                  <p:stCondLst>
                                    <p:cond delay="0"/>
                                  </p:stCondLst>
                                  <p:childTnLst>
                                    <p:set>
                                      <p:cBhvr>
                                        <p:cTn id="15" dur="1" fill="hold">
                                          <p:stCondLst>
                                            <p:cond delay="0"/>
                                          </p:stCondLst>
                                        </p:cTn>
                                        <p:tgtEl>
                                          <p:spTgt spid="27659"/>
                                        </p:tgtEl>
                                        <p:attrNameLst>
                                          <p:attrName>style.visibility</p:attrName>
                                        </p:attrNameLst>
                                      </p:cBhvr>
                                      <p:to>
                                        <p:strVal val="visible"/>
                                      </p:to>
                                    </p:set>
                                    <p:animEffect transition="in" filter="wipe(down)">
                                      <p:cBhvr>
                                        <p:cTn id="16" dur="500"/>
                                        <p:tgtEl>
                                          <p:spTgt spid="276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7" grpId="0" animBg="1" autoUpdateAnimBg="0"/>
      <p:bldP spid="27659"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ChangeArrowheads="1"/>
          </p:cNvSpPr>
          <p:nvPr/>
        </p:nvSpPr>
        <p:spPr bwMode="blackWhite">
          <a:xfrm>
            <a:off x="927100" y="1965325"/>
            <a:ext cx="7493000" cy="1793875"/>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lIns="92075" tIns="46038" rIns="92075" bIns="46038" anchor="ctr"/>
          <a:lstStyle/>
          <a:p>
            <a:pPr algn="l">
              <a:lnSpc>
                <a:spcPct val="100000"/>
              </a:lnSpc>
              <a:spcBef>
                <a:spcPct val="0"/>
              </a:spcBef>
              <a:tabLst>
                <a:tab pos="1200150" algn="l"/>
                <a:tab pos="2571750" algn="l"/>
              </a:tabLst>
            </a:pPr>
            <a:endParaRPr lang="en-US" sz="1800">
              <a:solidFill>
                <a:srgbClr val="000000"/>
              </a:solidFill>
              <a:latin typeface="Courier New" pitchFamily="49" charset="0"/>
            </a:endParaRPr>
          </a:p>
          <a:p>
            <a:pPr algn="l">
              <a:lnSpc>
                <a:spcPct val="100000"/>
              </a:lnSpc>
              <a:spcBef>
                <a:spcPct val="0"/>
              </a:spcBef>
              <a:tabLst>
                <a:tab pos="1200150" algn="l"/>
                <a:tab pos="2571750" algn="l"/>
              </a:tabLst>
            </a:pPr>
            <a:endParaRPr lang="en-US" sz="1800">
              <a:solidFill>
                <a:srgbClr val="000000"/>
              </a:solidFill>
              <a:latin typeface="Courier New" pitchFamily="49" charset="0"/>
            </a:endParaRPr>
          </a:p>
        </p:txBody>
      </p:sp>
      <p:sp>
        <p:nvSpPr>
          <p:cNvPr id="29699" name="Rectangle 3"/>
          <p:cNvSpPr>
            <a:spLocks noGrp="1" noChangeArrowheads="1"/>
          </p:cNvSpPr>
          <p:nvPr>
            <p:ph type="title"/>
          </p:nvPr>
        </p:nvSpPr>
        <p:spPr>
          <a:noFill/>
          <a:ln/>
        </p:spPr>
        <p:txBody>
          <a:bodyPr/>
          <a:lstStyle/>
          <a:p>
            <a:r>
              <a:rPr lang="en-US"/>
              <a:t>Will This Statement Work?</a:t>
            </a:r>
          </a:p>
        </p:txBody>
      </p:sp>
      <p:grpSp>
        <p:nvGrpSpPr>
          <p:cNvPr id="29702" name="Group 6"/>
          <p:cNvGrpSpPr>
            <a:grpSpLocks/>
          </p:cNvGrpSpPr>
          <p:nvPr/>
        </p:nvGrpSpPr>
        <p:grpSpPr bwMode="auto">
          <a:xfrm>
            <a:off x="3506788" y="2800350"/>
            <a:ext cx="4640262" cy="935038"/>
            <a:chOff x="2209" y="1764"/>
            <a:chExt cx="2923" cy="589"/>
          </a:xfrm>
        </p:grpSpPr>
        <p:sp>
          <p:nvSpPr>
            <p:cNvPr id="29700" name="Rectangle 4"/>
            <p:cNvSpPr>
              <a:spLocks noChangeArrowheads="1"/>
            </p:cNvSpPr>
            <p:nvPr/>
          </p:nvSpPr>
          <p:spPr bwMode="ltGray">
            <a:xfrm>
              <a:off x="2209" y="1764"/>
              <a:ext cx="2923" cy="589"/>
            </a:xfrm>
            <a:prstGeom prst="rect">
              <a:avLst/>
            </a:prstGeom>
            <a:solidFill>
              <a:srgbClr val="FF99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9701" name="Rectangle 5"/>
            <p:cNvSpPr>
              <a:spLocks noChangeArrowheads="1"/>
            </p:cNvSpPr>
            <p:nvPr/>
          </p:nvSpPr>
          <p:spPr bwMode="ltGray">
            <a:xfrm>
              <a:off x="2220" y="2124"/>
              <a:ext cx="2040" cy="216"/>
            </a:xfrm>
            <a:prstGeom prst="rect">
              <a:avLst/>
            </a:prstGeom>
            <a:solidFill>
              <a:srgbClr val="FF5050">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29703" name="Rectangle 7"/>
          <p:cNvSpPr>
            <a:spLocks noChangeArrowheads="1"/>
          </p:cNvSpPr>
          <p:nvPr/>
        </p:nvSpPr>
        <p:spPr bwMode="blackWhite">
          <a:xfrm>
            <a:off x="927100" y="4171950"/>
            <a:ext cx="7493000" cy="406400"/>
          </a:xfrm>
          <a:prstGeom prst="rect">
            <a:avLst/>
          </a:prstGeom>
          <a:solidFill>
            <a:srgbClr val="DDDDDD"/>
          </a:solidFill>
          <a:ln w="25400">
            <a:solidFill>
              <a:srgbClr val="000000"/>
            </a:solidFill>
            <a:miter lim="800000"/>
            <a:headEnd/>
            <a:tailEnd/>
          </a:ln>
          <a:effectLst>
            <a:outerShdw dist="89803" dir="2700000" algn="ctr" rotWithShape="0">
              <a:srgbClr val="000000"/>
            </a:outerShdw>
          </a:effectLst>
        </p:spPr>
        <p:txBody>
          <a:bodyPr wrap="none" lIns="92075" tIns="46038" rIns="92075" bIns="46038" anchor="ctr"/>
          <a:lstStyle/>
          <a:p>
            <a:pPr algn="l">
              <a:lnSpc>
                <a:spcPct val="100000"/>
              </a:lnSpc>
              <a:spcBef>
                <a:spcPct val="0"/>
              </a:spcBef>
              <a:tabLst>
                <a:tab pos="1200150" algn="l"/>
                <a:tab pos="3087688" algn="l"/>
              </a:tabLst>
            </a:pPr>
            <a:r>
              <a:rPr lang="en-US" sz="1800">
                <a:solidFill>
                  <a:srgbClr val="000000"/>
                </a:solidFill>
                <a:latin typeface="Courier New" pitchFamily="49" charset="0"/>
              </a:rPr>
              <a:t>no rows selected</a:t>
            </a:r>
          </a:p>
        </p:txBody>
      </p:sp>
      <p:sp>
        <p:nvSpPr>
          <p:cNvPr id="29704" name="Rectangle 8"/>
          <p:cNvSpPr>
            <a:spLocks noChangeArrowheads="1"/>
          </p:cNvSpPr>
          <p:nvPr/>
        </p:nvSpPr>
        <p:spPr bwMode="auto">
          <a:xfrm rot="20340000">
            <a:off x="3003550" y="4171950"/>
            <a:ext cx="421481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a:lnSpc>
                <a:spcPct val="100000"/>
              </a:lnSpc>
              <a:spcBef>
                <a:spcPct val="0"/>
              </a:spcBef>
            </a:pPr>
            <a:r>
              <a:rPr lang="en-US" sz="2400">
                <a:solidFill>
                  <a:srgbClr val="FF3300"/>
                </a:solidFill>
                <a:effectLst>
                  <a:outerShdw blurRad="38100" dist="38100" dir="2700000" algn="tl">
                    <a:srgbClr val="000000"/>
                  </a:outerShdw>
                </a:effectLst>
                <a:latin typeface="Arial" pitchFamily="34" charset="0"/>
              </a:rPr>
              <a:t>Subquery returns no values</a:t>
            </a:r>
          </a:p>
        </p:txBody>
      </p:sp>
      <p:sp>
        <p:nvSpPr>
          <p:cNvPr id="29705" name="Rectangle 9"/>
          <p:cNvSpPr>
            <a:spLocks noChangeArrowheads="1"/>
          </p:cNvSpPr>
          <p:nvPr/>
        </p:nvSpPr>
        <p:spPr bwMode="blackWhite">
          <a:xfrm>
            <a:off x="914400" y="1952625"/>
            <a:ext cx="7315200" cy="181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l">
              <a:lnSpc>
                <a:spcPct val="100000"/>
              </a:lnSpc>
              <a:spcBef>
                <a:spcPct val="0"/>
              </a:spcBef>
              <a:tabLst>
                <a:tab pos="1200150" algn="l"/>
                <a:tab pos="2571750" algn="l"/>
              </a:tabLst>
            </a:pPr>
            <a:r>
              <a:rPr lang="en-US" sz="1800">
                <a:solidFill>
                  <a:srgbClr val="000000"/>
                </a:solidFill>
                <a:latin typeface="Courier New" pitchFamily="49" charset="0"/>
              </a:rPr>
              <a:t>SQL&gt; SELECT ename, job</a:t>
            </a:r>
          </a:p>
          <a:p>
            <a:pPr algn="l">
              <a:lnSpc>
                <a:spcPct val="100000"/>
              </a:lnSpc>
              <a:spcBef>
                <a:spcPct val="0"/>
              </a:spcBef>
              <a:tabLst>
                <a:tab pos="1200150" algn="l"/>
                <a:tab pos="2571750" algn="l"/>
              </a:tabLst>
            </a:pPr>
            <a:r>
              <a:rPr lang="en-US" sz="1800">
                <a:solidFill>
                  <a:srgbClr val="000000"/>
                </a:solidFill>
                <a:latin typeface="Courier New" pitchFamily="49" charset="0"/>
              </a:rPr>
              <a:t>  2  FROM   emp</a:t>
            </a:r>
          </a:p>
          <a:p>
            <a:pPr algn="l">
              <a:lnSpc>
                <a:spcPct val="100000"/>
              </a:lnSpc>
              <a:spcBef>
                <a:spcPct val="0"/>
              </a:spcBef>
              <a:tabLst>
                <a:tab pos="1200150" algn="l"/>
                <a:tab pos="2571750" algn="l"/>
              </a:tabLst>
            </a:pPr>
            <a:r>
              <a:rPr lang="en-US" sz="1800">
                <a:solidFill>
                  <a:srgbClr val="000000"/>
                </a:solidFill>
                <a:latin typeface="Courier New" pitchFamily="49" charset="0"/>
              </a:rPr>
              <a:t>  3  WHERE  job = </a:t>
            </a:r>
          </a:p>
          <a:p>
            <a:pPr algn="l">
              <a:lnSpc>
                <a:spcPct val="100000"/>
              </a:lnSpc>
              <a:spcBef>
                <a:spcPct val="0"/>
              </a:spcBef>
              <a:tabLst>
                <a:tab pos="1200150" algn="l"/>
                <a:tab pos="2571750" algn="l"/>
              </a:tabLst>
            </a:pPr>
            <a:r>
              <a:rPr lang="en-US" sz="1800">
                <a:solidFill>
                  <a:srgbClr val="000000"/>
                </a:solidFill>
                <a:latin typeface="Courier New" pitchFamily="49" charset="0"/>
              </a:rPr>
              <a:t>  4		(SELECT	job</a:t>
            </a:r>
          </a:p>
          <a:p>
            <a:pPr algn="l">
              <a:lnSpc>
                <a:spcPct val="100000"/>
              </a:lnSpc>
              <a:spcBef>
                <a:spcPct val="0"/>
              </a:spcBef>
              <a:tabLst>
                <a:tab pos="1200150" algn="l"/>
                <a:tab pos="2571750" algn="l"/>
              </a:tabLst>
            </a:pPr>
            <a:r>
              <a:rPr lang="en-US" sz="1800">
                <a:solidFill>
                  <a:srgbClr val="000000"/>
                </a:solidFill>
                <a:latin typeface="Courier New" pitchFamily="49" charset="0"/>
              </a:rPr>
              <a:t>  5		FROM	emp</a:t>
            </a:r>
          </a:p>
          <a:p>
            <a:pPr algn="l">
              <a:lnSpc>
                <a:spcPct val="100000"/>
              </a:lnSpc>
              <a:spcBef>
                <a:spcPct val="0"/>
              </a:spcBef>
              <a:tabLst>
                <a:tab pos="1200150" algn="l"/>
                <a:tab pos="2571750" algn="l"/>
              </a:tabLst>
            </a:pPr>
            <a:r>
              <a:rPr lang="en-US" sz="1800">
                <a:solidFill>
                  <a:srgbClr val="000000"/>
                </a:solidFill>
                <a:latin typeface="Courier New" pitchFamily="49" charset="0"/>
              </a:rPr>
              <a:t>  6		WHERE	ename='SMYTHE');</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9702"/>
                                        </p:tgtEl>
                                        <p:attrNameLst>
                                          <p:attrName>style.visibility</p:attrName>
                                        </p:attrNameLst>
                                      </p:cBhvr>
                                      <p:to>
                                        <p:strVal val="visible"/>
                                      </p:to>
                                    </p:set>
                                    <p:animEffect transition="in" filter="wipe(up)">
                                      <p:cBhvr>
                                        <p:cTn id="7" dur="500"/>
                                        <p:tgtEl>
                                          <p:spTgt spid="2970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9703"/>
                                        </p:tgtEl>
                                        <p:attrNameLst>
                                          <p:attrName>style.visibility</p:attrName>
                                        </p:attrNameLst>
                                      </p:cBhvr>
                                      <p:to>
                                        <p:strVal val="visible"/>
                                      </p:to>
                                    </p:set>
                                    <p:animEffect transition="in" filter="wipe(up)">
                                      <p:cBhvr>
                                        <p:cTn id="12" dur="500"/>
                                        <p:tgtEl>
                                          <p:spTgt spid="29703"/>
                                        </p:tgtEl>
                                      </p:cBhvr>
                                    </p:animEffect>
                                  </p:childTnLst>
                                </p:cTn>
                              </p:par>
                            </p:childTnLst>
                          </p:cTn>
                        </p:par>
                        <p:par>
                          <p:cTn id="13" fill="hold" nodeType="afterGroup">
                            <p:stCondLst>
                              <p:cond delay="500"/>
                            </p:stCondLst>
                            <p:childTnLst>
                              <p:par>
                                <p:cTn id="14" presetID="22" presetClass="entr" presetSubtype="4" fill="hold" grpId="0" nodeType="afterEffect">
                                  <p:stCondLst>
                                    <p:cond delay="0"/>
                                  </p:stCondLst>
                                  <p:childTnLst>
                                    <p:set>
                                      <p:cBhvr>
                                        <p:cTn id="15" dur="1" fill="hold">
                                          <p:stCondLst>
                                            <p:cond delay="0"/>
                                          </p:stCondLst>
                                        </p:cTn>
                                        <p:tgtEl>
                                          <p:spTgt spid="29704"/>
                                        </p:tgtEl>
                                        <p:attrNameLst>
                                          <p:attrName>style.visibility</p:attrName>
                                        </p:attrNameLst>
                                      </p:cBhvr>
                                      <p:to>
                                        <p:strVal val="visible"/>
                                      </p:to>
                                    </p:set>
                                    <p:animEffect transition="in" filter="wipe(down)">
                                      <p:cBhvr>
                                        <p:cTn id="16" dur="500"/>
                                        <p:tgtEl>
                                          <p:spTgt spid="2970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3" grpId="0" animBg="1" autoUpdateAnimBg="0"/>
      <p:bldP spid="29704"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noFill/>
          <a:ln/>
        </p:spPr>
        <p:txBody>
          <a:bodyPr/>
          <a:lstStyle/>
          <a:p>
            <a:r>
              <a:rPr lang="en-US"/>
              <a:t>Multiple-Row Subqueries</a:t>
            </a:r>
          </a:p>
        </p:txBody>
      </p:sp>
      <p:sp>
        <p:nvSpPr>
          <p:cNvPr id="31747" name="Rectangle 3"/>
          <p:cNvSpPr>
            <a:spLocks noGrp="1" noChangeArrowheads="1"/>
          </p:cNvSpPr>
          <p:nvPr>
            <p:ph type="body" idx="1"/>
          </p:nvPr>
        </p:nvSpPr>
        <p:spPr>
          <a:xfrm>
            <a:off x="860425" y="1262063"/>
            <a:ext cx="7673975" cy="1054100"/>
          </a:xfrm>
          <a:noFill/>
          <a:ln/>
        </p:spPr>
        <p:txBody>
          <a:bodyPr/>
          <a:lstStyle/>
          <a:p>
            <a:pPr lvl="1"/>
            <a:r>
              <a:rPr lang="en-US"/>
              <a:t>Return more than one row</a:t>
            </a:r>
          </a:p>
          <a:p>
            <a:pPr lvl="1"/>
            <a:r>
              <a:rPr lang="en-US"/>
              <a:t>Use multiple-row comparison operators</a:t>
            </a:r>
          </a:p>
        </p:txBody>
      </p:sp>
      <p:sp>
        <p:nvSpPr>
          <p:cNvPr id="31748" name="Rectangle 4"/>
          <p:cNvSpPr>
            <a:spLocks noChangeArrowheads="1"/>
          </p:cNvSpPr>
          <p:nvPr/>
        </p:nvSpPr>
        <p:spPr bwMode="auto">
          <a:xfrm>
            <a:off x="1331913" y="2560638"/>
            <a:ext cx="1939925" cy="2627312"/>
          </a:xfrm>
          <a:prstGeom prst="rect">
            <a:avLst/>
          </a:prstGeom>
          <a:solidFill>
            <a:srgbClr val="FFCC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algn="l"/>
            <a:r>
              <a:rPr lang="en-US" sz="1800">
                <a:solidFill>
                  <a:srgbClr val="000000"/>
                </a:solidFill>
                <a:latin typeface="Arial" pitchFamily="34" charset="0"/>
              </a:rPr>
              <a:t>Operator</a:t>
            </a:r>
          </a:p>
          <a:p>
            <a:pPr algn="l"/>
            <a:r>
              <a:rPr lang="en-US" sz="1800">
                <a:solidFill>
                  <a:srgbClr val="000000"/>
                </a:solidFill>
                <a:latin typeface="Arial" pitchFamily="34" charset="0"/>
              </a:rPr>
              <a:t>      IN</a:t>
            </a:r>
          </a:p>
          <a:p>
            <a:pPr algn="l"/>
            <a:r>
              <a:rPr lang="en-US" sz="1800">
                <a:solidFill>
                  <a:srgbClr val="000000"/>
                </a:solidFill>
                <a:latin typeface="Arial" pitchFamily="34" charset="0"/>
              </a:rPr>
              <a:t>     ANY</a:t>
            </a:r>
          </a:p>
          <a:p>
            <a:pPr algn="l"/>
            <a:r>
              <a:rPr lang="en-US" sz="1800">
                <a:solidFill>
                  <a:srgbClr val="000000"/>
                </a:solidFill>
                <a:latin typeface="Arial" pitchFamily="34" charset="0"/>
              </a:rPr>
              <a:t>  </a:t>
            </a:r>
          </a:p>
          <a:p>
            <a:pPr algn="l"/>
            <a:r>
              <a:rPr lang="en-US" sz="1800">
                <a:solidFill>
                  <a:srgbClr val="000000"/>
                </a:solidFill>
                <a:latin typeface="Arial" pitchFamily="34" charset="0"/>
              </a:rPr>
              <a:t>     ALL</a:t>
            </a:r>
          </a:p>
        </p:txBody>
      </p:sp>
      <p:sp>
        <p:nvSpPr>
          <p:cNvPr id="31749" name="Rectangle 5"/>
          <p:cNvSpPr>
            <a:spLocks noChangeArrowheads="1"/>
          </p:cNvSpPr>
          <p:nvPr/>
        </p:nvSpPr>
        <p:spPr bwMode="auto">
          <a:xfrm>
            <a:off x="3248025" y="2560638"/>
            <a:ext cx="4741863" cy="2627312"/>
          </a:xfrm>
          <a:prstGeom prst="rect">
            <a:avLst/>
          </a:prstGeom>
          <a:solidFill>
            <a:srgbClr val="FFCC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p>
            <a:pPr algn="l"/>
            <a:r>
              <a:rPr lang="en-US" sz="1800">
                <a:solidFill>
                  <a:srgbClr val="000000"/>
                </a:solidFill>
                <a:latin typeface="Arial" pitchFamily="34" charset="0"/>
              </a:rPr>
              <a:t>Meaning</a:t>
            </a:r>
          </a:p>
          <a:p>
            <a:pPr algn="l"/>
            <a:r>
              <a:rPr lang="en-US" sz="1800">
                <a:solidFill>
                  <a:srgbClr val="000000"/>
                </a:solidFill>
                <a:latin typeface="Arial" pitchFamily="34" charset="0"/>
              </a:rPr>
              <a:t>Equal to any member in the list</a:t>
            </a:r>
          </a:p>
          <a:p>
            <a:pPr algn="l"/>
            <a:r>
              <a:rPr lang="en-US" sz="1800">
                <a:solidFill>
                  <a:srgbClr val="000000"/>
                </a:solidFill>
                <a:latin typeface="Arial" pitchFamily="34" charset="0"/>
              </a:rPr>
              <a:t>Compare value to each value returned by the subquery </a:t>
            </a:r>
          </a:p>
          <a:p>
            <a:pPr algn="l"/>
            <a:r>
              <a:rPr lang="en-US" sz="1800">
                <a:solidFill>
                  <a:srgbClr val="000000"/>
                </a:solidFill>
                <a:latin typeface="Arial" pitchFamily="34" charset="0"/>
              </a:rPr>
              <a:t>Compare value to every value returned by the subquery </a:t>
            </a:r>
          </a:p>
        </p:txBody>
      </p:sp>
      <p:sp>
        <p:nvSpPr>
          <p:cNvPr id="31750" name="Line 6"/>
          <p:cNvSpPr>
            <a:spLocks noChangeShapeType="1"/>
          </p:cNvSpPr>
          <p:nvPr/>
        </p:nvSpPr>
        <p:spPr bwMode="auto">
          <a:xfrm flipV="1">
            <a:off x="1336675" y="2978150"/>
            <a:ext cx="6648450" cy="1588"/>
          </a:xfrm>
          <a:prstGeom prst="line">
            <a:avLst/>
          </a:prstGeom>
          <a:noFill/>
          <a:ln w="508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751" name="Line 7"/>
          <p:cNvSpPr>
            <a:spLocks noChangeShapeType="1"/>
          </p:cNvSpPr>
          <p:nvPr/>
        </p:nvSpPr>
        <p:spPr bwMode="auto">
          <a:xfrm>
            <a:off x="1336675" y="3470275"/>
            <a:ext cx="6642100" cy="0"/>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752" name="Line 8"/>
          <p:cNvSpPr>
            <a:spLocks noChangeShapeType="1"/>
          </p:cNvSpPr>
          <p:nvPr/>
        </p:nvSpPr>
        <p:spPr bwMode="auto">
          <a:xfrm>
            <a:off x="1336675" y="4384675"/>
            <a:ext cx="6642100" cy="0"/>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89AEEF-6E9B-D2FC-42D4-FC69885FA16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741D7FE-BEB8-279C-73B3-8B4E68FE09F4}"/>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6FB2BCB3-8D3C-30CD-B45D-598F37141CB4}"/>
              </a:ext>
            </a:extLst>
          </p:cNvPr>
          <p:cNvPicPr>
            <a:picLocks noChangeAspect="1"/>
          </p:cNvPicPr>
          <p:nvPr/>
        </p:nvPicPr>
        <p:blipFill>
          <a:blip r:embed="rId2"/>
          <a:stretch>
            <a:fillRect/>
          </a:stretch>
        </p:blipFill>
        <p:spPr>
          <a:xfrm>
            <a:off x="0" y="2269655"/>
            <a:ext cx="9144000" cy="2318689"/>
          </a:xfrm>
          <a:prstGeom prst="rect">
            <a:avLst/>
          </a:prstGeom>
        </p:spPr>
      </p:pic>
    </p:spTree>
    <p:extLst>
      <p:ext uri="{BB962C8B-B14F-4D97-AF65-F5344CB8AC3E}">
        <p14:creationId xmlns:p14="http://schemas.microsoft.com/office/powerpoint/2010/main" val="25482674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ChangeArrowheads="1"/>
          </p:cNvSpPr>
          <p:nvPr/>
        </p:nvSpPr>
        <p:spPr bwMode="blackWhite">
          <a:xfrm>
            <a:off x="939800" y="1857375"/>
            <a:ext cx="7480300" cy="2092325"/>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lIns="92075" tIns="46038" rIns="92075" bIns="46038" anchor="ctr"/>
          <a:lstStyle/>
          <a:p>
            <a:pPr algn="l">
              <a:lnSpc>
                <a:spcPct val="100000"/>
              </a:lnSpc>
              <a:spcBef>
                <a:spcPct val="0"/>
              </a:spcBef>
              <a:tabLst>
                <a:tab pos="1200150" algn="l"/>
                <a:tab pos="2571750" algn="l"/>
                <a:tab pos="3200400" algn="l"/>
              </a:tabLst>
            </a:pPr>
            <a:endParaRPr lang="en-US" sz="1800">
              <a:solidFill>
                <a:srgbClr val="000000"/>
              </a:solidFill>
              <a:latin typeface="Courier New" pitchFamily="49" charset="0"/>
            </a:endParaRPr>
          </a:p>
          <a:p>
            <a:pPr algn="l">
              <a:lnSpc>
                <a:spcPct val="100000"/>
              </a:lnSpc>
              <a:spcBef>
                <a:spcPct val="0"/>
              </a:spcBef>
              <a:tabLst>
                <a:tab pos="1200150" algn="l"/>
                <a:tab pos="2571750" algn="l"/>
                <a:tab pos="3200400" algn="l"/>
              </a:tabLst>
            </a:pPr>
            <a:endParaRPr lang="en-US" sz="1800">
              <a:solidFill>
                <a:srgbClr val="000000"/>
              </a:solidFill>
              <a:latin typeface="Courier New" pitchFamily="49" charset="0"/>
            </a:endParaRPr>
          </a:p>
        </p:txBody>
      </p:sp>
      <p:sp>
        <p:nvSpPr>
          <p:cNvPr id="33795" name="Rectangle 3"/>
          <p:cNvSpPr>
            <a:spLocks noGrp="1" noChangeArrowheads="1"/>
          </p:cNvSpPr>
          <p:nvPr>
            <p:ph type="title"/>
          </p:nvPr>
        </p:nvSpPr>
        <p:spPr>
          <a:noFill/>
          <a:ln/>
        </p:spPr>
        <p:txBody>
          <a:bodyPr/>
          <a:lstStyle/>
          <a:p>
            <a:r>
              <a:rPr lang="en-US"/>
              <a:t>Using ANY Operator </a:t>
            </a:r>
            <a:br>
              <a:rPr lang="en-US"/>
            </a:br>
            <a:r>
              <a:rPr lang="en-US"/>
              <a:t>in Multiple-Row Subqueries</a:t>
            </a:r>
          </a:p>
        </p:txBody>
      </p:sp>
      <p:grpSp>
        <p:nvGrpSpPr>
          <p:cNvPr id="33807" name="Group 15"/>
          <p:cNvGrpSpPr>
            <a:grpSpLocks/>
          </p:cNvGrpSpPr>
          <p:nvPr/>
        </p:nvGrpSpPr>
        <p:grpSpPr bwMode="auto">
          <a:xfrm>
            <a:off x="3557588" y="1973263"/>
            <a:ext cx="4722812" cy="1651000"/>
            <a:chOff x="2241" y="1243"/>
            <a:chExt cx="2975" cy="1040"/>
          </a:xfrm>
        </p:grpSpPr>
        <p:sp>
          <p:nvSpPr>
            <p:cNvPr id="33796" name="Rectangle 4"/>
            <p:cNvSpPr>
              <a:spLocks noChangeArrowheads="1"/>
            </p:cNvSpPr>
            <p:nvPr/>
          </p:nvSpPr>
          <p:spPr bwMode="ltGray">
            <a:xfrm>
              <a:off x="2605" y="1751"/>
              <a:ext cx="2611" cy="532"/>
            </a:xfrm>
            <a:prstGeom prst="rect">
              <a:avLst/>
            </a:prstGeom>
            <a:solidFill>
              <a:srgbClr val="FF99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33806" name="Group 14"/>
            <p:cNvGrpSpPr>
              <a:grpSpLocks/>
            </p:cNvGrpSpPr>
            <p:nvPr/>
          </p:nvGrpSpPr>
          <p:grpSpPr bwMode="auto">
            <a:xfrm>
              <a:off x="2241" y="1243"/>
              <a:ext cx="2040" cy="846"/>
              <a:chOff x="2241" y="1243"/>
              <a:chExt cx="2040" cy="846"/>
            </a:xfrm>
          </p:grpSpPr>
          <p:sp>
            <p:nvSpPr>
              <p:cNvPr id="33797" name="Rectangle 5"/>
              <p:cNvSpPr>
                <a:spLocks noChangeArrowheads="1"/>
              </p:cNvSpPr>
              <p:nvPr/>
            </p:nvSpPr>
            <p:spPr bwMode="ltGray">
              <a:xfrm>
                <a:off x="2241" y="1569"/>
                <a:ext cx="339" cy="207"/>
              </a:xfrm>
              <a:prstGeom prst="rect">
                <a:avLst/>
              </a:prstGeom>
              <a:solidFill>
                <a:srgbClr val="FF5050">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3798" name="Arc 6"/>
              <p:cNvSpPr>
                <a:spLocks/>
              </p:cNvSpPr>
              <p:nvPr/>
            </p:nvSpPr>
            <p:spPr bwMode="auto">
              <a:xfrm rot="10800000">
                <a:off x="2756" y="1706"/>
                <a:ext cx="1349" cy="383"/>
              </a:xfrm>
              <a:custGeom>
                <a:avLst/>
                <a:gdLst>
                  <a:gd name="G0" fmla="+- 21600 0 0"/>
                  <a:gd name="G1" fmla="+- 2588 0 0"/>
                  <a:gd name="G2" fmla="+- 21600 0 0"/>
                  <a:gd name="T0" fmla="*/ 27030 w 27030"/>
                  <a:gd name="T1" fmla="*/ 23494 h 24188"/>
                  <a:gd name="T2" fmla="*/ 156 w 27030"/>
                  <a:gd name="T3" fmla="*/ 0 h 24188"/>
                  <a:gd name="T4" fmla="*/ 21600 w 27030"/>
                  <a:gd name="T5" fmla="*/ 2588 h 24188"/>
                </a:gdLst>
                <a:ahLst/>
                <a:cxnLst>
                  <a:cxn ang="0">
                    <a:pos x="T0" y="T1"/>
                  </a:cxn>
                  <a:cxn ang="0">
                    <a:pos x="T2" y="T3"/>
                  </a:cxn>
                  <a:cxn ang="0">
                    <a:pos x="T4" y="T5"/>
                  </a:cxn>
                </a:cxnLst>
                <a:rect l="0" t="0" r="r" b="b"/>
                <a:pathLst>
                  <a:path w="27030" h="24188" fill="none" extrusionOk="0">
                    <a:moveTo>
                      <a:pt x="27030" y="23494"/>
                    </a:moveTo>
                    <a:cubicBezTo>
                      <a:pt x="25256" y="23954"/>
                      <a:pt x="23432" y="24187"/>
                      <a:pt x="21600" y="24188"/>
                    </a:cubicBezTo>
                    <a:cubicBezTo>
                      <a:pt x="9670" y="24188"/>
                      <a:pt x="0" y="14517"/>
                      <a:pt x="0" y="2588"/>
                    </a:cubicBezTo>
                    <a:cubicBezTo>
                      <a:pt x="-1" y="1722"/>
                      <a:pt x="51" y="858"/>
                      <a:pt x="155" y="-1"/>
                    </a:cubicBezTo>
                  </a:path>
                  <a:path w="27030" h="24188" stroke="0" extrusionOk="0">
                    <a:moveTo>
                      <a:pt x="27030" y="23494"/>
                    </a:moveTo>
                    <a:cubicBezTo>
                      <a:pt x="25256" y="23954"/>
                      <a:pt x="23432" y="24187"/>
                      <a:pt x="21600" y="24188"/>
                    </a:cubicBezTo>
                    <a:cubicBezTo>
                      <a:pt x="9670" y="24188"/>
                      <a:pt x="0" y="14517"/>
                      <a:pt x="0" y="2588"/>
                    </a:cubicBezTo>
                    <a:cubicBezTo>
                      <a:pt x="-1" y="1722"/>
                      <a:pt x="51" y="858"/>
                      <a:pt x="155" y="-1"/>
                    </a:cubicBezTo>
                    <a:lnTo>
                      <a:pt x="21600" y="2588"/>
                    </a:lnTo>
                    <a:close/>
                  </a:path>
                </a:pathLst>
              </a:custGeom>
              <a:noFill/>
              <a:ln w="25400" cap="rnd">
                <a:solidFill>
                  <a:srgbClr val="FF5050"/>
                </a:solidFill>
                <a:round/>
                <a:headEnd type="stealth" w="med" len="lg"/>
                <a:tailEnd type="none" w="sm" len="sm"/>
              </a:ln>
              <a:effectLst>
                <a:outerShdw dist="35921" dir="2700000" algn="ctr" rotWithShape="0">
                  <a:srgbClr val="000000"/>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33799" name="Rectangle 7"/>
              <p:cNvSpPr>
                <a:spLocks noChangeArrowheads="1"/>
              </p:cNvSpPr>
              <p:nvPr/>
            </p:nvSpPr>
            <p:spPr bwMode="auto">
              <a:xfrm>
                <a:off x="2847" y="1571"/>
                <a:ext cx="276" cy="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sz="1200">
                    <a:solidFill>
                      <a:srgbClr val="FF5050"/>
                    </a:solidFill>
                    <a:latin typeface="Arial" pitchFamily="34" charset="0"/>
                  </a:rPr>
                  <a:t>950</a:t>
                </a:r>
              </a:p>
            </p:txBody>
          </p:sp>
          <p:sp>
            <p:nvSpPr>
              <p:cNvPr id="33800" name="Arc 8"/>
              <p:cNvSpPr>
                <a:spLocks/>
              </p:cNvSpPr>
              <p:nvPr/>
            </p:nvSpPr>
            <p:spPr bwMode="auto">
              <a:xfrm rot="10800000">
                <a:off x="2757" y="1594"/>
                <a:ext cx="1389" cy="383"/>
              </a:xfrm>
              <a:custGeom>
                <a:avLst/>
                <a:gdLst>
                  <a:gd name="G0" fmla="+- 21600 0 0"/>
                  <a:gd name="G1" fmla="+- 2587 0 0"/>
                  <a:gd name="G2" fmla="+- 21600 0 0"/>
                  <a:gd name="T0" fmla="*/ 27030 w 27030"/>
                  <a:gd name="T1" fmla="*/ 23493 h 24187"/>
                  <a:gd name="T2" fmla="*/ 155 w 27030"/>
                  <a:gd name="T3" fmla="*/ 0 h 24187"/>
                  <a:gd name="T4" fmla="*/ 21600 w 27030"/>
                  <a:gd name="T5" fmla="*/ 2587 h 24187"/>
                </a:gdLst>
                <a:ahLst/>
                <a:cxnLst>
                  <a:cxn ang="0">
                    <a:pos x="T0" y="T1"/>
                  </a:cxn>
                  <a:cxn ang="0">
                    <a:pos x="T2" y="T3"/>
                  </a:cxn>
                  <a:cxn ang="0">
                    <a:pos x="T4" y="T5"/>
                  </a:cxn>
                </a:cxnLst>
                <a:rect l="0" t="0" r="r" b="b"/>
                <a:pathLst>
                  <a:path w="27030" h="24187" fill="none" extrusionOk="0">
                    <a:moveTo>
                      <a:pt x="27030" y="23493"/>
                    </a:moveTo>
                    <a:cubicBezTo>
                      <a:pt x="25256" y="23953"/>
                      <a:pt x="23432" y="24186"/>
                      <a:pt x="21600" y="24187"/>
                    </a:cubicBezTo>
                    <a:cubicBezTo>
                      <a:pt x="9670" y="24187"/>
                      <a:pt x="0" y="14516"/>
                      <a:pt x="0" y="2587"/>
                    </a:cubicBezTo>
                    <a:cubicBezTo>
                      <a:pt x="-1" y="1722"/>
                      <a:pt x="51" y="858"/>
                      <a:pt x="155" y="0"/>
                    </a:cubicBezTo>
                  </a:path>
                  <a:path w="27030" h="24187" stroke="0" extrusionOk="0">
                    <a:moveTo>
                      <a:pt x="27030" y="23493"/>
                    </a:moveTo>
                    <a:cubicBezTo>
                      <a:pt x="25256" y="23953"/>
                      <a:pt x="23432" y="24186"/>
                      <a:pt x="21600" y="24187"/>
                    </a:cubicBezTo>
                    <a:cubicBezTo>
                      <a:pt x="9670" y="24187"/>
                      <a:pt x="0" y="14516"/>
                      <a:pt x="0" y="2587"/>
                    </a:cubicBezTo>
                    <a:cubicBezTo>
                      <a:pt x="-1" y="1722"/>
                      <a:pt x="51" y="858"/>
                      <a:pt x="155" y="0"/>
                    </a:cubicBezTo>
                    <a:lnTo>
                      <a:pt x="21600" y="2587"/>
                    </a:lnTo>
                    <a:close/>
                  </a:path>
                </a:pathLst>
              </a:custGeom>
              <a:noFill/>
              <a:ln w="25400" cap="rnd">
                <a:solidFill>
                  <a:srgbClr val="FF5050"/>
                </a:solidFill>
                <a:round/>
                <a:headEnd type="stealth" w="med" len="lg"/>
                <a:tailEnd type="none" w="sm" len="sm"/>
              </a:ln>
              <a:effectLst>
                <a:outerShdw dist="35921" dir="2700000" algn="ctr" rotWithShape="0">
                  <a:srgbClr val="000000"/>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33801" name="Arc 9"/>
              <p:cNvSpPr>
                <a:spLocks/>
              </p:cNvSpPr>
              <p:nvPr/>
            </p:nvSpPr>
            <p:spPr bwMode="auto">
              <a:xfrm rot="10800000">
                <a:off x="2757" y="1482"/>
                <a:ext cx="1457" cy="383"/>
              </a:xfrm>
              <a:custGeom>
                <a:avLst/>
                <a:gdLst>
                  <a:gd name="G0" fmla="+- 21600 0 0"/>
                  <a:gd name="G1" fmla="+- 2587 0 0"/>
                  <a:gd name="G2" fmla="+- 21600 0 0"/>
                  <a:gd name="T0" fmla="*/ 27017 w 27017"/>
                  <a:gd name="T1" fmla="*/ 23497 h 24187"/>
                  <a:gd name="T2" fmla="*/ 156 w 27017"/>
                  <a:gd name="T3" fmla="*/ 0 h 24187"/>
                  <a:gd name="T4" fmla="*/ 21600 w 27017"/>
                  <a:gd name="T5" fmla="*/ 2587 h 24187"/>
                </a:gdLst>
                <a:ahLst/>
                <a:cxnLst>
                  <a:cxn ang="0">
                    <a:pos x="T0" y="T1"/>
                  </a:cxn>
                  <a:cxn ang="0">
                    <a:pos x="T2" y="T3"/>
                  </a:cxn>
                  <a:cxn ang="0">
                    <a:pos x="T4" y="T5"/>
                  </a:cxn>
                </a:cxnLst>
                <a:rect l="0" t="0" r="r" b="b"/>
                <a:pathLst>
                  <a:path w="27017" h="24187" fill="none" extrusionOk="0">
                    <a:moveTo>
                      <a:pt x="27016" y="23496"/>
                    </a:moveTo>
                    <a:cubicBezTo>
                      <a:pt x="25247" y="23955"/>
                      <a:pt x="23427" y="24186"/>
                      <a:pt x="21600" y="24187"/>
                    </a:cubicBezTo>
                    <a:cubicBezTo>
                      <a:pt x="9670" y="24187"/>
                      <a:pt x="0" y="14516"/>
                      <a:pt x="0" y="2587"/>
                    </a:cubicBezTo>
                    <a:cubicBezTo>
                      <a:pt x="-1" y="1722"/>
                      <a:pt x="51" y="858"/>
                      <a:pt x="155" y="-1"/>
                    </a:cubicBezTo>
                  </a:path>
                  <a:path w="27017" h="24187" stroke="0" extrusionOk="0">
                    <a:moveTo>
                      <a:pt x="27016" y="23496"/>
                    </a:moveTo>
                    <a:cubicBezTo>
                      <a:pt x="25247" y="23955"/>
                      <a:pt x="23427" y="24186"/>
                      <a:pt x="21600" y="24187"/>
                    </a:cubicBezTo>
                    <a:cubicBezTo>
                      <a:pt x="9670" y="24187"/>
                      <a:pt x="0" y="14516"/>
                      <a:pt x="0" y="2587"/>
                    </a:cubicBezTo>
                    <a:cubicBezTo>
                      <a:pt x="-1" y="1722"/>
                      <a:pt x="51" y="858"/>
                      <a:pt x="155" y="-1"/>
                    </a:cubicBezTo>
                    <a:lnTo>
                      <a:pt x="21600" y="2587"/>
                    </a:lnTo>
                    <a:close/>
                  </a:path>
                </a:pathLst>
              </a:custGeom>
              <a:noFill/>
              <a:ln w="25400" cap="rnd">
                <a:solidFill>
                  <a:srgbClr val="FF5050"/>
                </a:solidFill>
                <a:round/>
                <a:headEnd type="stealth" w="med" len="lg"/>
                <a:tailEnd type="none" w="sm" len="sm"/>
              </a:ln>
              <a:effectLst>
                <a:outerShdw dist="35921" dir="2700000" algn="ctr" rotWithShape="0">
                  <a:srgbClr val="000000"/>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33802" name="Arc 10"/>
              <p:cNvSpPr>
                <a:spLocks/>
              </p:cNvSpPr>
              <p:nvPr/>
            </p:nvSpPr>
            <p:spPr bwMode="auto">
              <a:xfrm rot="10800000">
                <a:off x="2757" y="1370"/>
                <a:ext cx="1524" cy="383"/>
              </a:xfrm>
              <a:custGeom>
                <a:avLst/>
                <a:gdLst>
                  <a:gd name="G0" fmla="+- 21600 0 0"/>
                  <a:gd name="G1" fmla="+- 2587 0 0"/>
                  <a:gd name="G2" fmla="+- 21600 0 0"/>
                  <a:gd name="T0" fmla="*/ 27008 w 27008"/>
                  <a:gd name="T1" fmla="*/ 23499 h 24187"/>
                  <a:gd name="T2" fmla="*/ 155 w 27008"/>
                  <a:gd name="T3" fmla="*/ 0 h 24187"/>
                  <a:gd name="T4" fmla="*/ 21600 w 27008"/>
                  <a:gd name="T5" fmla="*/ 2587 h 24187"/>
                </a:gdLst>
                <a:ahLst/>
                <a:cxnLst>
                  <a:cxn ang="0">
                    <a:pos x="T0" y="T1"/>
                  </a:cxn>
                  <a:cxn ang="0">
                    <a:pos x="T2" y="T3"/>
                  </a:cxn>
                  <a:cxn ang="0">
                    <a:pos x="T4" y="T5"/>
                  </a:cxn>
                </a:cxnLst>
                <a:rect l="0" t="0" r="r" b="b"/>
                <a:pathLst>
                  <a:path w="27008" h="24187" fill="none" extrusionOk="0">
                    <a:moveTo>
                      <a:pt x="27008" y="23499"/>
                    </a:moveTo>
                    <a:cubicBezTo>
                      <a:pt x="25241" y="23955"/>
                      <a:pt x="23424" y="24186"/>
                      <a:pt x="21600" y="24187"/>
                    </a:cubicBezTo>
                    <a:cubicBezTo>
                      <a:pt x="9670" y="24187"/>
                      <a:pt x="0" y="14516"/>
                      <a:pt x="0" y="2587"/>
                    </a:cubicBezTo>
                    <a:cubicBezTo>
                      <a:pt x="-1" y="1722"/>
                      <a:pt x="51" y="858"/>
                      <a:pt x="155" y="0"/>
                    </a:cubicBezTo>
                  </a:path>
                  <a:path w="27008" h="24187" stroke="0" extrusionOk="0">
                    <a:moveTo>
                      <a:pt x="27008" y="23499"/>
                    </a:moveTo>
                    <a:cubicBezTo>
                      <a:pt x="25241" y="23955"/>
                      <a:pt x="23424" y="24186"/>
                      <a:pt x="21600" y="24187"/>
                    </a:cubicBezTo>
                    <a:cubicBezTo>
                      <a:pt x="9670" y="24187"/>
                      <a:pt x="0" y="14516"/>
                      <a:pt x="0" y="2587"/>
                    </a:cubicBezTo>
                    <a:cubicBezTo>
                      <a:pt x="-1" y="1722"/>
                      <a:pt x="51" y="858"/>
                      <a:pt x="155" y="0"/>
                    </a:cubicBezTo>
                    <a:lnTo>
                      <a:pt x="21600" y="2587"/>
                    </a:lnTo>
                    <a:close/>
                  </a:path>
                </a:pathLst>
              </a:custGeom>
              <a:noFill/>
              <a:ln w="25400" cap="rnd">
                <a:solidFill>
                  <a:srgbClr val="FF5050"/>
                </a:solidFill>
                <a:round/>
                <a:headEnd type="stealth" w="med" len="lg"/>
                <a:tailEnd type="none" w="sm" len="sm"/>
              </a:ln>
              <a:effectLst>
                <a:outerShdw dist="35921" dir="2700000" algn="ctr" rotWithShape="0">
                  <a:srgbClr val="000000"/>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33803" name="Rectangle 11"/>
              <p:cNvSpPr>
                <a:spLocks noChangeArrowheads="1"/>
              </p:cNvSpPr>
              <p:nvPr/>
            </p:nvSpPr>
            <p:spPr bwMode="auto">
              <a:xfrm>
                <a:off x="2891" y="1459"/>
                <a:ext cx="276" cy="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sz="1200">
                    <a:solidFill>
                      <a:srgbClr val="FF5050"/>
                    </a:solidFill>
                    <a:latin typeface="Arial" pitchFamily="34" charset="0"/>
                  </a:rPr>
                  <a:t>800</a:t>
                </a:r>
              </a:p>
            </p:txBody>
          </p:sp>
          <p:sp>
            <p:nvSpPr>
              <p:cNvPr id="33804" name="Rectangle 12"/>
              <p:cNvSpPr>
                <a:spLocks noChangeArrowheads="1"/>
              </p:cNvSpPr>
              <p:nvPr/>
            </p:nvSpPr>
            <p:spPr bwMode="auto">
              <a:xfrm>
                <a:off x="2908" y="1347"/>
                <a:ext cx="330" cy="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sz="1200">
                    <a:solidFill>
                      <a:srgbClr val="FF5050"/>
                    </a:solidFill>
                    <a:latin typeface="Arial" pitchFamily="34" charset="0"/>
                  </a:rPr>
                  <a:t>1100</a:t>
                </a:r>
              </a:p>
            </p:txBody>
          </p:sp>
          <p:sp>
            <p:nvSpPr>
              <p:cNvPr id="33805" name="Rectangle 13"/>
              <p:cNvSpPr>
                <a:spLocks noChangeArrowheads="1"/>
              </p:cNvSpPr>
              <p:nvPr/>
            </p:nvSpPr>
            <p:spPr bwMode="auto">
              <a:xfrm>
                <a:off x="3228" y="1243"/>
                <a:ext cx="330" cy="1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sz="1200">
                    <a:solidFill>
                      <a:srgbClr val="FF5050"/>
                    </a:solidFill>
                    <a:latin typeface="Arial" pitchFamily="34" charset="0"/>
                  </a:rPr>
                  <a:t>1300</a:t>
                </a:r>
              </a:p>
            </p:txBody>
          </p:sp>
        </p:grpSp>
      </p:grpSp>
      <p:sp>
        <p:nvSpPr>
          <p:cNvPr id="33808" name="Rectangle 16"/>
          <p:cNvSpPr>
            <a:spLocks noChangeArrowheads="1"/>
          </p:cNvSpPr>
          <p:nvPr/>
        </p:nvSpPr>
        <p:spPr bwMode="blackWhite">
          <a:xfrm>
            <a:off x="933450" y="4238625"/>
            <a:ext cx="7486650" cy="1190625"/>
          </a:xfrm>
          <a:prstGeom prst="rect">
            <a:avLst/>
          </a:prstGeom>
          <a:solidFill>
            <a:srgbClr val="DDDDDD"/>
          </a:solidFill>
          <a:ln w="25400">
            <a:solidFill>
              <a:srgbClr val="000000"/>
            </a:solidFill>
            <a:miter lim="800000"/>
            <a:headEnd/>
            <a:tailEnd/>
          </a:ln>
          <a:effectLst>
            <a:outerShdw dist="89803" dir="2700000" algn="ctr" rotWithShape="0">
              <a:srgbClr val="000000"/>
            </a:outerShdw>
          </a:effectLst>
        </p:spPr>
        <p:txBody>
          <a:bodyPr wrap="none" lIns="92075" tIns="46038" rIns="92075" bIns="46038" anchor="ctr"/>
          <a:lstStyle/>
          <a:p>
            <a:pPr algn="l">
              <a:lnSpc>
                <a:spcPct val="100000"/>
              </a:lnSpc>
              <a:spcBef>
                <a:spcPct val="0"/>
              </a:spcBef>
              <a:tabLst>
                <a:tab pos="1200150" algn="l"/>
                <a:tab pos="2571750" algn="l"/>
              </a:tabLst>
            </a:pPr>
            <a:r>
              <a:rPr lang="en-US" sz="1800">
                <a:solidFill>
                  <a:srgbClr val="000000"/>
                </a:solidFill>
                <a:latin typeface="Courier New" pitchFamily="49" charset="0"/>
              </a:rPr>
              <a:t>    EMPNO ENAME      JOB</a:t>
            </a:r>
          </a:p>
          <a:p>
            <a:pPr algn="l">
              <a:lnSpc>
                <a:spcPct val="100000"/>
              </a:lnSpc>
              <a:spcBef>
                <a:spcPct val="0"/>
              </a:spcBef>
              <a:tabLst>
                <a:tab pos="1200150" algn="l"/>
                <a:tab pos="2571750" algn="l"/>
              </a:tabLst>
            </a:pPr>
            <a:r>
              <a:rPr lang="en-US" sz="1800">
                <a:solidFill>
                  <a:srgbClr val="000000"/>
                </a:solidFill>
                <a:latin typeface="Courier New" pitchFamily="49" charset="0"/>
              </a:rPr>
              <a:t>--------- ---------- ---------</a:t>
            </a:r>
          </a:p>
          <a:p>
            <a:pPr algn="l">
              <a:lnSpc>
                <a:spcPct val="100000"/>
              </a:lnSpc>
              <a:spcBef>
                <a:spcPct val="0"/>
              </a:spcBef>
              <a:tabLst>
                <a:tab pos="1200150" algn="l"/>
                <a:tab pos="2571750" algn="l"/>
              </a:tabLst>
            </a:pPr>
            <a:r>
              <a:rPr lang="en-US" sz="1800">
                <a:solidFill>
                  <a:srgbClr val="000000"/>
                </a:solidFill>
                <a:latin typeface="Courier New" pitchFamily="49" charset="0"/>
              </a:rPr>
              <a:t>     7654 MARTIN     SALESMAN </a:t>
            </a:r>
          </a:p>
          <a:p>
            <a:pPr algn="l">
              <a:lnSpc>
                <a:spcPct val="100000"/>
              </a:lnSpc>
              <a:spcBef>
                <a:spcPct val="0"/>
              </a:spcBef>
              <a:tabLst>
                <a:tab pos="1200150" algn="l"/>
                <a:tab pos="2571750" algn="l"/>
              </a:tabLst>
            </a:pPr>
            <a:r>
              <a:rPr lang="en-US" sz="1800">
                <a:solidFill>
                  <a:srgbClr val="000000"/>
                </a:solidFill>
                <a:latin typeface="Courier New" pitchFamily="49" charset="0"/>
              </a:rPr>
              <a:t>     7521 WARD       SALESMAN </a:t>
            </a:r>
          </a:p>
        </p:txBody>
      </p:sp>
      <p:sp>
        <p:nvSpPr>
          <p:cNvPr id="33809" name="Rectangle 17"/>
          <p:cNvSpPr>
            <a:spLocks noChangeArrowheads="1"/>
          </p:cNvSpPr>
          <p:nvPr/>
        </p:nvSpPr>
        <p:spPr bwMode="blackWhite">
          <a:xfrm>
            <a:off x="920750" y="1844675"/>
            <a:ext cx="7432675" cy="21177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l">
              <a:lnSpc>
                <a:spcPct val="100000"/>
              </a:lnSpc>
              <a:spcBef>
                <a:spcPct val="0"/>
              </a:spcBef>
              <a:tabLst>
                <a:tab pos="1200150" algn="l"/>
                <a:tab pos="2571750" algn="l"/>
                <a:tab pos="3200400" algn="l"/>
              </a:tabLst>
            </a:pPr>
            <a:r>
              <a:rPr lang="en-US" sz="1800">
                <a:solidFill>
                  <a:srgbClr val="000000"/>
                </a:solidFill>
                <a:latin typeface="Courier New" pitchFamily="49" charset="0"/>
              </a:rPr>
              <a:t>SQL&gt; SELECT  empno, ename, job</a:t>
            </a:r>
          </a:p>
          <a:p>
            <a:pPr algn="l">
              <a:lnSpc>
                <a:spcPct val="100000"/>
              </a:lnSpc>
              <a:spcBef>
                <a:spcPct val="0"/>
              </a:spcBef>
              <a:tabLst>
                <a:tab pos="1200150" algn="l"/>
                <a:tab pos="2571750" algn="l"/>
                <a:tab pos="3200400" algn="l"/>
              </a:tabLst>
            </a:pPr>
            <a:r>
              <a:rPr lang="en-US" sz="1800">
                <a:solidFill>
                  <a:srgbClr val="000000"/>
                </a:solidFill>
                <a:latin typeface="Courier New" pitchFamily="49" charset="0"/>
              </a:rPr>
              <a:t>  2  FROM    emp</a:t>
            </a:r>
          </a:p>
          <a:p>
            <a:pPr algn="l">
              <a:lnSpc>
                <a:spcPct val="100000"/>
              </a:lnSpc>
              <a:spcBef>
                <a:spcPct val="0"/>
              </a:spcBef>
              <a:tabLst>
                <a:tab pos="1200150" algn="l"/>
                <a:tab pos="2571750" algn="l"/>
                <a:tab pos="3200400" algn="l"/>
              </a:tabLst>
            </a:pPr>
            <a:r>
              <a:rPr lang="en-US" sz="1800">
                <a:solidFill>
                  <a:srgbClr val="000000"/>
                </a:solidFill>
                <a:latin typeface="Courier New" pitchFamily="49" charset="0"/>
              </a:rPr>
              <a:t>  3  WHERE   sal &lt; ANY </a:t>
            </a:r>
          </a:p>
          <a:p>
            <a:pPr algn="l">
              <a:lnSpc>
                <a:spcPct val="100000"/>
              </a:lnSpc>
              <a:spcBef>
                <a:spcPct val="0"/>
              </a:spcBef>
              <a:tabLst>
                <a:tab pos="1200150" algn="l"/>
                <a:tab pos="2571750" algn="l"/>
                <a:tab pos="3200400" algn="l"/>
              </a:tabLst>
            </a:pPr>
            <a:r>
              <a:rPr lang="en-US" sz="1800">
                <a:solidFill>
                  <a:srgbClr val="000000"/>
                </a:solidFill>
                <a:latin typeface="Courier New" pitchFamily="49" charset="0"/>
              </a:rPr>
              <a:t>  4			(SELECT	sal</a:t>
            </a:r>
          </a:p>
          <a:p>
            <a:pPr algn="l">
              <a:lnSpc>
                <a:spcPct val="100000"/>
              </a:lnSpc>
              <a:spcBef>
                <a:spcPct val="0"/>
              </a:spcBef>
              <a:tabLst>
                <a:tab pos="1200150" algn="l"/>
                <a:tab pos="2571750" algn="l"/>
                <a:tab pos="3200400" algn="l"/>
              </a:tabLst>
            </a:pPr>
            <a:r>
              <a:rPr lang="en-US" sz="1800">
                <a:solidFill>
                  <a:srgbClr val="000000"/>
                </a:solidFill>
                <a:latin typeface="Courier New" pitchFamily="49" charset="0"/>
              </a:rPr>
              <a:t>  5 			FROM	emp</a:t>
            </a:r>
          </a:p>
          <a:p>
            <a:pPr algn="l">
              <a:lnSpc>
                <a:spcPct val="100000"/>
              </a:lnSpc>
              <a:spcBef>
                <a:spcPct val="0"/>
              </a:spcBef>
              <a:tabLst>
                <a:tab pos="1200150" algn="l"/>
                <a:tab pos="2571750" algn="l"/>
                <a:tab pos="3200400" algn="l"/>
              </a:tabLst>
            </a:pPr>
            <a:r>
              <a:rPr lang="en-US" sz="1800">
                <a:solidFill>
                  <a:srgbClr val="000000"/>
                </a:solidFill>
                <a:latin typeface="Courier New" pitchFamily="49" charset="0"/>
              </a:rPr>
              <a:t>  6			WHERE	job = 'CLERK')</a:t>
            </a:r>
          </a:p>
          <a:p>
            <a:pPr algn="l">
              <a:lnSpc>
                <a:spcPct val="100000"/>
              </a:lnSpc>
              <a:spcBef>
                <a:spcPct val="0"/>
              </a:spcBef>
              <a:tabLst>
                <a:tab pos="1200150" algn="l"/>
                <a:tab pos="2571750" algn="l"/>
                <a:tab pos="3200400" algn="l"/>
              </a:tabLst>
            </a:pPr>
            <a:r>
              <a:rPr lang="en-US" sz="1800">
                <a:solidFill>
                  <a:srgbClr val="000000"/>
                </a:solidFill>
                <a:latin typeface="Courier New" pitchFamily="49" charset="0"/>
              </a:rPr>
              <a:t>  7  AND	    job &lt;&gt; 'CLERK';</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3807"/>
                                        </p:tgtEl>
                                        <p:attrNameLst>
                                          <p:attrName>style.visibility</p:attrName>
                                        </p:attrNameLst>
                                      </p:cBhvr>
                                      <p:to>
                                        <p:strVal val="visible"/>
                                      </p:to>
                                    </p:set>
                                    <p:animEffect transition="in" filter="wipe(up)">
                                      <p:cBhvr>
                                        <p:cTn id="7" dur="500"/>
                                        <p:tgtEl>
                                          <p:spTgt spid="3380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3808"/>
                                        </p:tgtEl>
                                        <p:attrNameLst>
                                          <p:attrName>style.visibility</p:attrName>
                                        </p:attrNameLst>
                                      </p:cBhvr>
                                      <p:to>
                                        <p:strVal val="visible"/>
                                      </p:to>
                                    </p:set>
                                    <p:animEffect transition="in" filter="wipe(up)">
                                      <p:cBhvr>
                                        <p:cTn id="12" dur="500"/>
                                        <p:tgtEl>
                                          <p:spTgt spid="338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808" grpId="0" animBg="1"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ChangeArrowheads="1"/>
          </p:cNvSpPr>
          <p:nvPr/>
        </p:nvSpPr>
        <p:spPr bwMode="blackWhite">
          <a:xfrm>
            <a:off x="946150" y="1890713"/>
            <a:ext cx="7473950" cy="1849437"/>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lIns="92075" tIns="46038" rIns="92075" bIns="46038" anchor="ctr"/>
          <a:lstStyle/>
          <a:p>
            <a:pPr algn="l">
              <a:lnSpc>
                <a:spcPct val="100000"/>
              </a:lnSpc>
              <a:spcBef>
                <a:spcPct val="0"/>
              </a:spcBef>
              <a:tabLst>
                <a:tab pos="1200150" algn="l"/>
                <a:tab pos="2571750" algn="l"/>
              </a:tabLst>
            </a:pPr>
            <a:endParaRPr lang="en-US" sz="1800">
              <a:solidFill>
                <a:srgbClr val="000000"/>
              </a:solidFill>
              <a:latin typeface="Courier New" pitchFamily="49" charset="0"/>
            </a:endParaRPr>
          </a:p>
          <a:p>
            <a:pPr algn="l">
              <a:lnSpc>
                <a:spcPct val="100000"/>
              </a:lnSpc>
              <a:spcBef>
                <a:spcPct val="0"/>
              </a:spcBef>
              <a:tabLst>
                <a:tab pos="1200150" algn="l"/>
                <a:tab pos="2571750" algn="l"/>
              </a:tabLst>
            </a:pPr>
            <a:endParaRPr lang="en-US" sz="1800">
              <a:solidFill>
                <a:srgbClr val="000000"/>
              </a:solidFill>
              <a:latin typeface="Courier New" pitchFamily="49" charset="0"/>
            </a:endParaRPr>
          </a:p>
        </p:txBody>
      </p:sp>
      <p:sp>
        <p:nvSpPr>
          <p:cNvPr id="35843" name="Rectangle 3"/>
          <p:cNvSpPr>
            <a:spLocks noGrp="1" noChangeArrowheads="1"/>
          </p:cNvSpPr>
          <p:nvPr>
            <p:ph type="title"/>
          </p:nvPr>
        </p:nvSpPr>
        <p:spPr>
          <a:noFill/>
          <a:ln/>
        </p:spPr>
        <p:txBody>
          <a:bodyPr/>
          <a:lstStyle/>
          <a:p>
            <a:r>
              <a:rPr lang="en-US"/>
              <a:t>Using ALL Operator </a:t>
            </a:r>
            <a:br>
              <a:rPr lang="en-US"/>
            </a:br>
            <a:r>
              <a:rPr lang="en-US"/>
              <a:t>in Multiple-Row Subqueries</a:t>
            </a:r>
          </a:p>
        </p:txBody>
      </p:sp>
      <p:grpSp>
        <p:nvGrpSpPr>
          <p:cNvPr id="35853" name="Group 13"/>
          <p:cNvGrpSpPr>
            <a:grpSpLocks/>
          </p:cNvGrpSpPr>
          <p:nvPr/>
        </p:nvGrpSpPr>
        <p:grpSpPr bwMode="auto">
          <a:xfrm>
            <a:off x="3536950" y="2090738"/>
            <a:ext cx="4697413" cy="1584325"/>
            <a:chOff x="2228" y="1317"/>
            <a:chExt cx="2959" cy="998"/>
          </a:xfrm>
        </p:grpSpPr>
        <p:sp>
          <p:nvSpPr>
            <p:cNvPr id="35844" name="Rectangle 4"/>
            <p:cNvSpPr>
              <a:spLocks noChangeArrowheads="1"/>
            </p:cNvSpPr>
            <p:nvPr/>
          </p:nvSpPr>
          <p:spPr bwMode="ltGray">
            <a:xfrm>
              <a:off x="2336" y="1783"/>
              <a:ext cx="2851" cy="532"/>
            </a:xfrm>
            <a:prstGeom prst="rect">
              <a:avLst/>
            </a:prstGeom>
            <a:solidFill>
              <a:srgbClr val="FF99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35852" name="Group 12"/>
            <p:cNvGrpSpPr>
              <a:grpSpLocks/>
            </p:cNvGrpSpPr>
            <p:nvPr/>
          </p:nvGrpSpPr>
          <p:grpSpPr bwMode="auto">
            <a:xfrm>
              <a:off x="2228" y="1317"/>
              <a:ext cx="2365" cy="736"/>
              <a:chOff x="2228" y="1317"/>
              <a:chExt cx="2365" cy="736"/>
            </a:xfrm>
          </p:grpSpPr>
          <p:sp>
            <p:nvSpPr>
              <p:cNvPr id="35845" name="Rectangle 5"/>
              <p:cNvSpPr>
                <a:spLocks noChangeArrowheads="1"/>
              </p:cNvSpPr>
              <p:nvPr/>
            </p:nvSpPr>
            <p:spPr bwMode="ltGray">
              <a:xfrm>
                <a:off x="2228" y="1573"/>
                <a:ext cx="339" cy="207"/>
              </a:xfrm>
              <a:prstGeom prst="rect">
                <a:avLst/>
              </a:prstGeom>
              <a:solidFill>
                <a:srgbClr val="FF5050">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846" name="Arc 6"/>
              <p:cNvSpPr>
                <a:spLocks/>
              </p:cNvSpPr>
              <p:nvPr/>
            </p:nvSpPr>
            <p:spPr bwMode="auto">
              <a:xfrm rot="10800000">
                <a:off x="2728" y="1670"/>
                <a:ext cx="1775" cy="383"/>
              </a:xfrm>
              <a:custGeom>
                <a:avLst/>
                <a:gdLst>
                  <a:gd name="G0" fmla="+- 21600 0 0"/>
                  <a:gd name="G1" fmla="+- 2586 0 0"/>
                  <a:gd name="G2" fmla="+- 21600 0 0"/>
                  <a:gd name="T0" fmla="*/ 27022 w 27022"/>
                  <a:gd name="T1" fmla="*/ 23494 h 24186"/>
                  <a:gd name="T2" fmla="*/ 155 w 27022"/>
                  <a:gd name="T3" fmla="*/ 0 h 24186"/>
                  <a:gd name="T4" fmla="*/ 21600 w 27022"/>
                  <a:gd name="T5" fmla="*/ 2586 h 24186"/>
                </a:gdLst>
                <a:ahLst/>
                <a:cxnLst>
                  <a:cxn ang="0">
                    <a:pos x="T0" y="T1"/>
                  </a:cxn>
                  <a:cxn ang="0">
                    <a:pos x="T2" y="T3"/>
                  </a:cxn>
                  <a:cxn ang="0">
                    <a:pos x="T4" y="T5"/>
                  </a:cxn>
                </a:cxnLst>
                <a:rect l="0" t="0" r="r" b="b"/>
                <a:pathLst>
                  <a:path w="27022" h="24186" fill="none" extrusionOk="0">
                    <a:moveTo>
                      <a:pt x="27022" y="23494"/>
                    </a:moveTo>
                    <a:cubicBezTo>
                      <a:pt x="25251" y="23953"/>
                      <a:pt x="23429" y="24185"/>
                      <a:pt x="21600" y="24186"/>
                    </a:cubicBezTo>
                    <a:cubicBezTo>
                      <a:pt x="9670" y="24186"/>
                      <a:pt x="0" y="14515"/>
                      <a:pt x="0" y="2586"/>
                    </a:cubicBezTo>
                    <a:cubicBezTo>
                      <a:pt x="-1" y="1721"/>
                      <a:pt x="51" y="858"/>
                      <a:pt x="155" y="0"/>
                    </a:cubicBezTo>
                  </a:path>
                  <a:path w="27022" h="24186" stroke="0" extrusionOk="0">
                    <a:moveTo>
                      <a:pt x="27022" y="23494"/>
                    </a:moveTo>
                    <a:cubicBezTo>
                      <a:pt x="25251" y="23953"/>
                      <a:pt x="23429" y="24185"/>
                      <a:pt x="21600" y="24186"/>
                    </a:cubicBezTo>
                    <a:cubicBezTo>
                      <a:pt x="9670" y="24186"/>
                      <a:pt x="0" y="14515"/>
                      <a:pt x="0" y="2586"/>
                    </a:cubicBezTo>
                    <a:cubicBezTo>
                      <a:pt x="-1" y="1721"/>
                      <a:pt x="51" y="858"/>
                      <a:pt x="155" y="0"/>
                    </a:cubicBezTo>
                    <a:lnTo>
                      <a:pt x="21600" y="2586"/>
                    </a:lnTo>
                    <a:close/>
                  </a:path>
                </a:pathLst>
              </a:custGeom>
              <a:noFill/>
              <a:ln w="25400" cap="rnd">
                <a:solidFill>
                  <a:srgbClr val="FF5050"/>
                </a:solidFill>
                <a:round/>
                <a:headEnd type="stealth" w="med" len="lg"/>
                <a:tailEnd type="none" w="sm" len="sm"/>
              </a:ln>
              <a:effectLst>
                <a:outerShdw dist="35921" dir="2700000" algn="ctr" rotWithShape="0">
                  <a:srgbClr val="000000"/>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35847" name="Rectangle 7"/>
              <p:cNvSpPr>
                <a:spLocks noChangeArrowheads="1"/>
              </p:cNvSpPr>
              <p:nvPr/>
            </p:nvSpPr>
            <p:spPr bwMode="auto">
              <a:xfrm>
                <a:off x="2752" y="1547"/>
                <a:ext cx="494"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sz="1000">
                    <a:solidFill>
                      <a:srgbClr val="FF5050"/>
                    </a:solidFill>
                    <a:latin typeface="Arial" pitchFamily="34" charset="0"/>
                  </a:rPr>
                  <a:t>2916.6667</a:t>
                </a:r>
              </a:p>
            </p:txBody>
          </p:sp>
          <p:sp>
            <p:nvSpPr>
              <p:cNvPr id="35848" name="Arc 8"/>
              <p:cNvSpPr>
                <a:spLocks/>
              </p:cNvSpPr>
              <p:nvPr/>
            </p:nvSpPr>
            <p:spPr bwMode="auto">
              <a:xfrm rot="10800000">
                <a:off x="2728" y="1558"/>
                <a:ext cx="1810" cy="383"/>
              </a:xfrm>
              <a:custGeom>
                <a:avLst/>
                <a:gdLst>
                  <a:gd name="G0" fmla="+- 21600 0 0"/>
                  <a:gd name="G1" fmla="+- 2589 0 0"/>
                  <a:gd name="G2" fmla="+- 21600 0 0"/>
                  <a:gd name="T0" fmla="*/ 27020 w 27020"/>
                  <a:gd name="T1" fmla="*/ 23498 h 24189"/>
                  <a:gd name="T2" fmla="*/ 156 w 27020"/>
                  <a:gd name="T3" fmla="*/ 0 h 24189"/>
                  <a:gd name="T4" fmla="*/ 21600 w 27020"/>
                  <a:gd name="T5" fmla="*/ 2589 h 24189"/>
                </a:gdLst>
                <a:ahLst/>
                <a:cxnLst>
                  <a:cxn ang="0">
                    <a:pos x="T0" y="T1"/>
                  </a:cxn>
                  <a:cxn ang="0">
                    <a:pos x="T2" y="T3"/>
                  </a:cxn>
                  <a:cxn ang="0">
                    <a:pos x="T4" y="T5"/>
                  </a:cxn>
                </a:cxnLst>
                <a:rect l="0" t="0" r="r" b="b"/>
                <a:pathLst>
                  <a:path w="27020" h="24189" fill="none" extrusionOk="0">
                    <a:moveTo>
                      <a:pt x="27019" y="23497"/>
                    </a:moveTo>
                    <a:cubicBezTo>
                      <a:pt x="25249" y="23956"/>
                      <a:pt x="23428" y="24188"/>
                      <a:pt x="21600" y="24189"/>
                    </a:cubicBezTo>
                    <a:cubicBezTo>
                      <a:pt x="9670" y="24189"/>
                      <a:pt x="0" y="14518"/>
                      <a:pt x="0" y="2589"/>
                    </a:cubicBezTo>
                    <a:cubicBezTo>
                      <a:pt x="-1" y="1723"/>
                      <a:pt x="52" y="859"/>
                      <a:pt x="155" y="-1"/>
                    </a:cubicBezTo>
                  </a:path>
                  <a:path w="27020" h="24189" stroke="0" extrusionOk="0">
                    <a:moveTo>
                      <a:pt x="27019" y="23497"/>
                    </a:moveTo>
                    <a:cubicBezTo>
                      <a:pt x="25249" y="23956"/>
                      <a:pt x="23428" y="24188"/>
                      <a:pt x="21600" y="24189"/>
                    </a:cubicBezTo>
                    <a:cubicBezTo>
                      <a:pt x="9670" y="24189"/>
                      <a:pt x="0" y="14518"/>
                      <a:pt x="0" y="2589"/>
                    </a:cubicBezTo>
                    <a:cubicBezTo>
                      <a:pt x="-1" y="1723"/>
                      <a:pt x="52" y="859"/>
                      <a:pt x="155" y="-1"/>
                    </a:cubicBezTo>
                    <a:lnTo>
                      <a:pt x="21600" y="2589"/>
                    </a:lnTo>
                    <a:close/>
                  </a:path>
                </a:pathLst>
              </a:custGeom>
              <a:noFill/>
              <a:ln w="25400" cap="rnd">
                <a:solidFill>
                  <a:srgbClr val="FF5050"/>
                </a:solidFill>
                <a:round/>
                <a:headEnd type="stealth" w="med" len="lg"/>
                <a:tailEnd type="none" w="sm" len="sm"/>
              </a:ln>
              <a:effectLst>
                <a:outerShdw dist="35921" dir="2700000" algn="ctr" rotWithShape="0">
                  <a:srgbClr val="000000"/>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35849" name="Arc 9"/>
              <p:cNvSpPr>
                <a:spLocks/>
              </p:cNvSpPr>
              <p:nvPr/>
            </p:nvSpPr>
            <p:spPr bwMode="auto">
              <a:xfrm rot="10800000">
                <a:off x="2728" y="1446"/>
                <a:ext cx="1865" cy="383"/>
              </a:xfrm>
              <a:custGeom>
                <a:avLst/>
                <a:gdLst>
                  <a:gd name="G0" fmla="+- 21600 0 0"/>
                  <a:gd name="G1" fmla="+- 2587 0 0"/>
                  <a:gd name="G2" fmla="+- 21600 0 0"/>
                  <a:gd name="T0" fmla="*/ 27021 w 27021"/>
                  <a:gd name="T1" fmla="*/ 23496 h 24187"/>
                  <a:gd name="T2" fmla="*/ 156 w 27021"/>
                  <a:gd name="T3" fmla="*/ 0 h 24187"/>
                  <a:gd name="T4" fmla="*/ 21600 w 27021"/>
                  <a:gd name="T5" fmla="*/ 2587 h 24187"/>
                </a:gdLst>
                <a:ahLst/>
                <a:cxnLst>
                  <a:cxn ang="0">
                    <a:pos x="T0" y="T1"/>
                  </a:cxn>
                  <a:cxn ang="0">
                    <a:pos x="T2" y="T3"/>
                  </a:cxn>
                  <a:cxn ang="0">
                    <a:pos x="T4" y="T5"/>
                  </a:cxn>
                </a:cxnLst>
                <a:rect l="0" t="0" r="r" b="b"/>
                <a:pathLst>
                  <a:path w="27021" h="24187" fill="none" extrusionOk="0">
                    <a:moveTo>
                      <a:pt x="27020" y="23495"/>
                    </a:moveTo>
                    <a:cubicBezTo>
                      <a:pt x="25250" y="23954"/>
                      <a:pt x="23428" y="24186"/>
                      <a:pt x="21600" y="24187"/>
                    </a:cubicBezTo>
                    <a:cubicBezTo>
                      <a:pt x="9670" y="24187"/>
                      <a:pt x="0" y="14516"/>
                      <a:pt x="0" y="2587"/>
                    </a:cubicBezTo>
                    <a:cubicBezTo>
                      <a:pt x="-1" y="1722"/>
                      <a:pt x="51" y="858"/>
                      <a:pt x="155" y="-1"/>
                    </a:cubicBezTo>
                  </a:path>
                  <a:path w="27021" h="24187" stroke="0" extrusionOk="0">
                    <a:moveTo>
                      <a:pt x="27020" y="23495"/>
                    </a:moveTo>
                    <a:cubicBezTo>
                      <a:pt x="25250" y="23954"/>
                      <a:pt x="23428" y="24186"/>
                      <a:pt x="21600" y="24187"/>
                    </a:cubicBezTo>
                    <a:cubicBezTo>
                      <a:pt x="9670" y="24187"/>
                      <a:pt x="0" y="14516"/>
                      <a:pt x="0" y="2587"/>
                    </a:cubicBezTo>
                    <a:cubicBezTo>
                      <a:pt x="-1" y="1722"/>
                      <a:pt x="51" y="858"/>
                      <a:pt x="155" y="-1"/>
                    </a:cubicBezTo>
                    <a:lnTo>
                      <a:pt x="21600" y="2587"/>
                    </a:lnTo>
                    <a:close/>
                  </a:path>
                </a:pathLst>
              </a:custGeom>
              <a:noFill/>
              <a:ln w="25400" cap="rnd">
                <a:solidFill>
                  <a:srgbClr val="FF5050"/>
                </a:solidFill>
                <a:round/>
                <a:headEnd type="stealth" w="med" len="lg"/>
                <a:tailEnd type="none" w="sm" len="sm"/>
              </a:ln>
              <a:effectLst>
                <a:outerShdw dist="17961" dir="2700000" algn="ctr" rotWithShape="0">
                  <a:srgbClr val="000000"/>
                </a:outerShdw>
              </a:effectLst>
              <a:extLst>
                <a:ext uri="{909E8E84-426E-40DD-AFC4-6F175D3DCCD1}">
                  <a14:hiddenFill xmlns:a14="http://schemas.microsoft.com/office/drawing/2010/main">
                    <a:solidFill>
                      <a:schemeClr val="accent1"/>
                    </a:solidFill>
                  </a14:hiddenFill>
                </a:ext>
              </a:extLst>
            </p:spPr>
            <p:txBody>
              <a:bodyPr/>
              <a:lstStyle/>
              <a:p>
                <a:endParaRPr lang="en-US"/>
              </a:p>
            </p:txBody>
          </p:sp>
          <p:sp>
            <p:nvSpPr>
              <p:cNvPr id="35850" name="Rectangle 10"/>
              <p:cNvSpPr>
                <a:spLocks noChangeArrowheads="1"/>
              </p:cNvSpPr>
              <p:nvPr/>
            </p:nvSpPr>
            <p:spPr bwMode="auto">
              <a:xfrm>
                <a:off x="2841" y="1429"/>
                <a:ext cx="294"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sz="1000">
                    <a:solidFill>
                      <a:srgbClr val="FF5050"/>
                    </a:solidFill>
                    <a:latin typeface="Arial" pitchFamily="34" charset="0"/>
                  </a:rPr>
                  <a:t>2175</a:t>
                </a:r>
              </a:p>
            </p:txBody>
          </p:sp>
          <p:sp>
            <p:nvSpPr>
              <p:cNvPr id="35851" name="Rectangle 11"/>
              <p:cNvSpPr>
                <a:spLocks noChangeArrowheads="1"/>
              </p:cNvSpPr>
              <p:nvPr/>
            </p:nvSpPr>
            <p:spPr bwMode="auto">
              <a:xfrm>
                <a:off x="3212" y="1317"/>
                <a:ext cx="494"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sz="1000">
                    <a:solidFill>
                      <a:srgbClr val="FF5050"/>
                    </a:solidFill>
                    <a:latin typeface="Arial" pitchFamily="34" charset="0"/>
                  </a:rPr>
                  <a:t>1566.6667</a:t>
                </a:r>
              </a:p>
            </p:txBody>
          </p:sp>
        </p:grpSp>
      </p:grpSp>
      <p:sp>
        <p:nvSpPr>
          <p:cNvPr id="35854" name="Rectangle 14"/>
          <p:cNvSpPr>
            <a:spLocks noChangeArrowheads="1"/>
          </p:cNvSpPr>
          <p:nvPr/>
        </p:nvSpPr>
        <p:spPr bwMode="blackWhite">
          <a:xfrm>
            <a:off x="939800" y="4017963"/>
            <a:ext cx="7480300" cy="1739900"/>
          </a:xfrm>
          <a:prstGeom prst="rect">
            <a:avLst/>
          </a:prstGeom>
          <a:solidFill>
            <a:srgbClr val="DDDDDD"/>
          </a:solidFill>
          <a:ln w="25400">
            <a:solidFill>
              <a:srgbClr val="000000"/>
            </a:solidFill>
            <a:miter lim="800000"/>
            <a:headEnd/>
            <a:tailEnd/>
          </a:ln>
          <a:effectLst>
            <a:outerShdw dist="89803" dir="2700000" algn="ctr" rotWithShape="0">
              <a:srgbClr val="000000"/>
            </a:outerShdw>
          </a:effectLst>
        </p:spPr>
        <p:txBody>
          <a:bodyPr wrap="none" lIns="92075" tIns="46038" rIns="92075" bIns="46038" anchor="ctr"/>
          <a:lstStyle/>
          <a:p>
            <a:pPr algn="l">
              <a:lnSpc>
                <a:spcPct val="100000"/>
              </a:lnSpc>
              <a:spcBef>
                <a:spcPct val="0"/>
              </a:spcBef>
              <a:tabLst>
                <a:tab pos="1200150" algn="l"/>
                <a:tab pos="2571750" algn="l"/>
              </a:tabLst>
            </a:pPr>
            <a:r>
              <a:rPr lang="en-US" sz="1800">
                <a:solidFill>
                  <a:srgbClr val="000000"/>
                </a:solidFill>
                <a:latin typeface="Courier New" pitchFamily="49" charset="0"/>
              </a:rPr>
              <a:t>    EMPNO ENAME      JOB</a:t>
            </a:r>
          </a:p>
          <a:p>
            <a:pPr algn="l">
              <a:lnSpc>
                <a:spcPct val="100000"/>
              </a:lnSpc>
              <a:spcBef>
                <a:spcPct val="0"/>
              </a:spcBef>
              <a:tabLst>
                <a:tab pos="1200150" algn="l"/>
                <a:tab pos="2571750" algn="l"/>
              </a:tabLst>
            </a:pPr>
            <a:r>
              <a:rPr lang="en-US" sz="1800">
                <a:solidFill>
                  <a:srgbClr val="000000"/>
                </a:solidFill>
                <a:latin typeface="Courier New" pitchFamily="49" charset="0"/>
              </a:rPr>
              <a:t>--------- ---------- ---------</a:t>
            </a:r>
          </a:p>
          <a:p>
            <a:pPr algn="l">
              <a:lnSpc>
                <a:spcPct val="100000"/>
              </a:lnSpc>
              <a:spcBef>
                <a:spcPct val="0"/>
              </a:spcBef>
              <a:tabLst>
                <a:tab pos="1200150" algn="l"/>
                <a:tab pos="2571750" algn="l"/>
              </a:tabLst>
            </a:pPr>
            <a:r>
              <a:rPr lang="en-US" sz="1800">
                <a:solidFill>
                  <a:srgbClr val="000000"/>
                </a:solidFill>
                <a:latin typeface="Courier New" pitchFamily="49" charset="0"/>
              </a:rPr>
              <a:t>     7839 KING       PRESIDENT</a:t>
            </a:r>
          </a:p>
          <a:p>
            <a:pPr algn="l">
              <a:lnSpc>
                <a:spcPct val="100000"/>
              </a:lnSpc>
              <a:spcBef>
                <a:spcPct val="0"/>
              </a:spcBef>
              <a:tabLst>
                <a:tab pos="1200150" algn="l"/>
                <a:tab pos="2571750" algn="l"/>
              </a:tabLst>
            </a:pPr>
            <a:r>
              <a:rPr lang="en-US" sz="1800">
                <a:solidFill>
                  <a:srgbClr val="000000"/>
                </a:solidFill>
                <a:latin typeface="Courier New" pitchFamily="49" charset="0"/>
              </a:rPr>
              <a:t>     7566 JONES      MANAGER</a:t>
            </a:r>
          </a:p>
          <a:p>
            <a:pPr algn="l">
              <a:lnSpc>
                <a:spcPct val="100000"/>
              </a:lnSpc>
              <a:spcBef>
                <a:spcPct val="0"/>
              </a:spcBef>
              <a:tabLst>
                <a:tab pos="1200150" algn="l"/>
                <a:tab pos="2571750" algn="l"/>
              </a:tabLst>
            </a:pPr>
            <a:r>
              <a:rPr lang="en-US" sz="1800">
                <a:solidFill>
                  <a:srgbClr val="000000"/>
                </a:solidFill>
                <a:latin typeface="Courier New" pitchFamily="49" charset="0"/>
              </a:rPr>
              <a:t>     7902 FORD       ANALYST</a:t>
            </a:r>
          </a:p>
          <a:p>
            <a:pPr algn="l">
              <a:lnSpc>
                <a:spcPct val="100000"/>
              </a:lnSpc>
              <a:spcBef>
                <a:spcPct val="0"/>
              </a:spcBef>
              <a:tabLst>
                <a:tab pos="1200150" algn="l"/>
                <a:tab pos="2571750" algn="l"/>
              </a:tabLst>
            </a:pPr>
            <a:r>
              <a:rPr lang="en-US" sz="1800">
                <a:solidFill>
                  <a:srgbClr val="000000"/>
                </a:solidFill>
                <a:latin typeface="Courier New" pitchFamily="49" charset="0"/>
              </a:rPr>
              <a:t>     7788 SCOTT      ANALYST</a:t>
            </a:r>
          </a:p>
        </p:txBody>
      </p:sp>
      <p:sp>
        <p:nvSpPr>
          <p:cNvPr id="35855" name="Rectangle 15"/>
          <p:cNvSpPr>
            <a:spLocks noChangeArrowheads="1"/>
          </p:cNvSpPr>
          <p:nvPr/>
        </p:nvSpPr>
        <p:spPr bwMode="blackWhite">
          <a:xfrm>
            <a:off x="927100" y="1878013"/>
            <a:ext cx="7432675" cy="1874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l">
              <a:lnSpc>
                <a:spcPct val="100000"/>
              </a:lnSpc>
              <a:spcBef>
                <a:spcPct val="0"/>
              </a:spcBef>
              <a:tabLst>
                <a:tab pos="1200150" algn="l"/>
                <a:tab pos="2571750" algn="l"/>
              </a:tabLst>
            </a:pPr>
            <a:r>
              <a:rPr lang="en-US" sz="1800">
                <a:solidFill>
                  <a:srgbClr val="000000"/>
                </a:solidFill>
                <a:latin typeface="Courier New" pitchFamily="49" charset="0"/>
              </a:rPr>
              <a:t>SQL&gt; SELECT  empno, ename, job</a:t>
            </a:r>
          </a:p>
          <a:p>
            <a:pPr algn="l">
              <a:lnSpc>
                <a:spcPct val="100000"/>
              </a:lnSpc>
              <a:spcBef>
                <a:spcPct val="0"/>
              </a:spcBef>
              <a:tabLst>
                <a:tab pos="1200150" algn="l"/>
                <a:tab pos="2571750" algn="l"/>
              </a:tabLst>
            </a:pPr>
            <a:r>
              <a:rPr lang="en-US" sz="1800">
                <a:solidFill>
                  <a:srgbClr val="000000"/>
                </a:solidFill>
                <a:latin typeface="Courier New" pitchFamily="49" charset="0"/>
              </a:rPr>
              <a:t>  2  FROM    emp</a:t>
            </a:r>
          </a:p>
          <a:p>
            <a:pPr algn="l">
              <a:lnSpc>
                <a:spcPct val="100000"/>
              </a:lnSpc>
              <a:spcBef>
                <a:spcPct val="0"/>
              </a:spcBef>
              <a:tabLst>
                <a:tab pos="1200150" algn="l"/>
                <a:tab pos="2571750" algn="l"/>
              </a:tabLst>
            </a:pPr>
            <a:r>
              <a:rPr lang="en-US" sz="1800">
                <a:solidFill>
                  <a:srgbClr val="000000"/>
                </a:solidFill>
                <a:latin typeface="Courier New" pitchFamily="49" charset="0"/>
              </a:rPr>
              <a:t>  3  WHERE   sal &gt; ALL </a:t>
            </a:r>
          </a:p>
          <a:p>
            <a:pPr algn="l">
              <a:lnSpc>
                <a:spcPct val="100000"/>
              </a:lnSpc>
              <a:spcBef>
                <a:spcPct val="0"/>
              </a:spcBef>
              <a:tabLst>
                <a:tab pos="1200150" algn="l"/>
                <a:tab pos="2571750" algn="l"/>
              </a:tabLst>
            </a:pPr>
            <a:r>
              <a:rPr lang="en-US" sz="1800">
                <a:solidFill>
                  <a:srgbClr val="000000"/>
                </a:solidFill>
                <a:latin typeface="Courier New" pitchFamily="49" charset="0"/>
              </a:rPr>
              <a:t>  4		 (SELECT	avg(sal)</a:t>
            </a:r>
          </a:p>
          <a:p>
            <a:pPr algn="l">
              <a:lnSpc>
                <a:spcPct val="100000"/>
              </a:lnSpc>
              <a:spcBef>
                <a:spcPct val="0"/>
              </a:spcBef>
              <a:tabLst>
                <a:tab pos="1200150" algn="l"/>
                <a:tab pos="2571750" algn="l"/>
              </a:tabLst>
            </a:pPr>
            <a:r>
              <a:rPr lang="en-US" sz="1800">
                <a:solidFill>
                  <a:srgbClr val="000000"/>
                </a:solidFill>
                <a:latin typeface="Courier New" pitchFamily="49" charset="0"/>
              </a:rPr>
              <a:t>  5 			FROM		emp</a:t>
            </a:r>
          </a:p>
          <a:p>
            <a:pPr algn="l">
              <a:lnSpc>
                <a:spcPct val="100000"/>
              </a:lnSpc>
              <a:spcBef>
                <a:spcPct val="0"/>
              </a:spcBef>
              <a:tabLst>
                <a:tab pos="1200150" algn="l"/>
                <a:tab pos="2571750" algn="l"/>
              </a:tabLst>
            </a:pPr>
            <a:r>
              <a:rPr lang="en-US" sz="1800">
                <a:solidFill>
                  <a:srgbClr val="000000"/>
                </a:solidFill>
                <a:latin typeface="Courier New" pitchFamily="49" charset="0"/>
              </a:rPr>
              <a:t>  6			GROUP BY	deptno);</a:t>
            </a:r>
          </a:p>
        </p:txBody>
      </p:sp>
    </p:spTree>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5853"/>
                                        </p:tgtEl>
                                        <p:attrNameLst>
                                          <p:attrName>style.visibility</p:attrName>
                                        </p:attrNameLst>
                                      </p:cBhvr>
                                      <p:to>
                                        <p:strVal val="visible"/>
                                      </p:to>
                                    </p:set>
                                    <p:animEffect transition="in" filter="wipe(up)">
                                      <p:cBhvr>
                                        <p:cTn id="7" dur="500"/>
                                        <p:tgtEl>
                                          <p:spTgt spid="3585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35854"/>
                                        </p:tgtEl>
                                        <p:attrNameLst>
                                          <p:attrName>style.visibility</p:attrName>
                                        </p:attrNameLst>
                                      </p:cBhvr>
                                      <p:to>
                                        <p:strVal val="visible"/>
                                      </p:to>
                                    </p:set>
                                    <p:animEffect transition="in" filter="wipe(up)">
                                      <p:cBhvr>
                                        <p:cTn id="12" dur="500"/>
                                        <p:tgtEl>
                                          <p:spTgt spid="358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54" grpId="0" animBg="1"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ChangeArrowheads="1"/>
          </p:cNvSpPr>
          <p:nvPr/>
        </p:nvSpPr>
        <p:spPr bwMode="blackWhite">
          <a:xfrm>
            <a:off x="939800" y="2587625"/>
            <a:ext cx="7480300" cy="1465263"/>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lIns="92075" tIns="46038" rIns="92075" bIns="46038" anchor="ctr"/>
          <a:lstStyle/>
          <a:p>
            <a:pPr algn="l">
              <a:lnSpc>
                <a:spcPct val="100000"/>
              </a:lnSpc>
              <a:spcBef>
                <a:spcPct val="0"/>
              </a:spcBef>
              <a:tabLst>
                <a:tab pos="1200150" algn="l"/>
                <a:tab pos="2571750" algn="l"/>
              </a:tabLst>
            </a:pPr>
            <a:endParaRPr lang="en-US" sz="1800">
              <a:solidFill>
                <a:srgbClr val="000000"/>
              </a:solidFill>
              <a:latin typeface="Courier New" pitchFamily="49" charset="0"/>
            </a:endParaRPr>
          </a:p>
          <a:p>
            <a:pPr algn="l">
              <a:lnSpc>
                <a:spcPct val="100000"/>
              </a:lnSpc>
              <a:spcBef>
                <a:spcPct val="0"/>
              </a:spcBef>
              <a:tabLst>
                <a:tab pos="1200150" algn="l"/>
                <a:tab pos="2571750" algn="l"/>
              </a:tabLst>
            </a:pPr>
            <a:endParaRPr lang="en-US" sz="1800">
              <a:solidFill>
                <a:srgbClr val="000000"/>
              </a:solidFill>
              <a:latin typeface="Courier New" pitchFamily="49" charset="0"/>
            </a:endParaRPr>
          </a:p>
        </p:txBody>
      </p:sp>
      <p:sp>
        <p:nvSpPr>
          <p:cNvPr id="37891" name="Rectangle 3"/>
          <p:cNvSpPr>
            <a:spLocks noChangeArrowheads="1"/>
          </p:cNvSpPr>
          <p:nvPr/>
        </p:nvSpPr>
        <p:spPr bwMode="ltGray">
          <a:xfrm>
            <a:off x="3667125" y="3448050"/>
            <a:ext cx="4133850" cy="579438"/>
          </a:xfrm>
          <a:prstGeom prst="rect">
            <a:avLst/>
          </a:prstGeom>
          <a:solidFill>
            <a:srgbClr val="FF9966"/>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7892" name="Rectangle 4"/>
          <p:cNvSpPr>
            <a:spLocks noGrp="1" noChangeArrowheads="1"/>
          </p:cNvSpPr>
          <p:nvPr>
            <p:ph type="title"/>
          </p:nvPr>
        </p:nvSpPr>
        <p:spPr>
          <a:noFill/>
          <a:ln/>
        </p:spPr>
        <p:txBody>
          <a:bodyPr/>
          <a:lstStyle/>
          <a:p>
            <a:r>
              <a:rPr lang="en-US"/>
              <a:t>Summary</a:t>
            </a:r>
          </a:p>
        </p:txBody>
      </p:sp>
      <p:sp>
        <p:nvSpPr>
          <p:cNvPr id="37893" name="Rectangle 5"/>
          <p:cNvSpPr>
            <a:spLocks noGrp="1" noChangeArrowheads="1"/>
          </p:cNvSpPr>
          <p:nvPr>
            <p:ph type="body" idx="1"/>
          </p:nvPr>
        </p:nvSpPr>
        <p:spPr>
          <a:xfrm>
            <a:off x="1031875" y="1414463"/>
            <a:ext cx="7385050" cy="904875"/>
          </a:xfrm>
          <a:noFill/>
          <a:ln/>
        </p:spPr>
        <p:txBody>
          <a:bodyPr/>
          <a:lstStyle/>
          <a:p>
            <a:r>
              <a:rPr lang="en-US"/>
              <a:t>Subqueries are useful when a query is based on unknown values.</a:t>
            </a:r>
          </a:p>
        </p:txBody>
      </p:sp>
      <p:sp>
        <p:nvSpPr>
          <p:cNvPr id="37894" name="Rectangle 6"/>
          <p:cNvSpPr>
            <a:spLocks noChangeArrowheads="1"/>
          </p:cNvSpPr>
          <p:nvPr/>
        </p:nvSpPr>
        <p:spPr bwMode="blackWhite">
          <a:xfrm>
            <a:off x="946150" y="2574925"/>
            <a:ext cx="6927850" cy="1490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l">
              <a:lnSpc>
                <a:spcPct val="100000"/>
              </a:lnSpc>
              <a:spcBef>
                <a:spcPct val="0"/>
              </a:spcBef>
              <a:tabLst>
                <a:tab pos="1200150" algn="l"/>
                <a:tab pos="2571750" algn="l"/>
              </a:tabLst>
            </a:pPr>
            <a:r>
              <a:rPr lang="en-US" sz="1800">
                <a:solidFill>
                  <a:srgbClr val="000000"/>
                </a:solidFill>
                <a:latin typeface="Courier New" pitchFamily="49" charset="0"/>
              </a:rPr>
              <a:t>SELECT	</a:t>
            </a:r>
            <a:r>
              <a:rPr lang="en-US" sz="1800" i="1">
                <a:solidFill>
                  <a:srgbClr val="000000"/>
                </a:solidFill>
                <a:latin typeface="Courier New" pitchFamily="49" charset="0"/>
              </a:rPr>
              <a:t>select_list</a:t>
            </a:r>
            <a:endParaRPr lang="en-US" sz="1800">
              <a:solidFill>
                <a:srgbClr val="000000"/>
              </a:solidFill>
              <a:latin typeface="Courier New" pitchFamily="49" charset="0"/>
            </a:endParaRPr>
          </a:p>
          <a:p>
            <a:pPr algn="l">
              <a:lnSpc>
                <a:spcPct val="100000"/>
              </a:lnSpc>
              <a:spcBef>
                <a:spcPct val="0"/>
              </a:spcBef>
              <a:tabLst>
                <a:tab pos="1200150" algn="l"/>
                <a:tab pos="2571750" algn="l"/>
              </a:tabLst>
            </a:pPr>
            <a:r>
              <a:rPr lang="en-US" sz="1800">
                <a:solidFill>
                  <a:srgbClr val="000000"/>
                </a:solidFill>
                <a:latin typeface="Courier New" pitchFamily="49" charset="0"/>
              </a:rPr>
              <a:t>FROM	</a:t>
            </a:r>
            <a:r>
              <a:rPr lang="en-US" sz="1800" i="1">
                <a:solidFill>
                  <a:srgbClr val="000000"/>
                </a:solidFill>
                <a:latin typeface="Courier New" pitchFamily="49" charset="0"/>
              </a:rPr>
              <a:t>table</a:t>
            </a:r>
            <a:endParaRPr lang="en-US" sz="1800">
              <a:solidFill>
                <a:srgbClr val="000000"/>
              </a:solidFill>
              <a:latin typeface="Courier New" pitchFamily="49" charset="0"/>
            </a:endParaRPr>
          </a:p>
          <a:p>
            <a:pPr algn="l">
              <a:lnSpc>
                <a:spcPct val="100000"/>
              </a:lnSpc>
              <a:spcBef>
                <a:spcPct val="0"/>
              </a:spcBef>
              <a:tabLst>
                <a:tab pos="1200150" algn="l"/>
                <a:tab pos="2571750" algn="l"/>
              </a:tabLst>
            </a:pPr>
            <a:r>
              <a:rPr lang="en-US" sz="1800">
                <a:solidFill>
                  <a:srgbClr val="000000"/>
                </a:solidFill>
                <a:latin typeface="Courier New" pitchFamily="49" charset="0"/>
              </a:rPr>
              <a:t>WHERE	</a:t>
            </a:r>
            <a:r>
              <a:rPr lang="en-US" sz="1800" i="1">
                <a:solidFill>
                  <a:srgbClr val="000000"/>
                </a:solidFill>
                <a:latin typeface="Courier New" pitchFamily="49" charset="0"/>
              </a:rPr>
              <a:t>expr operator</a:t>
            </a:r>
          </a:p>
          <a:p>
            <a:pPr algn="l">
              <a:lnSpc>
                <a:spcPct val="100000"/>
              </a:lnSpc>
              <a:spcBef>
                <a:spcPct val="0"/>
              </a:spcBef>
              <a:tabLst>
                <a:tab pos="1200150" algn="l"/>
                <a:tab pos="2571750" algn="l"/>
              </a:tabLst>
            </a:pPr>
            <a:r>
              <a:rPr lang="en-US" sz="1800">
                <a:solidFill>
                  <a:srgbClr val="000000"/>
                </a:solidFill>
                <a:latin typeface="Courier New" pitchFamily="49" charset="0"/>
              </a:rPr>
              <a:t>		 (SELECT </a:t>
            </a:r>
            <a:r>
              <a:rPr lang="en-US" sz="1800" i="1">
                <a:solidFill>
                  <a:srgbClr val="000000"/>
                </a:solidFill>
                <a:latin typeface="Courier New" pitchFamily="49" charset="0"/>
              </a:rPr>
              <a:t>select_list</a:t>
            </a:r>
          </a:p>
          <a:p>
            <a:pPr algn="l">
              <a:lnSpc>
                <a:spcPct val="100000"/>
              </a:lnSpc>
              <a:spcBef>
                <a:spcPct val="0"/>
              </a:spcBef>
              <a:tabLst>
                <a:tab pos="1200150" algn="l"/>
                <a:tab pos="2571750" algn="l"/>
              </a:tabLst>
            </a:pPr>
            <a:r>
              <a:rPr lang="en-US" sz="1800">
                <a:solidFill>
                  <a:srgbClr val="000000"/>
                </a:solidFill>
                <a:latin typeface="Courier New" pitchFamily="49" charset="0"/>
              </a:rPr>
              <a:t>	 		FROM	 </a:t>
            </a:r>
            <a:r>
              <a:rPr lang="en-US" sz="1800" i="1">
                <a:solidFill>
                  <a:srgbClr val="000000"/>
                </a:solidFill>
                <a:latin typeface="Courier New" pitchFamily="49" charset="0"/>
              </a:rPr>
              <a:t>table</a:t>
            </a:r>
            <a:r>
              <a:rPr lang="en-US" sz="1800">
                <a:solidFill>
                  <a:srgbClr val="000000"/>
                </a:solidFill>
                <a:latin typeface="Courier New" pitchFamily="49" charset="0"/>
              </a:rPr>
              <a:t>);</a:t>
            </a:r>
          </a:p>
        </p:txBody>
      </p:sp>
    </p:spTree>
  </p:cSld>
  <p:clrMapOvr>
    <a:masterClrMapping/>
  </p:clrMapOvr>
  <p:transition spd="slow"/>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noFill/>
          <a:ln/>
        </p:spPr>
        <p:txBody>
          <a:bodyPr/>
          <a:lstStyle/>
          <a:p>
            <a:r>
              <a:rPr lang="en-US"/>
              <a:t>Practice Overview</a:t>
            </a:r>
          </a:p>
        </p:txBody>
      </p:sp>
      <p:sp>
        <p:nvSpPr>
          <p:cNvPr id="39939" name="Rectangle 3"/>
          <p:cNvSpPr>
            <a:spLocks noGrp="1" noChangeArrowheads="1"/>
          </p:cNvSpPr>
          <p:nvPr>
            <p:ph type="body" idx="1"/>
          </p:nvPr>
        </p:nvSpPr>
        <p:spPr>
          <a:xfrm>
            <a:off x="858838" y="1795463"/>
            <a:ext cx="7385050" cy="498475"/>
          </a:xfrm>
          <a:noFill/>
          <a:ln/>
        </p:spPr>
        <p:txBody>
          <a:bodyPr/>
          <a:lstStyle/>
          <a:p>
            <a:pPr lvl="1"/>
            <a:r>
              <a:rPr lang="en-US"/>
              <a:t>Creating subqueries to query values based on unknown criteria</a:t>
            </a:r>
          </a:p>
          <a:p>
            <a:pPr lvl="1"/>
            <a:r>
              <a:rPr lang="en-US"/>
              <a:t>Using subqueries to find out what values exist in one set of data and not in another</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ctrTitle"/>
          </p:nvPr>
        </p:nvSpPr>
        <p:spPr>
          <a:noFill/>
          <a:ln/>
        </p:spPr>
        <p:txBody>
          <a:bodyPr/>
          <a:lstStyle/>
          <a:p>
            <a:r>
              <a:rPr lang="en-US" altLang="en-US" sz="4000" dirty="0"/>
              <a:t>Creating Views</a:t>
            </a:r>
            <a:br>
              <a:rPr lang="en-US" altLang="en-US" sz="4000"/>
            </a:br>
            <a:endParaRPr lang="en-US" altLang="en-US" sz="4000" dirty="0"/>
          </a:p>
        </p:txBody>
      </p:sp>
      <p:sp>
        <p:nvSpPr>
          <p:cNvPr id="5123" name="Rectangle 3"/>
          <p:cNvSpPr>
            <a:spLocks noGrp="1" noChangeArrowheads="1"/>
          </p:cNvSpPr>
          <p:nvPr>
            <p:ph type="subTitle" idx="1"/>
          </p:nvPr>
        </p:nvSpPr>
        <p:spPr>
          <a:noFill/>
          <a:ln/>
        </p:spPr>
        <p:txBody>
          <a:bodyPr/>
          <a:lstStyle/>
          <a:p>
            <a:pPr>
              <a:lnSpc>
                <a:spcPct val="100000"/>
              </a:lnSpc>
              <a:spcBef>
                <a:spcPct val="0"/>
              </a:spcBef>
            </a:pPr>
            <a:r>
              <a:rPr lang="en-US" altLang="en-US" sz="3600">
                <a:solidFill>
                  <a:srgbClr val="FFCC66"/>
                </a:solidFill>
                <a:effectLst/>
              </a:rPr>
              <a:t> </a:t>
            </a:r>
          </a:p>
        </p:txBody>
      </p:sp>
    </p:spTree>
    <p:extLst>
      <p:ext uri="{BB962C8B-B14F-4D97-AF65-F5344CB8AC3E}">
        <p14:creationId xmlns:p14="http://schemas.microsoft.com/office/powerpoint/2010/main" val="1857731566"/>
      </p:ext>
    </p:extLst>
  </p:cSld>
  <p:clrMapOvr>
    <a:masterClrMapping/>
  </p:clrMapOvr>
  <p:transition spd="slow"/>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noFill/>
          <a:ln/>
        </p:spPr>
        <p:txBody>
          <a:bodyPr/>
          <a:lstStyle/>
          <a:p>
            <a:r>
              <a:rPr lang="en-US" altLang="en-US"/>
              <a:t>Objectives</a:t>
            </a:r>
          </a:p>
        </p:txBody>
      </p:sp>
      <p:sp>
        <p:nvSpPr>
          <p:cNvPr id="7171" name="Rectangle 3"/>
          <p:cNvSpPr>
            <a:spLocks noGrp="1" noChangeArrowheads="1"/>
          </p:cNvSpPr>
          <p:nvPr>
            <p:ph type="body" idx="1"/>
          </p:nvPr>
        </p:nvSpPr>
        <p:spPr>
          <a:xfrm>
            <a:off x="860425" y="1454150"/>
            <a:ext cx="7385050" cy="4645025"/>
          </a:xfrm>
          <a:noFill/>
          <a:ln/>
        </p:spPr>
        <p:txBody>
          <a:bodyPr/>
          <a:lstStyle/>
          <a:p>
            <a:r>
              <a:rPr lang="en-US" altLang="en-US"/>
              <a:t>After completing this lesson, you should be able to do the following:</a:t>
            </a:r>
          </a:p>
          <a:p>
            <a:pPr lvl="1"/>
            <a:r>
              <a:rPr lang="en-US" altLang="en-US"/>
              <a:t>Describe a view </a:t>
            </a:r>
          </a:p>
          <a:p>
            <a:pPr lvl="1"/>
            <a:r>
              <a:rPr lang="en-US" altLang="en-US"/>
              <a:t>Create a view</a:t>
            </a:r>
          </a:p>
          <a:p>
            <a:pPr lvl="1"/>
            <a:r>
              <a:rPr lang="en-US" altLang="en-US"/>
              <a:t>Retrieve data through a view</a:t>
            </a:r>
          </a:p>
          <a:p>
            <a:pPr lvl="1"/>
            <a:r>
              <a:rPr lang="en-US" altLang="en-US"/>
              <a:t>Alter the definition of a view </a:t>
            </a:r>
          </a:p>
          <a:p>
            <a:pPr lvl="1"/>
            <a:r>
              <a:rPr lang="en-US" altLang="en-US"/>
              <a:t>Insert, update, and delete data through</a:t>
            </a:r>
            <a:br>
              <a:rPr lang="en-US" altLang="en-US"/>
            </a:br>
            <a:r>
              <a:rPr lang="en-US" altLang="en-US"/>
              <a:t>a view</a:t>
            </a:r>
          </a:p>
          <a:p>
            <a:pPr lvl="1"/>
            <a:r>
              <a:rPr lang="en-US" altLang="en-US"/>
              <a:t>Drop a view</a:t>
            </a:r>
          </a:p>
        </p:txBody>
      </p:sp>
    </p:spTree>
    <p:extLst>
      <p:ext uri="{BB962C8B-B14F-4D97-AF65-F5344CB8AC3E}">
        <p14:creationId xmlns:p14="http://schemas.microsoft.com/office/powerpoint/2010/main" val="1800653205"/>
      </p:ext>
    </p:extLst>
  </p:cSld>
  <p:clrMapOvr>
    <a:masterClrMapping/>
  </p:clrMapOvr>
  <p:transition spd="slow"/>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ChangeArrowheads="1"/>
          </p:cNvSpPr>
          <p:nvPr/>
        </p:nvSpPr>
        <p:spPr bwMode="blackWhite">
          <a:xfrm>
            <a:off x="2827338" y="1593850"/>
            <a:ext cx="5307012" cy="3584575"/>
          </a:xfrm>
          <a:prstGeom prst="rect">
            <a:avLst/>
          </a:prstGeom>
          <a:solidFill>
            <a:srgbClr val="FFCC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marL="114300" algn="l">
              <a:spcBef>
                <a:spcPct val="0"/>
              </a:spcBef>
              <a:defRPr sz="2400">
                <a:solidFill>
                  <a:schemeClr val="tx1"/>
                </a:solidFill>
                <a:latin typeface="Times New Roman" pitchFamily="18" charset="0"/>
              </a:defRPr>
            </a:lvl1pPr>
            <a:lvl2pPr algn="l">
              <a:spcBef>
                <a:spcPct val="0"/>
              </a:spcBef>
              <a:defRPr sz="2400">
                <a:solidFill>
                  <a:schemeClr val="tx1"/>
                </a:solidFill>
                <a:latin typeface="Times New Roman" pitchFamily="18" charset="0"/>
              </a:defRPr>
            </a:lvl2pPr>
            <a:lvl3pPr algn="l">
              <a:spcBef>
                <a:spcPct val="0"/>
              </a:spcBef>
              <a:defRPr sz="2400">
                <a:solidFill>
                  <a:schemeClr val="tx1"/>
                </a:solidFill>
                <a:latin typeface="Times New Roman" pitchFamily="18" charset="0"/>
              </a:defRPr>
            </a:lvl3pPr>
            <a:lvl4pPr algn="l">
              <a:spcBef>
                <a:spcPct val="0"/>
              </a:spcBef>
              <a:defRPr sz="2400">
                <a:solidFill>
                  <a:schemeClr val="tx1"/>
                </a:solidFill>
                <a:latin typeface="Times New Roman" pitchFamily="18" charset="0"/>
              </a:defRPr>
            </a:lvl4pPr>
            <a:lvl5pPr algn="l">
              <a:spcBef>
                <a:spcPct val="0"/>
              </a:spcBef>
              <a:defRPr sz="2400">
                <a:solidFill>
                  <a:schemeClr val="tx1"/>
                </a:solidFill>
                <a:latin typeface="Times New Roman" pitchFamily="18" charset="0"/>
              </a:defRPr>
            </a:lvl5pPr>
            <a:lvl6pPr fontAlgn="base">
              <a:spcBef>
                <a:spcPct val="0"/>
              </a:spcBef>
              <a:spcAft>
                <a:spcPct val="0"/>
              </a:spcAft>
              <a:defRPr sz="2400">
                <a:solidFill>
                  <a:schemeClr val="tx1"/>
                </a:solidFill>
                <a:latin typeface="Times New Roman" pitchFamily="18" charset="0"/>
              </a:defRPr>
            </a:lvl6pPr>
            <a:lvl7pPr fontAlgn="base">
              <a:spcBef>
                <a:spcPct val="0"/>
              </a:spcBef>
              <a:spcAft>
                <a:spcPct val="0"/>
              </a:spcAft>
              <a:defRPr sz="2400">
                <a:solidFill>
                  <a:schemeClr val="tx1"/>
                </a:solidFill>
                <a:latin typeface="Times New Roman" pitchFamily="18" charset="0"/>
              </a:defRPr>
            </a:lvl7pPr>
            <a:lvl8pPr fontAlgn="base">
              <a:spcBef>
                <a:spcPct val="0"/>
              </a:spcBef>
              <a:spcAft>
                <a:spcPct val="0"/>
              </a:spcAft>
              <a:defRPr sz="2400">
                <a:solidFill>
                  <a:schemeClr val="tx1"/>
                </a:solidFill>
                <a:latin typeface="Times New Roman" pitchFamily="18" charset="0"/>
              </a:defRPr>
            </a:lvl8pPr>
            <a:lvl9pPr fontAlgn="base">
              <a:spcBef>
                <a:spcPct val="0"/>
              </a:spcBef>
              <a:spcAft>
                <a:spcPct val="0"/>
              </a:spcAft>
              <a:defRPr sz="2400">
                <a:solidFill>
                  <a:schemeClr val="tx1"/>
                </a:solidFill>
                <a:latin typeface="Times New Roman" pitchFamily="18" charset="0"/>
              </a:defRPr>
            </a:lvl9pPr>
          </a:lstStyle>
          <a:p>
            <a:pPr>
              <a:spcBef>
                <a:spcPct val="60000"/>
              </a:spcBef>
            </a:pPr>
            <a:endParaRPr lang="en-US" altLang="en-US" sz="1800">
              <a:solidFill>
                <a:srgbClr val="000000"/>
              </a:solidFill>
              <a:latin typeface="Arial" pitchFamily="34" charset="0"/>
            </a:endParaRPr>
          </a:p>
          <a:p>
            <a:pPr>
              <a:spcBef>
                <a:spcPct val="60000"/>
              </a:spcBef>
            </a:pPr>
            <a:br>
              <a:rPr lang="en-US" altLang="en-US" sz="1800">
                <a:solidFill>
                  <a:srgbClr val="000000"/>
                </a:solidFill>
                <a:latin typeface="Arial" pitchFamily="34" charset="0"/>
              </a:rPr>
            </a:br>
            <a:endParaRPr lang="en-US" altLang="en-US" sz="1800">
              <a:solidFill>
                <a:srgbClr val="000000"/>
              </a:solidFill>
              <a:latin typeface="Arial" pitchFamily="34" charset="0"/>
            </a:endParaRPr>
          </a:p>
          <a:p>
            <a:pPr>
              <a:spcBef>
                <a:spcPct val="60000"/>
              </a:spcBef>
            </a:pPr>
            <a:br>
              <a:rPr lang="en-US" altLang="en-US" sz="1800">
                <a:solidFill>
                  <a:srgbClr val="000000"/>
                </a:solidFill>
                <a:latin typeface="Arial" pitchFamily="34" charset="0"/>
              </a:rPr>
            </a:br>
            <a:endParaRPr lang="en-US" altLang="en-US" sz="1800">
              <a:solidFill>
                <a:srgbClr val="000000"/>
              </a:solidFill>
              <a:latin typeface="Arial" pitchFamily="34" charset="0"/>
            </a:endParaRPr>
          </a:p>
          <a:p>
            <a:pPr>
              <a:spcBef>
                <a:spcPct val="60000"/>
              </a:spcBef>
            </a:pPr>
            <a:endParaRPr lang="en-US" altLang="en-US" sz="1800">
              <a:solidFill>
                <a:srgbClr val="000000"/>
              </a:solidFill>
              <a:latin typeface="Arial" pitchFamily="34" charset="0"/>
            </a:endParaRPr>
          </a:p>
          <a:p>
            <a:pPr>
              <a:spcBef>
                <a:spcPct val="60000"/>
              </a:spcBef>
            </a:pPr>
            <a:endParaRPr lang="en-US" altLang="en-US" sz="1800">
              <a:solidFill>
                <a:srgbClr val="000000"/>
              </a:solidFill>
              <a:latin typeface="Arial" pitchFamily="34" charset="0"/>
            </a:endParaRPr>
          </a:p>
          <a:p>
            <a:pPr>
              <a:spcBef>
                <a:spcPct val="60000"/>
              </a:spcBef>
            </a:pPr>
            <a:endParaRPr lang="en-US" altLang="en-US" sz="1800">
              <a:solidFill>
                <a:srgbClr val="000000"/>
              </a:solidFill>
              <a:latin typeface="Arial" pitchFamily="34" charset="0"/>
            </a:endParaRPr>
          </a:p>
        </p:txBody>
      </p:sp>
      <p:sp>
        <p:nvSpPr>
          <p:cNvPr id="9219" name="Rectangle 3"/>
          <p:cNvSpPr>
            <a:spLocks noChangeArrowheads="1"/>
          </p:cNvSpPr>
          <p:nvPr/>
        </p:nvSpPr>
        <p:spPr bwMode="blackWhite">
          <a:xfrm>
            <a:off x="1117600" y="1593850"/>
            <a:ext cx="1793875" cy="3584575"/>
          </a:xfrm>
          <a:prstGeom prst="rect">
            <a:avLst/>
          </a:prstGeom>
          <a:solidFill>
            <a:srgbClr val="FFCC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l"/>
            <a:endParaRPr lang="en-US" altLang="en-US" sz="1800">
              <a:solidFill>
                <a:srgbClr val="000000"/>
              </a:solidFill>
              <a:latin typeface="Arial" pitchFamily="34" charset="0"/>
            </a:endParaRPr>
          </a:p>
          <a:p>
            <a:pPr algn="l"/>
            <a:br>
              <a:rPr lang="en-US" altLang="en-US" sz="1800">
                <a:solidFill>
                  <a:srgbClr val="000000"/>
                </a:solidFill>
                <a:latin typeface="Arial" pitchFamily="34" charset="0"/>
              </a:rPr>
            </a:br>
            <a:endParaRPr lang="en-US" altLang="en-US" sz="1800">
              <a:solidFill>
                <a:srgbClr val="000000"/>
              </a:solidFill>
              <a:latin typeface="Arial" pitchFamily="34" charset="0"/>
            </a:endParaRPr>
          </a:p>
          <a:p>
            <a:pPr algn="l"/>
            <a:br>
              <a:rPr lang="en-US" altLang="en-US" sz="1800">
                <a:solidFill>
                  <a:srgbClr val="000000"/>
                </a:solidFill>
                <a:latin typeface="Arial" pitchFamily="34" charset="0"/>
              </a:rPr>
            </a:br>
            <a:endParaRPr lang="en-US" altLang="en-US" sz="1800">
              <a:solidFill>
                <a:srgbClr val="000000"/>
              </a:solidFill>
              <a:latin typeface="Arial" pitchFamily="34" charset="0"/>
            </a:endParaRPr>
          </a:p>
          <a:p>
            <a:pPr algn="l"/>
            <a:endParaRPr lang="en-US" altLang="en-US" sz="1800">
              <a:solidFill>
                <a:srgbClr val="000000"/>
              </a:solidFill>
              <a:latin typeface="Arial" pitchFamily="34" charset="0"/>
            </a:endParaRPr>
          </a:p>
          <a:p>
            <a:pPr algn="l"/>
            <a:endParaRPr lang="en-US" altLang="en-US" sz="1800">
              <a:solidFill>
                <a:srgbClr val="000000"/>
              </a:solidFill>
              <a:latin typeface="Arial" pitchFamily="34" charset="0"/>
            </a:endParaRPr>
          </a:p>
          <a:p>
            <a:pPr algn="l"/>
            <a:endParaRPr lang="en-US" altLang="en-US" sz="1800">
              <a:solidFill>
                <a:srgbClr val="000000"/>
              </a:solidFill>
              <a:latin typeface="Arial" pitchFamily="34" charset="0"/>
            </a:endParaRPr>
          </a:p>
        </p:txBody>
      </p:sp>
      <p:sp>
        <p:nvSpPr>
          <p:cNvPr id="9220" name="Rectangle 4"/>
          <p:cNvSpPr>
            <a:spLocks noGrp="1" noChangeArrowheads="1"/>
          </p:cNvSpPr>
          <p:nvPr>
            <p:ph type="title"/>
          </p:nvPr>
        </p:nvSpPr>
        <p:spPr>
          <a:noFill/>
          <a:ln/>
        </p:spPr>
        <p:txBody>
          <a:bodyPr/>
          <a:lstStyle/>
          <a:p>
            <a:r>
              <a:rPr lang="en-US" altLang="en-US"/>
              <a:t>Database Objects</a:t>
            </a:r>
          </a:p>
        </p:txBody>
      </p:sp>
      <p:sp>
        <p:nvSpPr>
          <p:cNvPr id="9221" name="Line 5"/>
          <p:cNvSpPr>
            <a:spLocks noChangeShapeType="1"/>
          </p:cNvSpPr>
          <p:nvPr/>
        </p:nvSpPr>
        <p:spPr bwMode="auto">
          <a:xfrm>
            <a:off x="1120775" y="2874963"/>
            <a:ext cx="7007225" cy="0"/>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2" name="Line 6"/>
          <p:cNvSpPr>
            <a:spLocks noChangeShapeType="1"/>
          </p:cNvSpPr>
          <p:nvPr/>
        </p:nvSpPr>
        <p:spPr bwMode="auto">
          <a:xfrm>
            <a:off x="1120775" y="3732213"/>
            <a:ext cx="7007225" cy="0"/>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3" name="Line 7"/>
          <p:cNvSpPr>
            <a:spLocks noChangeShapeType="1"/>
          </p:cNvSpPr>
          <p:nvPr/>
        </p:nvSpPr>
        <p:spPr bwMode="auto">
          <a:xfrm>
            <a:off x="1127125" y="4202113"/>
            <a:ext cx="7000875" cy="0"/>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4" name="Line 8"/>
          <p:cNvSpPr>
            <a:spLocks noChangeShapeType="1"/>
          </p:cNvSpPr>
          <p:nvPr/>
        </p:nvSpPr>
        <p:spPr bwMode="auto">
          <a:xfrm>
            <a:off x="1120775" y="4722813"/>
            <a:ext cx="7007225" cy="0"/>
          </a:xfrm>
          <a:prstGeom prst="line">
            <a:avLst/>
          </a:prstGeom>
          <a:noFill/>
          <a:ln w="127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5" name="Line 9"/>
          <p:cNvSpPr>
            <a:spLocks noChangeShapeType="1"/>
          </p:cNvSpPr>
          <p:nvPr/>
        </p:nvSpPr>
        <p:spPr bwMode="auto">
          <a:xfrm>
            <a:off x="1125538" y="2066925"/>
            <a:ext cx="7002462" cy="0"/>
          </a:xfrm>
          <a:prstGeom prst="line">
            <a:avLst/>
          </a:prstGeom>
          <a:noFill/>
          <a:ln w="508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9226" name="Rectangle 10"/>
          <p:cNvSpPr>
            <a:spLocks noChangeArrowheads="1"/>
          </p:cNvSpPr>
          <p:nvPr/>
        </p:nvSpPr>
        <p:spPr bwMode="ltGray">
          <a:xfrm>
            <a:off x="1127125" y="2895600"/>
            <a:ext cx="7007225" cy="819150"/>
          </a:xfrm>
          <a:prstGeom prst="rect">
            <a:avLst/>
          </a:prstGeom>
          <a:solidFill>
            <a:srgbClr val="FF5050">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9227" name="Rectangle 11"/>
          <p:cNvSpPr>
            <a:spLocks noChangeArrowheads="1"/>
          </p:cNvSpPr>
          <p:nvPr/>
        </p:nvSpPr>
        <p:spPr bwMode="blackWhite">
          <a:xfrm>
            <a:off x="2840038" y="1625600"/>
            <a:ext cx="5281612" cy="3559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marL="114300" algn="l">
              <a:spcBef>
                <a:spcPct val="0"/>
              </a:spcBef>
              <a:defRPr sz="2400">
                <a:solidFill>
                  <a:schemeClr val="tx1"/>
                </a:solidFill>
                <a:latin typeface="Times New Roman" pitchFamily="18" charset="0"/>
              </a:defRPr>
            </a:lvl1pPr>
            <a:lvl2pPr algn="l">
              <a:spcBef>
                <a:spcPct val="0"/>
              </a:spcBef>
              <a:defRPr sz="2400">
                <a:solidFill>
                  <a:schemeClr val="tx1"/>
                </a:solidFill>
                <a:latin typeface="Times New Roman" pitchFamily="18" charset="0"/>
              </a:defRPr>
            </a:lvl2pPr>
            <a:lvl3pPr algn="l">
              <a:spcBef>
                <a:spcPct val="0"/>
              </a:spcBef>
              <a:defRPr sz="2400">
                <a:solidFill>
                  <a:schemeClr val="tx1"/>
                </a:solidFill>
                <a:latin typeface="Times New Roman" pitchFamily="18" charset="0"/>
              </a:defRPr>
            </a:lvl3pPr>
            <a:lvl4pPr algn="l">
              <a:spcBef>
                <a:spcPct val="0"/>
              </a:spcBef>
              <a:defRPr sz="2400">
                <a:solidFill>
                  <a:schemeClr val="tx1"/>
                </a:solidFill>
                <a:latin typeface="Times New Roman" pitchFamily="18" charset="0"/>
              </a:defRPr>
            </a:lvl4pPr>
            <a:lvl5pPr algn="l">
              <a:spcBef>
                <a:spcPct val="0"/>
              </a:spcBef>
              <a:defRPr sz="2400">
                <a:solidFill>
                  <a:schemeClr val="tx1"/>
                </a:solidFill>
                <a:latin typeface="Times New Roman" pitchFamily="18" charset="0"/>
              </a:defRPr>
            </a:lvl5pPr>
            <a:lvl6pPr fontAlgn="base">
              <a:spcBef>
                <a:spcPct val="0"/>
              </a:spcBef>
              <a:spcAft>
                <a:spcPct val="0"/>
              </a:spcAft>
              <a:defRPr sz="2400">
                <a:solidFill>
                  <a:schemeClr val="tx1"/>
                </a:solidFill>
                <a:latin typeface="Times New Roman" pitchFamily="18" charset="0"/>
              </a:defRPr>
            </a:lvl6pPr>
            <a:lvl7pPr fontAlgn="base">
              <a:spcBef>
                <a:spcPct val="0"/>
              </a:spcBef>
              <a:spcAft>
                <a:spcPct val="0"/>
              </a:spcAft>
              <a:defRPr sz="2400">
                <a:solidFill>
                  <a:schemeClr val="tx1"/>
                </a:solidFill>
                <a:latin typeface="Times New Roman" pitchFamily="18" charset="0"/>
              </a:defRPr>
            </a:lvl7pPr>
            <a:lvl8pPr fontAlgn="base">
              <a:spcBef>
                <a:spcPct val="0"/>
              </a:spcBef>
              <a:spcAft>
                <a:spcPct val="0"/>
              </a:spcAft>
              <a:defRPr sz="2400">
                <a:solidFill>
                  <a:schemeClr val="tx1"/>
                </a:solidFill>
                <a:latin typeface="Times New Roman" pitchFamily="18" charset="0"/>
              </a:defRPr>
            </a:lvl8pPr>
            <a:lvl9pPr fontAlgn="base">
              <a:spcBef>
                <a:spcPct val="0"/>
              </a:spcBef>
              <a:spcAft>
                <a:spcPct val="0"/>
              </a:spcAft>
              <a:defRPr sz="2400">
                <a:solidFill>
                  <a:schemeClr val="tx1"/>
                </a:solidFill>
                <a:latin typeface="Times New Roman" pitchFamily="18" charset="0"/>
              </a:defRPr>
            </a:lvl9pPr>
          </a:lstStyle>
          <a:p>
            <a:pPr>
              <a:spcBef>
                <a:spcPct val="60000"/>
              </a:spcBef>
            </a:pPr>
            <a:r>
              <a:rPr lang="en-US" altLang="en-US" sz="1800">
                <a:solidFill>
                  <a:srgbClr val="000000"/>
                </a:solidFill>
                <a:latin typeface="Arial" pitchFamily="34" charset="0"/>
              </a:rPr>
              <a:t>Description</a:t>
            </a:r>
          </a:p>
          <a:p>
            <a:pPr>
              <a:spcBef>
                <a:spcPct val="60000"/>
              </a:spcBef>
            </a:pPr>
            <a:r>
              <a:rPr lang="en-US" altLang="en-US" sz="1800">
                <a:solidFill>
                  <a:srgbClr val="000000"/>
                </a:solidFill>
                <a:latin typeface="Arial" pitchFamily="34" charset="0"/>
              </a:rPr>
              <a:t>Basic unit of storage; composed of rows </a:t>
            </a:r>
            <a:br>
              <a:rPr lang="en-US" altLang="en-US" sz="1800">
                <a:solidFill>
                  <a:srgbClr val="000000"/>
                </a:solidFill>
                <a:latin typeface="Arial" pitchFamily="34" charset="0"/>
              </a:rPr>
            </a:br>
            <a:r>
              <a:rPr lang="en-US" altLang="en-US" sz="1800">
                <a:solidFill>
                  <a:srgbClr val="000000"/>
                </a:solidFill>
                <a:latin typeface="Arial" pitchFamily="34" charset="0"/>
              </a:rPr>
              <a:t>and columns</a:t>
            </a:r>
          </a:p>
          <a:p>
            <a:pPr>
              <a:spcBef>
                <a:spcPct val="60000"/>
              </a:spcBef>
            </a:pPr>
            <a:r>
              <a:rPr lang="en-US" altLang="en-US" sz="1800">
                <a:solidFill>
                  <a:srgbClr val="000000"/>
                </a:solidFill>
                <a:latin typeface="Arial" pitchFamily="34" charset="0"/>
              </a:rPr>
              <a:t>Logically represents subsets of data from </a:t>
            </a:r>
            <a:br>
              <a:rPr lang="en-US" altLang="en-US" sz="1800">
                <a:solidFill>
                  <a:srgbClr val="000000"/>
                </a:solidFill>
                <a:latin typeface="Arial" pitchFamily="34" charset="0"/>
              </a:rPr>
            </a:br>
            <a:r>
              <a:rPr lang="en-US" altLang="en-US" sz="1800">
                <a:solidFill>
                  <a:srgbClr val="000000"/>
                </a:solidFill>
                <a:latin typeface="Arial" pitchFamily="34" charset="0"/>
              </a:rPr>
              <a:t>one or more tables</a:t>
            </a:r>
          </a:p>
          <a:p>
            <a:pPr>
              <a:spcBef>
                <a:spcPct val="60000"/>
              </a:spcBef>
            </a:pPr>
            <a:r>
              <a:rPr lang="en-US" altLang="en-US" sz="1800">
                <a:solidFill>
                  <a:srgbClr val="000000"/>
                </a:solidFill>
                <a:latin typeface="Arial" pitchFamily="34" charset="0"/>
              </a:rPr>
              <a:t>Generates primary key values</a:t>
            </a:r>
          </a:p>
          <a:p>
            <a:pPr>
              <a:spcBef>
                <a:spcPct val="60000"/>
              </a:spcBef>
            </a:pPr>
            <a:r>
              <a:rPr lang="en-US" altLang="en-US" sz="1800">
                <a:solidFill>
                  <a:srgbClr val="000000"/>
                </a:solidFill>
                <a:latin typeface="Arial" pitchFamily="34" charset="0"/>
              </a:rPr>
              <a:t>Improves the performance of some queries</a:t>
            </a:r>
          </a:p>
          <a:p>
            <a:pPr>
              <a:spcBef>
                <a:spcPct val="60000"/>
              </a:spcBef>
            </a:pPr>
            <a:r>
              <a:rPr lang="en-US" altLang="en-US" sz="1800">
                <a:solidFill>
                  <a:srgbClr val="000000"/>
                </a:solidFill>
                <a:latin typeface="Arial" pitchFamily="34" charset="0"/>
              </a:rPr>
              <a:t>Alternative name for an object</a:t>
            </a:r>
          </a:p>
        </p:txBody>
      </p:sp>
      <p:sp>
        <p:nvSpPr>
          <p:cNvPr id="9228" name="Rectangle 12"/>
          <p:cNvSpPr>
            <a:spLocks noChangeArrowheads="1"/>
          </p:cNvSpPr>
          <p:nvPr/>
        </p:nvSpPr>
        <p:spPr bwMode="blackWhite">
          <a:xfrm>
            <a:off x="1130300" y="1625600"/>
            <a:ext cx="1768475" cy="3559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l"/>
            <a:r>
              <a:rPr lang="en-US" altLang="en-US" sz="1800">
                <a:solidFill>
                  <a:srgbClr val="000000"/>
                </a:solidFill>
                <a:latin typeface="Arial" pitchFamily="34" charset="0"/>
              </a:rPr>
              <a:t>Object	</a:t>
            </a:r>
          </a:p>
          <a:p>
            <a:pPr algn="l"/>
            <a:r>
              <a:rPr lang="en-US" altLang="en-US" sz="1800">
                <a:solidFill>
                  <a:srgbClr val="000000"/>
                </a:solidFill>
                <a:latin typeface="Arial" pitchFamily="34" charset="0"/>
              </a:rPr>
              <a:t>Table</a:t>
            </a:r>
            <a:br>
              <a:rPr lang="en-US" altLang="en-US" sz="1800">
                <a:solidFill>
                  <a:srgbClr val="000000"/>
                </a:solidFill>
                <a:latin typeface="Arial" pitchFamily="34" charset="0"/>
              </a:rPr>
            </a:br>
            <a:r>
              <a:rPr lang="en-US" altLang="en-US" sz="1800">
                <a:solidFill>
                  <a:srgbClr val="000000"/>
                </a:solidFill>
                <a:latin typeface="Arial" pitchFamily="34" charset="0"/>
              </a:rPr>
              <a:t>	</a:t>
            </a:r>
          </a:p>
          <a:p>
            <a:pPr algn="l"/>
            <a:r>
              <a:rPr lang="en-US" altLang="en-US" sz="1800">
                <a:solidFill>
                  <a:srgbClr val="000000"/>
                </a:solidFill>
                <a:latin typeface="Arial" pitchFamily="34" charset="0"/>
              </a:rPr>
              <a:t>View	</a:t>
            </a:r>
            <a:br>
              <a:rPr lang="en-US" altLang="en-US" sz="1800">
                <a:solidFill>
                  <a:srgbClr val="000000"/>
                </a:solidFill>
                <a:latin typeface="Arial" pitchFamily="34" charset="0"/>
              </a:rPr>
            </a:br>
            <a:endParaRPr lang="en-US" altLang="en-US" sz="1800">
              <a:solidFill>
                <a:srgbClr val="000000"/>
              </a:solidFill>
              <a:latin typeface="Arial" pitchFamily="34" charset="0"/>
            </a:endParaRPr>
          </a:p>
          <a:p>
            <a:pPr algn="l"/>
            <a:r>
              <a:rPr lang="en-US" altLang="en-US" sz="1800">
                <a:solidFill>
                  <a:srgbClr val="000000"/>
                </a:solidFill>
                <a:latin typeface="Arial" pitchFamily="34" charset="0"/>
              </a:rPr>
              <a:t>Sequence</a:t>
            </a:r>
          </a:p>
          <a:p>
            <a:pPr algn="l"/>
            <a:r>
              <a:rPr lang="en-US" altLang="en-US" sz="1800">
                <a:solidFill>
                  <a:srgbClr val="000000"/>
                </a:solidFill>
                <a:latin typeface="Arial" pitchFamily="34" charset="0"/>
              </a:rPr>
              <a:t>Index</a:t>
            </a:r>
          </a:p>
          <a:p>
            <a:pPr algn="l"/>
            <a:r>
              <a:rPr lang="en-US" altLang="en-US" sz="1800">
                <a:solidFill>
                  <a:srgbClr val="000000"/>
                </a:solidFill>
                <a:latin typeface="Arial" pitchFamily="34" charset="0"/>
              </a:rPr>
              <a:t>Synonym</a:t>
            </a:r>
          </a:p>
        </p:txBody>
      </p:sp>
    </p:spTree>
    <p:extLst>
      <p:ext uri="{BB962C8B-B14F-4D97-AF65-F5344CB8AC3E}">
        <p14:creationId xmlns:p14="http://schemas.microsoft.com/office/powerpoint/2010/main" val="3249694455"/>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9226"/>
                                        </p:tgtEl>
                                        <p:attrNameLst>
                                          <p:attrName>style.visibility</p:attrName>
                                        </p:attrNameLst>
                                      </p:cBhvr>
                                      <p:to>
                                        <p:strVal val="visible"/>
                                      </p:to>
                                    </p:set>
                                    <p:animEffect transition="in" filter="wipe(up)">
                                      <p:cBhvr>
                                        <p:cTn id="7" dur="500"/>
                                        <p:tgtEl>
                                          <p:spTgt spid="92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6"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noFill/>
          <a:ln/>
        </p:spPr>
        <p:txBody>
          <a:bodyPr/>
          <a:lstStyle/>
          <a:p>
            <a:r>
              <a:rPr lang="en-US" altLang="en-US"/>
              <a:t>What Is a View?</a:t>
            </a:r>
          </a:p>
        </p:txBody>
      </p:sp>
      <p:sp>
        <p:nvSpPr>
          <p:cNvPr id="11267" name="Rectangle 3"/>
          <p:cNvSpPr>
            <a:spLocks noChangeArrowheads="1"/>
          </p:cNvSpPr>
          <p:nvPr/>
        </p:nvSpPr>
        <p:spPr bwMode="auto">
          <a:xfrm>
            <a:off x="2344738" y="1622425"/>
            <a:ext cx="5684837" cy="3965575"/>
          </a:xfrm>
          <a:prstGeom prst="rect">
            <a:avLst/>
          </a:prstGeom>
          <a:solidFill>
            <a:srgbClr val="DDDDDD"/>
          </a:solidFill>
          <a:ln w="12700">
            <a:solidFill>
              <a:srgbClr val="000000"/>
            </a:solidFill>
            <a:miter lim="800000"/>
            <a:headEnd/>
            <a:tailEnd/>
          </a:ln>
          <a:effectLst>
            <a:outerShdw dist="71842" dir="2700000" algn="ctr" rotWithShape="0">
              <a:srgbClr val="000000"/>
            </a:outerShdw>
          </a:effectLst>
        </p:spPr>
        <p:txBody>
          <a:bodyPr lIns="92075" tIns="46038" rIns="92075" bIns="46038">
            <a:spAutoFit/>
          </a:bodyPr>
          <a:lstStyle/>
          <a:p>
            <a:pPr algn="l">
              <a:lnSpc>
                <a:spcPts val="1900"/>
              </a:lnSpc>
              <a:spcBef>
                <a:spcPct val="0"/>
              </a:spcBef>
            </a:pPr>
            <a:r>
              <a:rPr lang="en-US" altLang="en-US" sz="1200">
                <a:solidFill>
                  <a:srgbClr val="000000"/>
                </a:solidFill>
                <a:latin typeface="Courier New" pitchFamily="49" charset="0"/>
              </a:rPr>
              <a:t>EMPNO ENAME   JOB         MGR HIREDATE    SAL  COMM  DEPTNO</a:t>
            </a:r>
          </a:p>
          <a:p>
            <a:pPr algn="l">
              <a:lnSpc>
                <a:spcPts val="1900"/>
              </a:lnSpc>
              <a:spcBef>
                <a:spcPct val="0"/>
              </a:spcBef>
            </a:pPr>
            <a:r>
              <a:rPr lang="en-US" altLang="en-US" sz="1200">
                <a:solidFill>
                  <a:srgbClr val="000000"/>
                </a:solidFill>
                <a:latin typeface="Courier New" pitchFamily="49" charset="0"/>
              </a:rPr>
              <a:t>----- ------- --------- ----- --------- ----- ----- -------</a:t>
            </a:r>
          </a:p>
          <a:p>
            <a:pPr algn="l">
              <a:lnSpc>
                <a:spcPts val="1900"/>
              </a:lnSpc>
              <a:spcBef>
                <a:spcPct val="0"/>
              </a:spcBef>
            </a:pPr>
            <a:r>
              <a:rPr lang="en-US" altLang="en-US" sz="1200">
                <a:solidFill>
                  <a:srgbClr val="000000"/>
                </a:solidFill>
                <a:latin typeface="Courier New" pitchFamily="49" charset="0"/>
              </a:rPr>
              <a:t> 7839 KING    PRESIDENT       17-NOV-81  5000            10</a:t>
            </a:r>
          </a:p>
          <a:p>
            <a:pPr algn="l">
              <a:lnSpc>
                <a:spcPts val="1900"/>
              </a:lnSpc>
              <a:spcBef>
                <a:spcPct val="0"/>
              </a:spcBef>
            </a:pPr>
            <a:r>
              <a:rPr lang="en-US" altLang="en-US" sz="1200">
                <a:solidFill>
                  <a:srgbClr val="000000"/>
                </a:solidFill>
                <a:latin typeface="Courier New" pitchFamily="49" charset="0"/>
              </a:rPr>
              <a:t> 7698 BLAKE   MANAGER    7839 01-MAY-81  2850            30</a:t>
            </a:r>
          </a:p>
          <a:p>
            <a:pPr algn="l">
              <a:lnSpc>
                <a:spcPts val="1900"/>
              </a:lnSpc>
              <a:spcBef>
                <a:spcPct val="0"/>
              </a:spcBef>
            </a:pPr>
            <a:r>
              <a:rPr lang="en-US" altLang="en-US" sz="1200">
                <a:solidFill>
                  <a:srgbClr val="000000"/>
                </a:solidFill>
                <a:latin typeface="Courier New" pitchFamily="49" charset="0"/>
              </a:rPr>
              <a:t> 7782 CLARK   MANAGER    7839 09-JUN-81  2450            10</a:t>
            </a:r>
          </a:p>
          <a:p>
            <a:pPr algn="l">
              <a:lnSpc>
                <a:spcPts val="1900"/>
              </a:lnSpc>
              <a:spcBef>
                <a:spcPct val="0"/>
              </a:spcBef>
            </a:pPr>
            <a:r>
              <a:rPr lang="en-US" altLang="en-US" sz="1200">
                <a:solidFill>
                  <a:srgbClr val="000000"/>
                </a:solidFill>
                <a:latin typeface="Courier New" pitchFamily="49" charset="0"/>
              </a:rPr>
              <a:t> 7566 JONES   MANAGER    7839 02-APR-81  2975            20</a:t>
            </a:r>
          </a:p>
          <a:p>
            <a:pPr algn="l">
              <a:lnSpc>
                <a:spcPts val="1900"/>
              </a:lnSpc>
              <a:spcBef>
                <a:spcPct val="0"/>
              </a:spcBef>
            </a:pPr>
            <a:r>
              <a:rPr lang="en-US" altLang="en-US" sz="1200">
                <a:solidFill>
                  <a:srgbClr val="000000"/>
                </a:solidFill>
                <a:latin typeface="Courier New" pitchFamily="49" charset="0"/>
              </a:rPr>
              <a:t> 7654 MARTIN  SALESMAN   7698 28-SEP-81  1250  1400      30</a:t>
            </a:r>
          </a:p>
          <a:p>
            <a:pPr algn="l">
              <a:lnSpc>
                <a:spcPts val="1900"/>
              </a:lnSpc>
              <a:spcBef>
                <a:spcPct val="0"/>
              </a:spcBef>
            </a:pPr>
            <a:r>
              <a:rPr lang="en-US" altLang="en-US" sz="1200">
                <a:solidFill>
                  <a:srgbClr val="000000"/>
                </a:solidFill>
                <a:latin typeface="Courier New" pitchFamily="49" charset="0"/>
              </a:rPr>
              <a:t> 7499 ALLEN   SALESMAN   7698 20-FEB-81  1600   300      30</a:t>
            </a:r>
          </a:p>
          <a:p>
            <a:pPr algn="l">
              <a:lnSpc>
                <a:spcPts val="1900"/>
              </a:lnSpc>
              <a:spcBef>
                <a:spcPct val="0"/>
              </a:spcBef>
            </a:pPr>
            <a:r>
              <a:rPr lang="en-US" altLang="en-US" sz="1200">
                <a:solidFill>
                  <a:srgbClr val="000000"/>
                </a:solidFill>
                <a:latin typeface="Courier New" pitchFamily="49" charset="0"/>
              </a:rPr>
              <a:t> 7844 TURNER  SALESMAN   7698 08-SEP-81  1500     0      30</a:t>
            </a:r>
          </a:p>
          <a:p>
            <a:pPr algn="l">
              <a:lnSpc>
                <a:spcPts val="1900"/>
              </a:lnSpc>
              <a:spcBef>
                <a:spcPct val="0"/>
              </a:spcBef>
            </a:pPr>
            <a:r>
              <a:rPr lang="en-US" altLang="en-US" sz="1200">
                <a:solidFill>
                  <a:srgbClr val="000000"/>
                </a:solidFill>
                <a:latin typeface="Courier New" pitchFamily="49" charset="0"/>
              </a:rPr>
              <a:t> 7900 JAMES   CLERK      7698 03-DEC-81   950            30</a:t>
            </a:r>
          </a:p>
          <a:p>
            <a:pPr algn="l">
              <a:lnSpc>
                <a:spcPts val="1900"/>
              </a:lnSpc>
              <a:spcBef>
                <a:spcPct val="0"/>
              </a:spcBef>
            </a:pPr>
            <a:r>
              <a:rPr lang="en-US" altLang="en-US" sz="1200">
                <a:solidFill>
                  <a:srgbClr val="000000"/>
                </a:solidFill>
                <a:latin typeface="Courier New" pitchFamily="49" charset="0"/>
              </a:rPr>
              <a:t> 7521 WARD    SALESMAN   7698 22-FEB-81  1250   500      30</a:t>
            </a:r>
          </a:p>
          <a:p>
            <a:pPr algn="l">
              <a:lnSpc>
                <a:spcPts val="1900"/>
              </a:lnSpc>
              <a:spcBef>
                <a:spcPct val="0"/>
              </a:spcBef>
            </a:pPr>
            <a:r>
              <a:rPr lang="en-US" altLang="en-US" sz="1200">
                <a:solidFill>
                  <a:srgbClr val="000000"/>
                </a:solidFill>
                <a:latin typeface="Courier New" pitchFamily="49" charset="0"/>
              </a:rPr>
              <a:t> 7902 FORD    ANALYST    7566 03-DEC-81  3000            20</a:t>
            </a:r>
          </a:p>
          <a:p>
            <a:pPr algn="l">
              <a:lnSpc>
                <a:spcPts val="1900"/>
              </a:lnSpc>
              <a:spcBef>
                <a:spcPct val="0"/>
              </a:spcBef>
            </a:pPr>
            <a:r>
              <a:rPr lang="en-US" altLang="en-US" sz="1200">
                <a:solidFill>
                  <a:srgbClr val="000000"/>
                </a:solidFill>
                <a:latin typeface="Courier New" pitchFamily="49" charset="0"/>
              </a:rPr>
              <a:t> 7369 SMITH   CLERK      7902 17-DEC-80   800            20</a:t>
            </a:r>
          </a:p>
          <a:p>
            <a:pPr algn="l">
              <a:lnSpc>
                <a:spcPts val="1900"/>
              </a:lnSpc>
              <a:spcBef>
                <a:spcPct val="0"/>
              </a:spcBef>
            </a:pPr>
            <a:r>
              <a:rPr lang="en-US" altLang="en-US" sz="1200">
                <a:solidFill>
                  <a:srgbClr val="000000"/>
                </a:solidFill>
                <a:latin typeface="Courier New" pitchFamily="49" charset="0"/>
              </a:rPr>
              <a:t> 7788 SCOTT   ANALYST    7566 09-DEC-82  3000            20</a:t>
            </a:r>
          </a:p>
          <a:p>
            <a:pPr algn="l">
              <a:lnSpc>
                <a:spcPts val="1900"/>
              </a:lnSpc>
              <a:spcBef>
                <a:spcPct val="0"/>
              </a:spcBef>
            </a:pPr>
            <a:r>
              <a:rPr lang="en-US" altLang="en-US" sz="1200">
                <a:solidFill>
                  <a:srgbClr val="000000"/>
                </a:solidFill>
                <a:latin typeface="Courier New" pitchFamily="49" charset="0"/>
              </a:rPr>
              <a:t> 7876 ADAMS   CLERK      7788 12-JAN-83  1100            20</a:t>
            </a:r>
          </a:p>
          <a:p>
            <a:pPr algn="l">
              <a:lnSpc>
                <a:spcPts val="1900"/>
              </a:lnSpc>
              <a:spcBef>
                <a:spcPct val="0"/>
              </a:spcBef>
            </a:pPr>
            <a:r>
              <a:rPr lang="en-US" altLang="en-US" sz="1200">
                <a:solidFill>
                  <a:srgbClr val="000000"/>
                </a:solidFill>
                <a:latin typeface="Courier New" pitchFamily="49" charset="0"/>
              </a:rPr>
              <a:t> 7934 MILLER  CLERK      7782 23-JAN-82  1300            10</a:t>
            </a:r>
          </a:p>
        </p:txBody>
      </p:sp>
      <p:sp>
        <p:nvSpPr>
          <p:cNvPr id="11268" name="Rectangle 4"/>
          <p:cNvSpPr>
            <a:spLocks noChangeArrowheads="1"/>
          </p:cNvSpPr>
          <p:nvPr/>
        </p:nvSpPr>
        <p:spPr bwMode="auto">
          <a:xfrm>
            <a:off x="2270125" y="1222375"/>
            <a:ext cx="1597025" cy="4270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a:lnSpc>
                <a:spcPct val="100000"/>
              </a:lnSpc>
              <a:spcBef>
                <a:spcPct val="0"/>
              </a:spcBef>
            </a:pPr>
            <a:r>
              <a:rPr lang="en-US" altLang="en-US" sz="2200">
                <a:solidFill>
                  <a:srgbClr val="FFFFCC"/>
                </a:solidFill>
                <a:effectLst>
                  <a:outerShdw blurRad="38100" dist="38100" dir="2700000" algn="tl">
                    <a:srgbClr val="000000"/>
                  </a:outerShdw>
                </a:effectLst>
                <a:latin typeface="Arial" pitchFamily="34" charset="0"/>
              </a:rPr>
              <a:t>EMP Table</a:t>
            </a:r>
          </a:p>
        </p:txBody>
      </p:sp>
      <p:grpSp>
        <p:nvGrpSpPr>
          <p:cNvPr id="11278" name="Group 14"/>
          <p:cNvGrpSpPr>
            <a:grpSpLocks/>
          </p:cNvGrpSpPr>
          <p:nvPr/>
        </p:nvGrpSpPr>
        <p:grpSpPr bwMode="auto">
          <a:xfrm>
            <a:off x="1195388" y="1622425"/>
            <a:ext cx="6834187" cy="3965575"/>
            <a:chOff x="753" y="1022"/>
            <a:chExt cx="4305" cy="2498"/>
          </a:xfrm>
        </p:grpSpPr>
        <p:sp>
          <p:nvSpPr>
            <p:cNvPr id="11269" name="Rectangle 5"/>
            <p:cNvSpPr>
              <a:spLocks noChangeArrowheads="1"/>
            </p:cNvSpPr>
            <p:nvPr/>
          </p:nvSpPr>
          <p:spPr bwMode="blackWhite">
            <a:xfrm>
              <a:off x="1477" y="1022"/>
              <a:ext cx="3581" cy="2498"/>
            </a:xfrm>
            <a:prstGeom prst="rect">
              <a:avLst/>
            </a:prstGeom>
            <a:solidFill>
              <a:srgbClr val="777777"/>
            </a:solidFill>
            <a:ln w="12700">
              <a:solidFill>
                <a:srgbClr val="000000"/>
              </a:solidFill>
              <a:miter lim="800000"/>
              <a:headEnd/>
              <a:tailEnd/>
            </a:ln>
            <a:effectLst>
              <a:outerShdw dist="71842" dir="2700000" algn="ctr" rotWithShape="0">
                <a:srgbClr val="000000"/>
              </a:outerShdw>
            </a:effectLst>
          </p:spPr>
          <p:txBody>
            <a:bodyPr lIns="92075" tIns="46038" rIns="92075" bIns="46038">
              <a:spAutoFit/>
            </a:bodyPr>
            <a:lstStyle/>
            <a:p>
              <a:pPr algn="l">
                <a:lnSpc>
                  <a:spcPts val="1900"/>
                </a:lnSpc>
                <a:spcBef>
                  <a:spcPct val="0"/>
                </a:spcBef>
              </a:pPr>
              <a:r>
                <a:rPr lang="en-US" altLang="en-US" sz="1200">
                  <a:solidFill>
                    <a:srgbClr val="000000"/>
                  </a:solidFill>
                  <a:latin typeface="Courier New" pitchFamily="49" charset="0"/>
                </a:rPr>
                <a:t>EMPNO ENAME    JOB        MGR HIREDATE     SAL  COMM  DEPTNO</a:t>
              </a:r>
            </a:p>
            <a:p>
              <a:pPr algn="l">
                <a:lnSpc>
                  <a:spcPts val="1900"/>
                </a:lnSpc>
                <a:spcBef>
                  <a:spcPct val="0"/>
                </a:spcBef>
              </a:pPr>
              <a:r>
                <a:rPr lang="en-US" altLang="en-US" sz="1200">
                  <a:solidFill>
                    <a:srgbClr val="000000"/>
                  </a:solidFill>
                  <a:latin typeface="Courier New" pitchFamily="49" charset="0"/>
                </a:rPr>
                <a:t>----- -------- --------- ---- --------- ------ ----- -------</a:t>
              </a:r>
            </a:p>
            <a:p>
              <a:pPr algn="l">
                <a:lnSpc>
                  <a:spcPts val="1900"/>
                </a:lnSpc>
                <a:spcBef>
                  <a:spcPct val="0"/>
                </a:spcBef>
              </a:pPr>
              <a:r>
                <a:rPr lang="en-US" altLang="en-US" sz="1200">
                  <a:solidFill>
                    <a:srgbClr val="000000"/>
                  </a:solidFill>
                  <a:latin typeface="Courier New" pitchFamily="49" charset="0"/>
                </a:rPr>
                <a:t>7839  KING     PRESIDENT      17-NOV-81   5000            10</a:t>
              </a:r>
            </a:p>
            <a:p>
              <a:pPr algn="l">
                <a:lnSpc>
                  <a:spcPts val="1900"/>
                </a:lnSpc>
                <a:spcBef>
                  <a:spcPct val="0"/>
                </a:spcBef>
              </a:pPr>
              <a:r>
                <a:rPr lang="en-US" altLang="en-US" sz="1200">
                  <a:solidFill>
                    <a:srgbClr val="000000"/>
                  </a:solidFill>
                  <a:latin typeface="Courier New" pitchFamily="49" charset="0"/>
                </a:rPr>
                <a:t>7782  CLARK    MANAGER   7839 09-JUN-81   1500   300      10</a:t>
              </a:r>
            </a:p>
            <a:p>
              <a:pPr algn="l">
                <a:lnSpc>
                  <a:spcPts val="1900"/>
                </a:lnSpc>
                <a:spcBef>
                  <a:spcPct val="0"/>
                </a:spcBef>
              </a:pPr>
              <a:r>
                <a:rPr lang="en-US" altLang="en-US" sz="1200">
                  <a:solidFill>
                    <a:srgbClr val="000000"/>
                  </a:solidFill>
                  <a:latin typeface="Courier New" pitchFamily="49" charset="0"/>
                </a:rPr>
                <a:t>7934  MILLER   CLERK     7782 23-JAN-82   1300            10</a:t>
              </a:r>
            </a:p>
            <a:p>
              <a:pPr algn="l">
                <a:lnSpc>
                  <a:spcPts val="1900"/>
                </a:lnSpc>
                <a:spcBef>
                  <a:spcPct val="0"/>
                </a:spcBef>
              </a:pPr>
              <a:r>
                <a:rPr lang="en-US" altLang="en-US" sz="1200">
                  <a:solidFill>
                    <a:srgbClr val="000000"/>
                  </a:solidFill>
                  <a:latin typeface="Courier New" pitchFamily="49" charset="0"/>
                </a:rPr>
                <a:t>7566  JONES    MANAGER   7839 02-APR-81   2975            20</a:t>
              </a:r>
            </a:p>
            <a:p>
              <a:pPr algn="l">
                <a:lnSpc>
                  <a:spcPts val="1900"/>
                </a:lnSpc>
                <a:spcBef>
                  <a:spcPct val="0"/>
                </a:spcBef>
              </a:pPr>
              <a:r>
                <a:rPr lang="en-US" altLang="en-US" sz="1200">
                  <a:solidFill>
                    <a:srgbClr val="000000"/>
                  </a:solidFill>
                  <a:latin typeface="Courier New" pitchFamily="49" charset="0"/>
                </a:rPr>
                <a:t>7788  SCOTT    ANALYST   7566 09-DEC-82   3000            20</a:t>
              </a:r>
            </a:p>
            <a:p>
              <a:pPr algn="l">
                <a:lnSpc>
                  <a:spcPts val="1900"/>
                </a:lnSpc>
                <a:spcBef>
                  <a:spcPct val="0"/>
                </a:spcBef>
              </a:pPr>
              <a:r>
                <a:rPr lang="en-US" altLang="en-US" sz="1200">
                  <a:solidFill>
                    <a:srgbClr val="000000"/>
                  </a:solidFill>
                  <a:latin typeface="Courier New" pitchFamily="49" charset="0"/>
                </a:rPr>
                <a:t>7876  ADAMS    CLERK     7788 12-JAN-83   1100            20</a:t>
              </a:r>
            </a:p>
            <a:p>
              <a:pPr algn="l">
                <a:lnSpc>
                  <a:spcPts val="1900"/>
                </a:lnSpc>
                <a:spcBef>
                  <a:spcPct val="0"/>
                </a:spcBef>
              </a:pPr>
              <a:r>
                <a:rPr lang="en-US" altLang="en-US" sz="1200">
                  <a:solidFill>
                    <a:srgbClr val="000000"/>
                  </a:solidFill>
                  <a:latin typeface="Courier New" pitchFamily="49" charset="0"/>
                </a:rPr>
                <a:t>7369  SMITH    CLERK     7902 17-DEC-80    800            20</a:t>
              </a:r>
            </a:p>
            <a:p>
              <a:pPr algn="l">
                <a:lnSpc>
                  <a:spcPts val="1900"/>
                </a:lnSpc>
                <a:spcBef>
                  <a:spcPct val="0"/>
                </a:spcBef>
              </a:pPr>
              <a:r>
                <a:rPr lang="en-US" altLang="en-US" sz="1200">
                  <a:solidFill>
                    <a:srgbClr val="000000"/>
                  </a:solidFill>
                  <a:latin typeface="Courier New" pitchFamily="49" charset="0"/>
                </a:rPr>
                <a:t>7902  FORD     ANALYST   7566 03-DEC-81   3000            20</a:t>
              </a:r>
            </a:p>
            <a:p>
              <a:pPr algn="l">
                <a:lnSpc>
                  <a:spcPts val="1900"/>
                </a:lnSpc>
                <a:spcBef>
                  <a:spcPct val="0"/>
                </a:spcBef>
              </a:pPr>
              <a:r>
                <a:rPr lang="en-US" altLang="en-US" sz="1200">
                  <a:solidFill>
                    <a:srgbClr val="000000"/>
                  </a:solidFill>
                  <a:latin typeface="Courier New" pitchFamily="49" charset="0"/>
                </a:rPr>
                <a:t>7698  BLAKE    MANAGER   7839 01-MAY-81   2850            30</a:t>
              </a:r>
            </a:p>
            <a:p>
              <a:pPr algn="l">
                <a:lnSpc>
                  <a:spcPts val="1900"/>
                </a:lnSpc>
                <a:spcBef>
                  <a:spcPct val="0"/>
                </a:spcBef>
              </a:pPr>
              <a:r>
                <a:rPr lang="en-US" altLang="en-US" sz="1200">
                  <a:solidFill>
                    <a:srgbClr val="000000"/>
                  </a:solidFill>
                  <a:latin typeface="Courier New" pitchFamily="49" charset="0"/>
                </a:rPr>
                <a:t>7654  MARTIN   SALESMAN  7698 28-SEP-81   1250  1400      30</a:t>
              </a:r>
            </a:p>
            <a:p>
              <a:pPr algn="l">
                <a:lnSpc>
                  <a:spcPts val="1900"/>
                </a:lnSpc>
                <a:spcBef>
                  <a:spcPct val="0"/>
                </a:spcBef>
              </a:pPr>
              <a:r>
                <a:rPr lang="en-US" altLang="en-US" sz="1200">
                  <a:solidFill>
                    <a:srgbClr val="000000"/>
                  </a:solidFill>
                  <a:latin typeface="Courier New" pitchFamily="49" charset="0"/>
                </a:rPr>
                <a:t>7499  ALLEN    SALESMAN  7698 20-FEB-81   1600   300      30</a:t>
              </a:r>
            </a:p>
            <a:p>
              <a:pPr algn="l">
                <a:lnSpc>
                  <a:spcPts val="1900"/>
                </a:lnSpc>
                <a:spcBef>
                  <a:spcPct val="0"/>
                </a:spcBef>
              </a:pPr>
              <a:r>
                <a:rPr lang="en-US" altLang="en-US" sz="1200">
                  <a:solidFill>
                    <a:srgbClr val="000000"/>
                  </a:solidFill>
                  <a:latin typeface="Courier New" pitchFamily="49" charset="0"/>
                </a:rPr>
                <a:t>7844  TURNER   SALESMAN  7698 08-SEP-81   1500     0      30</a:t>
              </a:r>
            </a:p>
            <a:p>
              <a:pPr algn="l">
                <a:lnSpc>
                  <a:spcPts val="1900"/>
                </a:lnSpc>
                <a:spcBef>
                  <a:spcPct val="0"/>
                </a:spcBef>
              </a:pPr>
              <a:r>
                <a:rPr lang="en-US" altLang="en-US" sz="1200">
                  <a:solidFill>
                    <a:srgbClr val="000000"/>
                  </a:solidFill>
                  <a:latin typeface="Courier New" pitchFamily="49" charset="0"/>
                </a:rPr>
                <a:t>7900  JAMES    CLERK     7698 03-DEC-81    950            30</a:t>
              </a:r>
            </a:p>
            <a:p>
              <a:pPr algn="l">
                <a:lnSpc>
                  <a:spcPts val="1900"/>
                </a:lnSpc>
                <a:spcBef>
                  <a:spcPct val="0"/>
                </a:spcBef>
              </a:pPr>
              <a:r>
                <a:rPr lang="en-US" altLang="en-US" sz="1200">
                  <a:solidFill>
                    <a:srgbClr val="000000"/>
                  </a:solidFill>
                  <a:latin typeface="Courier New" pitchFamily="49" charset="0"/>
                </a:rPr>
                <a:t>7521  WARD     SALESMAN  7698 22-FEB-81   1250   500      30</a:t>
              </a:r>
            </a:p>
          </p:txBody>
        </p:sp>
        <p:grpSp>
          <p:nvGrpSpPr>
            <p:cNvPr id="11277" name="Group 13"/>
            <p:cNvGrpSpPr>
              <a:grpSpLocks/>
            </p:cNvGrpSpPr>
            <p:nvPr/>
          </p:nvGrpSpPr>
          <p:grpSpPr bwMode="auto">
            <a:xfrm>
              <a:off x="753" y="1380"/>
              <a:ext cx="4288" cy="1801"/>
              <a:chOff x="753" y="1380"/>
              <a:chExt cx="4288" cy="1801"/>
            </a:xfrm>
          </p:grpSpPr>
          <p:sp>
            <p:nvSpPr>
              <p:cNvPr id="11270" name="Freeform 6"/>
              <p:cNvSpPr>
                <a:spLocks/>
              </p:cNvSpPr>
              <p:nvPr/>
            </p:nvSpPr>
            <p:spPr bwMode="blackWhite">
              <a:xfrm>
                <a:off x="4056" y="1380"/>
                <a:ext cx="985" cy="1801"/>
              </a:xfrm>
              <a:custGeom>
                <a:avLst/>
                <a:gdLst>
                  <a:gd name="T0" fmla="*/ 984 w 985"/>
                  <a:gd name="T1" fmla="*/ 0 h 1801"/>
                  <a:gd name="T2" fmla="*/ 984 w 985"/>
                  <a:gd name="T3" fmla="*/ 387 h 1801"/>
                  <a:gd name="T4" fmla="*/ 12 w 985"/>
                  <a:gd name="T5" fmla="*/ 1800 h 1801"/>
                  <a:gd name="T6" fmla="*/ 0 w 985"/>
                  <a:gd name="T7" fmla="*/ 780 h 1801"/>
                  <a:gd name="T8" fmla="*/ 984 w 985"/>
                  <a:gd name="T9" fmla="*/ 0 h 1801"/>
                </a:gdLst>
                <a:ahLst/>
                <a:cxnLst>
                  <a:cxn ang="0">
                    <a:pos x="T0" y="T1"/>
                  </a:cxn>
                  <a:cxn ang="0">
                    <a:pos x="T2" y="T3"/>
                  </a:cxn>
                  <a:cxn ang="0">
                    <a:pos x="T4" y="T5"/>
                  </a:cxn>
                  <a:cxn ang="0">
                    <a:pos x="T6" y="T7"/>
                  </a:cxn>
                  <a:cxn ang="0">
                    <a:pos x="T8" y="T9"/>
                  </a:cxn>
                </a:cxnLst>
                <a:rect l="0" t="0" r="r" b="b"/>
                <a:pathLst>
                  <a:path w="985" h="1801">
                    <a:moveTo>
                      <a:pt x="984" y="0"/>
                    </a:moveTo>
                    <a:lnTo>
                      <a:pt x="984" y="387"/>
                    </a:lnTo>
                    <a:lnTo>
                      <a:pt x="12" y="1800"/>
                    </a:lnTo>
                    <a:lnTo>
                      <a:pt x="0" y="780"/>
                    </a:lnTo>
                    <a:lnTo>
                      <a:pt x="984" y="0"/>
                    </a:lnTo>
                  </a:path>
                </a:pathLst>
              </a:custGeom>
              <a:solidFill>
                <a:srgbClr val="FF6633">
                  <a:alpha val="50000"/>
                </a:srgb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1271" name="Freeform 7"/>
              <p:cNvSpPr>
                <a:spLocks/>
              </p:cNvSpPr>
              <p:nvPr/>
            </p:nvSpPr>
            <p:spPr bwMode="blackWhite">
              <a:xfrm>
                <a:off x="816" y="1380"/>
                <a:ext cx="4225" cy="781"/>
              </a:xfrm>
              <a:custGeom>
                <a:avLst/>
                <a:gdLst>
                  <a:gd name="T0" fmla="*/ 0 w 4225"/>
                  <a:gd name="T1" fmla="*/ 780 h 781"/>
                  <a:gd name="T2" fmla="*/ 696 w 4225"/>
                  <a:gd name="T3" fmla="*/ 0 h 781"/>
                  <a:gd name="T4" fmla="*/ 4224 w 4225"/>
                  <a:gd name="T5" fmla="*/ 0 h 781"/>
                  <a:gd name="T6" fmla="*/ 3252 w 4225"/>
                  <a:gd name="T7" fmla="*/ 780 h 781"/>
                  <a:gd name="T8" fmla="*/ 0 w 4225"/>
                  <a:gd name="T9" fmla="*/ 780 h 781"/>
                </a:gdLst>
                <a:ahLst/>
                <a:cxnLst>
                  <a:cxn ang="0">
                    <a:pos x="T0" y="T1"/>
                  </a:cxn>
                  <a:cxn ang="0">
                    <a:pos x="T2" y="T3"/>
                  </a:cxn>
                  <a:cxn ang="0">
                    <a:pos x="T4" y="T5"/>
                  </a:cxn>
                  <a:cxn ang="0">
                    <a:pos x="T6" y="T7"/>
                  </a:cxn>
                  <a:cxn ang="0">
                    <a:pos x="T8" y="T9"/>
                  </a:cxn>
                </a:cxnLst>
                <a:rect l="0" t="0" r="r" b="b"/>
                <a:pathLst>
                  <a:path w="4225" h="781">
                    <a:moveTo>
                      <a:pt x="0" y="780"/>
                    </a:moveTo>
                    <a:lnTo>
                      <a:pt x="696" y="0"/>
                    </a:lnTo>
                    <a:lnTo>
                      <a:pt x="4224" y="0"/>
                    </a:lnTo>
                    <a:lnTo>
                      <a:pt x="3252" y="780"/>
                    </a:lnTo>
                    <a:lnTo>
                      <a:pt x="0" y="780"/>
                    </a:lnTo>
                  </a:path>
                </a:pathLst>
              </a:custGeom>
              <a:solidFill>
                <a:srgbClr val="FF9966">
                  <a:alpha val="50000"/>
                </a:srgbClr>
              </a:solidFill>
              <a:ln>
                <a:noFill/>
              </a:ln>
              <a:effectLst/>
              <a:extLst>
                <a:ext uri="{91240B29-F687-4F45-9708-019B960494DF}">
                  <a14:hiddenLine xmlns:a14="http://schemas.microsoft.com/office/drawing/2010/main" w="9525" cap="rnd">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11276" name="Group 12"/>
              <p:cNvGrpSpPr>
                <a:grpSpLocks/>
              </p:cNvGrpSpPr>
              <p:nvPr/>
            </p:nvGrpSpPr>
            <p:grpSpPr bwMode="auto">
              <a:xfrm>
                <a:off x="753" y="1886"/>
                <a:ext cx="3376" cy="1291"/>
                <a:chOff x="753" y="1886"/>
                <a:chExt cx="3376" cy="1291"/>
              </a:xfrm>
            </p:grpSpPr>
            <p:grpSp>
              <p:nvGrpSpPr>
                <p:cNvPr id="11274" name="Group 10"/>
                <p:cNvGrpSpPr>
                  <a:grpSpLocks/>
                </p:cNvGrpSpPr>
                <p:nvPr/>
              </p:nvGrpSpPr>
              <p:grpSpPr bwMode="auto">
                <a:xfrm>
                  <a:off x="812" y="2136"/>
                  <a:ext cx="3317" cy="1041"/>
                  <a:chOff x="812" y="2136"/>
                  <a:chExt cx="3317" cy="1041"/>
                </a:xfrm>
              </p:grpSpPr>
              <p:sp>
                <p:nvSpPr>
                  <p:cNvPr id="11272" name="Rectangle 8"/>
                  <p:cNvSpPr>
                    <a:spLocks noChangeArrowheads="1"/>
                  </p:cNvSpPr>
                  <p:nvPr/>
                </p:nvSpPr>
                <p:spPr bwMode="blackWhite">
                  <a:xfrm>
                    <a:off x="812" y="2136"/>
                    <a:ext cx="3238" cy="1041"/>
                  </a:xfrm>
                  <a:prstGeom prst="rect">
                    <a:avLst/>
                  </a:prstGeom>
                  <a:gradFill rotWithShape="0">
                    <a:gsLst>
                      <a:gs pos="0">
                        <a:srgbClr val="DDDDDD">
                          <a:gamma/>
                          <a:shade val="89804"/>
                          <a:invGamma/>
                        </a:srgbClr>
                      </a:gs>
                      <a:gs pos="50000">
                        <a:srgbClr val="DDDDDD"/>
                      </a:gs>
                      <a:gs pos="100000">
                        <a:srgbClr val="DDDDDD">
                          <a:gamma/>
                          <a:shade val="89804"/>
                          <a:invGamma/>
                        </a:srgbClr>
                      </a:gs>
                    </a:gsLst>
                    <a:lin ang="2700000" scaled="1"/>
                  </a:gradFill>
                  <a:ln>
                    <a:noFill/>
                  </a:ln>
                  <a:effectLst>
                    <a:outerShdw dist="71842" dir="2700000" algn="ctr" rotWithShape="0">
                      <a:srgbClr val="000000"/>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en-US"/>
                  </a:p>
                </p:txBody>
              </p:sp>
              <p:sp>
                <p:nvSpPr>
                  <p:cNvPr id="11273" name="Rectangle 9"/>
                  <p:cNvSpPr>
                    <a:spLocks noChangeArrowheads="1"/>
                  </p:cNvSpPr>
                  <p:nvPr/>
                </p:nvSpPr>
                <p:spPr bwMode="blackWhite">
                  <a:xfrm>
                    <a:off x="814" y="2233"/>
                    <a:ext cx="3315" cy="8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lvl1pPr algn="l">
                      <a:spcBef>
                        <a:spcPct val="0"/>
                      </a:spcBef>
                      <a:tabLst>
                        <a:tab pos="2911475" algn="l"/>
                      </a:tabLst>
                      <a:defRPr sz="2400">
                        <a:solidFill>
                          <a:schemeClr val="tx1"/>
                        </a:solidFill>
                        <a:latin typeface="Times New Roman" pitchFamily="18" charset="0"/>
                      </a:defRPr>
                    </a:lvl1pPr>
                    <a:lvl2pPr algn="l">
                      <a:spcBef>
                        <a:spcPct val="0"/>
                      </a:spcBef>
                      <a:tabLst>
                        <a:tab pos="2911475" algn="l"/>
                      </a:tabLst>
                      <a:defRPr sz="2400">
                        <a:solidFill>
                          <a:schemeClr val="tx1"/>
                        </a:solidFill>
                        <a:latin typeface="Times New Roman" pitchFamily="18" charset="0"/>
                      </a:defRPr>
                    </a:lvl2pPr>
                    <a:lvl3pPr algn="l">
                      <a:spcBef>
                        <a:spcPct val="0"/>
                      </a:spcBef>
                      <a:tabLst>
                        <a:tab pos="2911475" algn="l"/>
                      </a:tabLst>
                      <a:defRPr sz="2400">
                        <a:solidFill>
                          <a:schemeClr val="tx1"/>
                        </a:solidFill>
                        <a:latin typeface="Times New Roman" pitchFamily="18" charset="0"/>
                      </a:defRPr>
                    </a:lvl3pPr>
                    <a:lvl4pPr algn="l">
                      <a:spcBef>
                        <a:spcPct val="0"/>
                      </a:spcBef>
                      <a:tabLst>
                        <a:tab pos="2911475" algn="l"/>
                      </a:tabLst>
                      <a:defRPr sz="2400">
                        <a:solidFill>
                          <a:schemeClr val="tx1"/>
                        </a:solidFill>
                        <a:latin typeface="Times New Roman" pitchFamily="18" charset="0"/>
                      </a:defRPr>
                    </a:lvl4pPr>
                    <a:lvl5pPr algn="l">
                      <a:spcBef>
                        <a:spcPct val="0"/>
                      </a:spcBef>
                      <a:tabLst>
                        <a:tab pos="2911475" algn="l"/>
                      </a:tabLst>
                      <a:defRPr sz="2400">
                        <a:solidFill>
                          <a:schemeClr val="tx1"/>
                        </a:solidFill>
                        <a:latin typeface="Times New Roman" pitchFamily="18" charset="0"/>
                      </a:defRPr>
                    </a:lvl5pPr>
                    <a:lvl6pPr fontAlgn="base">
                      <a:spcBef>
                        <a:spcPct val="0"/>
                      </a:spcBef>
                      <a:spcAft>
                        <a:spcPct val="0"/>
                      </a:spcAft>
                      <a:tabLst>
                        <a:tab pos="2911475" algn="l"/>
                      </a:tabLst>
                      <a:defRPr sz="2400">
                        <a:solidFill>
                          <a:schemeClr val="tx1"/>
                        </a:solidFill>
                        <a:latin typeface="Times New Roman" pitchFamily="18" charset="0"/>
                      </a:defRPr>
                    </a:lvl6pPr>
                    <a:lvl7pPr fontAlgn="base">
                      <a:spcBef>
                        <a:spcPct val="0"/>
                      </a:spcBef>
                      <a:spcAft>
                        <a:spcPct val="0"/>
                      </a:spcAft>
                      <a:tabLst>
                        <a:tab pos="2911475" algn="l"/>
                      </a:tabLst>
                      <a:defRPr sz="2400">
                        <a:solidFill>
                          <a:schemeClr val="tx1"/>
                        </a:solidFill>
                        <a:latin typeface="Times New Roman" pitchFamily="18" charset="0"/>
                      </a:defRPr>
                    </a:lvl7pPr>
                    <a:lvl8pPr fontAlgn="base">
                      <a:spcBef>
                        <a:spcPct val="0"/>
                      </a:spcBef>
                      <a:spcAft>
                        <a:spcPct val="0"/>
                      </a:spcAft>
                      <a:tabLst>
                        <a:tab pos="2911475" algn="l"/>
                      </a:tabLst>
                      <a:defRPr sz="2400">
                        <a:solidFill>
                          <a:schemeClr val="tx1"/>
                        </a:solidFill>
                        <a:latin typeface="Times New Roman" pitchFamily="18" charset="0"/>
                      </a:defRPr>
                    </a:lvl8pPr>
                    <a:lvl9pPr fontAlgn="base">
                      <a:spcBef>
                        <a:spcPct val="0"/>
                      </a:spcBef>
                      <a:spcAft>
                        <a:spcPct val="0"/>
                      </a:spcAft>
                      <a:tabLst>
                        <a:tab pos="2911475" algn="l"/>
                      </a:tabLst>
                      <a:defRPr sz="2400">
                        <a:solidFill>
                          <a:schemeClr val="tx1"/>
                        </a:solidFill>
                        <a:latin typeface="Times New Roman" pitchFamily="18" charset="0"/>
                      </a:defRPr>
                    </a:lvl9pPr>
                  </a:lstStyle>
                  <a:p>
                    <a:pPr>
                      <a:lnSpc>
                        <a:spcPts val="1300"/>
                      </a:lnSpc>
                    </a:pPr>
                    <a:r>
                      <a:rPr lang="en-US" altLang="en-US">
                        <a:solidFill>
                          <a:srgbClr val="000000"/>
                        </a:solidFill>
                        <a:latin typeface="Courier New" pitchFamily="49" charset="0"/>
                      </a:rPr>
                      <a:t> </a:t>
                    </a:r>
                    <a:r>
                      <a:rPr lang="en-US" altLang="en-US" sz="2200">
                        <a:solidFill>
                          <a:srgbClr val="000000"/>
                        </a:solidFill>
                        <a:latin typeface="Courier New" pitchFamily="49" charset="0"/>
                      </a:rPr>
                      <a:t>EMPNO ENAME    JOB        </a:t>
                    </a:r>
                  </a:p>
                  <a:p>
                    <a:pPr>
                      <a:lnSpc>
                        <a:spcPts val="1300"/>
                      </a:lnSpc>
                    </a:pPr>
                    <a:r>
                      <a:rPr lang="en-US" altLang="en-US" sz="2200">
                        <a:solidFill>
                          <a:srgbClr val="000000"/>
                        </a:solidFill>
                        <a:latin typeface="Courier New" pitchFamily="49" charset="0"/>
                      </a:rPr>
                      <a:t>------ -------- ----------- </a:t>
                    </a:r>
                  </a:p>
                  <a:p>
                    <a:pPr>
                      <a:lnSpc>
                        <a:spcPct val="100000"/>
                      </a:lnSpc>
                    </a:pPr>
                    <a:r>
                      <a:rPr lang="en-US" altLang="en-US" sz="2200">
                        <a:solidFill>
                          <a:srgbClr val="000000"/>
                        </a:solidFill>
                        <a:latin typeface="Courier New" pitchFamily="49" charset="0"/>
                      </a:rPr>
                      <a:t>  7839 KING     PRESIDENT</a:t>
                    </a:r>
                  </a:p>
                  <a:p>
                    <a:pPr>
                      <a:lnSpc>
                        <a:spcPct val="100000"/>
                      </a:lnSpc>
                    </a:pPr>
                    <a:r>
                      <a:rPr lang="en-US" altLang="en-US" sz="2200">
                        <a:solidFill>
                          <a:srgbClr val="000000"/>
                        </a:solidFill>
                        <a:latin typeface="Courier New" pitchFamily="49" charset="0"/>
                      </a:rPr>
                      <a:t>  7782 CLARK    MANAGER</a:t>
                    </a:r>
                  </a:p>
                  <a:p>
                    <a:pPr>
                      <a:lnSpc>
                        <a:spcPct val="100000"/>
                      </a:lnSpc>
                    </a:pPr>
                    <a:r>
                      <a:rPr lang="en-US" altLang="en-US" sz="2200">
                        <a:solidFill>
                          <a:srgbClr val="000000"/>
                        </a:solidFill>
                        <a:latin typeface="Courier New" pitchFamily="49" charset="0"/>
                      </a:rPr>
                      <a:t>  7934 MILLER   CLERK</a:t>
                    </a:r>
                  </a:p>
                </p:txBody>
              </p:sp>
            </p:grpSp>
            <p:sp>
              <p:nvSpPr>
                <p:cNvPr id="11275" name="Rectangle 11"/>
                <p:cNvSpPr>
                  <a:spLocks noChangeArrowheads="1"/>
                </p:cNvSpPr>
                <p:nvPr/>
              </p:nvSpPr>
              <p:spPr bwMode="blackWhite">
                <a:xfrm>
                  <a:off x="753" y="1886"/>
                  <a:ext cx="1681" cy="2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a:lnSpc>
                      <a:spcPct val="100000"/>
                    </a:lnSpc>
                    <a:spcBef>
                      <a:spcPct val="0"/>
                    </a:spcBef>
                  </a:pPr>
                  <a:r>
                    <a:rPr lang="en-US" altLang="en-US" sz="2200">
                      <a:solidFill>
                        <a:srgbClr val="FFFFCC"/>
                      </a:solidFill>
                      <a:effectLst>
                        <a:outerShdw blurRad="38100" dist="38100" dir="2700000" algn="tl">
                          <a:srgbClr val="000000"/>
                        </a:outerShdw>
                      </a:effectLst>
                      <a:latin typeface="Arial" pitchFamily="34" charset="0"/>
                    </a:rPr>
                    <a:t>      EMPVU10 View</a:t>
                  </a:r>
                </a:p>
              </p:txBody>
            </p:sp>
          </p:grpSp>
        </p:grpSp>
      </p:grpSp>
    </p:spTree>
    <p:extLst>
      <p:ext uri="{BB962C8B-B14F-4D97-AF65-F5344CB8AC3E}">
        <p14:creationId xmlns:p14="http://schemas.microsoft.com/office/powerpoint/2010/main" val="620896385"/>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11278"/>
                                        </p:tgtEl>
                                        <p:attrNameLst>
                                          <p:attrName>style.visibility</p:attrName>
                                        </p:attrNameLst>
                                      </p:cBhvr>
                                      <p:to>
                                        <p:strVal val="visible"/>
                                      </p:to>
                                    </p:set>
                                    <p:animEffect transition="in" filter="box(out)">
                                      <p:cBhvr>
                                        <p:cTn id="7" dur="500"/>
                                        <p:tgtEl>
                                          <p:spTgt spid="112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noFill/>
          <a:ln/>
        </p:spPr>
        <p:txBody>
          <a:bodyPr/>
          <a:lstStyle/>
          <a:p>
            <a:r>
              <a:rPr lang="en-US" altLang="en-US"/>
              <a:t>Why Use Views?</a:t>
            </a:r>
          </a:p>
        </p:txBody>
      </p:sp>
      <p:sp>
        <p:nvSpPr>
          <p:cNvPr id="13315" name="Rectangle 3"/>
          <p:cNvSpPr>
            <a:spLocks noGrp="1" noChangeArrowheads="1"/>
          </p:cNvSpPr>
          <p:nvPr>
            <p:ph type="body" idx="1"/>
          </p:nvPr>
        </p:nvSpPr>
        <p:spPr>
          <a:xfrm>
            <a:off x="860425" y="1795463"/>
            <a:ext cx="7385050" cy="2016125"/>
          </a:xfrm>
          <a:noFill/>
          <a:ln/>
        </p:spPr>
        <p:txBody>
          <a:bodyPr/>
          <a:lstStyle/>
          <a:p>
            <a:pPr lvl="1"/>
            <a:r>
              <a:rPr lang="en-US" altLang="en-US"/>
              <a:t>To restrict database access</a:t>
            </a:r>
          </a:p>
          <a:p>
            <a:pPr lvl="1"/>
            <a:r>
              <a:rPr lang="en-US" altLang="en-US"/>
              <a:t>To make complex queries easy</a:t>
            </a:r>
          </a:p>
          <a:p>
            <a:pPr lvl="1"/>
            <a:r>
              <a:rPr lang="en-US" altLang="en-US"/>
              <a:t>To present different views of the same data</a:t>
            </a:r>
          </a:p>
        </p:txBody>
      </p:sp>
    </p:spTree>
    <p:extLst>
      <p:ext uri="{BB962C8B-B14F-4D97-AF65-F5344CB8AC3E}">
        <p14:creationId xmlns:p14="http://schemas.microsoft.com/office/powerpoint/2010/main" val="3751238181"/>
      </p:ext>
    </p:extLst>
  </p:cSld>
  <p:clrMapOvr>
    <a:masterClrMapping/>
  </p:clrMapOvr>
  <p:transition spd="slow"/>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ChangeArrowheads="1"/>
          </p:cNvSpPr>
          <p:nvPr/>
        </p:nvSpPr>
        <p:spPr bwMode="blackWhite">
          <a:xfrm>
            <a:off x="777875" y="1944688"/>
            <a:ext cx="7650163" cy="2767012"/>
          </a:xfrm>
          <a:prstGeom prst="rect">
            <a:avLst/>
          </a:prstGeom>
          <a:solidFill>
            <a:srgbClr val="FFCC99"/>
          </a:solidFill>
          <a:ln w="25400">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lstStyle>
            <a:lvl1pPr algn="l">
              <a:spcBef>
                <a:spcPct val="0"/>
              </a:spcBef>
              <a:tabLst>
                <a:tab pos="3378200" algn="l"/>
                <a:tab pos="5373688" algn="l"/>
              </a:tabLst>
              <a:defRPr sz="2400">
                <a:solidFill>
                  <a:schemeClr val="tx1"/>
                </a:solidFill>
                <a:latin typeface="Times New Roman" pitchFamily="18" charset="0"/>
              </a:defRPr>
            </a:lvl1pPr>
            <a:lvl2pPr algn="l">
              <a:spcBef>
                <a:spcPct val="0"/>
              </a:spcBef>
              <a:tabLst>
                <a:tab pos="3378200" algn="l"/>
                <a:tab pos="5373688" algn="l"/>
              </a:tabLst>
              <a:defRPr sz="2400">
                <a:solidFill>
                  <a:schemeClr val="tx1"/>
                </a:solidFill>
                <a:latin typeface="Times New Roman" pitchFamily="18" charset="0"/>
              </a:defRPr>
            </a:lvl2pPr>
            <a:lvl3pPr algn="l">
              <a:spcBef>
                <a:spcPct val="0"/>
              </a:spcBef>
              <a:tabLst>
                <a:tab pos="3378200" algn="l"/>
                <a:tab pos="5373688" algn="l"/>
              </a:tabLst>
              <a:defRPr sz="2400">
                <a:solidFill>
                  <a:schemeClr val="tx1"/>
                </a:solidFill>
                <a:latin typeface="Times New Roman" pitchFamily="18" charset="0"/>
              </a:defRPr>
            </a:lvl3pPr>
            <a:lvl4pPr algn="l">
              <a:spcBef>
                <a:spcPct val="0"/>
              </a:spcBef>
              <a:tabLst>
                <a:tab pos="3378200" algn="l"/>
                <a:tab pos="5373688" algn="l"/>
              </a:tabLst>
              <a:defRPr sz="2400">
                <a:solidFill>
                  <a:schemeClr val="tx1"/>
                </a:solidFill>
                <a:latin typeface="Times New Roman" pitchFamily="18" charset="0"/>
              </a:defRPr>
            </a:lvl4pPr>
            <a:lvl5pPr algn="l">
              <a:spcBef>
                <a:spcPct val="0"/>
              </a:spcBef>
              <a:tabLst>
                <a:tab pos="3378200" algn="l"/>
                <a:tab pos="5373688" algn="l"/>
              </a:tabLst>
              <a:defRPr sz="2400">
                <a:solidFill>
                  <a:schemeClr val="tx1"/>
                </a:solidFill>
                <a:latin typeface="Times New Roman" pitchFamily="18" charset="0"/>
              </a:defRPr>
            </a:lvl5pPr>
            <a:lvl6pPr fontAlgn="base">
              <a:spcBef>
                <a:spcPct val="0"/>
              </a:spcBef>
              <a:spcAft>
                <a:spcPct val="0"/>
              </a:spcAft>
              <a:tabLst>
                <a:tab pos="3378200" algn="l"/>
                <a:tab pos="5373688" algn="l"/>
              </a:tabLst>
              <a:defRPr sz="2400">
                <a:solidFill>
                  <a:schemeClr val="tx1"/>
                </a:solidFill>
                <a:latin typeface="Times New Roman" pitchFamily="18" charset="0"/>
              </a:defRPr>
            </a:lvl6pPr>
            <a:lvl7pPr fontAlgn="base">
              <a:spcBef>
                <a:spcPct val="0"/>
              </a:spcBef>
              <a:spcAft>
                <a:spcPct val="0"/>
              </a:spcAft>
              <a:tabLst>
                <a:tab pos="3378200" algn="l"/>
                <a:tab pos="5373688" algn="l"/>
              </a:tabLst>
              <a:defRPr sz="2400">
                <a:solidFill>
                  <a:schemeClr val="tx1"/>
                </a:solidFill>
                <a:latin typeface="Times New Roman" pitchFamily="18" charset="0"/>
              </a:defRPr>
            </a:lvl7pPr>
            <a:lvl8pPr fontAlgn="base">
              <a:spcBef>
                <a:spcPct val="0"/>
              </a:spcBef>
              <a:spcAft>
                <a:spcPct val="0"/>
              </a:spcAft>
              <a:tabLst>
                <a:tab pos="3378200" algn="l"/>
                <a:tab pos="5373688" algn="l"/>
              </a:tabLst>
              <a:defRPr sz="2400">
                <a:solidFill>
                  <a:schemeClr val="tx1"/>
                </a:solidFill>
                <a:latin typeface="Times New Roman" pitchFamily="18" charset="0"/>
              </a:defRPr>
            </a:lvl8pPr>
            <a:lvl9pPr fontAlgn="base">
              <a:spcBef>
                <a:spcPct val="0"/>
              </a:spcBef>
              <a:spcAft>
                <a:spcPct val="0"/>
              </a:spcAft>
              <a:tabLst>
                <a:tab pos="3378200" algn="l"/>
                <a:tab pos="5373688" algn="l"/>
              </a:tabLst>
              <a:defRPr sz="2400">
                <a:solidFill>
                  <a:schemeClr val="tx1"/>
                </a:solidFill>
                <a:latin typeface="Times New Roman" pitchFamily="18" charset="0"/>
              </a:defRPr>
            </a:lvl9pPr>
          </a:lstStyle>
          <a:p>
            <a:pPr>
              <a:lnSpc>
                <a:spcPct val="110000"/>
              </a:lnSpc>
              <a:spcBef>
                <a:spcPct val="60000"/>
              </a:spcBef>
            </a:pPr>
            <a:endParaRPr lang="en-US" altLang="en-US" sz="2200">
              <a:solidFill>
                <a:srgbClr val="000000"/>
              </a:solidFill>
              <a:latin typeface="Arial" pitchFamily="34" charset="0"/>
            </a:endParaRPr>
          </a:p>
          <a:p>
            <a:pPr>
              <a:lnSpc>
                <a:spcPct val="110000"/>
              </a:lnSpc>
              <a:spcBef>
                <a:spcPct val="60000"/>
              </a:spcBef>
            </a:pPr>
            <a:endParaRPr lang="en-US" altLang="en-US" sz="2200">
              <a:solidFill>
                <a:srgbClr val="000000"/>
              </a:solidFill>
              <a:latin typeface="Arial" pitchFamily="34" charset="0"/>
            </a:endParaRPr>
          </a:p>
        </p:txBody>
      </p:sp>
      <p:sp>
        <p:nvSpPr>
          <p:cNvPr id="15363" name="Rectangle 3"/>
          <p:cNvSpPr>
            <a:spLocks noGrp="1" noChangeArrowheads="1"/>
          </p:cNvSpPr>
          <p:nvPr>
            <p:ph type="title"/>
          </p:nvPr>
        </p:nvSpPr>
        <p:spPr>
          <a:noFill/>
          <a:ln/>
        </p:spPr>
        <p:txBody>
          <a:bodyPr/>
          <a:lstStyle/>
          <a:p>
            <a:r>
              <a:rPr lang="en-US" altLang="en-US"/>
              <a:t>Simple Views </a:t>
            </a:r>
            <a:br>
              <a:rPr lang="en-US" altLang="en-US"/>
            </a:br>
            <a:r>
              <a:rPr lang="en-US" altLang="en-US"/>
              <a:t>and Complex Views</a:t>
            </a:r>
          </a:p>
        </p:txBody>
      </p:sp>
      <p:sp>
        <p:nvSpPr>
          <p:cNvPr id="15364" name="Rectangle 4"/>
          <p:cNvSpPr>
            <a:spLocks noGrp="1" noChangeArrowheads="1"/>
          </p:cNvSpPr>
          <p:nvPr>
            <p:ph type="body" idx="1"/>
          </p:nvPr>
        </p:nvSpPr>
        <p:spPr bwMode="blackWhite">
          <a:xfrm>
            <a:off x="765175" y="1931988"/>
            <a:ext cx="7675563" cy="3148012"/>
          </a:xfrm>
          <a:noFill/>
          <a:ln/>
          <a:effectLst/>
          <a:extLst>
            <a:ext uri="{AF507438-7753-43E0-B8FC-AC1667EBCBE1}">
              <a14:hiddenEffects xmlns:a14="http://schemas.microsoft.com/office/drawing/2010/main">
                <a:effectLst>
                  <a:outerShdw dist="53882" dir="2700000" algn="ctr" rotWithShape="0">
                    <a:srgbClr val="000000"/>
                  </a:outerShdw>
                </a:effectLst>
              </a14:hiddenEffects>
            </a:ext>
          </a:extLst>
        </p:spPr>
        <p:txBody>
          <a:bodyPr/>
          <a:lstStyle/>
          <a:p>
            <a:pPr defTabSz="914400">
              <a:lnSpc>
                <a:spcPct val="110000"/>
              </a:lnSpc>
              <a:spcBef>
                <a:spcPct val="60000"/>
              </a:spcBef>
              <a:tabLst>
                <a:tab pos="3378200" algn="l"/>
                <a:tab pos="5373688" algn="l"/>
              </a:tabLst>
            </a:pPr>
            <a:r>
              <a:rPr lang="en-US" altLang="en-US" sz="2200">
                <a:solidFill>
                  <a:srgbClr val="000000"/>
                </a:solidFill>
                <a:effectLst/>
              </a:rPr>
              <a:t>Feature	Simple Views	Complex Views</a:t>
            </a:r>
          </a:p>
          <a:p>
            <a:pPr defTabSz="914400">
              <a:lnSpc>
                <a:spcPct val="110000"/>
              </a:lnSpc>
              <a:spcBef>
                <a:spcPct val="60000"/>
              </a:spcBef>
              <a:tabLst>
                <a:tab pos="3378200" algn="l"/>
                <a:tab pos="5373688" algn="l"/>
              </a:tabLst>
            </a:pPr>
            <a:r>
              <a:rPr lang="en-US" altLang="en-US" sz="2200">
                <a:solidFill>
                  <a:srgbClr val="000000"/>
                </a:solidFill>
                <a:effectLst/>
              </a:rPr>
              <a:t>Number of tables	One	One or more</a:t>
            </a:r>
          </a:p>
          <a:p>
            <a:pPr defTabSz="914400">
              <a:lnSpc>
                <a:spcPct val="110000"/>
              </a:lnSpc>
              <a:spcBef>
                <a:spcPct val="60000"/>
              </a:spcBef>
              <a:tabLst>
                <a:tab pos="3378200" algn="l"/>
                <a:tab pos="5373688" algn="l"/>
              </a:tabLst>
            </a:pPr>
            <a:r>
              <a:rPr lang="en-US" altLang="en-US" sz="2200">
                <a:solidFill>
                  <a:srgbClr val="000000"/>
                </a:solidFill>
                <a:effectLst/>
              </a:rPr>
              <a:t>Contain functions	No	Yes</a:t>
            </a:r>
          </a:p>
          <a:p>
            <a:pPr defTabSz="914400">
              <a:lnSpc>
                <a:spcPct val="110000"/>
              </a:lnSpc>
              <a:spcBef>
                <a:spcPct val="60000"/>
              </a:spcBef>
              <a:tabLst>
                <a:tab pos="3378200" algn="l"/>
                <a:tab pos="5373688" algn="l"/>
              </a:tabLst>
            </a:pPr>
            <a:r>
              <a:rPr lang="en-US" altLang="en-US" sz="2200">
                <a:solidFill>
                  <a:srgbClr val="000000"/>
                </a:solidFill>
                <a:effectLst/>
              </a:rPr>
              <a:t>Contain groups of data	No	Yes</a:t>
            </a:r>
          </a:p>
          <a:p>
            <a:pPr defTabSz="914400">
              <a:lnSpc>
                <a:spcPct val="110000"/>
              </a:lnSpc>
              <a:spcBef>
                <a:spcPct val="60000"/>
              </a:spcBef>
              <a:tabLst>
                <a:tab pos="3378200" algn="l"/>
                <a:tab pos="5373688" algn="l"/>
              </a:tabLst>
            </a:pPr>
            <a:r>
              <a:rPr lang="en-US" altLang="en-US" sz="2200">
                <a:solidFill>
                  <a:srgbClr val="000000"/>
                </a:solidFill>
                <a:effectLst/>
              </a:rPr>
              <a:t>DML through view	Yes	Not always</a:t>
            </a:r>
          </a:p>
        </p:txBody>
      </p:sp>
      <p:grpSp>
        <p:nvGrpSpPr>
          <p:cNvPr id="15367" name="Group 7"/>
          <p:cNvGrpSpPr>
            <a:grpSpLocks/>
          </p:cNvGrpSpPr>
          <p:nvPr/>
        </p:nvGrpSpPr>
        <p:grpSpPr bwMode="auto">
          <a:xfrm>
            <a:off x="4054475" y="1952625"/>
            <a:ext cx="2066925" cy="2752725"/>
            <a:chOff x="2554" y="1230"/>
            <a:chExt cx="1302" cy="1734"/>
          </a:xfrm>
        </p:grpSpPr>
        <p:sp>
          <p:nvSpPr>
            <p:cNvPr id="15365" name="Line 5"/>
            <p:cNvSpPr>
              <a:spLocks noChangeShapeType="1"/>
            </p:cNvSpPr>
            <p:nvPr/>
          </p:nvSpPr>
          <p:spPr bwMode="auto">
            <a:xfrm flipV="1">
              <a:off x="2554" y="1230"/>
              <a:ext cx="0" cy="1734"/>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366" name="Line 6"/>
            <p:cNvSpPr>
              <a:spLocks noChangeShapeType="1"/>
            </p:cNvSpPr>
            <p:nvPr/>
          </p:nvSpPr>
          <p:spPr bwMode="auto">
            <a:xfrm flipV="1">
              <a:off x="3856" y="1230"/>
              <a:ext cx="0" cy="1734"/>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sp>
        <p:nvSpPr>
          <p:cNvPr id="15368" name="Line 8"/>
          <p:cNvSpPr>
            <a:spLocks noChangeShapeType="1"/>
          </p:cNvSpPr>
          <p:nvPr/>
        </p:nvSpPr>
        <p:spPr bwMode="auto">
          <a:xfrm>
            <a:off x="765175" y="2455863"/>
            <a:ext cx="7675563" cy="0"/>
          </a:xfrm>
          <a:prstGeom prst="line">
            <a:avLst/>
          </a:prstGeom>
          <a:noFill/>
          <a:ln w="508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369" name="Line 9"/>
          <p:cNvSpPr>
            <a:spLocks noChangeShapeType="1"/>
          </p:cNvSpPr>
          <p:nvPr/>
        </p:nvSpPr>
        <p:spPr bwMode="auto">
          <a:xfrm>
            <a:off x="765175" y="3048000"/>
            <a:ext cx="7675563" cy="0"/>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370" name="Line 10"/>
          <p:cNvSpPr>
            <a:spLocks noChangeShapeType="1"/>
          </p:cNvSpPr>
          <p:nvPr/>
        </p:nvSpPr>
        <p:spPr bwMode="auto">
          <a:xfrm>
            <a:off x="765175" y="3640138"/>
            <a:ext cx="7675563" cy="0"/>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371" name="Line 11"/>
          <p:cNvSpPr>
            <a:spLocks noChangeShapeType="1"/>
          </p:cNvSpPr>
          <p:nvPr/>
        </p:nvSpPr>
        <p:spPr bwMode="auto">
          <a:xfrm>
            <a:off x="765175" y="4232275"/>
            <a:ext cx="7675563" cy="0"/>
          </a:xfrm>
          <a:prstGeom prst="line">
            <a:avLst/>
          </a:prstGeom>
          <a:noFill/>
          <a:ln w="25400">
            <a:solidFill>
              <a:srgbClr val="000000"/>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5372" name="Arc 12"/>
          <p:cNvSpPr>
            <a:spLocks/>
          </p:cNvSpPr>
          <p:nvPr/>
        </p:nvSpPr>
        <p:spPr bwMode="ltGray">
          <a:xfrm>
            <a:off x="8931275" y="3765550"/>
            <a:ext cx="211138" cy="225425"/>
          </a:xfrm>
          <a:custGeom>
            <a:avLst/>
            <a:gdLst>
              <a:gd name="G0" fmla="+- 21600 0 0"/>
              <a:gd name="G1" fmla="+- 0 0 0"/>
              <a:gd name="G2" fmla="+- 21600 0 0"/>
              <a:gd name="T0" fmla="*/ 2160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rnd">
                <a:solidFill>
                  <a:schemeClr val="tx1"/>
                </a:solidFill>
                <a:round/>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2765240281"/>
      </p:ext>
    </p:extLst>
  </p:cSld>
  <p:clrMapOvr>
    <a:masterClrMapping/>
  </p:clrMapOvr>
  <p:transition spd="slow"/>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noFill/>
          <a:ln/>
        </p:spPr>
        <p:txBody>
          <a:bodyPr/>
          <a:lstStyle/>
          <a:p>
            <a:r>
              <a:rPr lang="en-US" altLang="en-US"/>
              <a:t>Creating a View</a:t>
            </a:r>
          </a:p>
        </p:txBody>
      </p:sp>
      <p:sp>
        <p:nvSpPr>
          <p:cNvPr id="17411" name="Rectangle 3"/>
          <p:cNvSpPr>
            <a:spLocks noGrp="1" noChangeArrowheads="1"/>
          </p:cNvSpPr>
          <p:nvPr>
            <p:ph type="body" idx="1"/>
          </p:nvPr>
        </p:nvSpPr>
        <p:spPr>
          <a:xfrm>
            <a:off x="860425" y="1336675"/>
            <a:ext cx="7385050" cy="1066800"/>
          </a:xfrm>
          <a:noFill/>
          <a:ln/>
        </p:spPr>
        <p:txBody>
          <a:bodyPr/>
          <a:lstStyle/>
          <a:p>
            <a:pPr lvl="1"/>
            <a:r>
              <a:rPr lang="en-US" altLang="en-US"/>
              <a:t>You embed a subquery within the CREATE VIEW statement.</a:t>
            </a:r>
          </a:p>
          <a:p>
            <a:endParaRPr lang="en-US" altLang="en-US"/>
          </a:p>
          <a:p>
            <a:endParaRPr lang="en-US" altLang="en-US"/>
          </a:p>
          <a:p>
            <a:endParaRPr lang="en-US" altLang="en-US"/>
          </a:p>
          <a:p>
            <a:pPr lvl="1"/>
            <a:r>
              <a:rPr lang="en-US" altLang="en-US"/>
              <a:t>The subquery can contain complex SELECT syntax.</a:t>
            </a:r>
          </a:p>
          <a:p>
            <a:pPr lvl="1"/>
            <a:r>
              <a:rPr lang="en-US" altLang="en-US"/>
              <a:t>The subquery cannot contain an ORDER BY clause.</a:t>
            </a:r>
          </a:p>
        </p:txBody>
      </p:sp>
      <p:sp>
        <p:nvSpPr>
          <p:cNvPr id="17412" name="Rectangle 4"/>
          <p:cNvSpPr>
            <a:spLocks noChangeArrowheads="1"/>
          </p:cNvSpPr>
          <p:nvPr/>
        </p:nvSpPr>
        <p:spPr bwMode="blackWhite">
          <a:xfrm>
            <a:off x="923925" y="2319338"/>
            <a:ext cx="7497763" cy="1465262"/>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lIns="92075" tIns="46038" rIns="92075" bIns="46038" anchor="ctr"/>
          <a:lstStyle>
            <a:lvl1pPr algn="l">
              <a:spcBef>
                <a:spcPct val="0"/>
              </a:spcBef>
              <a:tabLst>
                <a:tab pos="1200150" algn="l"/>
              </a:tabLst>
              <a:defRPr sz="2400">
                <a:solidFill>
                  <a:schemeClr val="tx1"/>
                </a:solidFill>
                <a:latin typeface="Times New Roman" pitchFamily="18" charset="0"/>
              </a:defRPr>
            </a:lvl1pPr>
            <a:lvl2pPr algn="l">
              <a:spcBef>
                <a:spcPct val="0"/>
              </a:spcBef>
              <a:tabLst>
                <a:tab pos="1200150" algn="l"/>
              </a:tabLst>
              <a:defRPr sz="2400">
                <a:solidFill>
                  <a:schemeClr val="tx1"/>
                </a:solidFill>
                <a:latin typeface="Times New Roman" pitchFamily="18" charset="0"/>
              </a:defRPr>
            </a:lvl2pPr>
            <a:lvl3pPr algn="l">
              <a:spcBef>
                <a:spcPct val="0"/>
              </a:spcBef>
              <a:tabLst>
                <a:tab pos="1200150" algn="l"/>
              </a:tabLst>
              <a:defRPr sz="2400">
                <a:solidFill>
                  <a:schemeClr val="tx1"/>
                </a:solidFill>
                <a:latin typeface="Times New Roman" pitchFamily="18" charset="0"/>
              </a:defRPr>
            </a:lvl3pPr>
            <a:lvl4pPr algn="l">
              <a:spcBef>
                <a:spcPct val="0"/>
              </a:spcBef>
              <a:tabLst>
                <a:tab pos="1200150" algn="l"/>
              </a:tabLst>
              <a:defRPr sz="2400">
                <a:solidFill>
                  <a:schemeClr val="tx1"/>
                </a:solidFill>
                <a:latin typeface="Times New Roman" pitchFamily="18" charset="0"/>
              </a:defRPr>
            </a:lvl4pPr>
            <a:lvl5pPr algn="l">
              <a:spcBef>
                <a:spcPct val="0"/>
              </a:spcBef>
              <a:tabLst>
                <a:tab pos="1200150" algn="l"/>
              </a:tabLst>
              <a:defRPr sz="2400">
                <a:solidFill>
                  <a:schemeClr val="tx1"/>
                </a:solidFill>
                <a:latin typeface="Times New Roman" pitchFamily="18" charset="0"/>
              </a:defRPr>
            </a:lvl5pPr>
            <a:lvl6pPr fontAlgn="base">
              <a:spcBef>
                <a:spcPct val="0"/>
              </a:spcBef>
              <a:spcAft>
                <a:spcPct val="0"/>
              </a:spcAft>
              <a:tabLst>
                <a:tab pos="1200150" algn="l"/>
              </a:tabLst>
              <a:defRPr sz="2400">
                <a:solidFill>
                  <a:schemeClr val="tx1"/>
                </a:solidFill>
                <a:latin typeface="Times New Roman" pitchFamily="18" charset="0"/>
              </a:defRPr>
            </a:lvl6pPr>
            <a:lvl7pPr fontAlgn="base">
              <a:spcBef>
                <a:spcPct val="0"/>
              </a:spcBef>
              <a:spcAft>
                <a:spcPct val="0"/>
              </a:spcAft>
              <a:tabLst>
                <a:tab pos="1200150" algn="l"/>
              </a:tabLst>
              <a:defRPr sz="2400">
                <a:solidFill>
                  <a:schemeClr val="tx1"/>
                </a:solidFill>
                <a:latin typeface="Times New Roman" pitchFamily="18" charset="0"/>
              </a:defRPr>
            </a:lvl7pPr>
            <a:lvl8pPr fontAlgn="base">
              <a:spcBef>
                <a:spcPct val="0"/>
              </a:spcBef>
              <a:spcAft>
                <a:spcPct val="0"/>
              </a:spcAft>
              <a:tabLst>
                <a:tab pos="1200150" algn="l"/>
              </a:tabLst>
              <a:defRPr sz="2400">
                <a:solidFill>
                  <a:schemeClr val="tx1"/>
                </a:solidFill>
                <a:latin typeface="Times New Roman" pitchFamily="18" charset="0"/>
              </a:defRPr>
            </a:lvl8pPr>
            <a:lvl9pPr fontAlgn="base">
              <a:spcBef>
                <a:spcPct val="0"/>
              </a:spcBef>
              <a:spcAft>
                <a:spcPct val="0"/>
              </a:spcAft>
              <a:tabLst>
                <a:tab pos="1200150" algn="l"/>
              </a:tabLst>
              <a:defRPr sz="2400">
                <a:solidFill>
                  <a:schemeClr val="tx1"/>
                </a:solidFill>
                <a:latin typeface="Times New Roman" pitchFamily="18" charset="0"/>
              </a:defRPr>
            </a:lvl9pPr>
          </a:lstStyle>
          <a:p>
            <a:pPr>
              <a:lnSpc>
                <a:spcPct val="100000"/>
              </a:lnSpc>
            </a:pPr>
            <a:r>
              <a:rPr lang="en-US" altLang="en-US" sz="1800">
                <a:solidFill>
                  <a:srgbClr val="000000"/>
                </a:solidFill>
                <a:latin typeface="Courier New" pitchFamily="49" charset="0"/>
              </a:rPr>
              <a:t>CREATE [OR REPLACE] [FORCE|</a:t>
            </a:r>
            <a:r>
              <a:rPr lang="en-US" altLang="en-US" sz="1800" u="sng">
                <a:solidFill>
                  <a:srgbClr val="000000"/>
                </a:solidFill>
                <a:latin typeface="Courier New" pitchFamily="49" charset="0"/>
              </a:rPr>
              <a:t>NOFORCE</a:t>
            </a:r>
            <a:r>
              <a:rPr lang="en-US" altLang="en-US" sz="1800">
                <a:solidFill>
                  <a:srgbClr val="000000"/>
                </a:solidFill>
                <a:latin typeface="Courier New" pitchFamily="49" charset="0"/>
              </a:rPr>
              <a:t>] VIEW </a:t>
            </a:r>
            <a:r>
              <a:rPr lang="en-US" altLang="en-US" sz="1800" i="1">
                <a:solidFill>
                  <a:srgbClr val="000000"/>
                </a:solidFill>
                <a:latin typeface="Courier New" pitchFamily="49" charset="0"/>
              </a:rPr>
              <a:t>view</a:t>
            </a:r>
          </a:p>
          <a:p>
            <a:pPr>
              <a:lnSpc>
                <a:spcPct val="100000"/>
              </a:lnSpc>
            </a:pPr>
            <a:r>
              <a:rPr lang="en-US" altLang="en-US" sz="1800">
                <a:solidFill>
                  <a:srgbClr val="000000"/>
                </a:solidFill>
                <a:latin typeface="Courier New" pitchFamily="49" charset="0"/>
              </a:rPr>
              <a:t>  [(</a:t>
            </a:r>
            <a:r>
              <a:rPr lang="en-US" altLang="en-US" sz="1800" i="1">
                <a:solidFill>
                  <a:srgbClr val="000000"/>
                </a:solidFill>
                <a:latin typeface="Courier New" pitchFamily="49" charset="0"/>
              </a:rPr>
              <a:t>alias</a:t>
            </a:r>
            <a:r>
              <a:rPr lang="en-US" altLang="en-US" sz="1800">
                <a:solidFill>
                  <a:srgbClr val="000000"/>
                </a:solidFill>
                <a:latin typeface="Courier New" pitchFamily="49" charset="0"/>
              </a:rPr>
              <a:t>[, </a:t>
            </a:r>
            <a:r>
              <a:rPr lang="en-US" altLang="en-US" sz="1800" i="1">
                <a:solidFill>
                  <a:srgbClr val="000000"/>
                </a:solidFill>
                <a:latin typeface="Courier New" pitchFamily="49" charset="0"/>
              </a:rPr>
              <a:t>alias</a:t>
            </a:r>
            <a:r>
              <a:rPr lang="en-US" altLang="en-US" sz="1800">
                <a:solidFill>
                  <a:srgbClr val="000000"/>
                </a:solidFill>
                <a:latin typeface="Courier New" pitchFamily="49" charset="0"/>
              </a:rPr>
              <a:t>]...)]</a:t>
            </a:r>
          </a:p>
          <a:p>
            <a:pPr>
              <a:lnSpc>
                <a:spcPct val="100000"/>
              </a:lnSpc>
            </a:pPr>
            <a:r>
              <a:rPr lang="en-US" altLang="en-US" sz="1800">
                <a:solidFill>
                  <a:srgbClr val="000000"/>
                </a:solidFill>
                <a:latin typeface="Courier New" pitchFamily="49" charset="0"/>
              </a:rPr>
              <a:t>AS </a:t>
            </a:r>
            <a:r>
              <a:rPr lang="en-US" altLang="en-US" sz="1800" i="1">
                <a:solidFill>
                  <a:srgbClr val="000000"/>
                </a:solidFill>
                <a:latin typeface="Courier New" pitchFamily="49" charset="0"/>
              </a:rPr>
              <a:t>subquery</a:t>
            </a:r>
            <a:endParaRPr lang="en-US" altLang="en-US" sz="1800">
              <a:solidFill>
                <a:srgbClr val="000000"/>
              </a:solidFill>
              <a:latin typeface="Courier New" pitchFamily="49" charset="0"/>
            </a:endParaRPr>
          </a:p>
          <a:p>
            <a:pPr>
              <a:lnSpc>
                <a:spcPct val="100000"/>
              </a:lnSpc>
            </a:pPr>
            <a:r>
              <a:rPr lang="en-US" altLang="en-US" sz="1800">
                <a:solidFill>
                  <a:srgbClr val="000000"/>
                </a:solidFill>
                <a:latin typeface="Courier New" pitchFamily="49" charset="0"/>
              </a:rPr>
              <a:t>[WITH CHECK OPTION [CONSTRAINT </a:t>
            </a:r>
            <a:r>
              <a:rPr lang="en-US" altLang="en-US" sz="1800" i="1">
                <a:solidFill>
                  <a:srgbClr val="000000"/>
                </a:solidFill>
                <a:latin typeface="Courier New" pitchFamily="49" charset="0"/>
              </a:rPr>
              <a:t>constraint</a:t>
            </a:r>
            <a:r>
              <a:rPr lang="en-US" altLang="en-US" sz="1800">
                <a:solidFill>
                  <a:srgbClr val="000000"/>
                </a:solidFill>
                <a:latin typeface="Courier New" pitchFamily="49" charset="0"/>
              </a:rPr>
              <a:t>]]</a:t>
            </a:r>
          </a:p>
          <a:p>
            <a:pPr>
              <a:lnSpc>
                <a:spcPct val="100000"/>
              </a:lnSpc>
            </a:pPr>
            <a:r>
              <a:rPr lang="en-US" altLang="en-US" sz="1800">
                <a:solidFill>
                  <a:srgbClr val="000000"/>
                </a:solidFill>
                <a:latin typeface="Courier New" pitchFamily="49" charset="0"/>
              </a:rPr>
              <a:t>[WITH READ ONLY]</a:t>
            </a:r>
          </a:p>
        </p:txBody>
      </p:sp>
    </p:spTree>
    <p:extLst>
      <p:ext uri="{BB962C8B-B14F-4D97-AF65-F5344CB8AC3E}">
        <p14:creationId xmlns:p14="http://schemas.microsoft.com/office/powerpoint/2010/main" val="2401638561"/>
      </p:ext>
    </p:extLst>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ChangeArrowheads="1"/>
          </p:cNvSpPr>
          <p:nvPr/>
        </p:nvSpPr>
        <p:spPr bwMode="blackWhite">
          <a:xfrm>
            <a:off x="925513" y="2328863"/>
            <a:ext cx="7496175" cy="1465262"/>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lIns="92075" tIns="46038" rIns="92075" bIns="46038" anchor="ctr"/>
          <a:lstStyle>
            <a:lvl1pPr algn="l">
              <a:spcBef>
                <a:spcPct val="0"/>
              </a:spcBef>
              <a:tabLst>
                <a:tab pos="1200150" algn="l"/>
              </a:tabLst>
              <a:defRPr sz="2400">
                <a:solidFill>
                  <a:schemeClr val="tx1"/>
                </a:solidFill>
                <a:latin typeface="Times New Roman" pitchFamily="18" charset="0"/>
              </a:defRPr>
            </a:lvl1pPr>
            <a:lvl2pPr algn="l">
              <a:spcBef>
                <a:spcPct val="0"/>
              </a:spcBef>
              <a:tabLst>
                <a:tab pos="1200150" algn="l"/>
              </a:tabLst>
              <a:defRPr sz="2400">
                <a:solidFill>
                  <a:schemeClr val="tx1"/>
                </a:solidFill>
                <a:latin typeface="Times New Roman" pitchFamily="18" charset="0"/>
              </a:defRPr>
            </a:lvl2pPr>
            <a:lvl3pPr algn="l">
              <a:spcBef>
                <a:spcPct val="0"/>
              </a:spcBef>
              <a:tabLst>
                <a:tab pos="1200150" algn="l"/>
              </a:tabLst>
              <a:defRPr sz="2400">
                <a:solidFill>
                  <a:schemeClr val="tx1"/>
                </a:solidFill>
                <a:latin typeface="Times New Roman" pitchFamily="18" charset="0"/>
              </a:defRPr>
            </a:lvl3pPr>
            <a:lvl4pPr algn="l">
              <a:spcBef>
                <a:spcPct val="0"/>
              </a:spcBef>
              <a:tabLst>
                <a:tab pos="1200150" algn="l"/>
              </a:tabLst>
              <a:defRPr sz="2400">
                <a:solidFill>
                  <a:schemeClr val="tx1"/>
                </a:solidFill>
                <a:latin typeface="Times New Roman" pitchFamily="18" charset="0"/>
              </a:defRPr>
            </a:lvl4pPr>
            <a:lvl5pPr algn="l">
              <a:spcBef>
                <a:spcPct val="0"/>
              </a:spcBef>
              <a:tabLst>
                <a:tab pos="1200150" algn="l"/>
              </a:tabLst>
              <a:defRPr sz="2400">
                <a:solidFill>
                  <a:schemeClr val="tx1"/>
                </a:solidFill>
                <a:latin typeface="Times New Roman" pitchFamily="18" charset="0"/>
              </a:defRPr>
            </a:lvl5pPr>
            <a:lvl6pPr fontAlgn="base">
              <a:spcBef>
                <a:spcPct val="0"/>
              </a:spcBef>
              <a:spcAft>
                <a:spcPct val="0"/>
              </a:spcAft>
              <a:tabLst>
                <a:tab pos="1200150" algn="l"/>
              </a:tabLst>
              <a:defRPr sz="2400">
                <a:solidFill>
                  <a:schemeClr val="tx1"/>
                </a:solidFill>
                <a:latin typeface="Times New Roman" pitchFamily="18" charset="0"/>
              </a:defRPr>
            </a:lvl6pPr>
            <a:lvl7pPr fontAlgn="base">
              <a:spcBef>
                <a:spcPct val="0"/>
              </a:spcBef>
              <a:spcAft>
                <a:spcPct val="0"/>
              </a:spcAft>
              <a:tabLst>
                <a:tab pos="1200150" algn="l"/>
              </a:tabLst>
              <a:defRPr sz="2400">
                <a:solidFill>
                  <a:schemeClr val="tx1"/>
                </a:solidFill>
                <a:latin typeface="Times New Roman" pitchFamily="18" charset="0"/>
              </a:defRPr>
            </a:lvl7pPr>
            <a:lvl8pPr fontAlgn="base">
              <a:spcBef>
                <a:spcPct val="0"/>
              </a:spcBef>
              <a:spcAft>
                <a:spcPct val="0"/>
              </a:spcAft>
              <a:tabLst>
                <a:tab pos="1200150" algn="l"/>
              </a:tabLst>
              <a:defRPr sz="2400">
                <a:solidFill>
                  <a:schemeClr val="tx1"/>
                </a:solidFill>
                <a:latin typeface="Times New Roman" pitchFamily="18" charset="0"/>
              </a:defRPr>
            </a:lvl8pPr>
            <a:lvl9pPr fontAlgn="base">
              <a:spcBef>
                <a:spcPct val="0"/>
              </a:spcBef>
              <a:spcAft>
                <a:spcPct val="0"/>
              </a:spcAft>
              <a:tabLst>
                <a:tab pos="1200150" algn="l"/>
              </a:tabLst>
              <a:defRPr sz="2400">
                <a:solidFill>
                  <a:schemeClr val="tx1"/>
                </a:solidFill>
                <a:latin typeface="Times New Roman" pitchFamily="18" charset="0"/>
              </a:defRPr>
            </a:lvl9pPr>
          </a:lstStyle>
          <a:p>
            <a:pPr>
              <a:lnSpc>
                <a:spcPct val="100000"/>
              </a:lnSpc>
            </a:pPr>
            <a:endParaRPr lang="en-US" altLang="en-US" sz="1800">
              <a:solidFill>
                <a:srgbClr val="000000"/>
              </a:solidFill>
              <a:latin typeface="Courier New" pitchFamily="49" charset="0"/>
            </a:endParaRPr>
          </a:p>
          <a:p>
            <a:pPr>
              <a:lnSpc>
                <a:spcPct val="100000"/>
              </a:lnSpc>
            </a:pPr>
            <a:endParaRPr lang="en-US" altLang="en-US" sz="1800">
              <a:solidFill>
                <a:srgbClr val="000000"/>
              </a:solidFill>
              <a:latin typeface="Courier New" pitchFamily="49" charset="0"/>
            </a:endParaRPr>
          </a:p>
        </p:txBody>
      </p:sp>
      <p:sp>
        <p:nvSpPr>
          <p:cNvPr id="19459" name="Rectangle 3"/>
          <p:cNvSpPr>
            <a:spLocks noGrp="1" noChangeArrowheads="1"/>
          </p:cNvSpPr>
          <p:nvPr>
            <p:ph type="title"/>
          </p:nvPr>
        </p:nvSpPr>
        <p:spPr>
          <a:noFill/>
          <a:ln/>
        </p:spPr>
        <p:txBody>
          <a:bodyPr/>
          <a:lstStyle/>
          <a:p>
            <a:r>
              <a:rPr lang="en-US" altLang="en-US"/>
              <a:t>Creating a View</a:t>
            </a:r>
          </a:p>
        </p:txBody>
      </p:sp>
      <p:sp>
        <p:nvSpPr>
          <p:cNvPr id="19460" name="Rectangle 4"/>
          <p:cNvSpPr>
            <a:spLocks noGrp="1" noChangeArrowheads="1"/>
          </p:cNvSpPr>
          <p:nvPr>
            <p:ph type="body" idx="1"/>
          </p:nvPr>
        </p:nvSpPr>
        <p:spPr>
          <a:xfrm>
            <a:off x="847725" y="1341438"/>
            <a:ext cx="7624763" cy="920750"/>
          </a:xfrm>
          <a:noFill/>
          <a:ln/>
        </p:spPr>
        <p:txBody>
          <a:bodyPr/>
          <a:lstStyle/>
          <a:p>
            <a:pPr lvl="1"/>
            <a:r>
              <a:rPr lang="en-US" altLang="en-US"/>
              <a:t>Create a view, EMPVU10, that contains details of employees in department 10.</a:t>
            </a:r>
          </a:p>
        </p:txBody>
      </p:sp>
      <p:sp>
        <p:nvSpPr>
          <p:cNvPr id="19461" name="Rectangle 5"/>
          <p:cNvSpPr>
            <a:spLocks noChangeArrowheads="1"/>
          </p:cNvSpPr>
          <p:nvPr/>
        </p:nvSpPr>
        <p:spPr bwMode="auto">
          <a:xfrm>
            <a:off x="844550" y="4056063"/>
            <a:ext cx="7624763" cy="920750"/>
          </a:xfrm>
          <a:prstGeom prst="rect">
            <a:avLst/>
          </a:prstGeom>
          <a:noFill/>
          <a:ln>
            <a:noFill/>
          </a:ln>
          <a:effectLst>
            <a:outerShdw dist="53882"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92075" tIns="46038" rIns="92075" bIns="46038"/>
          <a:lstStyle>
            <a:lvl1pPr algn="l" defTabSz="346075">
              <a:spcBef>
                <a:spcPct val="0"/>
              </a:spcBef>
              <a:tabLst>
                <a:tab pos="571500" algn="l"/>
              </a:tabLst>
              <a:defRPr sz="2400">
                <a:solidFill>
                  <a:schemeClr val="tx1"/>
                </a:solidFill>
                <a:latin typeface="Times New Roman" pitchFamily="18" charset="0"/>
              </a:defRPr>
            </a:lvl1pPr>
            <a:lvl2pPr marL="341313" indent="-227013" algn="l" defTabSz="346075">
              <a:spcBef>
                <a:spcPct val="0"/>
              </a:spcBef>
              <a:tabLst>
                <a:tab pos="571500" algn="l"/>
              </a:tabLst>
              <a:defRPr sz="2400">
                <a:solidFill>
                  <a:schemeClr val="tx1"/>
                </a:solidFill>
                <a:latin typeface="Times New Roman" pitchFamily="18" charset="0"/>
              </a:defRPr>
            </a:lvl2pPr>
            <a:lvl3pPr marL="741363" indent="-285750" algn="l" defTabSz="346075">
              <a:spcBef>
                <a:spcPct val="0"/>
              </a:spcBef>
              <a:tabLst>
                <a:tab pos="571500" algn="l"/>
              </a:tabLst>
              <a:defRPr sz="2400">
                <a:solidFill>
                  <a:schemeClr val="tx1"/>
                </a:solidFill>
                <a:latin typeface="Times New Roman" pitchFamily="18" charset="0"/>
              </a:defRPr>
            </a:lvl3pPr>
            <a:lvl4pPr marL="1600200" indent="-228600" algn="l" defTabSz="346075">
              <a:spcBef>
                <a:spcPct val="0"/>
              </a:spcBef>
              <a:tabLst>
                <a:tab pos="571500" algn="l"/>
              </a:tabLst>
              <a:defRPr sz="2400">
                <a:solidFill>
                  <a:schemeClr val="tx1"/>
                </a:solidFill>
                <a:latin typeface="Times New Roman" pitchFamily="18" charset="0"/>
              </a:defRPr>
            </a:lvl4pPr>
            <a:lvl5pPr marL="2057400" indent="-228600" algn="l" defTabSz="346075">
              <a:spcBef>
                <a:spcPct val="0"/>
              </a:spcBef>
              <a:tabLst>
                <a:tab pos="571500" algn="l"/>
              </a:tabLst>
              <a:defRPr sz="2400">
                <a:solidFill>
                  <a:schemeClr val="tx1"/>
                </a:solidFill>
                <a:latin typeface="Times New Roman" pitchFamily="18" charset="0"/>
              </a:defRPr>
            </a:lvl5pPr>
            <a:lvl6pPr marL="2514600" indent="-228600" defTabSz="346075" fontAlgn="base">
              <a:spcBef>
                <a:spcPct val="0"/>
              </a:spcBef>
              <a:spcAft>
                <a:spcPct val="0"/>
              </a:spcAft>
              <a:tabLst>
                <a:tab pos="571500" algn="l"/>
              </a:tabLst>
              <a:defRPr sz="2400">
                <a:solidFill>
                  <a:schemeClr val="tx1"/>
                </a:solidFill>
                <a:latin typeface="Times New Roman" pitchFamily="18" charset="0"/>
              </a:defRPr>
            </a:lvl6pPr>
            <a:lvl7pPr marL="2971800" indent="-228600" defTabSz="346075" fontAlgn="base">
              <a:spcBef>
                <a:spcPct val="0"/>
              </a:spcBef>
              <a:spcAft>
                <a:spcPct val="0"/>
              </a:spcAft>
              <a:tabLst>
                <a:tab pos="571500" algn="l"/>
              </a:tabLst>
              <a:defRPr sz="2400">
                <a:solidFill>
                  <a:schemeClr val="tx1"/>
                </a:solidFill>
                <a:latin typeface="Times New Roman" pitchFamily="18" charset="0"/>
              </a:defRPr>
            </a:lvl7pPr>
            <a:lvl8pPr marL="3429000" indent="-228600" defTabSz="346075" fontAlgn="base">
              <a:spcBef>
                <a:spcPct val="0"/>
              </a:spcBef>
              <a:spcAft>
                <a:spcPct val="0"/>
              </a:spcAft>
              <a:tabLst>
                <a:tab pos="571500" algn="l"/>
              </a:tabLst>
              <a:defRPr sz="2400">
                <a:solidFill>
                  <a:schemeClr val="tx1"/>
                </a:solidFill>
                <a:latin typeface="Times New Roman" pitchFamily="18" charset="0"/>
              </a:defRPr>
            </a:lvl8pPr>
            <a:lvl9pPr marL="3886200" indent="-228600" defTabSz="346075" fontAlgn="base">
              <a:spcBef>
                <a:spcPct val="0"/>
              </a:spcBef>
              <a:spcAft>
                <a:spcPct val="0"/>
              </a:spcAft>
              <a:tabLst>
                <a:tab pos="571500" algn="l"/>
              </a:tabLst>
              <a:defRPr sz="2400">
                <a:solidFill>
                  <a:schemeClr val="tx1"/>
                </a:solidFill>
                <a:latin typeface="Times New Roman" pitchFamily="18" charset="0"/>
              </a:defRPr>
            </a:lvl9pPr>
          </a:lstStyle>
          <a:p>
            <a:pPr lvl="1">
              <a:lnSpc>
                <a:spcPct val="95000"/>
              </a:lnSpc>
              <a:spcBef>
                <a:spcPct val="35000"/>
              </a:spcBef>
              <a:buClr>
                <a:srgbClr val="FFCC66"/>
              </a:buClr>
              <a:buSzPct val="100000"/>
              <a:buFontTx/>
              <a:buChar char="•"/>
            </a:pPr>
            <a:r>
              <a:rPr lang="en-US" altLang="en-US" sz="2800">
                <a:solidFill>
                  <a:srgbClr val="F8F8D3"/>
                </a:solidFill>
                <a:latin typeface="Arial" pitchFamily="34" charset="0"/>
              </a:rPr>
              <a:t>Describe the structure of the view by using the SQL*Plus DESCRIBE command.</a:t>
            </a:r>
          </a:p>
        </p:txBody>
      </p:sp>
      <p:sp>
        <p:nvSpPr>
          <p:cNvPr id="19462" name="Rectangle 6"/>
          <p:cNvSpPr>
            <a:spLocks noChangeArrowheads="1"/>
          </p:cNvSpPr>
          <p:nvPr/>
        </p:nvSpPr>
        <p:spPr bwMode="blackWhite">
          <a:xfrm>
            <a:off x="936625" y="5461000"/>
            <a:ext cx="7642225" cy="450850"/>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lIns="92075" tIns="46038" rIns="92075" bIns="46038" anchor="ctr"/>
          <a:lstStyle>
            <a:lvl1pPr algn="l">
              <a:spcBef>
                <a:spcPct val="0"/>
              </a:spcBef>
              <a:tabLst>
                <a:tab pos="1200150" algn="l"/>
              </a:tabLst>
              <a:defRPr sz="2400">
                <a:solidFill>
                  <a:schemeClr val="tx1"/>
                </a:solidFill>
                <a:latin typeface="Times New Roman" pitchFamily="18" charset="0"/>
              </a:defRPr>
            </a:lvl1pPr>
            <a:lvl2pPr algn="l">
              <a:spcBef>
                <a:spcPct val="0"/>
              </a:spcBef>
              <a:tabLst>
                <a:tab pos="1200150" algn="l"/>
              </a:tabLst>
              <a:defRPr sz="2400">
                <a:solidFill>
                  <a:schemeClr val="tx1"/>
                </a:solidFill>
                <a:latin typeface="Times New Roman" pitchFamily="18" charset="0"/>
              </a:defRPr>
            </a:lvl2pPr>
            <a:lvl3pPr algn="l">
              <a:spcBef>
                <a:spcPct val="0"/>
              </a:spcBef>
              <a:tabLst>
                <a:tab pos="1200150" algn="l"/>
              </a:tabLst>
              <a:defRPr sz="2400">
                <a:solidFill>
                  <a:schemeClr val="tx1"/>
                </a:solidFill>
                <a:latin typeface="Times New Roman" pitchFamily="18" charset="0"/>
              </a:defRPr>
            </a:lvl3pPr>
            <a:lvl4pPr algn="l">
              <a:spcBef>
                <a:spcPct val="0"/>
              </a:spcBef>
              <a:tabLst>
                <a:tab pos="1200150" algn="l"/>
              </a:tabLst>
              <a:defRPr sz="2400">
                <a:solidFill>
                  <a:schemeClr val="tx1"/>
                </a:solidFill>
                <a:latin typeface="Times New Roman" pitchFamily="18" charset="0"/>
              </a:defRPr>
            </a:lvl4pPr>
            <a:lvl5pPr algn="l">
              <a:spcBef>
                <a:spcPct val="0"/>
              </a:spcBef>
              <a:tabLst>
                <a:tab pos="1200150" algn="l"/>
              </a:tabLst>
              <a:defRPr sz="2400">
                <a:solidFill>
                  <a:schemeClr val="tx1"/>
                </a:solidFill>
                <a:latin typeface="Times New Roman" pitchFamily="18" charset="0"/>
              </a:defRPr>
            </a:lvl5pPr>
            <a:lvl6pPr fontAlgn="base">
              <a:spcBef>
                <a:spcPct val="0"/>
              </a:spcBef>
              <a:spcAft>
                <a:spcPct val="0"/>
              </a:spcAft>
              <a:tabLst>
                <a:tab pos="1200150" algn="l"/>
              </a:tabLst>
              <a:defRPr sz="2400">
                <a:solidFill>
                  <a:schemeClr val="tx1"/>
                </a:solidFill>
                <a:latin typeface="Times New Roman" pitchFamily="18" charset="0"/>
              </a:defRPr>
            </a:lvl6pPr>
            <a:lvl7pPr fontAlgn="base">
              <a:spcBef>
                <a:spcPct val="0"/>
              </a:spcBef>
              <a:spcAft>
                <a:spcPct val="0"/>
              </a:spcAft>
              <a:tabLst>
                <a:tab pos="1200150" algn="l"/>
              </a:tabLst>
              <a:defRPr sz="2400">
                <a:solidFill>
                  <a:schemeClr val="tx1"/>
                </a:solidFill>
                <a:latin typeface="Times New Roman" pitchFamily="18" charset="0"/>
              </a:defRPr>
            </a:lvl7pPr>
            <a:lvl8pPr fontAlgn="base">
              <a:spcBef>
                <a:spcPct val="0"/>
              </a:spcBef>
              <a:spcAft>
                <a:spcPct val="0"/>
              </a:spcAft>
              <a:tabLst>
                <a:tab pos="1200150" algn="l"/>
              </a:tabLst>
              <a:defRPr sz="2400">
                <a:solidFill>
                  <a:schemeClr val="tx1"/>
                </a:solidFill>
                <a:latin typeface="Times New Roman" pitchFamily="18" charset="0"/>
              </a:defRPr>
            </a:lvl8pPr>
            <a:lvl9pPr fontAlgn="base">
              <a:spcBef>
                <a:spcPct val="0"/>
              </a:spcBef>
              <a:spcAft>
                <a:spcPct val="0"/>
              </a:spcAft>
              <a:tabLst>
                <a:tab pos="1200150" algn="l"/>
              </a:tabLst>
              <a:defRPr sz="2400">
                <a:solidFill>
                  <a:schemeClr val="tx1"/>
                </a:solidFill>
                <a:latin typeface="Times New Roman" pitchFamily="18" charset="0"/>
              </a:defRPr>
            </a:lvl9pPr>
          </a:lstStyle>
          <a:p>
            <a:pPr>
              <a:lnSpc>
                <a:spcPct val="100000"/>
              </a:lnSpc>
            </a:pPr>
            <a:r>
              <a:rPr lang="en-US" altLang="en-US" sz="1800">
                <a:solidFill>
                  <a:srgbClr val="000000"/>
                </a:solidFill>
                <a:latin typeface="Courier New" pitchFamily="49" charset="0"/>
              </a:rPr>
              <a:t>SQL&gt; DESCRIBE empvu10</a:t>
            </a:r>
          </a:p>
        </p:txBody>
      </p:sp>
      <p:sp>
        <p:nvSpPr>
          <p:cNvPr id="19463" name="Rectangle 7"/>
          <p:cNvSpPr>
            <a:spLocks noChangeArrowheads="1"/>
          </p:cNvSpPr>
          <p:nvPr/>
        </p:nvSpPr>
        <p:spPr bwMode="blackWhite">
          <a:xfrm>
            <a:off x="935038" y="2316163"/>
            <a:ext cx="7231062" cy="1490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lgn="l">
              <a:spcBef>
                <a:spcPct val="0"/>
              </a:spcBef>
              <a:tabLst>
                <a:tab pos="1601788" algn="l"/>
                <a:tab pos="1717675" algn="l"/>
                <a:tab pos="2743200" algn="l"/>
              </a:tabLst>
              <a:defRPr sz="2400">
                <a:solidFill>
                  <a:schemeClr val="tx1"/>
                </a:solidFill>
                <a:latin typeface="Times New Roman" pitchFamily="18" charset="0"/>
              </a:defRPr>
            </a:lvl1pPr>
            <a:lvl2pPr algn="l">
              <a:spcBef>
                <a:spcPct val="0"/>
              </a:spcBef>
              <a:tabLst>
                <a:tab pos="1601788" algn="l"/>
                <a:tab pos="1717675" algn="l"/>
                <a:tab pos="2743200" algn="l"/>
              </a:tabLst>
              <a:defRPr sz="2400">
                <a:solidFill>
                  <a:schemeClr val="tx1"/>
                </a:solidFill>
                <a:latin typeface="Times New Roman" pitchFamily="18" charset="0"/>
              </a:defRPr>
            </a:lvl2pPr>
            <a:lvl3pPr algn="l">
              <a:spcBef>
                <a:spcPct val="0"/>
              </a:spcBef>
              <a:tabLst>
                <a:tab pos="1601788" algn="l"/>
                <a:tab pos="1717675" algn="l"/>
                <a:tab pos="2743200" algn="l"/>
              </a:tabLst>
              <a:defRPr sz="2400">
                <a:solidFill>
                  <a:schemeClr val="tx1"/>
                </a:solidFill>
                <a:latin typeface="Times New Roman" pitchFamily="18" charset="0"/>
              </a:defRPr>
            </a:lvl3pPr>
            <a:lvl4pPr algn="l">
              <a:spcBef>
                <a:spcPct val="0"/>
              </a:spcBef>
              <a:tabLst>
                <a:tab pos="1601788" algn="l"/>
                <a:tab pos="1717675" algn="l"/>
                <a:tab pos="2743200" algn="l"/>
              </a:tabLst>
              <a:defRPr sz="2400">
                <a:solidFill>
                  <a:schemeClr val="tx1"/>
                </a:solidFill>
                <a:latin typeface="Times New Roman" pitchFamily="18" charset="0"/>
              </a:defRPr>
            </a:lvl4pPr>
            <a:lvl5pPr algn="l">
              <a:spcBef>
                <a:spcPct val="0"/>
              </a:spcBef>
              <a:tabLst>
                <a:tab pos="1601788" algn="l"/>
                <a:tab pos="1717675" algn="l"/>
                <a:tab pos="2743200" algn="l"/>
              </a:tabLst>
              <a:defRPr sz="2400">
                <a:solidFill>
                  <a:schemeClr val="tx1"/>
                </a:solidFill>
                <a:latin typeface="Times New Roman" pitchFamily="18" charset="0"/>
              </a:defRPr>
            </a:lvl5pPr>
            <a:lvl6pPr fontAlgn="base">
              <a:spcBef>
                <a:spcPct val="0"/>
              </a:spcBef>
              <a:spcAft>
                <a:spcPct val="0"/>
              </a:spcAft>
              <a:tabLst>
                <a:tab pos="1601788" algn="l"/>
                <a:tab pos="1717675" algn="l"/>
                <a:tab pos="2743200" algn="l"/>
              </a:tabLst>
              <a:defRPr sz="2400">
                <a:solidFill>
                  <a:schemeClr val="tx1"/>
                </a:solidFill>
                <a:latin typeface="Times New Roman" pitchFamily="18" charset="0"/>
              </a:defRPr>
            </a:lvl6pPr>
            <a:lvl7pPr fontAlgn="base">
              <a:spcBef>
                <a:spcPct val="0"/>
              </a:spcBef>
              <a:spcAft>
                <a:spcPct val="0"/>
              </a:spcAft>
              <a:tabLst>
                <a:tab pos="1601788" algn="l"/>
                <a:tab pos="1717675" algn="l"/>
                <a:tab pos="2743200" algn="l"/>
              </a:tabLst>
              <a:defRPr sz="2400">
                <a:solidFill>
                  <a:schemeClr val="tx1"/>
                </a:solidFill>
                <a:latin typeface="Times New Roman" pitchFamily="18" charset="0"/>
              </a:defRPr>
            </a:lvl7pPr>
            <a:lvl8pPr fontAlgn="base">
              <a:spcBef>
                <a:spcPct val="0"/>
              </a:spcBef>
              <a:spcAft>
                <a:spcPct val="0"/>
              </a:spcAft>
              <a:tabLst>
                <a:tab pos="1601788" algn="l"/>
                <a:tab pos="1717675" algn="l"/>
                <a:tab pos="2743200" algn="l"/>
              </a:tabLst>
              <a:defRPr sz="2400">
                <a:solidFill>
                  <a:schemeClr val="tx1"/>
                </a:solidFill>
                <a:latin typeface="Times New Roman" pitchFamily="18" charset="0"/>
              </a:defRPr>
            </a:lvl8pPr>
            <a:lvl9pPr fontAlgn="base">
              <a:spcBef>
                <a:spcPct val="0"/>
              </a:spcBef>
              <a:spcAft>
                <a:spcPct val="0"/>
              </a:spcAft>
              <a:tabLst>
                <a:tab pos="1601788" algn="l"/>
                <a:tab pos="1717675" algn="l"/>
                <a:tab pos="2743200" algn="l"/>
              </a:tabLst>
              <a:defRPr sz="2400">
                <a:solidFill>
                  <a:schemeClr val="tx1"/>
                </a:solidFill>
                <a:latin typeface="Times New Roman" pitchFamily="18" charset="0"/>
              </a:defRPr>
            </a:lvl9pPr>
          </a:lstStyle>
          <a:p>
            <a:pPr>
              <a:lnSpc>
                <a:spcPct val="100000"/>
              </a:lnSpc>
            </a:pPr>
            <a:r>
              <a:rPr lang="en-US" altLang="en-US" sz="1800">
                <a:solidFill>
                  <a:srgbClr val="000000"/>
                </a:solidFill>
                <a:latin typeface="Courier New" pitchFamily="49" charset="0"/>
              </a:rPr>
              <a:t>SQL&gt; CREATE VIEW 	empvu10</a:t>
            </a:r>
          </a:p>
          <a:p>
            <a:pPr>
              <a:lnSpc>
                <a:spcPct val="100000"/>
              </a:lnSpc>
            </a:pPr>
            <a:r>
              <a:rPr lang="en-US" altLang="en-US" sz="1800">
                <a:solidFill>
                  <a:srgbClr val="000000"/>
                </a:solidFill>
                <a:latin typeface="Courier New" pitchFamily="49" charset="0"/>
              </a:rPr>
              <a:t>  2  AS SELECT	empno, ename, job</a:t>
            </a:r>
          </a:p>
          <a:p>
            <a:pPr>
              <a:lnSpc>
                <a:spcPct val="100000"/>
              </a:lnSpc>
            </a:pPr>
            <a:r>
              <a:rPr lang="en-US" altLang="en-US" sz="1800">
                <a:solidFill>
                  <a:srgbClr val="000000"/>
                </a:solidFill>
                <a:latin typeface="Courier New" pitchFamily="49" charset="0"/>
              </a:rPr>
              <a:t>  3  FROM			emp</a:t>
            </a:r>
          </a:p>
          <a:p>
            <a:pPr>
              <a:lnSpc>
                <a:spcPct val="100000"/>
              </a:lnSpc>
            </a:pPr>
            <a:r>
              <a:rPr lang="en-US" altLang="en-US" sz="1800">
                <a:solidFill>
                  <a:srgbClr val="000000"/>
                </a:solidFill>
                <a:latin typeface="Courier New" pitchFamily="49" charset="0"/>
              </a:rPr>
              <a:t>  4  WHERE			deptno = 10;</a:t>
            </a:r>
          </a:p>
          <a:p>
            <a:pPr>
              <a:lnSpc>
                <a:spcPct val="100000"/>
              </a:lnSpc>
            </a:pPr>
            <a:r>
              <a:rPr lang="en-US" altLang="en-US" sz="1800">
                <a:solidFill>
                  <a:srgbClr val="FF3300"/>
                </a:solidFill>
                <a:effectLst>
                  <a:outerShdw blurRad="38100" dist="38100" dir="2700000" algn="tl">
                    <a:srgbClr val="000000"/>
                  </a:outerShdw>
                </a:effectLst>
                <a:latin typeface="Courier New" pitchFamily="49" charset="0"/>
              </a:rPr>
              <a:t>View created.</a:t>
            </a:r>
          </a:p>
        </p:txBody>
      </p:sp>
    </p:spTree>
    <p:extLst>
      <p:ext uri="{BB962C8B-B14F-4D97-AF65-F5344CB8AC3E}">
        <p14:creationId xmlns:p14="http://schemas.microsoft.com/office/powerpoint/2010/main" val="2916866305"/>
      </p:ext>
    </p:extLst>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ChangeArrowheads="1"/>
          </p:cNvSpPr>
          <p:nvPr/>
        </p:nvSpPr>
        <p:spPr bwMode="blackWhite">
          <a:xfrm>
            <a:off x="928688" y="2309813"/>
            <a:ext cx="7497762" cy="1849437"/>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lIns="92075" tIns="46038" rIns="92075" bIns="46038" anchor="ctr"/>
          <a:lstStyle>
            <a:lvl1pPr algn="l">
              <a:spcBef>
                <a:spcPct val="0"/>
              </a:spcBef>
              <a:tabLst>
                <a:tab pos="1200150" algn="l"/>
              </a:tabLst>
              <a:defRPr sz="2400">
                <a:solidFill>
                  <a:schemeClr val="tx1"/>
                </a:solidFill>
                <a:latin typeface="Times New Roman" pitchFamily="18" charset="0"/>
              </a:defRPr>
            </a:lvl1pPr>
            <a:lvl2pPr algn="l">
              <a:spcBef>
                <a:spcPct val="0"/>
              </a:spcBef>
              <a:tabLst>
                <a:tab pos="1200150" algn="l"/>
              </a:tabLst>
              <a:defRPr sz="2400">
                <a:solidFill>
                  <a:schemeClr val="tx1"/>
                </a:solidFill>
                <a:latin typeface="Times New Roman" pitchFamily="18" charset="0"/>
              </a:defRPr>
            </a:lvl2pPr>
            <a:lvl3pPr algn="l">
              <a:spcBef>
                <a:spcPct val="0"/>
              </a:spcBef>
              <a:tabLst>
                <a:tab pos="1200150" algn="l"/>
              </a:tabLst>
              <a:defRPr sz="2400">
                <a:solidFill>
                  <a:schemeClr val="tx1"/>
                </a:solidFill>
                <a:latin typeface="Times New Roman" pitchFamily="18" charset="0"/>
              </a:defRPr>
            </a:lvl3pPr>
            <a:lvl4pPr algn="l">
              <a:spcBef>
                <a:spcPct val="0"/>
              </a:spcBef>
              <a:tabLst>
                <a:tab pos="1200150" algn="l"/>
              </a:tabLst>
              <a:defRPr sz="2400">
                <a:solidFill>
                  <a:schemeClr val="tx1"/>
                </a:solidFill>
                <a:latin typeface="Times New Roman" pitchFamily="18" charset="0"/>
              </a:defRPr>
            </a:lvl4pPr>
            <a:lvl5pPr algn="l">
              <a:spcBef>
                <a:spcPct val="0"/>
              </a:spcBef>
              <a:tabLst>
                <a:tab pos="1200150" algn="l"/>
              </a:tabLst>
              <a:defRPr sz="2400">
                <a:solidFill>
                  <a:schemeClr val="tx1"/>
                </a:solidFill>
                <a:latin typeface="Times New Roman" pitchFamily="18" charset="0"/>
              </a:defRPr>
            </a:lvl5pPr>
            <a:lvl6pPr fontAlgn="base">
              <a:spcBef>
                <a:spcPct val="0"/>
              </a:spcBef>
              <a:spcAft>
                <a:spcPct val="0"/>
              </a:spcAft>
              <a:tabLst>
                <a:tab pos="1200150" algn="l"/>
              </a:tabLst>
              <a:defRPr sz="2400">
                <a:solidFill>
                  <a:schemeClr val="tx1"/>
                </a:solidFill>
                <a:latin typeface="Times New Roman" pitchFamily="18" charset="0"/>
              </a:defRPr>
            </a:lvl6pPr>
            <a:lvl7pPr fontAlgn="base">
              <a:spcBef>
                <a:spcPct val="0"/>
              </a:spcBef>
              <a:spcAft>
                <a:spcPct val="0"/>
              </a:spcAft>
              <a:tabLst>
                <a:tab pos="1200150" algn="l"/>
              </a:tabLst>
              <a:defRPr sz="2400">
                <a:solidFill>
                  <a:schemeClr val="tx1"/>
                </a:solidFill>
                <a:latin typeface="Times New Roman" pitchFamily="18" charset="0"/>
              </a:defRPr>
            </a:lvl7pPr>
            <a:lvl8pPr fontAlgn="base">
              <a:spcBef>
                <a:spcPct val="0"/>
              </a:spcBef>
              <a:spcAft>
                <a:spcPct val="0"/>
              </a:spcAft>
              <a:tabLst>
                <a:tab pos="1200150" algn="l"/>
              </a:tabLst>
              <a:defRPr sz="2400">
                <a:solidFill>
                  <a:schemeClr val="tx1"/>
                </a:solidFill>
                <a:latin typeface="Times New Roman" pitchFamily="18" charset="0"/>
              </a:defRPr>
            </a:lvl8pPr>
            <a:lvl9pPr fontAlgn="base">
              <a:spcBef>
                <a:spcPct val="0"/>
              </a:spcBef>
              <a:spcAft>
                <a:spcPct val="0"/>
              </a:spcAft>
              <a:tabLst>
                <a:tab pos="1200150" algn="l"/>
              </a:tabLst>
              <a:defRPr sz="2400">
                <a:solidFill>
                  <a:schemeClr val="tx1"/>
                </a:solidFill>
                <a:latin typeface="Times New Roman" pitchFamily="18" charset="0"/>
              </a:defRPr>
            </a:lvl9pPr>
          </a:lstStyle>
          <a:p>
            <a:pPr>
              <a:lnSpc>
                <a:spcPct val="100000"/>
              </a:lnSpc>
            </a:pPr>
            <a:endParaRPr lang="en-US" altLang="en-US" sz="1800">
              <a:solidFill>
                <a:srgbClr val="000000"/>
              </a:solidFill>
              <a:latin typeface="Courier New" pitchFamily="49" charset="0"/>
            </a:endParaRPr>
          </a:p>
          <a:p>
            <a:pPr>
              <a:lnSpc>
                <a:spcPct val="100000"/>
              </a:lnSpc>
            </a:pPr>
            <a:endParaRPr lang="en-US" altLang="en-US" sz="1800">
              <a:solidFill>
                <a:srgbClr val="000000"/>
              </a:solidFill>
              <a:latin typeface="Courier New" pitchFamily="49" charset="0"/>
            </a:endParaRPr>
          </a:p>
        </p:txBody>
      </p:sp>
      <p:sp>
        <p:nvSpPr>
          <p:cNvPr id="21507" name="Rectangle 3"/>
          <p:cNvSpPr>
            <a:spLocks noGrp="1" noChangeArrowheads="1"/>
          </p:cNvSpPr>
          <p:nvPr>
            <p:ph type="title"/>
          </p:nvPr>
        </p:nvSpPr>
        <p:spPr>
          <a:noFill/>
          <a:ln/>
        </p:spPr>
        <p:txBody>
          <a:bodyPr/>
          <a:lstStyle/>
          <a:p>
            <a:r>
              <a:rPr lang="en-US" altLang="en-US"/>
              <a:t>Creating a View</a:t>
            </a:r>
          </a:p>
        </p:txBody>
      </p:sp>
      <p:sp>
        <p:nvSpPr>
          <p:cNvPr id="21508" name="Rectangle 4"/>
          <p:cNvSpPr>
            <a:spLocks noGrp="1" noChangeArrowheads="1"/>
          </p:cNvSpPr>
          <p:nvPr>
            <p:ph type="body" idx="1"/>
          </p:nvPr>
        </p:nvSpPr>
        <p:spPr>
          <a:xfrm>
            <a:off x="842963" y="1336675"/>
            <a:ext cx="7385050" cy="4089400"/>
          </a:xfrm>
          <a:noFill/>
          <a:ln/>
        </p:spPr>
        <p:txBody>
          <a:bodyPr/>
          <a:lstStyle/>
          <a:p>
            <a:pPr lvl="1"/>
            <a:r>
              <a:rPr lang="en-US" altLang="en-US"/>
              <a:t>Create a view by using column aliases in the subquery.</a:t>
            </a:r>
          </a:p>
          <a:p>
            <a:pPr lvl="1">
              <a:buFontTx/>
              <a:buNone/>
            </a:pPr>
            <a:endParaRPr lang="en-US" altLang="en-US"/>
          </a:p>
          <a:p>
            <a:pPr lvl="1">
              <a:buFontTx/>
              <a:buNone/>
            </a:pPr>
            <a:endParaRPr lang="en-US" altLang="en-US"/>
          </a:p>
          <a:p>
            <a:pPr lvl="1">
              <a:buFontTx/>
              <a:buNone/>
            </a:pPr>
            <a:endParaRPr lang="en-US" altLang="en-US"/>
          </a:p>
          <a:p>
            <a:pPr lvl="1">
              <a:buFontTx/>
              <a:buNone/>
            </a:pPr>
            <a:endParaRPr lang="en-US" altLang="en-US"/>
          </a:p>
          <a:p>
            <a:pPr lvl="1"/>
            <a:r>
              <a:rPr lang="en-US" altLang="en-US"/>
              <a:t>Select the columns from this view by the given alias names.</a:t>
            </a:r>
          </a:p>
        </p:txBody>
      </p:sp>
      <p:sp>
        <p:nvSpPr>
          <p:cNvPr id="21509" name="Rectangle 5"/>
          <p:cNvSpPr>
            <a:spLocks noChangeArrowheads="1"/>
          </p:cNvSpPr>
          <p:nvPr/>
        </p:nvSpPr>
        <p:spPr bwMode="blackWhite">
          <a:xfrm>
            <a:off x="911225" y="2297113"/>
            <a:ext cx="7523163" cy="1874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lgn="l">
              <a:spcBef>
                <a:spcPct val="0"/>
              </a:spcBef>
              <a:tabLst>
                <a:tab pos="1601788" algn="l"/>
                <a:tab pos="1717675" algn="l"/>
              </a:tabLst>
              <a:defRPr sz="2400">
                <a:solidFill>
                  <a:schemeClr val="tx1"/>
                </a:solidFill>
                <a:latin typeface="Times New Roman" pitchFamily="18" charset="0"/>
              </a:defRPr>
            </a:lvl1pPr>
            <a:lvl2pPr algn="l">
              <a:spcBef>
                <a:spcPct val="0"/>
              </a:spcBef>
              <a:tabLst>
                <a:tab pos="1601788" algn="l"/>
                <a:tab pos="1717675" algn="l"/>
              </a:tabLst>
              <a:defRPr sz="2400">
                <a:solidFill>
                  <a:schemeClr val="tx1"/>
                </a:solidFill>
                <a:latin typeface="Times New Roman" pitchFamily="18" charset="0"/>
              </a:defRPr>
            </a:lvl2pPr>
            <a:lvl3pPr algn="l">
              <a:spcBef>
                <a:spcPct val="0"/>
              </a:spcBef>
              <a:tabLst>
                <a:tab pos="1601788" algn="l"/>
                <a:tab pos="1717675" algn="l"/>
              </a:tabLst>
              <a:defRPr sz="2400">
                <a:solidFill>
                  <a:schemeClr val="tx1"/>
                </a:solidFill>
                <a:latin typeface="Times New Roman" pitchFamily="18" charset="0"/>
              </a:defRPr>
            </a:lvl3pPr>
            <a:lvl4pPr algn="l">
              <a:spcBef>
                <a:spcPct val="0"/>
              </a:spcBef>
              <a:tabLst>
                <a:tab pos="1601788" algn="l"/>
                <a:tab pos="1717675" algn="l"/>
              </a:tabLst>
              <a:defRPr sz="2400">
                <a:solidFill>
                  <a:schemeClr val="tx1"/>
                </a:solidFill>
                <a:latin typeface="Times New Roman" pitchFamily="18" charset="0"/>
              </a:defRPr>
            </a:lvl4pPr>
            <a:lvl5pPr algn="l">
              <a:spcBef>
                <a:spcPct val="0"/>
              </a:spcBef>
              <a:tabLst>
                <a:tab pos="1601788" algn="l"/>
                <a:tab pos="1717675" algn="l"/>
              </a:tabLst>
              <a:defRPr sz="2400">
                <a:solidFill>
                  <a:schemeClr val="tx1"/>
                </a:solidFill>
                <a:latin typeface="Times New Roman" pitchFamily="18" charset="0"/>
              </a:defRPr>
            </a:lvl5pPr>
            <a:lvl6pPr fontAlgn="base">
              <a:spcBef>
                <a:spcPct val="0"/>
              </a:spcBef>
              <a:spcAft>
                <a:spcPct val="0"/>
              </a:spcAft>
              <a:tabLst>
                <a:tab pos="1601788" algn="l"/>
                <a:tab pos="1717675" algn="l"/>
              </a:tabLst>
              <a:defRPr sz="2400">
                <a:solidFill>
                  <a:schemeClr val="tx1"/>
                </a:solidFill>
                <a:latin typeface="Times New Roman" pitchFamily="18" charset="0"/>
              </a:defRPr>
            </a:lvl6pPr>
            <a:lvl7pPr fontAlgn="base">
              <a:spcBef>
                <a:spcPct val="0"/>
              </a:spcBef>
              <a:spcAft>
                <a:spcPct val="0"/>
              </a:spcAft>
              <a:tabLst>
                <a:tab pos="1601788" algn="l"/>
                <a:tab pos="1717675" algn="l"/>
              </a:tabLst>
              <a:defRPr sz="2400">
                <a:solidFill>
                  <a:schemeClr val="tx1"/>
                </a:solidFill>
                <a:latin typeface="Times New Roman" pitchFamily="18" charset="0"/>
              </a:defRPr>
            </a:lvl7pPr>
            <a:lvl8pPr fontAlgn="base">
              <a:spcBef>
                <a:spcPct val="0"/>
              </a:spcBef>
              <a:spcAft>
                <a:spcPct val="0"/>
              </a:spcAft>
              <a:tabLst>
                <a:tab pos="1601788" algn="l"/>
                <a:tab pos="1717675" algn="l"/>
              </a:tabLst>
              <a:defRPr sz="2400">
                <a:solidFill>
                  <a:schemeClr val="tx1"/>
                </a:solidFill>
                <a:latin typeface="Times New Roman" pitchFamily="18" charset="0"/>
              </a:defRPr>
            </a:lvl8pPr>
            <a:lvl9pPr fontAlgn="base">
              <a:spcBef>
                <a:spcPct val="0"/>
              </a:spcBef>
              <a:spcAft>
                <a:spcPct val="0"/>
              </a:spcAft>
              <a:tabLst>
                <a:tab pos="1601788" algn="l"/>
                <a:tab pos="1717675" algn="l"/>
              </a:tabLst>
              <a:defRPr sz="2400">
                <a:solidFill>
                  <a:schemeClr val="tx1"/>
                </a:solidFill>
                <a:latin typeface="Times New Roman" pitchFamily="18" charset="0"/>
              </a:defRPr>
            </a:lvl9pPr>
          </a:lstStyle>
          <a:p>
            <a:pPr>
              <a:lnSpc>
                <a:spcPct val="100000"/>
              </a:lnSpc>
            </a:pPr>
            <a:r>
              <a:rPr lang="en-US" altLang="en-US" sz="1800">
                <a:solidFill>
                  <a:srgbClr val="000000"/>
                </a:solidFill>
                <a:latin typeface="Courier New" pitchFamily="49" charset="0"/>
              </a:rPr>
              <a:t>SQL&gt; CREATE VIEW 	salvu30</a:t>
            </a:r>
          </a:p>
          <a:p>
            <a:pPr>
              <a:lnSpc>
                <a:spcPct val="100000"/>
              </a:lnSpc>
            </a:pPr>
            <a:r>
              <a:rPr lang="en-US" altLang="en-US" sz="1800">
                <a:solidFill>
                  <a:srgbClr val="000000"/>
                </a:solidFill>
                <a:latin typeface="Courier New" pitchFamily="49" charset="0"/>
              </a:rPr>
              <a:t>  2  AS SELECT	empno EMPLOYEE_NUMBER, ename NAME,</a:t>
            </a:r>
          </a:p>
          <a:p>
            <a:pPr>
              <a:lnSpc>
                <a:spcPct val="100000"/>
              </a:lnSpc>
            </a:pPr>
            <a:r>
              <a:rPr lang="en-US" altLang="en-US" sz="1800">
                <a:solidFill>
                  <a:srgbClr val="000000"/>
                </a:solidFill>
                <a:latin typeface="Courier New" pitchFamily="49" charset="0"/>
              </a:rPr>
              <a:t>  3				sal SALARY</a:t>
            </a:r>
          </a:p>
          <a:p>
            <a:pPr>
              <a:lnSpc>
                <a:spcPct val="100000"/>
              </a:lnSpc>
            </a:pPr>
            <a:r>
              <a:rPr lang="en-US" altLang="en-US" sz="1800">
                <a:solidFill>
                  <a:srgbClr val="000000"/>
                </a:solidFill>
                <a:latin typeface="Courier New" pitchFamily="49" charset="0"/>
              </a:rPr>
              <a:t>  4  FROM				emp</a:t>
            </a:r>
          </a:p>
          <a:p>
            <a:pPr>
              <a:lnSpc>
                <a:spcPct val="100000"/>
              </a:lnSpc>
            </a:pPr>
            <a:r>
              <a:rPr lang="en-US" altLang="en-US" sz="1800">
                <a:solidFill>
                  <a:srgbClr val="000000"/>
                </a:solidFill>
                <a:latin typeface="Courier New" pitchFamily="49" charset="0"/>
              </a:rPr>
              <a:t>  5  WHERE				deptno = 30;</a:t>
            </a:r>
          </a:p>
          <a:p>
            <a:pPr>
              <a:lnSpc>
                <a:spcPct val="100000"/>
              </a:lnSpc>
            </a:pPr>
            <a:r>
              <a:rPr lang="en-US" altLang="en-US" sz="1800">
                <a:solidFill>
                  <a:srgbClr val="FF3300"/>
                </a:solidFill>
                <a:effectLst>
                  <a:outerShdw blurRad="38100" dist="38100" dir="2700000" algn="tl">
                    <a:srgbClr val="000000"/>
                  </a:outerShdw>
                </a:effectLst>
                <a:latin typeface="Courier New" pitchFamily="49" charset="0"/>
              </a:rPr>
              <a:t>View created.</a:t>
            </a:r>
          </a:p>
        </p:txBody>
      </p:sp>
    </p:spTree>
    <p:extLst>
      <p:ext uri="{BB962C8B-B14F-4D97-AF65-F5344CB8AC3E}">
        <p14:creationId xmlns:p14="http://schemas.microsoft.com/office/powerpoint/2010/main" val="3628502260"/>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ChangeArrowheads="1"/>
          </p:cNvSpPr>
          <p:nvPr/>
        </p:nvSpPr>
        <p:spPr bwMode="blackWhite">
          <a:xfrm>
            <a:off x="935038" y="1704975"/>
            <a:ext cx="7497762" cy="641350"/>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lIns="92075" tIns="46038" rIns="92075" bIns="46038" anchor="ctr"/>
          <a:lstStyle>
            <a:lvl1pPr algn="l">
              <a:spcBef>
                <a:spcPct val="0"/>
              </a:spcBef>
              <a:tabLst>
                <a:tab pos="808038" algn="l"/>
              </a:tabLst>
              <a:defRPr sz="2400">
                <a:solidFill>
                  <a:schemeClr val="tx1"/>
                </a:solidFill>
                <a:latin typeface="Times New Roman" pitchFamily="18" charset="0"/>
              </a:defRPr>
            </a:lvl1pPr>
            <a:lvl2pPr algn="l">
              <a:spcBef>
                <a:spcPct val="0"/>
              </a:spcBef>
              <a:tabLst>
                <a:tab pos="808038" algn="l"/>
              </a:tabLst>
              <a:defRPr sz="2400">
                <a:solidFill>
                  <a:schemeClr val="tx1"/>
                </a:solidFill>
                <a:latin typeface="Times New Roman" pitchFamily="18" charset="0"/>
              </a:defRPr>
            </a:lvl2pPr>
            <a:lvl3pPr algn="l">
              <a:spcBef>
                <a:spcPct val="0"/>
              </a:spcBef>
              <a:tabLst>
                <a:tab pos="808038" algn="l"/>
              </a:tabLst>
              <a:defRPr sz="2400">
                <a:solidFill>
                  <a:schemeClr val="tx1"/>
                </a:solidFill>
                <a:latin typeface="Times New Roman" pitchFamily="18" charset="0"/>
              </a:defRPr>
            </a:lvl3pPr>
            <a:lvl4pPr algn="l">
              <a:spcBef>
                <a:spcPct val="0"/>
              </a:spcBef>
              <a:tabLst>
                <a:tab pos="808038" algn="l"/>
              </a:tabLst>
              <a:defRPr sz="2400">
                <a:solidFill>
                  <a:schemeClr val="tx1"/>
                </a:solidFill>
                <a:latin typeface="Times New Roman" pitchFamily="18" charset="0"/>
              </a:defRPr>
            </a:lvl4pPr>
            <a:lvl5pPr algn="l">
              <a:spcBef>
                <a:spcPct val="0"/>
              </a:spcBef>
              <a:tabLst>
                <a:tab pos="808038" algn="l"/>
              </a:tabLst>
              <a:defRPr sz="2400">
                <a:solidFill>
                  <a:schemeClr val="tx1"/>
                </a:solidFill>
                <a:latin typeface="Times New Roman" pitchFamily="18" charset="0"/>
              </a:defRPr>
            </a:lvl5pPr>
            <a:lvl6pPr fontAlgn="base">
              <a:spcBef>
                <a:spcPct val="0"/>
              </a:spcBef>
              <a:spcAft>
                <a:spcPct val="0"/>
              </a:spcAft>
              <a:tabLst>
                <a:tab pos="808038" algn="l"/>
              </a:tabLst>
              <a:defRPr sz="2400">
                <a:solidFill>
                  <a:schemeClr val="tx1"/>
                </a:solidFill>
                <a:latin typeface="Times New Roman" pitchFamily="18" charset="0"/>
              </a:defRPr>
            </a:lvl6pPr>
            <a:lvl7pPr fontAlgn="base">
              <a:spcBef>
                <a:spcPct val="0"/>
              </a:spcBef>
              <a:spcAft>
                <a:spcPct val="0"/>
              </a:spcAft>
              <a:tabLst>
                <a:tab pos="808038" algn="l"/>
              </a:tabLst>
              <a:defRPr sz="2400">
                <a:solidFill>
                  <a:schemeClr val="tx1"/>
                </a:solidFill>
                <a:latin typeface="Times New Roman" pitchFamily="18" charset="0"/>
              </a:defRPr>
            </a:lvl7pPr>
            <a:lvl8pPr fontAlgn="base">
              <a:spcBef>
                <a:spcPct val="0"/>
              </a:spcBef>
              <a:spcAft>
                <a:spcPct val="0"/>
              </a:spcAft>
              <a:tabLst>
                <a:tab pos="808038" algn="l"/>
              </a:tabLst>
              <a:defRPr sz="2400">
                <a:solidFill>
                  <a:schemeClr val="tx1"/>
                </a:solidFill>
                <a:latin typeface="Times New Roman" pitchFamily="18" charset="0"/>
              </a:defRPr>
            </a:lvl8pPr>
            <a:lvl9pPr fontAlgn="base">
              <a:spcBef>
                <a:spcPct val="0"/>
              </a:spcBef>
              <a:spcAft>
                <a:spcPct val="0"/>
              </a:spcAft>
              <a:tabLst>
                <a:tab pos="808038" algn="l"/>
              </a:tabLst>
              <a:defRPr sz="2400">
                <a:solidFill>
                  <a:schemeClr val="tx1"/>
                </a:solidFill>
                <a:latin typeface="Times New Roman" pitchFamily="18" charset="0"/>
              </a:defRPr>
            </a:lvl9pPr>
          </a:lstStyle>
          <a:p>
            <a:pPr>
              <a:lnSpc>
                <a:spcPct val="100000"/>
              </a:lnSpc>
            </a:pPr>
            <a:endParaRPr lang="en-US" altLang="en-US" sz="1800">
              <a:solidFill>
                <a:srgbClr val="000000"/>
              </a:solidFill>
              <a:latin typeface="Courier New" pitchFamily="49" charset="0"/>
            </a:endParaRPr>
          </a:p>
          <a:p>
            <a:pPr>
              <a:lnSpc>
                <a:spcPct val="100000"/>
              </a:lnSpc>
            </a:pPr>
            <a:endParaRPr lang="en-US" altLang="en-US" sz="1800">
              <a:solidFill>
                <a:srgbClr val="000000"/>
              </a:solidFill>
              <a:latin typeface="Courier New" pitchFamily="49" charset="0"/>
            </a:endParaRPr>
          </a:p>
        </p:txBody>
      </p:sp>
      <p:sp>
        <p:nvSpPr>
          <p:cNvPr id="23555" name="Rectangle 3"/>
          <p:cNvSpPr>
            <a:spLocks noGrp="1" noChangeArrowheads="1"/>
          </p:cNvSpPr>
          <p:nvPr>
            <p:ph type="title"/>
          </p:nvPr>
        </p:nvSpPr>
        <p:spPr>
          <a:noFill/>
          <a:ln/>
        </p:spPr>
        <p:txBody>
          <a:bodyPr/>
          <a:lstStyle/>
          <a:p>
            <a:r>
              <a:rPr lang="en-US" altLang="en-US"/>
              <a:t>Retrieving Data from a View</a:t>
            </a:r>
          </a:p>
        </p:txBody>
      </p:sp>
      <p:sp>
        <p:nvSpPr>
          <p:cNvPr id="23556" name="Rectangle 4"/>
          <p:cNvSpPr>
            <a:spLocks noChangeArrowheads="1"/>
          </p:cNvSpPr>
          <p:nvPr/>
        </p:nvSpPr>
        <p:spPr bwMode="blackWhite">
          <a:xfrm>
            <a:off x="923925" y="2565400"/>
            <a:ext cx="7497763" cy="2863850"/>
          </a:xfrm>
          <a:prstGeom prst="rect">
            <a:avLst/>
          </a:prstGeom>
          <a:solidFill>
            <a:srgbClr val="DDDDDD"/>
          </a:solidFill>
          <a:ln w="25400">
            <a:solidFill>
              <a:srgbClr val="000000"/>
            </a:solidFill>
            <a:miter lim="800000"/>
            <a:headEnd/>
            <a:tailEnd/>
          </a:ln>
          <a:effectLst>
            <a:outerShdw dist="89803" dir="2700000" algn="ctr" rotWithShape="0">
              <a:srgbClr val="000000"/>
            </a:outerShdw>
          </a:effectLst>
        </p:spPr>
        <p:txBody>
          <a:bodyPr lIns="92075" tIns="46038" rIns="92075" bIns="46038">
            <a:spAutoFit/>
          </a:bodyPr>
          <a:lstStyle>
            <a:lvl1pPr algn="l">
              <a:spcBef>
                <a:spcPct val="0"/>
              </a:spcBef>
              <a:tabLst>
                <a:tab pos="1200150" algn="l"/>
              </a:tabLst>
              <a:defRPr sz="2400">
                <a:solidFill>
                  <a:schemeClr val="tx1"/>
                </a:solidFill>
                <a:latin typeface="Times New Roman" pitchFamily="18" charset="0"/>
              </a:defRPr>
            </a:lvl1pPr>
            <a:lvl2pPr algn="l">
              <a:spcBef>
                <a:spcPct val="0"/>
              </a:spcBef>
              <a:tabLst>
                <a:tab pos="1200150" algn="l"/>
              </a:tabLst>
              <a:defRPr sz="2400">
                <a:solidFill>
                  <a:schemeClr val="tx1"/>
                </a:solidFill>
                <a:latin typeface="Times New Roman" pitchFamily="18" charset="0"/>
              </a:defRPr>
            </a:lvl2pPr>
            <a:lvl3pPr algn="l">
              <a:spcBef>
                <a:spcPct val="0"/>
              </a:spcBef>
              <a:tabLst>
                <a:tab pos="1200150" algn="l"/>
              </a:tabLst>
              <a:defRPr sz="2400">
                <a:solidFill>
                  <a:schemeClr val="tx1"/>
                </a:solidFill>
                <a:latin typeface="Times New Roman" pitchFamily="18" charset="0"/>
              </a:defRPr>
            </a:lvl3pPr>
            <a:lvl4pPr algn="l">
              <a:spcBef>
                <a:spcPct val="0"/>
              </a:spcBef>
              <a:tabLst>
                <a:tab pos="1200150" algn="l"/>
              </a:tabLst>
              <a:defRPr sz="2400">
                <a:solidFill>
                  <a:schemeClr val="tx1"/>
                </a:solidFill>
                <a:latin typeface="Times New Roman" pitchFamily="18" charset="0"/>
              </a:defRPr>
            </a:lvl4pPr>
            <a:lvl5pPr algn="l">
              <a:spcBef>
                <a:spcPct val="0"/>
              </a:spcBef>
              <a:tabLst>
                <a:tab pos="1200150" algn="l"/>
              </a:tabLst>
              <a:defRPr sz="2400">
                <a:solidFill>
                  <a:schemeClr val="tx1"/>
                </a:solidFill>
                <a:latin typeface="Times New Roman" pitchFamily="18" charset="0"/>
              </a:defRPr>
            </a:lvl5pPr>
            <a:lvl6pPr fontAlgn="base">
              <a:spcBef>
                <a:spcPct val="0"/>
              </a:spcBef>
              <a:spcAft>
                <a:spcPct val="0"/>
              </a:spcAft>
              <a:tabLst>
                <a:tab pos="1200150" algn="l"/>
              </a:tabLst>
              <a:defRPr sz="2400">
                <a:solidFill>
                  <a:schemeClr val="tx1"/>
                </a:solidFill>
                <a:latin typeface="Times New Roman" pitchFamily="18" charset="0"/>
              </a:defRPr>
            </a:lvl6pPr>
            <a:lvl7pPr fontAlgn="base">
              <a:spcBef>
                <a:spcPct val="0"/>
              </a:spcBef>
              <a:spcAft>
                <a:spcPct val="0"/>
              </a:spcAft>
              <a:tabLst>
                <a:tab pos="1200150" algn="l"/>
              </a:tabLst>
              <a:defRPr sz="2400">
                <a:solidFill>
                  <a:schemeClr val="tx1"/>
                </a:solidFill>
                <a:latin typeface="Times New Roman" pitchFamily="18" charset="0"/>
              </a:defRPr>
            </a:lvl7pPr>
            <a:lvl8pPr fontAlgn="base">
              <a:spcBef>
                <a:spcPct val="0"/>
              </a:spcBef>
              <a:spcAft>
                <a:spcPct val="0"/>
              </a:spcAft>
              <a:tabLst>
                <a:tab pos="1200150" algn="l"/>
              </a:tabLst>
              <a:defRPr sz="2400">
                <a:solidFill>
                  <a:schemeClr val="tx1"/>
                </a:solidFill>
                <a:latin typeface="Times New Roman" pitchFamily="18" charset="0"/>
              </a:defRPr>
            </a:lvl8pPr>
            <a:lvl9pPr fontAlgn="base">
              <a:spcBef>
                <a:spcPct val="0"/>
              </a:spcBef>
              <a:spcAft>
                <a:spcPct val="0"/>
              </a:spcAft>
              <a:tabLst>
                <a:tab pos="1200150" algn="l"/>
              </a:tabLst>
              <a:defRPr sz="2400">
                <a:solidFill>
                  <a:schemeClr val="tx1"/>
                </a:solidFill>
                <a:latin typeface="Times New Roman" pitchFamily="18" charset="0"/>
              </a:defRPr>
            </a:lvl9pPr>
          </a:lstStyle>
          <a:p>
            <a:pPr>
              <a:lnSpc>
                <a:spcPct val="100000"/>
              </a:lnSpc>
            </a:pPr>
            <a:r>
              <a:rPr lang="en-US" altLang="en-US" sz="1800">
                <a:solidFill>
                  <a:srgbClr val="000000"/>
                </a:solidFill>
                <a:latin typeface="Courier New" pitchFamily="49" charset="0"/>
              </a:rPr>
              <a:t>EMPLOYEE_NUMBER NAME          SALARY</a:t>
            </a:r>
          </a:p>
          <a:p>
            <a:pPr>
              <a:lnSpc>
                <a:spcPct val="100000"/>
              </a:lnSpc>
            </a:pPr>
            <a:r>
              <a:rPr lang="en-US" altLang="en-US" sz="1800">
                <a:solidFill>
                  <a:srgbClr val="000000"/>
                </a:solidFill>
                <a:latin typeface="Courier New" pitchFamily="49" charset="0"/>
              </a:rPr>
              <a:t>--------------- ---------- ---------</a:t>
            </a:r>
          </a:p>
          <a:p>
            <a:pPr>
              <a:lnSpc>
                <a:spcPct val="100000"/>
              </a:lnSpc>
            </a:pPr>
            <a:r>
              <a:rPr lang="en-US" altLang="en-US" sz="1800">
                <a:solidFill>
                  <a:srgbClr val="000000"/>
                </a:solidFill>
                <a:latin typeface="Courier New" pitchFamily="49" charset="0"/>
              </a:rPr>
              <a:t>           7698 BLAKE           2850</a:t>
            </a:r>
          </a:p>
          <a:p>
            <a:pPr>
              <a:lnSpc>
                <a:spcPct val="100000"/>
              </a:lnSpc>
            </a:pPr>
            <a:r>
              <a:rPr lang="en-US" altLang="en-US" sz="1800">
                <a:solidFill>
                  <a:srgbClr val="000000"/>
                </a:solidFill>
                <a:latin typeface="Courier New" pitchFamily="49" charset="0"/>
              </a:rPr>
              <a:t>           7654 MARTIN          1250</a:t>
            </a:r>
          </a:p>
          <a:p>
            <a:pPr>
              <a:lnSpc>
                <a:spcPct val="100000"/>
              </a:lnSpc>
            </a:pPr>
            <a:r>
              <a:rPr lang="en-US" altLang="en-US" sz="1800">
                <a:solidFill>
                  <a:srgbClr val="000000"/>
                </a:solidFill>
                <a:latin typeface="Courier New" pitchFamily="49" charset="0"/>
              </a:rPr>
              <a:t>           7499 ALLEN           1600</a:t>
            </a:r>
          </a:p>
          <a:p>
            <a:pPr>
              <a:lnSpc>
                <a:spcPct val="100000"/>
              </a:lnSpc>
            </a:pPr>
            <a:r>
              <a:rPr lang="en-US" altLang="en-US" sz="1800">
                <a:solidFill>
                  <a:srgbClr val="000000"/>
                </a:solidFill>
                <a:latin typeface="Courier New" pitchFamily="49" charset="0"/>
              </a:rPr>
              <a:t>           7844 TURNER          1500</a:t>
            </a:r>
          </a:p>
          <a:p>
            <a:pPr>
              <a:lnSpc>
                <a:spcPct val="100000"/>
              </a:lnSpc>
            </a:pPr>
            <a:r>
              <a:rPr lang="en-US" altLang="en-US" sz="1800">
                <a:solidFill>
                  <a:srgbClr val="000000"/>
                </a:solidFill>
                <a:latin typeface="Courier New" pitchFamily="49" charset="0"/>
              </a:rPr>
              <a:t>           7900 JAMES            950</a:t>
            </a:r>
          </a:p>
          <a:p>
            <a:pPr>
              <a:lnSpc>
                <a:spcPct val="100000"/>
              </a:lnSpc>
            </a:pPr>
            <a:r>
              <a:rPr lang="en-US" altLang="en-US" sz="1800">
                <a:solidFill>
                  <a:srgbClr val="000000"/>
                </a:solidFill>
                <a:latin typeface="Courier New" pitchFamily="49" charset="0"/>
              </a:rPr>
              <a:t>           7521 WARD            1250</a:t>
            </a:r>
          </a:p>
          <a:p>
            <a:pPr>
              <a:lnSpc>
                <a:spcPct val="100000"/>
              </a:lnSpc>
            </a:pPr>
            <a:endParaRPr lang="en-US" altLang="en-US" sz="1800">
              <a:solidFill>
                <a:srgbClr val="000000"/>
              </a:solidFill>
              <a:latin typeface="Courier New" pitchFamily="49" charset="0"/>
            </a:endParaRPr>
          </a:p>
          <a:p>
            <a:pPr>
              <a:lnSpc>
                <a:spcPct val="100000"/>
              </a:lnSpc>
            </a:pPr>
            <a:r>
              <a:rPr lang="en-US" altLang="en-US" sz="1800">
                <a:solidFill>
                  <a:srgbClr val="000000"/>
                </a:solidFill>
                <a:latin typeface="Courier New" pitchFamily="49" charset="0"/>
              </a:rPr>
              <a:t>6 rows selected.</a:t>
            </a:r>
          </a:p>
        </p:txBody>
      </p:sp>
      <p:sp>
        <p:nvSpPr>
          <p:cNvPr id="23557" name="Rectangle 5"/>
          <p:cNvSpPr>
            <a:spLocks noChangeArrowheads="1"/>
          </p:cNvSpPr>
          <p:nvPr/>
        </p:nvSpPr>
        <p:spPr bwMode="ltGray">
          <a:xfrm>
            <a:off x="2747963" y="1981200"/>
            <a:ext cx="1228725" cy="342900"/>
          </a:xfrm>
          <a:prstGeom prst="rect">
            <a:avLst/>
          </a:prstGeom>
          <a:solidFill>
            <a:srgbClr val="FF5050">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3558" name="Rectangle 6"/>
          <p:cNvSpPr>
            <a:spLocks noChangeArrowheads="1"/>
          </p:cNvSpPr>
          <p:nvPr/>
        </p:nvSpPr>
        <p:spPr bwMode="blackWhite">
          <a:xfrm>
            <a:off x="892175" y="1692275"/>
            <a:ext cx="7523163" cy="666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lgn="l">
              <a:spcBef>
                <a:spcPct val="0"/>
              </a:spcBef>
              <a:tabLst>
                <a:tab pos="808038" algn="l"/>
              </a:tabLst>
              <a:defRPr sz="2400">
                <a:solidFill>
                  <a:schemeClr val="tx1"/>
                </a:solidFill>
                <a:latin typeface="Times New Roman" pitchFamily="18" charset="0"/>
              </a:defRPr>
            </a:lvl1pPr>
            <a:lvl2pPr algn="l">
              <a:spcBef>
                <a:spcPct val="0"/>
              </a:spcBef>
              <a:tabLst>
                <a:tab pos="808038" algn="l"/>
              </a:tabLst>
              <a:defRPr sz="2400">
                <a:solidFill>
                  <a:schemeClr val="tx1"/>
                </a:solidFill>
                <a:latin typeface="Times New Roman" pitchFamily="18" charset="0"/>
              </a:defRPr>
            </a:lvl2pPr>
            <a:lvl3pPr algn="l">
              <a:spcBef>
                <a:spcPct val="0"/>
              </a:spcBef>
              <a:tabLst>
                <a:tab pos="808038" algn="l"/>
              </a:tabLst>
              <a:defRPr sz="2400">
                <a:solidFill>
                  <a:schemeClr val="tx1"/>
                </a:solidFill>
                <a:latin typeface="Times New Roman" pitchFamily="18" charset="0"/>
              </a:defRPr>
            </a:lvl3pPr>
            <a:lvl4pPr algn="l">
              <a:spcBef>
                <a:spcPct val="0"/>
              </a:spcBef>
              <a:tabLst>
                <a:tab pos="808038" algn="l"/>
              </a:tabLst>
              <a:defRPr sz="2400">
                <a:solidFill>
                  <a:schemeClr val="tx1"/>
                </a:solidFill>
                <a:latin typeface="Times New Roman" pitchFamily="18" charset="0"/>
              </a:defRPr>
            </a:lvl4pPr>
            <a:lvl5pPr algn="l">
              <a:spcBef>
                <a:spcPct val="0"/>
              </a:spcBef>
              <a:tabLst>
                <a:tab pos="808038" algn="l"/>
              </a:tabLst>
              <a:defRPr sz="2400">
                <a:solidFill>
                  <a:schemeClr val="tx1"/>
                </a:solidFill>
                <a:latin typeface="Times New Roman" pitchFamily="18" charset="0"/>
              </a:defRPr>
            </a:lvl5pPr>
            <a:lvl6pPr fontAlgn="base">
              <a:spcBef>
                <a:spcPct val="0"/>
              </a:spcBef>
              <a:spcAft>
                <a:spcPct val="0"/>
              </a:spcAft>
              <a:tabLst>
                <a:tab pos="808038" algn="l"/>
              </a:tabLst>
              <a:defRPr sz="2400">
                <a:solidFill>
                  <a:schemeClr val="tx1"/>
                </a:solidFill>
                <a:latin typeface="Times New Roman" pitchFamily="18" charset="0"/>
              </a:defRPr>
            </a:lvl6pPr>
            <a:lvl7pPr fontAlgn="base">
              <a:spcBef>
                <a:spcPct val="0"/>
              </a:spcBef>
              <a:spcAft>
                <a:spcPct val="0"/>
              </a:spcAft>
              <a:tabLst>
                <a:tab pos="808038" algn="l"/>
              </a:tabLst>
              <a:defRPr sz="2400">
                <a:solidFill>
                  <a:schemeClr val="tx1"/>
                </a:solidFill>
                <a:latin typeface="Times New Roman" pitchFamily="18" charset="0"/>
              </a:defRPr>
            </a:lvl7pPr>
            <a:lvl8pPr fontAlgn="base">
              <a:spcBef>
                <a:spcPct val="0"/>
              </a:spcBef>
              <a:spcAft>
                <a:spcPct val="0"/>
              </a:spcAft>
              <a:tabLst>
                <a:tab pos="808038" algn="l"/>
              </a:tabLst>
              <a:defRPr sz="2400">
                <a:solidFill>
                  <a:schemeClr val="tx1"/>
                </a:solidFill>
                <a:latin typeface="Times New Roman" pitchFamily="18" charset="0"/>
              </a:defRPr>
            </a:lvl8pPr>
            <a:lvl9pPr fontAlgn="base">
              <a:spcBef>
                <a:spcPct val="0"/>
              </a:spcBef>
              <a:spcAft>
                <a:spcPct val="0"/>
              </a:spcAft>
              <a:tabLst>
                <a:tab pos="808038" algn="l"/>
              </a:tabLst>
              <a:defRPr sz="2400">
                <a:solidFill>
                  <a:schemeClr val="tx1"/>
                </a:solidFill>
                <a:latin typeface="Times New Roman" pitchFamily="18" charset="0"/>
              </a:defRPr>
            </a:lvl9pPr>
          </a:lstStyle>
          <a:p>
            <a:pPr>
              <a:lnSpc>
                <a:spcPct val="100000"/>
              </a:lnSpc>
            </a:pPr>
            <a:r>
              <a:rPr lang="en-US" altLang="en-US" sz="1800">
                <a:solidFill>
                  <a:srgbClr val="000000"/>
                </a:solidFill>
                <a:latin typeface="Courier New" pitchFamily="49" charset="0"/>
              </a:rPr>
              <a:t>SQL&gt; 	SELECT *</a:t>
            </a:r>
          </a:p>
          <a:p>
            <a:pPr>
              <a:lnSpc>
                <a:spcPct val="100000"/>
              </a:lnSpc>
            </a:pPr>
            <a:r>
              <a:rPr lang="en-US" altLang="en-US" sz="1800">
                <a:solidFill>
                  <a:srgbClr val="000000"/>
                </a:solidFill>
                <a:latin typeface="Courier New" pitchFamily="49" charset="0"/>
              </a:rPr>
              <a:t>  2 	FROM	salvu30;</a:t>
            </a:r>
          </a:p>
        </p:txBody>
      </p:sp>
    </p:spTree>
    <p:extLst>
      <p:ext uri="{BB962C8B-B14F-4D97-AF65-F5344CB8AC3E}">
        <p14:creationId xmlns:p14="http://schemas.microsoft.com/office/powerpoint/2010/main" val="4227044195"/>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23557"/>
                                        </p:tgtEl>
                                        <p:attrNameLst>
                                          <p:attrName>style.visibility</p:attrName>
                                        </p:attrNameLst>
                                      </p:cBhvr>
                                      <p:to>
                                        <p:strVal val="visible"/>
                                      </p:to>
                                    </p:set>
                                    <p:animEffect transition="in" filter="wipe(up)">
                                      <p:cBhvr>
                                        <p:cTn id="7" dur="500"/>
                                        <p:tgtEl>
                                          <p:spTgt spid="235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noFill/>
          <a:ln/>
        </p:spPr>
        <p:txBody>
          <a:bodyPr/>
          <a:lstStyle/>
          <a:p>
            <a:r>
              <a:rPr lang="en-US" altLang="en-US"/>
              <a:t>Querying a View</a:t>
            </a:r>
          </a:p>
        </p:txBody>
      </p:sp>
      <p:sp>
        <p:nvSpPr>
          <p:cNvPr id="25603" name="AutoShape 3"/>
          <p:cNvSpPr>
            <a:spLocks noChangeArrowheads="1"/>
          </p:cNvSpPr>
          <p:nvPr/>
        </p:nvSpPr>
        <p:spPr bwMode="blackWhite">
          <a:xfrm>
            <a:off x="765175" y="3001963"/>
            <a:ext cx="3533775" cy="2859087"/>
          </a:xfrm>
          <a:prstGeom prst="roundRect">
            <a:avLst>
              <a:gd name="adj" fmla="val 12495"/>
            </a:avLst>
          </a:prstGeom>
          <a:gradFill rotWithShape="0">
            <a:gsLst>
              <a:gs pos="0">
                <a:srgbClr val="FF9966">
                  <a:gamma/>
                  <a:shade val="89804"/>
                  <a:invGamma/>
                </a:srgbClr>
              </a:gs>
              <a:gs pos="50000">
                <a:srgbClr val="FF9966"/>
              </a:gs>
              <a:gs pos="100000">
                <a:srgbClr val="FF9966">
                  <a:gamma/>
                  <a:shade val="89804"/>
                  <a:invGamma/>
                </a:srgbClr>
              </a:gs>
            </a:gsLst>
            <a:lin ang="2700000" scaled="1"/>
          </a:gradFill>
          <a:ln w="12700">
            <a:solidFill>
              <a:srgbClr val="000000"/>
            </a:solidFill>
            <a:round/>
            <a:headEnd/>
            <a:tailEnd/>
          </a:ln>
          <a:effectLst>
            <a:outerShdw dist="53882" dir="2700000" algn="ctr" rotWithShape="0">
              <a:srgbClr val="000000"/>
            </a:outerShdw>
          </a:effectLst>
        </p:spPr>
        <p:txBody>
          <a:bodyPr wrap="none" anchor="ctr"/>
          <a:lstStyle/>
          <a:p>
            <a:endParaRPr lang="en-US"/>
          </a:p>
        </p:txBody>
      </p:sp>
      <p:grpSp>
        <p:nvGrpSpPr>
          <p:cNvPr id="25610" name="Group 10"/>
          <p:cNvGrpSpPr>
            <a:grpSpLocks/>
          </p:cNvGrpSpPr>
          <p:nvPr/>
        </p:nvGrpSpPr>
        <p:grpSpPr bwMode="auto">
          <a:xfrm>
            <a:off x="3325813" y="1790700"/>
            <a:ext cx="5303837" cy="4114800"/>
            <a:chOff x="2095" y="1128"/>
            <a:chExt cx="3341" cy="2592"/>
          </a:xfrm>
        </p:grpSpPr>
        <p:grpSp>
          <p:nvGrpSpPr>
            <p:cNvPr id="25607" name="Group 7"/>
            <p:cNvGrpSpPr>
              <a:grpSpLocks/>
            </p:cNvGrpSpPr>
            <p:nvPr/>
          </p:nvGrpSpPr>
          <p:grpSpPr bwMode="auto">
            <a:xfrm>
              <a:off x="3336" y="1128"/>
              <a:ext cx="2100" cy="2592"/>
              <a:chOff x="3336" y="1128"/>
              <a:chExt cx="2100" cy="2592"/>
            </a:xfrm>
          </p:grpSpPr>
          <p:sp>
            <p:nvSpPr>
              <p:cNvPr id="25604" name="Rectangle 4"/>
              <p:cNvSpPr>
                <a:spLocks noChangeArrowheads="1"/>
              </p:cNvSpPr>
              <p:nvPr/>
            </p:nvSpPr>
            <p:spPr bwMode="ltGray">
              <a:xfrm>
                <a:off x="3336" y="1654"/>
                <a:ext cx="2100" cy="1553"/>
              </a:xfrm>
              <a:prstGeom prst="rect">
                <a:avLst/>
              </a:prstGeom>
              <a:gradFill rotWithShape="0">
                <a:gsLst>
                  <a:gs pos="0">
                    <a:srgbClr val="B2B2B2">
                      <a:gamma/>
                      <a:shade val="80000"/>
                      <a:invGamma/>
                    </a:srgbClr>
                  </a:gs>
                  <a:gs pos="50000">
                    <a:srgbClr val="B2B2B2"/>
                  </a:gs>
                  <a:gs pos="100000">
                    <a:srgbClr val="B2B2B2">
                      <a:gamma/>
                      <a:shade val="80000"/>
                      <a:invGamma/>
                    </a:srgbClr>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605" name="Oval 5"/>
              <p:cNvSpPr>
                <a:spLocks noChangeArrowheads="1"/>
              </p:cNvSpPr>
              <p:nvPr/>
            </p:nvSpPr>
            <p:spPr bwMode="ltGray">
              <a:xfrm>
                <a:off x="3336" y="1128"/>
                <a:ext cx="2100" cy="995"/>
              </a:xfrm>
              <a:prstGeom prst="ellipse">
                <a:avLst/>
              </a:prstGeom>
              <a:gradFill rotWithShape="0">
                <a:gsLst>
                  <a:gs pos="0">
                    <a:srgbClr val="B2B2B2">
                      <a:gamma/>
                      <a:shade val="89804"/>
                      <a:invGamma/>
                    </a:srgbClr>
                  </a:gs>
                  <a:gs pos="100000">
                    <a:srgbClr val="B2B2B2"/>
                  </a:gs>
                </a:gsLst>
                <a:lin ang="540000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5606" name="Oval 6"/>
              <p:cNvSpPr>
                <a:spLocks noChangeArrowheads="1"/>
              </p:cNvSpPr>
              <p:nvPr/>
            </p:nvSpPr>
            <p:spPr bwMode="ltGray">
              <a:xfrm>
                <a:off x="3336" y="2725"/>
                <a:ext cx="2100" cy="995"/>
              </a:xfrm>
              <a:prstGeom prst="ellipse">
                <a:avLst/>
              </a:prstGeom>
              <a:gradFill rotWithShape="0">
                <a:gsLst>
                  <a:gs pos="0">
                    <a:srgbClr val="B2B2B2">
                      <a:gamma/>
                      <a:shade val="80000"/>
                      <a:invGamma/>
                    </a:srgbClr>
                  </a:gs>
                  <a:gs pos="50000">
                    <a:srgbClr val="B2B2B2"/>
                  </a:gs>
                  <a:gs pos="100000">
                    <a:srgbClr val="B2B2B2">
                      <a:gamma/>
                      <a:shade val="80000"/>
                      <a:invGamma/>
                    </a:srgbClr>
                  </a:gs>
                </a:gsLst>
                <a:lin ang="0" scaled="1"/>
              </a:gra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25608" name="Line 8"/>
            <p:cNvSpPr>
              <a:spLocks noChangeShapeType="1"/>
            </p:cNvSpPr>
            <p:nvPr/>
          </p:nvSpPr>
          <p:spPr bwMode="auto">
            <a:xfrm>
              <a:off x="2095" y="2493"/>
              <a:ext cx="1325" cy="0"/>
            </a:xfrm>
            <a:prstGeom prst="line">
              <a:avLst/>
            </a:prstGeom>
            <a:noFill/>
            <a:ln w="50800">
              <a:solidFill>
                <a:srgbClr val="FFCC00"/>
              </a:solidFill>
              <a:round/>
              <a:headEnd type="none" w="sm" len="sm"/>
              <a:tailEnd type="stealth" w="med" len="lg"/>
            </a:ln>
            <a:effectLst>
              <a:outerShdw dist="53882" dir="2700000" algn="ctr" rotWithShape="0">
                <a:srgbClr val="000000"/>
              </a:outerShdw>
            </a:effectLst>
            <a:extLst>
              <a:ext uri="{909E8E84-426E-40DD-AFC4-6F175D3DCCD1}">
                <a14:hiddenFill xmlns:a14="http://schemas.microsoft.com/office/drawing/2010/main">
                  <a:noFill/>
                </a14:hiddenFill>
              </a:ext>
            </a:extLst>
          </p:spPr>
          <p:txBody>
            <a:bodyPr/>
            <a:lstStyle/>
            <a:p>
              <a:endParaRPr lang="en-US"/>
            </a:p>
          </p:txBody>
        </p:sp>
        <p:sp>
          <p:nvSpPr>
            <p:cNvPr id="25609" name="AutoShape 9"/>
            <p:cNvSpPr>
              <a:spLocks noChangeArrowheads="1"/>
            </p:cNvSpPr>
            <p:nvPr/>
          </p:nvSpPr>
          <p:spPr bwMode="blackWhite">
            <a:xfrm>
              <a:off x="3436" y="2124"/>
              <a:ext cx="1928" cy="972"/>
            </a:xfrm>
            <a:prstGeom prst="roundRect">
              <a:avLst>
                <a:gd name="adj" fmla="val 0"/>
              </a:avLst>
            </a:prstGeom>
            <a:gradFill rotWithShape="0">
              <a:gsLst>
                <a:gs pos="0">
                  <a:srgbClr val="00CC66">
                    <a:gamma/>
                    <a:shade val="89804"/>
                    <a:invGamma/>
                  </a:srgbClr>
                </a:gs>
                <a:gs pos="50000">
                  <a:srgbClr val="00CC66"/>
                </a:gs>
                <a:gs pos="100000">
                  <a:srgbClr val="00CC66">
                    <a:gamma/>
                    <a:shade val="89804"/>
                    <a:invGamma/>
                  </a:srgbClr>
                </a:gs>
              </a:gsLst>
              <a:lin ang="2700000" scaled="1"/>
            </a:gradFill>
            <a:ln>
              <a:noFill/>
            </a:ln>
            <a:effectLst>
              <a:outerShdw dist="53882" dir="2700000" algn="ctr" rotWithShape="0">
                <a:srgbClr val="000000"/>
              </a:outerShdw>
            </a:effectLst>
            <a:extLst>
              <a:ext uri="{91240B29-F687-4F45-9708-019B960494DF}">
                <a14:hiddenLine xmlns:a14="http://schemas.microsoft.com/office/drawing/2010/main" w="9525">
                  <a:solidFill>
                    <a:schemeClr val="tx1"/>
                  </a:solidFill>
                  <a:round/>
                  <a:headEnd/>
                  <a:tailEnd/>
                </a14:hiddenLine>
              </a:ext>
            </a:extLst>
          </p:spPr>
          <p:txBody>
            <a:bodyPr wrap="none" lIns="92075" tIns="46038" rIns="92075" bIns="46038" anchor="ctr"/>
            <a:lstStyle>
              <a:lvl1pPr algn="l">
                <a:spcBef>
                  <a:spcPct val="0"/>
                </a:spcBef>
                <a:tabLst>
                  <a:tab pos="1077913" algn="l"/>
                  <a:tab pos="1779588" algn="l"/>
                </a:tabLst>
                <a:defRPr sz="2400">
                  <a:solidFill>
                    <a:schemeClr val="tx1"/>
                  </a:solidFill>
                  <a:latin typeface="Times New Roman" pitchFamily="18" charset="0"/>
                </a:defRPr>
              </a:lvl1pPr>
              <a:lvl2pPr algn="l">
                <a:spcBef>
                  <a:spcPct val="0"/>
                </a:spcBef>
                <a:tabLst>
                  <a:tab pos="1077913" algn="l"/>
                  <a:tab pos="1779588" algn="l"/>
                </a:tabLst>
                <a:defRPr sz="2400">
                  <a:solidFill>
                    <a:schemeClr val="tx1"/>
                  </a:solidFill>
                  <a:latin typeface="Times New Roman" pitchFamily="18" charset="0"/>
                </a:defRPr>
              </a:lvl2pPr>
              <a:lvl3pPr algn="l">
                <a:spcBef>
                  <a:spcPct val="0"/>
                </a:spcBef>
                <a:tabLst>
                  <a:tab pos="1077913" algn="l"/>
                  <a:tab pos="1779588" algn="l"/>
                </a:tabLst>
                <a:defRPr sz="2400">
                  <a:solidFill>
                    <a:schemeClr val="tx1"/>
                  </a:solidFill>
                  <a:latin typeface="Times New Roman" pitchFamily="18" charset="0"/>
                </a:defRPr>
              </a:lvl3pPr>
              <a:lvl4pPr algn="l">
                <a:spcBef>
                  <a:spcPct val="0"/>
                </a:spcBef>
                <a:tabLst>
                  <a:tab pos="1077913" algn="l"/>
                  <a:tab pos="1779588" algn="l"/>
                </a:tabLst>
                <a:defRPr sz="2400">
                  <a:solidFill>
                    <a:schemeClr val="tx1"/>
                  </a:solidFill>
                  <a:latin typeface="Times New Roman" pitchFamily="18" charset="0"/>
                </a:defRPr>
              </a:lvl4pPr>
              <a:lvl5pPr algn="l">
                <a:spcBef>
                  <a:spcPct val="0"/>
                </a:spcBef>
                <a:tabLst>
                  <a:tab pos="1077913" algn="l"/>
                  <a:tab pos="1779588" algn="l"/>
                </a:tabLst>
                <a:defRPr sz="2400">
                  <a:solidFill>
                    <a:schemeClr val="tx1"/>
                  </a:solidFill>
                  <a:latin typeface="Times New Roman" pitchFamily="18" charset="0"/>
                </a:defRPr>
              </a:lvl5pPr>
              <a:lvl6pPr fontAlgn="base">
                <a:spcBef>
                  <a:spcPct val="0"/>
                </a:spcBef>
                <a:spcAft>
                  <a:spcPct val="0"/>
                </a:spcAft>
                <a:tabLst>
                  <a:tab pos="1077913" algn="l"/>
                  <a:tab pos="1779588" algn="l"/>
                </a:tabLst>
                <a:defRPr sz="2400">
                  <a:solidFill>
                    <a:schemeClr val="tx1"/>
                  </a:solidFill>
                  <a:latin typeface="Times New Roman" pitchFamily="18" charset="0"/>
                </a:defRPr>
              </a:lvl6pPr>
              <a:lvl7pPr fontAlgn="base">
                <a:spcBef>
                  <a:spcPct val="0"/>
                </a:spcBef>
                <a:spcAft>
                  <a:spcPct val="0"/>
                </a:spcAft>
                <a:tabLst>
                  <a:tab pos="1077913" algn="l"/>
                  <a:tab pos="1779588" algn="l"/>
                </a:tabLst>
                <a:defRPr sz="2400">
                  <a:solidFill>
                    <a:schemeClr val="tx1"/>
                  </a:solidFill>
                  <a:latin typeface="Times New Roman" pitchFamily="18" charset="0"/>
                </a:defRPr>
              </a:lvl7pPr>
              <a:lvl8pPr fontAlgn="base">
                <a:spcBef>
                  <a:spcPct val="0"/>
                </a:spcBef>
                <a:spcAft>
                  <a:spcPct val="0"/>
                </a:spcAft>
                <a:tabLst>
                  <a:tab pos="1077913" algn="l"/>
                  <a:tab pos="1779588" algn="l"/>
                </a:tabLst>
                <a:defRPr sz="2400">
                  <a:solidFill>
                    <a:schemeClr val="tx1"/>
                  </a:solidFill>
                  <a:latin typeface="Times New Roman" pitchFamily="18" charset="0"/>
                </a:defRPr>
              </a:lvl8pPr>
              <a:lvl9pPr fontAlgn="base">
                <a:spcBef>
                  <a:spcPct val="0"/>
                </a:spcBef>
                <a:spcAft>
                  <a:spcPct val="0"/>
                </a:spcAft>
                <a:tabLst>
                  <a:tab pos="1077913" algn="l"/>
                  <a:tab pos="1779588" algn="l"/>
                </a:tabLst>
                <a:defRPr sz="2400">
                  <a:solidFill>
                    <a:schemeClr val="tx1"/>
                  </a:solidFill>
                  <a:latin typeface="Times New Roman" pitchFamily="18" charset="0"/>
                </a:defRPr>
              </a:lvl9pPr>
            </a:lstStyle>
            <a:p>
              <a:pPr>
                <a:lnSpc>
                  <a:spcPct val="70000"/>
                </a:lnSpc>
              </a:pPr>
              <a:r>
                <a:rPr lang="en-US" altLang="en-US" sz="1600">
                  <a:solidFill>
                    <a:srgbClr val="000000"/>
                  </a:solidFill>
                  <a:latin typeface="Arial" pitchFamily="34" charset="0"/>
                </a:rPr>
                <a:t>  </a:t>
              </a:r>
              <a:r>
                <a:rPr lang="en-US" altLang="en-US" sz="1600">
                  <a:solidFill>
                    <a:srgbClr val="000000"/>
                  </a:solidFill>
                  <a:effectLst>
                    <a:outerShdw blurRad="38100" dist="38100" dir="2700000" algn="tl">
                      <a:srgbClr val="FFFFFF"/>
                    </a:outerShdw>
                  </a:effectLst>
                  <a:latin typeface="Arial" pitchFamily="34" charset="0"/>
                </a:rPr>
                <a:t>             </a:t>
              </a:r>
              <a:r>
                <a:rPr lang="en-US" altLang="en-US" sz="2200">
                  <a:solidFill>
                    <a:srgbClr val="FFFFCC"/>
                  </a:solidFill>
                  <a:effectLst>
                    <a:outerShdw blurRad="38100" dist="38100" dir="2700000" algn="tl">
                      <a:srgbClr val="000000"/>
                    </a:outerShdw>
                  </a:effectLst>
                  <a:latin typeface="Arial" pitchFamily="34" charset="0"/>
                </a:rPr>
                <a:t>USER_VIEWS</a:t>
              </a:r>
              <a:r>
                <a:rPr lang="en-US" altLang="en-US" sz="1600">
                  <a:solidFill>
                    <a:srgbClr val="000000"/>
                  </a:solidFill>
                  <a:latin typeface="Arial" pitchFamily="34" charset="0"/>
                </a:rPr>
                <a:t>     </a:t>
              </a:r>
            </a:p>
            <a:p>
              <a:pPr>
                <a:lnSpc>
                  <a:spcPct val="70000"/>
                </a:lnSpc>
              </a:pPr>
              <a:r>
                <a:rPr lang="en-US" altLang="en-US" sz="1600">
                  <a:solidFill>
                    <a:srgbClr val="000000"/>
                  </a:solidFill>
                  <a:latin typeface="Arial" pitchFamily="34" charset="0"/>
                </a:rPr>
                <a:t>                 </a:t>
              </a:r>
            </a:p>
            <a:p>
              <a:pPr>
                <a:lnSpc>
                  <a:spcPct val="70000"/>
                </a:lnSpc>
              </a:pPr>
              <a:r>
                <a:rPr lang="en-US" altLang="en-US" sz="1600">
                  <a:solidFill>
                    <a:srgbClr val="000000"/>
                  </a:solidFill>
                  <a:latin typeface="Arial" pitchFamily="34" charset="0"/>
                </a:rPr>
                <a:t>                  </a:t>
              </a:r>
              <a:r>
                <a:rPr lang="en-US" altLang="en-US" sz="1800">
                  <a:solidFill>
                    <a:srgbClr val="DDDDDD"/>
                  </a:solidFill>
                  <a:effectLst>
                    <a:outerShdw blurRad="38100" dist="38100" dir="2700000" algn="tl">
                      <a:srgbClr val="000000"/>
                    </a:outerShdw>
                  </a:effectLst>
                  <a:latin typeface="Arial" pitchFamily="34" charset="0"/>
                </a:rPr>
                <a:t>EMPVU10</a:t>
              </a:r>
              <a:endParaRPr lang="en-US" altLang="en-US" sz="1800">
                <a:solidFill>
                  <a:srgbClr val="000000"/>
                </a:solidFill>
                <a:latin typeface="Arial" pitchFamily="34" charset="0"/>
              </a:endParaRPr>
            </a:p>
            <a:p>
              <a:pPr>
                <a:lnSpc>
                  <a:spcPct val="100000"/>
                </a:lnSpc>
              </a:pPr>
              <a:r>
                <a:rPr lang="en-US" altLang="en-US" sz="1600">
                  <a:solidFill>
                    <a:srgbClr val="000000"/>
                  </a:solidFill>
                  <a:latin typeface="Arial" pitchFamily="34" charset="0"/>
                </a:rPr>
                <a:t>SELECT	empno, ename, job</a:t>
              </a:r>
            </a:p>
            <a:p>
              <a:pPr>
                <a:lnSpc>
                  <a:spcPct val="100000"/>
                </a:lnSpc>
              </a:pPr>
              <a:r>
                <a:rPr lang="en-US" altLang="en-US" sz="1600">
                  <a:solidFill>
                    <a:srgbClr val="000000"/>
                  </a:solidFill>
                  <a:latin typeface="Arial" pitchFamily="34" charset="0"/>
                </a:rPr>
                <a:t>FROM	emp</a:t>
              </a:r>
            </a:p>
            <a:p>
              <a:pPr>
                <a:lnSpc>
                  <a:spcPct val="100000"/>
                </a:lnSpc>
              </a:pPr>
              <a:r>
                <a:rPr lang="en-US" altLang="en-US" sz="1600">
                  <a:solidFill>
                    <a:srgbClr val="000000"/>
                  </a:solidFill>
                  <a:latin typeface="Arial" pitchFamily="34" charset="0"/>
                </a:rPr>
                <a:t>WHERE	deptno = 10;</a:t>
              </a:r>
            </a:p>
          </p:txBody>
        </p:sp>
      </p:grpSp>
      <p:sp>
        <p:nvSpPr>
          <p:cNvPr id="25611" name="AutoShape 11"/>
          <p:cNvSpPr>
            <a:spLocks noChangeArrowheads="1"/>
          </p:cNvSpPr>
          <p:nvPr/>
        </p:nvSpPr>
        <p:spPr bwMode="blackWhite">
          <a:xfrm>
            <a:off x="758825" y="2195513"/>
            <a:ext cx="3546475" cy="2871787"/>
          </a:xfrm>
          <a:prstGeom prst="roundRect">
            <a:avLst>
              <a:gd name="adj" fmla="val 12495"/>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lgn="l">
              <a:spcBef>
                <a:spcPct val="0"/>
              </a:spcBef>
              <a:tabLst>
                <a:tab pos="682625" algn="l"/>
                <a:tab pos="1779588" algn="l"/>
              </a:tabLst>
              <a:defRPr sz="2400">
                <a:solidFill>
                  <a:schemeClr val="tx1"/>
                </a:solidFill>
                <a:latin typeface="Times New Roman" pitchFamily="18" charset="0"/>
              </a:defRPr>
            </a:lvl1pPr>
            <a:lvl2pPr algn="l">
              <a:spcBef>
                <a:spcPct val="0"/>
              </a:spcBef>
              <a:tabLst>
                <a:tab pos="682625" algn="l"/>
                <a:tab pos="1779588" algn="l"/>
              </a:tabLst>
              <a:defRPr sz="2400">
                <a:solidFill>
                  <a:schemeClr val="tx1"/>
                </a:solidFill>
                <a:latin typeface="Times New Roman" pitchFamily="18" charset="0"/>
              </a:defRPr>
            </a:lvl2pPr>
            <a:lvl3pPr algn="l">
              <a:spcBef>
                <a:spcPct val="0"/>
              </a:spcBef>
              <a:tabLst>
                <a:tab pos="682625" algn="l"/>
                <a:tab pos="1779588" algn="l"/>
              </a:tabLst>
              <a:defRPr sz="2400">
                <a:solidFill>
                  <a:schemeClr val="tx1"/>
                </a:solidFill>
                <a:latin typeface="Times New Roman" pitchFamily="18" charset="0"/>
              </a:defRPr>
            </a:lvl3pPr>
            <a:lvl4pPr algn="l">
              <a:spcBef>
                <a:spcPct val="0"/>
              </a:spcBef>
              <a:tabLst>
                <a:tab pos="682625" algn="l"/>
                <a:tab pos="1779588" algn="l"/>
              </a:tabLst>
              <a:defRPr sz="2400">
                <a:solidFill>
                  <a:schemeClr val="tx1"/>
                </a:solidFill>
                <a:latin typeface="Times New Roman" pitchFamily="18" charset="0"/>
              </a:defRPr>
            </a:lvl4pPr>
            <a:lvl5pPr algn="l">
              <a:spcBef>
                <a:spcPct val="0"/>
              </a:spcBef>
              <a:tabLst>
                <a:tab pos="682625" algn="l"/>
                <a:tab pos="1779588" algn="l"/>
              </a:tabLst>
              <a:defRPr sz="2400">
                <a:solidFill>
                  <a:schemeClr val="tx1"/>
                </a:solidFill>
                <a:latin typeface="Times New Roman" pitchFamily="18" charset="0"/>
              </a:defRPr>
            </a:lvl5pPr>
            <a:lvl6pPr fontAlgn="base">
              <a:spcBef>
                <a:spcPct val="0"/>
              </a:spcBef>
              <a:spcAft>
                <a:spcPct val="0"/>
              </a:spcAft>
              <a:tabLst>
                <a:tab pos="682625" algn="l"/>
                <a:tab pos="1779588" algn="l"/>
              </a:tabLst>
              <a:defRPr sz="2400">
                <a:solidFill>
                  <a:schemeClr val="tx1"/>
                </a:solidFill>
                <a:latin typeface="Times New Roman" pitchFamily="18" charset="0"/>
              </a:defRPr>
            </a:lvl6pPr>
            <a:lvl7pPr fontAlgn="base">
              <a:spcBef>
                <a:spcPct val="0"/>
              </a:spcBef>
              <a:spcAft>
                <a:spcPct val="0"/>
              </a:spcAft>
              <a:tabLst>
                <a:tab pos="682625" algn="l"/>
                <a:tab pos="1779588" algn="l"/>
              </a:tabLst>
              <a:defRPr sz="2400">
                <a:solidFill>
                  <a:schemeClr val="tx1"/>
                </a:solidFill>
                <a:latin typeface="Times New Roman" pitchFamily="18" charset="0"/>
              </a:defRPr>
            </a:lvl7pPr>
            <a:lvl8pPr fontAlgn="base">
              <a:spcBef>
                <a:spcPct val="0"/>
              </a:spcBef>
              <a:spcAft>
                <a:spcPct val="0"/>
              </a:spcAft>
              <a:tabLst>
                <a:tab pos="682625" algn="l"/>
                <a:tab pos="1779588" algn="l"/>
              </a:tabLst>
              <a:defRPr sz="2400">
                <a:solidFill>
                  <a:schemeClr val="tx1"/>
                </a:solidFill>
                <a:latin typeface="Times New Roman" pitchFamily="18" charset="0"/>
              </a:defRPr>
            </a:lvl8pPr>
            <a:lvl9pPr fontAlgn="base">
              <a:spcBef>
                <a:spcPct val="0"/>
              </a:spcBef>
              <a:spcAft>
                <a:spcPct val="0"/>
              </a:spcAft>
              <a:tabLst>
                <a:tab pos="682625" algn="l"/>
                <a:tab pos="1779588" algn="l"/>
              </a:tabLst>
              <a:defRPr sz="2400">
                <a:solidFill>
                  <a:schemeClr val="tx1"/>
                </a:solidFill>
                <a:latin typeface="Times New Roman" pitchFamily="18" charset="0"/>
              </a:defRPr>
            </a:lvl9pPr>
          </a:lstStyle>
          <a:p>
            <a:pPr>
              <a:lnSpc>
                <a:spcPct val="100000"/>
              </a:lnSpc>
            </a:pPr>
            <a:r>
              <a:rPr lang="en-US" altLang="en-US" sz="2200">
                <a:solidFill>
                  <a:srgbClr val="DDDDDD"/>
                </a:solidFill>
                <a:latin typeface="Arial" pitchFamily="34" charset="0"/>
              </a:rPr>
              <a:t>          </a:t>
            </a:r>
            <a:r>
              <a:rPr lang="en-US" altLang="en-US" sz="2200">
                <a:solidFill>
                  <a:srgbClr val="FFFFCC"/>
                </a:solidFill>
                <a:effectLst>
                  <a:outerShdw blurRad="38100" dist="38100" dir="2700000" algn="tl">
                    <a:srgbClr val="000000"/>
                  </a:outerShdw>
                </a:effectLst>
                <a:latin typeface="Arial" pitchFamily="34" charset="0"/>
              </a:rPr>
              <a:t>SQL*Plus</a:t>
            </a:r>
            <a:endParaRPr lang="en-US" altLang="en-US" sz="1800">
              <a:solidFill>
                <a:srgbClr val="DDDDDD"/>
              </a:solidFill>
              <a:latin typeface="Arial" pitchFamily="34" charset="0"/>
            </a:endParaRPr>
          </a:p>
          <a:p>
            <a:pPr>
              <a:lnSpc>
                <a:spcPct val="100000"/>
              </a:lnSpc>
            </a:pPr>
            <a:endParaRPr lang="en-US" altLang="en-US" sz="1800">
              <a:solidFill>
                <a:srgbClr val="000000"/>
              </a:solidFill>
              <a:latin typeface="Arial" pitchFamily="34" charset="0"/>
            </a:endParaRPr>
          </a:p>
          <a:p>
            <a:pPr>
              <a:lnSpc>
                <a:spcPct val="100000"/>
              </a:lnSpc>
            </a:pPr>
            <a:r>
              <a:rPr lang="en-US" altLang="en-US" sz="1800">
                <a:solidFill>
                  <a:srgbClr val="000000"/>
                </a:solidFill>
                <a:latin typeface="Arial" pitchFamily="34" charset="0"/>
              </a:rPr>
              <a:t>SELECT   *</a:t>
            </a:r>
          </a:p>
          <a:p>
            <a:pPr>
              <a:lnSpc>
                <a:spcPct val="100000"/>
              </a:lnSpc>
            </a:pPr>
            <a:r>
              <a:rPr lang="en-US" altLang="en-US" sz="1800">
                <a:solidFill>
                  <a:srgbClr val="000000"/>
                </a:solidFill>
                <a:latin typeface="Arial" pitchFamily="34" charset="0"/>
              </a:rPr>
              <a:t>FROM       empvu10;</a:t>
            </a:r>
          </a:p>
        </p:txBody>
      </p:sp>
      <p:grpSp>
        <p:nvGrpSpPr>
          <p:cNvPr id="25618" name="Group 18"/>
          <p:cNvGrpSpPr>
            <a:grpSpLocks/>
          </p:cNvGrpSpPr>
          <p:nvPr/>
        </p:nvGrpSpPr>
        <p:grpSpPr bwMode="auto">
          <a:xfrm>
            <a:off x="854075" y="4262438"/>
            <a:ext cx="6975475" cy="1465262"/>
            <a:chOff x="538" y="2685"/>
            <a:chExt cx="4394" cy="923"/>
          </a:xfrm>
        </p:grpSpPr>
        <p:grpSp>
          <p:nvGrpSpPr>
            <p:cNvPr id="25616" name="Group 16"/>
            <p:cNvGrpSpPr>
              <a:grpSpLocks/>
            </p:cNvGrpSpPr>
            <p:nvPr/>
          </p:nvGrpSpPr>
          <p:grpSpPr bwMode="auto">
            <a:xfrm>
              <a:off x="538" y="2685"/>
              <a:ext cx="4394" cy="923"/>
              <a:chOff x="538" y="2685"/>
              <a:chExt cx="4394" cy="923"/>
            </a:xfrm>
          </p:grpSpPr>
          <p:sp>
            <p:nvSpPr>
              <p:cNvPr id="25612" name="Line 12"/>
              <p:cNvSpPr>
                <a:spLocks noChangeShapeType="1"/>
              </p:cNvSpPr>
              <p:nvPr/>
            </p:nvSpPr>
            <p:spPr bwMode="auto">
              <a:xfrm>
                <a:off x="2509" y="3327"/>
                <a:ext cx="1401" cy="0"/>
              </a:xfrm>
              <a:prstGeom prst="line">
                <a:avLst/>
              </a:prstGeom>
              <a:noFill/>
              <a:ln w="50800">
                <a:solidFill>
                  <a:srgbClr val="FFCC00"/>
                </a:solidFill>
                <a:round/>
                <a:headEnd type="stealth" w="med" len="lg"/>
                <a:tailEnd type="none" w="sm" len="sm"/>
              </a:ln>
              <a:effectLst>
                <a:outerShdw dist="53882" dir="2700000" algn="ctr" rotWithShape="0">
                  <a:srgbClr val="000000"/>
                </a:outerShdw>
              </a:effectLst>
              <a:extLst>
                <a:ext uri="{909E8E84-426E-40DD-AFC4-6F175D3DCCD1}">
                  <a14:hiddenFill xmlns:a14="http://schemas.microsoft.com/office/drawing/2010/main">
                    <a:noFill/>
                  </a14:hiddenFill>
                </a:ext>
              </a:extLst>
            </p:spPr>
            <p:txBody>
              <a:bodyPr/>
              <a:lstStyle/>
              <a:p>
                <a:endParaRPr lang="en-US"/>
              </a:p>
            </p:txBody>
          </p:sp>
          <p:sp>
            <p:nvSpPr>
              <p:cNvPr id="25613" name="Rectangle 13"/>
              <p:cNvSpPr>
                <a:spLocks noChangeArrowheads="1"/>
              </p:cNvSpPr>
              <p:nvPr/>
            </p:nvSpPr>
            <p:spPr bwMode="blackWhite">
              <a:xfrm>
                <a:off x="3786" y="3216"/>
                <a:ext cx="1146" cy="232"/>
              </a:xfrm>
              <a:prstGeom prst="rect">
                <a:avLst/>
              </a:prstGeom>
              <a:gradFill rotWithShape="0">
                <a:gsLst>
                  <a:gs pos="0">
                    <a:srgbClr val="6666FF">
                      <a:gamma/>
                      <a:shade val="89804"/>
                      <a:invGamma/>
                    </a:srgbClr>
                  </a:gs>
                  <a:gs pos="50000">
                    <a:srgbClr val="6666FF"/>
                  </a:gs>
                  <a:gs pos="100000">
                    <a:srgbClr val="6666FF">
                      <a:gamma/>
                      <a:shade val="89804"/>
                      <a:invGamma/>
                    </a:srgbClr>
                  </a:gs>
                </a:gsLst>
                <a:lin ang="2700000" scaled="1"/>
              </a:gradFill>
              <a:ln>
                <a:noFill/>
              </a:ln>
              <a:effectLst>
                <a:outerShdw dist="53882" dir="2700000" algn="ctr" rotWithShape="0">
                  <a:srgbClr val="000000"/>
                </a:outerShdw>
              </a:effectLst>
              <a:extLst>
                <a:ext uri="{91240B29-F687-4F45-9708-019B960494DF}">
                  <a14:hiddenLine xmlns:a14="http://schemas.microsoft.com/office/drawing/2010/main" w="9525">
                    <a:solidFill>
                      <a:schemeClr val="tx1"/>
                    </a:solidFill>
                    <a:miter lim="800000"/>
                    <a:headEnd/>
                    <a:tailEnd/>
                  </a14:hiddenLine>
                </a:ext>
              </a:extLst>
            </p:spPr>
            <p:txBody>
              <a:bodyPr wrap="none" anchor="ctr"/>
              <a:lstStyle/>
              <a:p>
                <a:endParaRPr lang="en-US"/>
              </a:p>
            </p:txBody>
          </p:sp>
          <p:sp>
            <p:nvSpPr>
              <p:cNvPr id="25614" name="Rectangle 14"/>
              <p:cNvSpPr>
                <a:spLocks noChangeArrowheads="1"/>
              </p:cNvSpPr>
              <p:nvPr/>
            </p:nvSpPr>
            <p:spPr bwMode="auto">
              <a:xfrm>
                <a:off x="4098" y="3208"/>
                <a:ext cx="428" cy="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r>
                  <a:rPr lang="en-US" altLang="en-US" sz="1800">
                    <a:solidFill>
                      <a:srgbClr val="000000"/>
                    </a:solidFill>
                    <a:latin typeface="Arial" pitchFamily="34" charset="0"/>
                  </a:rPr>
                  <a:t>EMP</a:t>
                </a:r>
              </a:p>
            </p:txBody>
          </p:sp>
          <p:sp>
            <p:nvSpPr>
              <p:cNvPr id="25615" name="Rectangle 15"/>
              <p:cNvSpPr>
                <a:spLocks noChangeArrowheads="1"/>
              </p:cNvSpPr>
              <p:nvPr/>
            </p:nvSpPr>
            <p:spPr bwMode="auto">
              <a:xfrm>
                <a:off x="538" y="2685"/>
                <a:ext cx="2092" cy="9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spAutoFit/>
              </a:bodyPr>
              <a:lstStyle/>
              <a:p>
                <a:pPr algn="l">
                  <a:lnSpc>
                    <a:spcPct val="100000"/>
                  </a:lnSpc>
                  <a:spcBef>
                    <a:spcPct val="0"/>
                  </a:spcBef>
                </a:pPr>
                <a:endParaRPr lang="en-US" altLang="en-US" sz="1800">
                  <a:solidFill>
                    <a:srgbClr val="000000"/>
                  </a:solidFill>
                  <a:latin typeface="Arial" pitchFamily="34" charset="0"/>
                </a:endParaRPr>
              </a:p>
              <a:p>
                <a:pPr algn="l">
                  <a:lnSpc>
                    <a:spcPct val="100000"/>
                  </a:lnSpc>
                  <a:spcBef>
                    <a:spcPct val="0"/>
                  </a:spcBef>
                </a:pPr>
                <a:endParaRPr lang="en-US" altLang="en-US" sz="1800">
                  <a:solidFill>
                    <a:srgbClr val="000000"/>
                  </a:solidFill>
                  <a:latin typeface="Arial" pitchFamily="34" charset="0"/>
                </a:endParaRPr>
              </a:p>
              <a:p>
                <a:pPr algn="l">
                  <a:lnSpc>
                    <a:spcPct val="100000"/>
                  </a:lnSpc>
                  <a:spcBef>
                    <a:spcPct val="0"/>
                  </a:spcBef>
                </a:pPr>
                <a:r>
                  <a:rPr lang="en-US" altLang="en-US" sz="1800">
                    <a:solidFill>
                      <a:srgbClr val="000000"/>
                    </a:solidFill>
                    <a:latin typeface="Arial" pitchFamily="34" charset="0"/>
                  </a:rPr>
                  <a:t>7839	KING	PRESIDENT</a:t>
                </a:r>
              </a:p>
              <a:p>
                <a:pPr algn="l">
                  <a:lnSpc>
                    <a:spcPct val="100000"/>
                  </a:lnSpc>
                  <a:spcBef>
                    <a:spcPct val="0"/>
                  </a:spcBef>
                </a:pPr>
                <a:r>
                  <a:rPr lang="en-US" altLang="en-US" sz="1800">
                    <a:solidFill>
                      <a:srgbClr val="000000"/>
                    </a:solidFill>
                    <a:latin typeface="Arial" pitchFamily="34" charset="0"/>
                  </a:rPr>
                  <a:t>7782	CLARK	MANAGER</a:t>
                </a:r>
              </a:p>
              <a:p>
                <a:pPr algn="l">
                  <a:lnSpc>
                    <a:spcPct val="100000"/>
                  </a:lnSpc>
                  <a:spcBef>
                    <a:spcPct val="0"/>
                  </a:spcBef>
                </a:pPr>
                <a:r>
                  <a:rPr lang="en-US" altLang="en-US" sz="1800">
                    <a:solidFill>
                      <a:srgbClr val="000000"/>
                    </a:solidFill>
                    <a:latin typeface="Arial" pitchFamily="34" charset="0"/>
                  </a:rPr>
                  <a:t>7934	MILLER	CLERK</a:t>
                </a:r>
              </a:p>
            </p:txBody>
          </p:sp>
        </p:grpSp>
        <p:sp>
          <p:nvSpPr>
            <p:cNvPr id="25617" name="Line 17"/>
            <p:cNvSpPr>
              <a:spLocks noChangeShapeType="1"/>
            </p:cNvSpPr>
            <p:nvPr/>
          </p:nvSpPr>
          <p:spPr bwMode="auto">
            <a:xfrm flipV="1">
              <a:off x="4304" y="3060"/>
              <a:ext cx="0" cy="211"/>
            </a:xfrm>
            <a:prstGeom prst="line">
              <a:avLst/>
            </a:prstGeom>
            <a:noFill/>
            <a:ln w="25400">
              <a:solidFill>
                <a:srgbClr val="FFCC00"/>
              </a:solidFill>
              <a:round/>
              <a:headEnd type="stealth" w="med" len="lg"/>
              <a:tailEnd type="none" w="sm" len="sm"/>
            </a:ln>
            <a:effectLst>
              <a:outerShdw dist="53882" dir="2700000" algn="ctr" rotWithShape="0">
                <a:srgbClr val="000000"/>
              </a:outerShdw>
            </a:effectLst>
            <a:extLst>
              <a:ext uri="{909E8E84-426E-40DD-AFC4-6F175D3DCCD1}">
                <a14:hiddenFill xmlns:a14="http://schemas.microsoft.com/office/drawing/2010/main">
                  <a:noFill/>
                </a14:hiddenFill>
              </a:ext>
            </a:extLst>
          </p:spPr>
          <p:txBody>
            <a:bodyPr/>
            <a:lstStyle/>
            <a:p>
              <a:endParaRPr lang="en-US"/>
            </a:p>
          </p:txBody>
        </p:sp>
      </p:grpSp>
    </p:spTree>
    <p:extLst>
      <p:ext uri="{BB962C8B-B14F-4D97-AF65-F5344CB8AC3E}">
        <p14:creationId xmlns:p14="http://schemas.microsoft.com/office/powerpoint/2010/main" val="2183522505"/>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5610"/>
                                        </p:tgtEl>
                                        <p:attrNameLst>
                                          <p:attrName>style.visibility</p:attrName>
                                        </p:attrNameLst>
                                      </p:cBhvr>
                                      <p:to>
                                        <p:strVal val="visible"/>
                                      </p:to>
                                    </p:set>
                                    <p:animEffect transition="in" filter="wipe(left)">
                                      <p:cBhvr>
                                        <p:cTn id="7" dur="500"/>
                                        <p:tgtEl>
                                          <p:spTgt spid="256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2" fill="hold" nodeType="clickEffect">
                                  <p:stCondLst>
                                    <p:cond delay="0"/>
                                  </p:stCondLst>
                                  <p:childTnLst>
                                    <p:set>
                                      <p:cBhvr>
                                        <p:cTn id="11" dur="1" fill="hold">
                                          <p:stCondLst>
                                            <p:cond delay="0"/>
                                          </p:stCondLst>
                                        </p:cTn>
                                        <p:tgtEl>
                                          <p:spTgt spid="25618"/>
                                        </p:tgtEl>
                                        <p:attrNameLst>
                                          <p:attrName>style.visibility</p:attrName>
                                        </p:attrNameLst>
                                      </p:cBhvr>
                                      <p:to>
                                        <p:strVal val="visible"/>
                                      </p:to>
                                    </p:set>
                                    <p:animEffect transition="in" filter="wipe(right)">
                                      <p:cBhvr>
                                        <p:cTn id="12" dur="500"/>
                                        <p:tgtEl>
                                          <p:spTgt spid="256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ChangeArrowheads="1"/>
          </p:cNvSpPr>
          <p:nvPr/>
        </p:nvSpPr>
        <p:spPr bwMode="blackWhite">
          <a:xfrm>
            <a:off x="933450" y="2573338"/>
            <a:ext cx="7645400" cy="1855787"/>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lIns="92075" tIns="46038" rIns="92075" bIns="46038" anchor="ctr"/>
          <a:lstStyle>
            <a:lvl1pPr algn="l">
              <a:spcBef>
                <a:spcPct val="0"/>
              </a:spcBef>
              <a:tabLst>
                <a:tab pos="1200150" algn="l"/>
                <a:tab pos="2120900" algn="l"/>
              </a:tabLst>
              <a:defRPr sz="2400">
                <a:solidFill>
                  <a:schemeClr val="tx1"/>
                </a:solidFill>
                <a:latin typeface="Times New Roman" pitchFamily="18" charset="0"/>
              </a:defRPr>
            </a:lvl1pPr>
            <a:lvl2pPr algn="l">
              <a:spcBef>
                <a:spcPct val="0"/>
              </a:spcBef>
              <a:tabLst>
                <a:tab pos="1200150" algn="l"/>
                <a:tab pos="2120900" algn="l"/>
              </a:tabLst>
              <a:defRPr sz="2400">
                <a:solidFill>
                  <a:schemeClr val="tx1"/>
                </a:solidFill>
                <a:latin typeface="Times New Roman" pitchFamily="18" charset="0"/>
              </a:defRPr>
            </a:lvl2pPr>
            <a:lvl3pPr algn="l">
              <a:spcBef>
                <a:spcPct val="0"/>
              </a:spcBef>
              <a:tabLst>
                <a:tab pos="1200150" algn="l"/>
                <a:tab pos="2120900" algn="l"/>
              </a:tabLst>
              <a:defRPr sz="2400">
                <a:solidFill>
                  <a:schemeClr val="tx1"/>
                </a:solidFill>
                <a:latin typeface="Times New Roman" pitchFamily="18" charset="0"/>
              </a:defRPr>
            </a:lvl3pPr>
            <a:lvl4pPr algn="l">
              <a:spcBef>
                <a:spcPct val="0"/>
              </a:spcBef>
              <a:tabLst>
                <a:tab pos="1200150" algn="l"/>
                <a:tab pos="2120900" algn="l"/>
              </a:tabLst>
              <a:defRPr sz="2400">
                <a:solidFill>
                  <a:schemeClr val="tx1"/>
                </a:solidFill>
                <a:latin typeface="Times New Roman" pitchFamily="18" charset="0"/>
              </a:defRPr>
            </a:lvl4pPr>
            <a:lvl5pPr algn="l">
              <a:spcBef>
                <a:spcPct val="0"/>
              </a:spcBef>
              <a:tabLst>
                <a:tab pos="1200150" algn="l"/>
                <a:tab pos="2120900" algn="l"/>
              </a:tabLst>
              <a:defRPr sz="2400">
                <a:solidFill>
                  <a:schemeClr val="tx1"/>
                </a:solidFill>
                <a:latin typeface="Times New Roman" pitchFamily="18" charset="0"/>
              </a:defRPr>
            </a:lvl5pPr>
            <a:lvl6pPr fontAlgn="base">
              <a:spcBef>
                <a:spcPct val="0"/>
              </a:spcBef>
              <a:spcAft>
                <a:spcPct val="0"/>
              </a:spcAft>
              <a:tabLst>
                <a:tab pos="1200150" algn="l"/>
                <a:tab pos="2120900" algn="l"/>
              </a:tabLst>
              <a:defRPr sz="2400">
                <a:solidFill>
                  <a:schemeClr val="tx1"/>
                </a:solidFill>
                <a:latin typeface="Times New Roman" pitchFamily="18" charset="0"/>
              </a:defRPr>
            </a:lvl6pPr>
            <a:lvl7pPr fontAlgn="base">
              <a:spcBef>
                <a:spcPct val="0"/>
              </a:spcBef>
              <a:spcAft>
                <a:spcPct val="0"/>
              </a:spcAft>
              <a:tabLst>
                <a:tab pos="1200150" algn="l"/>
                <a:tab pos="2120900" algn="l"/>
              </a:tabLst>
              <a:defRPr sz="2400">
                <a:solidFill>
                  <a:schemeClr val="tx1"/>
                </a:solidFill>
                <a:latin typeface="Times New Roman" pitchFamily="18" charset="0"/>
              </a:defRPr>
            </a:lvl7pPr>
            <a:lvl8pPr fontAlgn="base">
              <a:spcBef>
                <a:spcPct val="0"/>
              </a:spcBef>
              <a:spcAft>
                <a:spcPct val="0"/>
              </a:spcAft>
              <a:tabLst>
                <a:tab pos="1200150" algn="l"/>
                <a:tab pos="2120900" algn="l"/>
              </a:tabLst>
              <a:defRPr sz="2400">
                <a:solidFill>
                  <a:schemeClr val="tx1"/>
                </a:solidFill>
                <a:latin typeface="Times New Roman" pitchFamily="18" charset="0"/>
              </a:defRPr>
            </a:lvl8pPr>
            <a:lvl9pPr fontAlgn="base">
              <a:spcBef>
                <a:spcPct val="0"/>
              </a:spcBef>
              <a:spcAft>
                <a:spcPct val="0"/>
              </a:spcAft>
              <a:tabLst>
                <a:tab pos="1200150" algn="l"/>
                <a:tab pos="2120900" algn="l"/>
              </a:tabLst>
              <a:defRPr sz="2400">
                <a:solidFill>
                  <a:schemeClr val="tx1"/>
                </a:solidFill>
                <a:latin typeface="Times New Roman" pitchFamily="18" charset="0"/>
              </a:defRPr>
            </a:lvl9pPr>
          </a:lstStyle>
          <a:p>
            <a:pPr>
              <a:lnSpc>
                <a:spcPct val="100000"/>
              </a:lnSpc>
            </a:pPr>
            <a:endParaRPr lang="en-US" altLang="en-US" sz="1800">
              <a:solidFill>
                <a:srgbClr val="000000"/>
              </a:solidFill>
              <a:latin typeface="Courier New" pitchFamily="49" charset="0"/>
            </a:endParaRPr>
          </a:p>
          <a:p>
            <a:pPr>
              <a:lnSpc>
                <a:spcPct val="100000"/>
              </a:lnSpc>
            </a:pPr>
            <a:endParaRPr lang="en-US" altLang="en-US" sz="1800">
              <a:solidFill>
                <a:srgbClr val="000000"/>
              </a:solidFill>
              <a:latin typeface="Courier New" pitchFamily="49" charset="0"/>
            </a:endParaRPr>
          </a:p>
        </p:txBody>
      </p:sp>
      <p:sp>
        <p:nvSpPr>
          <p:cNvPr id="27651" name="Rectangle 3"/>
          <p:cNvSpPr>
            <a:spLocks noGrp="1" noChangeArrowheads="1"/>
          </p:cNvSpPr>
          <p:nvPr>
            <p:ph type="title"/>
          </p:nvPr>
        </p:nvSpPr>
        <p:spPr>
          <a:noFill/>
          <a:ln/>
        </p:spPr>
        <p:txBody>
          <a:bodyPr/>
          <a:lstStyle/>
          <a:p>
            <a:r>
              <a:rPr lang="en-US" altLang="en-US"/>
              <a:t>Modifying a View</a:t>
            </a:r>
          </a:p>
        </p:txBody>
      </p:sp>
      <p:sp>
        <p:nvSpPr>
          <p:cNvPr id="27652" name="Rectangle 4"/>
          <p:cNvSpPr>
            <a:spLocks noGrp="1" noChangeArrowheads="1"/>
          </p:cNvSpPr>
          <p:nvPr>
            <p:ph type="body" idx="1"/>
          </p:nvPr>
        </p:nvSpPr>
        <p:spPr>
          <a:xfrm>
            <a:off x="828675" y="1336675"/>
            <a:ext cx="7550150" cy="4473575"/>
          </a:xfrm>
          <a:noFill/>
          <a:ln/>
        </p:spPr>
        <p:txBody>
          <a:bodyPr/>
          <a:lstStyle/>
          <a:p>
            <a:pPr lvl="1">
              <a:lnSpc>
                <a:spcPct val="85000"/>
              </a:lnSpc>
            </a:pPr>
            <a:r>
              <a:rPr lang="en-US" altLang="en-US"/>
              <a:t>Modify the EMPVU10 view by using CREATE OR REPLACE VIEW clause. Add an alias for each column name.</a:t>
            </a:r>
          </a:p>
          <a:p>
            <a:pPr lvl="1">
              <a:lnSpc>
                <a:spcPct val="85000"/>
              </a:lnSpc>
              <a:buFontTx/>
              <a:buNone/>
            </a:pPr>
            <a:endParaRPr lang="en-US" altLang="en-US"/>
          </a:p>
          <a:p>
            <a:pPr lvl="1">
              <a:lnSpc>
                <a:spcPct val="85000"/>
              </a:lnSpc>
              <a:buFontTx/>
              <a:buNone/>
            </a:pPr>
            <a:endParaRPr lang="en-US" altLang="en-US"/>
          </a:p>
          <a:p>
            <a:pPr lvl="1">
              <a:lnSpc>
                <a:spcPct val="85000"/>
              </a:lnSpc>
              <a:buFontTx/>
              <a:buNone/>
            </a:pPr>
            <a:endParaRPr lang="en-US" altLang="en-US"/>
          </a:p>
          <a:p>
            <a:pPr lvl="1">
              <a:lnSpc>
                <a:spcPct val="85000"/>
              </a:lnSpc>
              <a:buFontTx/>
              <a:buNone/>
            </a:pPr>
            <a:endParaRPr lang="en-US" altLang="en-US"/>
          </a:p>
          <a:p>
            <a:pPr lvl="1">
              <a:lnSpc>
                <a:spcPct val="85000"/>
              </a:lnSpc>
            </a:pPr>
            <a:r>
              <a:rPr lang="en-US" altLang="en-US"/>
              <a:t>Column aliases in the CREATE VIEW clause are listed in the same order as the columns in the subquery.</a:t>
            </a:r>
          </a:p>
        </p:txBody>
      </p:sp>
      <p:sp>
        <p:nvSpPr>
          <p:cNvPr id="27653" name="Rectangle 5"/>
          <p:cNvSpPr>
            <a:spLocks noChangeArrowheads="1"/>
          </p:cNvSpPr>
          <p:nvPr/>
        </p:nvSpPr>
        <p:spPr bwMode="blackWhite">
          <a:xfrm>
            <a:off x="906463" y="2560638"/>
            <a:ext cx="7442200" cy="1881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lgn="l">
              <a:spcBef>
                <a:spcPct val="0"/>
              </a:spcBef>
              <a:tabLst>
                <a:tab pos="1601788" algn="l"/>
                <a:tab pos="1717675" algn="l"/>
              </a:tabLst>
              <a:defRPr sz="2400">
                <a:solidFill>
                  <a:schemeClr val="tx1"/>
                </a:solidFill>
                <a:latin typeface="Times New Roman" pitchFamily="18" charset="0"/>
              </a:defRPr>
            </a:lvl1pPr>
            <a:lvl2pPr algn="l">
              <a:spcBef>
                <a:spcPct val="0"/>
              </a:spcBef>
              <a:tabLst>
                <a:tab pos="1601788" algn="l"/>
                <a:tab pos="1717675" algn="l"/>
              </a:tabLst>
              <a:defRPr sz="2400">
                <a:solidFill>
                  <a:schemeClr val="tx1"/>
                </a:solidFill>
                <a:latin typeface="Times New Roman" pitchFamily="18" charset="0"/>
              </a:defRPr>
            </a:lvl2pPr>
            <a:lvl3pPr algn="l">
              <a:spcBef>
                <a:spcPct val="0"/>
              </a:spcBef>
              <a:tabLst>
                <a:tab pos="1601788" algn="l"/>
                <a:tab pos="1717675" algn="l"/>
              </a:tabLst>
              <a:defRPr sz="2400">
                <a:solidFill>
                  <a:schemeClr val="tx1"/>
                </a:solidFill>
                <a:latin typeface="Times New Roman" pitchFamily="18" charset="0"/>
              </a:defRPr>
            </a:lvl3pPr>
            <a:lvl4pPr algn="l">
              <a:spcBef>
                <a:spcPct val="0"/>
              </a:spcBef>
              <a:tabLst>
                <a:tab pos="1601788" algn="l"/>
                <a:tab pos="1717675" algn="l"/>
              </a:tabLst>
              <a:defRPr sz="2400">
                <a:solidFill>
                  <a:schemeClr val="tx1"/>
                </a:solidFill>
                <a:latin typeface="Times New Roman" pitchFamily="18" charset="0"/>
              </a:defRPr>
            </a:lvl4pPr>
            <a:lvl5pPr algn="l">
              <a:spcBef>
                <a:spcPct val="0"/>
              </a:spcBef>
              <a:tabLst>
                <a:tab pos="1601788" algn="l"/>
                <a:tab pos="1717675" algn="l"/>
              </a:tabLst>
              <a:defRPr sz="2400">
                <a:solidFill>
                  <a:schemeClr val="tx1"/>
                </a:solidFill>
                <a:latin typeface="Times New Roman" pitchFamily="18" charset="0"/>
              </a:defRPr>
            </a:lvl5pPr>
            <a:lvl6pPr fontAlgn="base">
              <a:spcBef>
                <a:spcPct val="0"/>
              </a:spcBef>
              <a:spcAft>
                <a:spcPct val="0"/>
              </a:spcAft>
              <a:tabLst>
                <a:tab pos="1601788" algn="l"/>
                <a:tab pos="1717675" algn="l"/>
              </a:tabLst>
              <a:defRPr sz="2400">
                <a:solidFill>
                  <a:schemeClr val="tx1"/>
                </a:solidFill>
                <a:latin typeface="Times New Roman" pitchFamily="18" charset="0"/>
              </a:defRPr>
            </a:lvl6pPr>
            <a:lvl7pPr fontAlgn="base">
              <a:spcBef>
                <a:spcPct val="0"/>
              </a:spcBef>
              <a:spcAft>
                <a:spcPct val="0"/>
              </a:spcAft>
              <a:tabLst>
                <a:tab pos="1601788" algn="l"/>
                <a:tab pos="1717675" algn="l"/>
              </a:tabLst>
              <a:defRPr sz="2400">
                <a:solidFill>
                  <a:schemeClr val="tx1"/>
                </a:solidFill>
                <a:latin typeface="Times New Roman" pitchFamily="18" charset="0"/>
              </a:defRPr>
            </a:lvl7pPr>
            <a:lvl8pPr fontAlgn="base">
              <a:spcBef>
                <a:spcPct val="0"/>
              </a:spcBef>
              <a:spcAft>
                <a:spcPct val="0"/>
              </a:spcAft>
              <a:tabLst>
                <a:tab pos="1601788" algn="l"/>
                <a:tab pos="1717675" algn="l"/>
              </a:tabLst>
              <a:defRPr sz="2400">
                <a:solidFill>
                  <a:schemeClr val="tx1"/>
                </a:solidFill>
                <a:latin typeface="Times New Roman" pitchFamily="18" charset="0"/>
              </a:defRPr>
            </a:lvl8pPr>
            <a:lvl9pPr fontAlgn="base">
              <a:spcBef>
                <a:spcPct val="0"/>
              </a:spcBef>
              <a:spcAft>
                <a:spcPct val="0"/>
              </a:spcAft>
              <a:tabLst>
                <a:tab pos="1601788" algn="l"/>
                <a:tab pos="1717675" algn="l"/>
              </a:tabLst>
              <a:defRPr sz="2400">
                <a:solidFill>
                  <a:schemeClr val="tx1"/>
                </a:solidFill>
                <a:latin typeface="Times New Roman" pitchFamily="18" charset="0"/>
              </a:defRPr>
            </a:lvl9pPr>
          </a:lstStyle>
          <a:p>
            <a:pPr>
              <a:lnSpc>
                <a:spcPct val="100000"/>
              </a:lnSpc>
            </a:pPr>
            <a:r>
              <a:rPr lang="en-US" altLang="en-US" sz="1800">
                <a:solidFill>
                  <a:srgbClr val="000000"/>
                </a:solidFill>
                <a:latin typeface="Courier New" pitchFamily="49" charset="0"/>
              </a:rPr>
              <a:t>SQL&gt; CREATE OR REPLACE VIEW empvu10</a:t>
            </a:r>
          </a:p>
          <a:p>
            <a:pPr>
              <a:lnSpc>
                <a:spcPct val="100000"/>
              </a:lnSpc>
            </a:pPr>
            <a:r>
              <a:rPr lang="en-US" altLang="en-US" sz="1800">
                <a:solidFill>
                  <a:srgbClr val="000000"/>
                </a:solidFill>
                <a:latin typeface="Courier New" pitchFamily="49" charset="0"/>
              </a:rPr>
              <a:t>  2    	(employee_number, employee_name, job_title)</a:t>
            </a:r>
          </a:p>
          <a:p>
            <a:pPr>
              <a:lnSpc>
                <a:spcPct val="100000"/>
              </a:lnSpc>
            </a:pPr>
            <a:r>
              <a:rPr lang="en-US" altLang="en-US" sz="1800">
                <a:solidFill>
                  <a:srgbClr val="000000"/>
                </a:solidFill>
                <a:latin typeface="Courier New" pitchFamily="49" charset="0"/>
              </a:rPr>
              <a:t>  3  AS SELECT 	empno, ename, job</a:t>
            </a:r>
          </a:p>
          <a:p>
            <a:pPr>
              <a:lnSpc>
                <a:spcPct val="100000"/>
              </a:lnSpc>
            </a:pPr>
            <a:r>
              <a:rPr lang="en-US" altLang="en-US" sz="1800">
                <a:solidFill>
                  <a:srgbClr val="000000"/>
                </a:solidFill>
                <a:latin typeface="Courier New" pitchFamily="49" charset="0"/>
              </a:rPr>
              <a:t>  4  FROM				emp</a:t>
            </a:r>
          </a:p>
          <a:p>
            <a:pPr>
              <a:lnSpc>
                <a:spcPct val="100000"/>
              </a:lnSpc>
            </a:pPr>
            <a:r>
              <a:rPr lang="en-US" altLang="en-US" sz="1800">
                <a:solidFill>
                  <a:srgbClr val="000000"/>
                </a:solidFill>
                <a:latin typeface="Courier New" pitchFamily="49" charset="0"/>
              </a:rPr>
              <a:t>  5  WHERE				deptno = 10;</a:t>
            </a:r>
          </a:p>
          <a:p>
            <a:pPr>
              <a:lnSpc>
                <a:spcPct val="100000"/>
              </a:lnSpc>
            </a:pPr>
            <a:r>
              <a:rPr lang="en-US" altLang="en-US" sz="1800">
                <a:solidFill>
                  <a:srgbClr val="FF3300"/>
                </a:solidFill>
                <a:effectLst>
                  <a:outerShdw blurRad="38100" dist="38100" dir="2700000" algn="tl">
                    <a:srgbClr val="000000"/>
                  </a:outerShdw>
                </a:effectLst>
                <a:latin typeface="Courier New" pitchFamily="49" charset="0"/>
              </a:rPr>
              <a:t>View created.</a:t>
            </a:r>
          </a:p>
        </p:txBody>
      </p:sp>
    </p:spTree>
    <p:extLst>
      <p:ext uri="{BB962C8B-B14F-4D97-AF65-F5344CB8AC3E}">
        <p14:creationId xmlns:p14="http://schemas.microsoft.com/office/powerpoint/2010/main" val="2499051768"/>
      </p:ext>
    </p:extLst>
  </p:cSld>
  <p:clrMapOvr>
    <a:masterClrMapping/>
  </p:clrMapOvr>
  <p:transition spd="slow"/>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ChangeArrowheads="1"/>
          </p:cNvSpPr>
          <p:nvPr/>
        </p:nvSpPr>
        <p:spPr bwMode="blackWhite">
          <a:xfrm>
            <a:off x="923925" y="2335213"/>
            <a:ext cx="7373938" cy="2446337"/>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lIns="92075" tIns="46038" rIns="92075" bIns="46038" anchor="ctr"/>
          <a:lstStyle>
            <a:lvl1pPr algn="l">
              <a:spcBef>
                <a:spcPct val="0"/>
              </a:spcBef>
              <a:tabLst>
                <a:tab pos="1200150" algn="l"/>
              </a:tabLst>
              <a:defRPr sz="2400">
                <a:solidFill>
                  <a:schemeClr val="tx1"/>
                </a:solidFill>
                <a:latin typeface="Times New Roman" pitchFamily="18" charset="0"/>
              </a:defRPr>
            </a:lvl1pPr>
            <a:lvl2pPr algn="l">
              <a:spcBef>
                <a:spcPct val="0"/>
              </a:spcBef>
              <a:tabLst>
                <a:tab pos="1200150" algn="l"/>
              </a:tabLst>
              <a:defRPr sz="2400">
                <a:solidFill>
                  <a:schemeClr val="tx1"/>
                </a:solidFill>
                <a:latin typeface="Times New Roman" pitchFamily="18" charset="0"/>
              </a:defRPr>
            </a:lvl2pPr>
            <a:lvl3pPr algn="l">
              <a:spcBef>
                <a:spcPct val="0"/>
              </a:spcBef>
              <a:tabLst>
                <a:tab pos="1200150" algn="l"/>
              </a:tabLst>
              <a:defRPr sz="2400">
                <a:solidFill>
                  <a:schemeClr val="tx1"/>
                </a:solidFill>
                <a:latin typeface="Times New Roman" pitchFamily="18" charset="0"/>
              </a:defRPr>
            </a:lvl3pPr>
            <a:lvl4pPr algn="l">
              <a:spcBef>
                <a:spcPct val="0"/>
              </a:spcBef>
              <a:tabLst>
                <a:tab pos="1200150" algn="l"/>
              </a:tabLst>
              <a:defRPr sz="2400">
                <a:solidFill>
                  <a:schemeClr val="tx1"/>
                </a:solidFill>
                <a:latin typeface="Times New Roman" pitchFamily="18" charset="0"/>
              </a:defRPr>
            </a:lvl4pPr>
            <a:lvl5pPr algn="l">
              <a:spcBef>
                <a:spcPct val="0"/>
              </a:spcBef>
              <a:tabLst>
                <a:tab pos="1200150" algn="l"/>
              </a:tabLst>
              <a:defRPr sz="2400">
                <a:solidFill>
                  <a:schemeClr val="tx1"/>
                </a:solidFill>
                <a:latin typeface="Times New Roman" pitchFamily="18" charset="0"/>
              </a:defRPr>
            </a:lvl5pPr>
            <a:lvl6pPr fontAlgn="base">
              <a:spcBef>
                <a:spcPct val="0"/>
              </a:spcBef>
              <a:spcAft>
                <a:spcPct val="0"/>
              </a:spcAft>
              <a:tabLst>
                <a:tab pos="1200150" algn="l"/>
              </a:tabLst>
              <a:defRPr sz="2400">
                <a:solidFill>
                  <a:schemeClr val="tx1"/>
                </a:solidFill>
                <a:latin typeface="Times New Roman" pitchFamily="18" charset="0"/>
              </a:defRPr>
            </a:lvl6pPr>
            <a:lvl7pPr fontAlgn="base">
              <a:spcBef>
                <a:spcPct val="0"/>
              </a:spcBef>
              <a:spcAft>
                <a:spcPct val="0"/>
              </a:spcAft>
              <a:tabLst>
                <a:tab pos="1200150" algn="l"/>
              </a:tabLst>
              <a:defRPr sz="2400">
                <a:solidFill>
                  <a:schemeClr val="tx1"/>
                </a:solidFill>
                <a:latin typeface="Times New Roman" pitchFamily="18" charset="0"/>
              </a:defRPr>
            </a:lvl7pPr>
            <a:lvl8pPr fontAlgn="base">
              <a:spcBef>
                <a:spcPct val="0"/>
              </a:spcBef>
              <a:spcAft>
                <a:spcPct val="0"/>
              </a:spcAft>
              <a:tabLst>
                <a:tab pos="1200150" algn="l"/>
              </a:tabLst>
              <a:defRPr sz="2400">
                <a:solidFill>
                  <a:schemeClr val="tx1"/>
                </a:solidFill>
                <a:latin typeface="Times New Roman" pitchFamily="18" charset="0"/>
              </a:defRPr>
            </a:lvl8pPr>
            <a:lvl9pPr fontAlgn="base">
              <a:spcBef>
                <a:spcPct val="0"/>
              </a:spcBef>
              <a:spcAft>
                <a:spcPct val="0"/>
              </a:spcAft>
              <a:tabLst>
                <a:tab pos="1200150" algn="l"/>
              </a:tabLst>
              <a:defRPr sz="2400">
                <a:solidFill>
                  <a:schemeClr val="tx1"/>
                </a:solidFill>
                <a:latin typeface="Times New Roman" pitchFamily="18" charset="0"/>
              </a:defRPr>
            </a:lvl9pPr>
          </a:lstStyle>
          <a:p>
            <a:pPr>
              <a:lnSpc>
                <a:spcPct val="100000"/>
              </a:lnSpc>
            </a:pPr>
            <a:endParaRPr lang="en-US" altLang="en-US" sz="1800">
              <a:solidFill>
                <a:srgbClr val="000000"/>
              </a:solidFill>
              <a:latin typeface="Courier New" pitchFamily="49" charset="0"/>
            </a:endParaRPr>
          </a:p>
          <a:p>
            <a:pPr>
              <a:lnSpc>
                <a:spcPct val="100000"/>
              </a:lnSpc>
            </a:pPr>
            <a:endParaRPr lang="en-US" altLang="en-US" sz="1800">
              <a:solidFill>
                <a:srgbClr val="000000"/>
              </a:solidFill>
              <a:latin typeface="Courier New" pitchFamily="49" charset="0"/>
            </a:endParaRPr>
          </a:p>
        </p:txBody>
      </p:sp>
      <p:sp>
        <p:nvSpPr>
          <p:cNvPr id="29699" name="Rectangle 3"/>
          <p:cNvSpPr>
            <a:spLocks noGrp="1" noChangeArrowheads="1"/>
          </p:cNvSpPr>
          <p:nvPr>
            <p:ph type="title"/>
          </p:nvPr>
        </p:nvSpPr>
        <p:spPr>
          <a:noFill/>
          <a:ln/>
        </p:spPr>
        <p:txBody>
          <a:bodyPr/>
          <a:lstStyle/>
          <a:p>
            <a:r>
              <a:rPr lang="en-US" altLang="en-US"/>
              <a:t>Creating a Complex View</a:t>
            </a:r>
          </a:p>
        </p:txBody>
      </p:sp>
      <p:sp>
        <p:nvSpPr>
          <p:cNvPr id="29700" name="Rectangle 4"/>
          <p:cNvSpPr>
            <a:spLocks noGrp="1" noChangeArrowheads="1"/>
          </p:cNvSpPr>
          <p:nvPr>
            <p:ph type="body" idx="1"/>
          </p:nvPr>
        </p:nvSpPr>
        <p:spPr>
          <a:xfrm>
            <a:off x="842963" y="1343025"/>
            <a:ext cx="7685087" cy="904875"/>
          </a:xfrm>
          <a:noFill/>
          <a:ln/>
        </p:spPr>
        <p:txBody>
          <a:bodyPr/>
          <a:lstStyle/>
          <a:p>
            <a:r>
              <a:rPr lang="en-US" altLang="en-US"/>
              <a:t>Create a complex view that contains group functions to display values from two tables.</a:t>
            </a:r>
          </a:p>
        </p:txBody>
      </p:sp>
      <p:sp>
        <p:nvSpPr>
          <p:cNvPr id="29701" name="Rectangle 5"/>
          <p:cNvSpPr>
            <a:spLocks noChangeArrowheads="1"/>
          </p:cNvSpPr>
          <p:nvPr/>
        </p:nvSpPr>
        <p:spPr bwMode="blackWhite">
          <a:xfrm>
            <a:off x="996950" y="2303463"/>
            <a:ext cx="7399338" cy="24717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lgn="l">
              <a:spcBef>
                <a:spcPct val="0"/>
              </a:spcBef>
              <a:tabLst>
                <a:tab pos="1601788" algn="l"/>
                <a:tab pos="1717675" algn="l"/>
              </a:tabLst>
              <a:defRPr sz="2400">
                <a:solidFill>
                  <a:schemeClr val="tx1"/>
                </a:solidFill>
                <a:latin typeface="Times New Roman" pitchFamily="18" charset="0"/>
              </a:defRPr>
            </a:lvl1pPr>
            <a:lvl2pPr algn="l">
              <a:spcBef>
                <a:spcPct val="0"/>
              </a:spcBef>
              <a:tabLst>
                <a:tab pos="1601788" algn="l"/>
                <a:tab pos="1717675" algn="l"/>
              </a:tabLst>
              <a:defRPr sz="2400">
                <a:solidFill>
                  <a:schemeClr val="tx1"/>
                </a:solidFill>
                <a:latin typeface="Times New Roman" pitchFamily="18" charset="0"/>
              </a:defRPr>
            </a:lvl2pPr>
            <a:lvl3pPr algn="l">
              <a:spcBef>
                <a:spcPct val="0"/>
              </a:spcBef>
              <a:tabLst>
                <a:tab pos="1601788" algn="l"/>
                <a:tab pos="1717675" algn="l"/>
              </a:tabLst>
              <a:defRPr sz="2400">
                <a:solidFill>
                  <a:schemeClr val="tx1"/>
                </a:solidFill>
                <a:latin typeface="Times New Roman" pitchFamily="18" charset="0"/>
              </a:defRPr>
            </a:lvl3pPr>
            <a:lvl4pPr algn="l">
              <a:spcBef>
                <a:spcPct val="0"/>
              </a:spcBef>
              <a:tabLst>
                <a:tab pos="1601788" algn="l"/>
                <a:tab pos="1717675" algn="l"/>
              </a:tabLst>
              <a:defRPr sz="2400">
                <a:solidFill>
                  <a:schemeClr val="tx1"/>
                </a:solidFill>
                <a:latin typeface="Times New Roman" pitchFamily="18" charset="0"/>
              </a:defRPr>
            </a:lvl4pPr>
            <a:lvl5pPr algn="l">
              <a:spcBef>
                <a:spcPct val="0"/>
              </a:spcBef>
              <a:tabLst>
                <a:tab pos="1601788" algn="l"/>
                <a:tab pos="1717675" algn="l"/>
              </a:tabLst>
              <a:defRPr sz="2400">
                <a:solidFill>
                  <a:schemeClr val="tx1"/>
                </a:solidFill>
                <a:latin typeface="Times New Roman" pitchFamily="18" charset="0"/>
              </a:defRPr>
            </a:lvl5pPr>
            <a:lvl6pPr fontAlgn="base">
              <a:spcBef>
                <a:spcPct val="0"/>
              </a:spcBef>
              <a:spcAft>
                <a:spcPct val="0"/>
              </a:spcAft>
              <a:tabLst>
                <a:tab pos="1601788" algn="l"/>
                <a:tab pos="1717675" algn="l"/>
              </a:tabLst>
              <a:defRPr sz="2400">
                <a:solidFill>
                  <a:schemeClr val="tx1"/>
                </a:solidFill>
                <a:latin typeface="Times New Roman" pitchFamily="18" charset="0"/>
              </a:defRPr>
            </a:lvl6pPr>
            <a:lvl7pPr fontAlgn="base">
              <a:spcBef>
                <a:spcPct val="0"/>
              </a:spcBef>
              <a:spcAft>
                <a:spcPct val="0"/>
              </a:spcAft>
              <a:tabLst>
                <a:tab pos="1601788" algn="l"/>
                <a:tab pos="1717675" algn="l"/>
              </a:tabLst>
              <a:defRPr sz="2400">
                <a:solidFill>
                  <a:schemeClr val="tx1"/>
                </a:solidFill>
                <a:latin typeface="Times New Roman" pitchFamily="18" charset="0"/>
              </a:defRPr>
            </a:lvl7pPr>
            <a:lvl8pPr fontAlgn="base">
              <a:spcBef>
                <a:spcPct val="0"/>
              </a:spcBef>
              <a:spcAft>
                <a:spcPct val="0"/>
              </a:spcAft>
              <a:tabLst>
                <a:tab pos="1601788" algn="l"/>
                <a:tab pos="1717675" algn="l"/>
              </a:tabLst>
              <a:defRPr sz="2400">
                <a:solidFill>
                  <a:schemeClr val="tx1"/>
                </a:solidFill>
                <a:latin typeface="Times New Roman" pitchFamily="18" charset="0"/>
              </a:defRPr>
            </a:lvl8pPr>
            <a:lvl9pPr fontAlgn="base">
              <a:spcBef>
                <a:spcPct val="0"/>
              </a:spcBef>
              <a:spcAft>
                <a:spcPct val="0"/>
              </a:spcAft>
              <a:tabLst>
                <a:tab pos="1601788" algn="l"/>
                <a:tab pos="1717675" algn="l"/>
              </a:tabLst>
              <a:defRPr sz="2400">
                <a:solidFill>
                  <a:schemeClr val="tx1"/>
                </a:solidFill>
                <a:latin typeface="Times New Roman" pitchFamily="18" charset="0"/>
              </a:defRPr>
            </a:lvl9pPr>
          </a:lstStyle>
          <a:p>
            <a:pPr>
              <a:lnSpc>
                <a:spcPct val="100000"/>
              </a:lnSpc>
            </a:pPr>
            <a:r>
              <a:rPr lang="en-US" altLang="en-US" sz="1800">
                <a:solidFill>
                  <a:srgbClr val="000000"/>
                </a:solidFill>
                <a:latin typeface="Courier New" pitchFamily="49" charset="0"/>
              </a:rPr>
              <a:t>SQL&gt; CREATE VIEW	dept_sum_vu</a:t>
            </a:r>
          </a:p>
          <a:p>
            <a:pPr>
              <a:lnSpc>
                <a:spcPct val="100000"/>
              </a:lnSpc>
            </a:pPr>
            <a:r>
              <a:rPr lang="en-US" altLang="en-US" sz="1800">
                <a:solidFill>
                  <a:srgbClr val="000000"/>
                </a:solidFill>
                <a:latin typeface="Courier New" pitchFamily="49" charset="0"/>
              </a:rPr>
              <a:t>  2    				(name, minsal, maxsal, avgsal)</a:t>
            </a:r>
          </a:p>
          <a:p>
            <a:pPr>
              <a:lnSpc>
                <a:spcPct val="100000"/>
              </a:lnSpc>
            </a:pPr>
            <a:r>
              <a:rPr lang="en-US" altLang="en-US" sz="1800">
                <a:solidFill>
                  <a:srgbClr val="000000"/>
                </a:solidFill>
                <a:latin typeface="Courier New" pitchFamily="49" charset="0"/>
              </a:rPr>
              <a:t>  3  AS SELECT	d.dname, MIN(e.sal), MAX(e.sal),</a:t>
            </a:r>
          </a:p>
          <a:p>
            <a:pPr>
              <a:lnSpc>
                <a:spcPct val="100000"/>
              </a:lnSpc>
            </a:pPr>
            <a:r>
              <a:rPr lang="en-US" altLang="en-US" sz="1800">
                <a:solidFill>
                  <a:srgbClr val="000000"/>
                </a:solidFill>
                <a:latin typeface="Courier New" pitchFamily="49" charset="0"/>
              </a:rPr>
              <a:t>  4				AVG(e.sal)</a:t>
            </a:r>
          </a:p>
          <a:p>
            <a:pPr>
              <a:lnSpc>
                <a:spcPct val="100000"/>
              </a:lnSpc>
            </a:pPr>
            <a:r>
              <a:rPr lang="en-US" altLang="en-US" sz="1800">
                <a:solidFill>
                  <a:srgbClr val="000000"/>
                </a:solidFill>
                <a:latin typeface="Courier New" pitchFamily="49" charset="0"/>
              </a:rPr>
              <a:t>  5  FROM				emp e, dept d</a:t>
            </a:r>
          </a:p>
          <a:p>
            <a:pPr>
              <a:lnSpc>
                <a:spcPct val="100000"/>
              </a:lnSpc>
            </a:pPr>
            <a:r>
              <a:rPr lang="en-US" altLang="en-US" sz="1800">
                <a:solidFill>
                  <a:srgbClr val="000000"/>
                </a:solidFill>
                <a:latin typeface="Courier New" pitchFamily="49" charset="0"/>
              </a:rPr>
              <a:t>  6  WHERE				e.deptno = d.deptno</a:t>
            </a:r>
          </a:p>
          <a:p>
            <a:pPr>
              <a:lnSpc>
                <a:spcPct val="100000"/>
              </a:lnSpc>
            </a:pPr>
            <a:r>
              <a:rPr lang="en-US" altLang="en-US" sz="1800">
                <a:solidFill>
                  <a:srgbClr val="000000"/>
                </a:solidFill>
                <a:latin typeface="Courier New" pitchFamily="49" charset="0"/>
              </a:rPr>
              <a:t>  7  GROUP BY 	d.dname;</a:t>
            </a:r>
          </a:p>
          <a:p>
            <a:pPr>
              <a:lnSpc>
                <a:spcPct val="100000"/>
              </a:lnSpc>
            </a:pPr>
            <a:r>
              <a:rPr lang="en-US" altLang="en-US" sz="1800">
                <a:solidFill>
                  <a:srgbClr val="FF3300"/>
                </a:solidFill>
                <a:effectLst>
                  <a:outerShdw blurRad="38100" dist="38100" dir="2700000" algn="tl">
                    <a:srgbClr val="000000"/>
                  </a:outerShdw>
                </a:effectLst>
                <a:latin typeface="Courier New" pitchFamily="49" charset="0"/>
              </a:rPr>
              <a:t>View created.</a:t>
            </a:r>
          </a:p>
        </p:txBody>
      </p:sp>
    </p:spTree>
    <p:extLst>
      <p:ext uri="{BB962C8B-B14F-4D97-AF65-F5344CB8AC3E}">
        <p14:creationId xmlns:p14="http://schemas.microsoft.com/office/powerpoint/2010/main" val="1735478418"/>
      </p:ext>
    </p:extLst>
  </p:cSld>
  <p:clrMapOvr>
    <a:masterClrMapping/>
  </p:clrMapOvr>
  <p:transition spd="slow"/>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a:noFill/>
          <a:ln/>
        </p:spPr>
        <p:txBody>
          <a:bodyPr/>
          <a:lstStyle/>
          <a:p>
            <a:r>
              <a:rPr lang="en-US" altLang="en-US"/>
              <a:t>Rules for Performing </a:t>
            </a:r>
            <a:br>
              <a:rPr lang="en-US" altLang="en-US"/>
            </a:br>
            <a:r>
              <a:rPr lang="en-US" altLang="en-US"/>
              <a:t>DML Operations on a View</a:t>
            </a:r>
          </a:p>
        </p:txBody>
      </p:sp>
      <p:sp>
        <p:nvSpPr>
          <p:cNvPr id="31747" name="Rectangle 3"/>
          <p:cNvSpPr>
            <a:spLocks noGrp="1" noChangeArrowheads="1"/>
          </p:cNvSpPr>
          <p:nvPr>
            <p:ph type="body" idx="1"/>
          </p:nvPr>
        </p:nvSpPr>
        <p:spPr>
          <a:xfrm>
            <a:off x="860425" y="1795463"/>
            <a:ext cx="7385050" cy="3533775"/>
          </a:xfrm>
          <a:noFill/>
          <a:ln/>
        </p:spPr>
        <p:txBody>
          <a:bodyPr/>
          <a:lstStyle/>
          <a:p>
            <a:pPr lvl="1"/>
            <a:r>
              <a:rPr lang="en-US" altLang="en-US"/>
              <a:t>You can perform DML operations on simple views. </a:t>
            </a:r>
          </a:p>
          <a:p>
            <a:pPr lvl="1"/>
            <a:r>
              <a:rPr lang="en-US" altLang="en-US"/>
              <a:t>You cannot remove a row if the view contains the following:</a:t>
            </a:r>
          </a:p>
          <a:p>
            <a:pPr lvl="2"/>
            <a:r>
              <a:rPr lang="en-US" altLang="en-US"/>
              <a:t>Group functions</a:t>
            </a:r>
          </a:p>
          <a:p>
            <a:pPr lvl="2"/>
            <a:r>
              <a:rPr lang="en-US" altLang="en-US"/>
              <a:t>A GROUP BY clause</a:t>
            </a:r>
          </a:p>
          <a:p>
            <a:pPr lvl="2"/>
            <a:r>
              <a:rPr lang="en-US" altLang="en-US"/>
              <a:t>The DISTINCT keyword</a:t>
            </a:r>
          </a:p>
        </p:txBody>
      </p:sp>
    </p:spTree>
    <p:extLst>
      <p:ext uri="{BB962C8B-B14F-4D97-AF65-F5344CB8AC3E}">
        <p14:creationId xmlns:p14="http://schemas.microsoft.com/office/powerpoint/2010/main" val="2551935635"/>
      </p:ext>
    </p:extLst>
  </p:cSld>
  <p:clrMapOvr>
    <a:masterClrMapping/>
  </p:clrMapOvr>
  <p:transition spd="slow"/>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941388" y="168275"/>
            <a:ext cx="7299325" cy="881063"/>
          </a:xfrm>
          <a:noFill/>
          <a:ln/>
        </p:spPr>
        <p:txBody>
          <a:bodyPr/>
          <a:lstStyle/>
          <a:p>
            <a:r>
              <a:rPr lang="en-US" altLang="en-US"/>
              <a:t>Rules for Performing </a:t>
            </a:r>
            <a:br>
              <a:rPr lang="en-US" altLang="en-US"/>
            </a:br>
            <a:r>
              <a:rPr lang="en-US" altLang="en-US"/>
              <a:t>DML Operations on a View</a:t>
            </a:r>
          </a:p>
        </p:txBody>
      </p:sp>
      <p:sp>
        <p:nvSpPr>
          <p:cNvPr id="33795" name="Rectangle 3"/>
          <p:cNvSpPr>
            <a:spLocks noGrp="1" noChangeArrowheads="1"/>
          </p:cNvSpPr>
          <p:nvPr>
            <p:ph type="body" idx="1"/>
          </p:nvPr>
        </p:nvSpPr>
        <p:spPr>
          <a:xfrm>
            <a:off x="346075" y="1625600"/>
            <a:ext cx="8548688" cy="4530725"/>
          </a:xfrm>
          <a:noFill/>
          <a:ln/>
        </p:spPr>
        <p:txBody>
          <a:bodyPr/>
          <a:lstStyle/>
          <a:p>
            <a:pPr lvl="1">
              <a:lnSpc>
                <a:spcPct val="80000"/>
              </a:lnSpc>
            </a:pPr>
            <a:r>
              <a:rPr lang="en-US" altLang="en-US"/>
              <a:t>You cannot modify data in a view if it contains:</a:t>
            </a:r>
          </a:p>
          <a:p>
            <a:pPr lvl="2">
              <a:lnSpc>
                <a:spcPct val="80000"/>
              </a:lnSpc>
            </a:pPr>
            <a:r>
              <a:rPr lang="en-US" altLang="en-US"/>
              <a:t>Any of the conditions mentioned in the previous slide</a:t>
            </a:r>
          </a:p>
          <a:p>
            <a:pPr lvl="2">
              <a:lnSpc>
                <a:spcPct val="80000"/>
              </a:lnSpc>
            </a:pPr>
            <a:r>
              <a:rPr lang="en-US" altLang="en-US"/>
              <a:t>Columns defined by expressions</a:t>
            </a:r>
          </a:p>
          <a:p>
            <a:pPr lvl="2">
              <a:lnSpc>
                <a:spcPct val="80000"/>
              </a:lnSpc>
            </a:pPr>
            <a:r>
              <a:rPr lang="en-US" altLang="en-US"/>
              <a:t>The ROWNUM pseudocolumn</a:t>
            </a:r>
          </a:p>
          <a:p>
            <a:pPr lvl="1">
              <a:lnSpc>
                <a:spcPct val="80000"/>
              </a:lnSpc>
            </a:pPr>
            <a:r>
              <a:rPr lang="en-US" altLang="en-US"/>
              <a:t>You cannot add data if:</a:t>
            </a:r>
          </a:p>
          <a:p>
            <a:pPr lvl="2"/>
            <a:r>
              <a:rPr lang="en-US" altLang="en-US"/>
              <a:t>The view contains any of the conditions mentioned above or in the previous slide</a:t>
            </a:r>
          </a:p>
          <a:p>
            <a:pPr lvl="2">
              <a:lnSpc>
                <a:spcPct val="80000"/>
              </a:lnSpc>
            </a:pPr>
            <a:r>
              <a:rPr lang="en-US" altLang="en-US"/>
              <a:t>There are NOT NULL columns in the base tables that are not selected by the view</a:t>
            </a:r>
          </a:p>
        </p:txBody>
      </p:sp>
    </p:spTree>
    <p:extLst>
      <p:ext uri="{BB962C8B-B14F-4D97-AF65-F5344CB8AC3E}">
        <p14:creationId xmlns:p14="http://schemas.microsoft.com/office/powerpoint/2010/main" val="3410853786"/>
      </p:ext>
    </p:extLst>
  </p:cSld>
  <p:clrMapOvr>
    <a:masterClrMapping/>
  </p:clrMapOvr>
  <p:transition spd="slow"/>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ChangeArrowheads="1"/>
          </p:cNvSpPr>
          <p:nvPr/>
        </p:nvSpPr>
        <p:spPr bwMode="blackWhite">
          <a:xfrm>
            <a:off x="928688" y="2755900"/>
            <a:ext cx="7493000" cy="1739900"/>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lIns="92075" tIns="46038" rIns="92075" bIns="46038" anchor="ctr"/>
          <a:lstStyle>
            <a:lvl1pPr algn="l">
              <a:spcBef>
                <a:spcPct val="0"/>
              </a:spcBef>
              <a:tabLst>
                <a:tab pos="1200150" algn="l"/>
              </a:tabLst>
              <a:defRPr sz="2400">
                <a:solidFill>
                  <a:schemeClr val="tx1"/>
                </a:solidFill>
                <a:latin typeface="Times New Roman" pitchFamily="18" charset="0"/>
              </a:defRPr>
            </a:lvl1pPr>
            <a:lvl2pPr algn="l">
              <a:spcBef>
                <a:spcPct val="0"/>
              </a:spcBef>
              <a:tabLst>
                <a:tab pos="1200150" algn="l"/>
              </a:tabLst>
              <a:defRPr sz="2400">
                <a:solidFill>
                  <a:schemeClr val="tx1"/>
                </a:solidFill>
                <a:latin typeface="Times New Roman" pitchFamily="18" charset="0"/>
              </a:defRPr>
            </a:lvl2pPr>
            <a:lvl3pPr algn="l">
              <a:spcBef>
                <a:spcPct val="0"/>
              </a:spcBef>
              <a:tabLst>
                <a:tab pos="1200150" algn="l"/>
              </a:tabLst>
              <a:defRPr sz="2400">
                <a:solidFill>
                  <a:schemeClr val="tx1"/>
                </a:solidFill>
                <a:latin typeface="Times New Roman" pitchFamily="18" charset="0"/>
              </a:defRPr>
            </a:lvl3pPr>
            <a:lvl4pPr algn="l">
              <a:spcBef>
                <a:spcPct val="0"/>
              </a:spcBef>
              <a:tabLst>
                <a:tab pos="1200150" algn="l"/>
              </a:tabLst>
              <a:defRPr sz="2400">
                <a:solidFill>
                  <a:schemeClr val="tx1"/>
                </a:solidFill>
                <a:latin typeface="Times New Roman" pitchFamily="18" charset="0"/>
              </a:defRPr>
            </a:lvl4pPr>
            <a:lvl5pPr algn="l">
              <a:spcBef>
                <a:spcPct val="0"/>
              </a:spcBef>
              <a:tabLst>
                <a:tab pos="1200150" algn="l"/>
              </a:tabLst>
              <a:defRPr sz="2400">
                <a:solidFill>
                  <a:schemeClr val="tx1"/>
                </a:solidFill>
                <a:latin typeface="Times New Roman" pitchFamily="18" charset="0"/>
              </a:defRPr>
            </a:lvl5pPr>
            <a:lvl6pPr fontAlgn="base">
              <a:spcBef>
                <a:spcPct val="0"/>
              </a:spcBef>
              <a:spcAft>
                <a:spcPct val="0"/>
              </a:spcAft>
              <a:tabLst>
                <a:tab pos="1200150" algn="l"/>
              </a:tabLst>
              <a:defRPr sz="2400">
                <a:solidFill>
                  <a:schemeClr val="tx1"/>
                </a:solidFill>
                <a:latin typeface="Times New Roman" pitchFamily="18" charset="0"/>
              </a:defRPr>
            </a:lvl6pPr>
            <a:lvl7pPr fontAlgn="base">
              <a:spcBef>
                <a:spcPct val="0"/>
              </a:spcBef>
              <a:spcAft>
                <a:spcPct val="0"/>
              </a:spcAft>
              <a:tabLst>
                <a:tab pos="1200150" algn="l"/>
              </a:tabLst>
              <a:defRPr sz="2400">
                <a:solidFill>
                  <a:schemeClr val="tx1"/>
                </a:solidFill>
                <a:latin typeface="Times New Roman" pitchFamily="18" charset="0"/>
              </a:defRPr>
            </a:lvl7pPr>
            <a:lvl8pPr fontAlgn="base">
              <a:spcBef>
                <a:spcPct val="0"/>
              </a:spcBef>
              <a:spcAft>
                <a:spcPct val="0"/>
              </a:spcAft>
              <a:tabLst>
                <a:tab pos="1200150" algn="l"/>
              </a:tabLst>
              <a:defRPr sz="2400">
                <a:solidFill>
                  <a:schemeClr val="tx1"/>
                </a:solidFill>
                <a:latin typeface="Times New Roman" pitchFamily="18" charset="0"/>
              </a:defRPr>
            </a:lvl8pPr>
            <a:lvl9pPr fontAlgn="base">
              <a:spcBef>
                <a:spcPct val="0"/>
              </a:spcBef>
              <a:spcAft>
                <a:spcPct val="0"/>
              </a:spcAft>
              <a:tabLst>
                <a:tab pos="1200150" algn="l"/>
              </a:tabLst>
              <a:defRPr sz="2400">
                <a:solidFill>
                  <a:schemeClr val="tx1"/>
                </a:solidFill>
                <a:latin typeface="Times New Roman" pitchFamily="18" charset="0"/>
              </a:defRPr>
            </a:lvl9pPr>
          </a:lstStyle>
          <a:p>
            <a:pPr>
              <a:lnSpc>
                <a:spcPct val="100000"/>
              </a:lnSpc>
            </a:pPr>
            <a:endParaRPr lang="en-US" altLang="en-US" sz="1800">
              <a:solidFill>
                <a:srgbClr val="000000"/>
              </a:solidFill>
              <a:latin typeface="Courier New" pitchFamily="49" charset="0"/>
            </a:endParaRPr>
          </a:p>
          <a:p>
            <a:pPr>
              <a:lnSpc>
                <a:spcPct val="100000"/>
              </a:lnSpc>
            </a:pPr>
            <a:endParaRPr lang="en-US" altLang="en-US" sz="1800">
              <a:solidFill>
                <a:srgbClr val="000000"/>
              </a:solidFill>
              <a:latin typeface="Courier New" pitchFamily="49" charset="0"/>
            </a:endParaRPr>
          </a:p>
        </p:txBody>
      </p:sp>
      <p:sp>
        <p:nvSpPr>
          <p:cNvPr id="35843" name="Rectangle 3"/>
          <p:cNvSpPr>
            <a:spLocks noGrp="1" noChangeArrowheads="1"/>
          </p:cNvSpPr>
          <p:nvPr>
            <p:ph type="title"/>
          </p:nvPr>
        </p:nvSpPr>
        <p:spPr>
          <a:noFill/>
          <a:ln/>
        </p:spPr>
        <p:txBody>
          <a:bodyPr/>
          <a:lstStyle/>
          <a:p>
            <a:r>
              <a:rPr lang="en-US" altLang="en-US"/>
              <a:t>Using the WITH CHECK OPTION Clause</a:t>
            </a:r>
          </a:p>
        </p:txBody>
      </p:sp>
      <p:sp>
        <p:nvSpPr>
          <p:cNvPr id="35844" name="Rectangle 4"/>
          <p:cNvSpPr>
            <a:spLocks noGrp="1" noChangeArrowheads="1"/>
          </p:cNvSpPr>
          <p:nvPr>
            <p:ph type="body" idx="1"/>
          </p:nvPr>
        </p:nvSpPr>
        <p:spPr>
          <a:xfrm>
            <a:off x="669925" y="1579563"/>
            <a:ext cx="7664450" cy="1225550"/>
          </a:xfrm>
          <a:noFill/>
          <a:ln/>
        </p:spPr>
        <p:txBody>
          <a:bodyPr/>
          <a:lstStyle/>
          <a:p>
            <a:pPr lvl="1"/>
            <a:r>
              <a:rPr lang="en-US" altLang="en-US" sz="2600"/>
              <a:t>You can ensure that DML on the view stays</a:t>
            </a:r>
            <a:br>
              <a:rPr lang="en-US" altLang="en-US" sz="2600"/>
            </a:br>
            <a:r>
              <a:rPr lang="en-US" altLang="en-US" sz="2600"/>
              <a:t>within the domain of the view by using the WITH CHECK OPTION clause.</a:t>
            </a:r>
          </a:p>
        </p:txBody>
      </p:sp>
      <p:sp>
        <p:nvSpPr>
          <p:cNvPr id="35845" name="Rectangle 5"/>
          <p:cNvSpPr>
            <a:spLocks noChangeArrowheads="1"/>
          </p:cNvSpPr>
          <p:nvPr/>
        </p:nvSpPr>
        <p:spPr bwMode="auto">
          <a:xfrm>
            <a:off x="654050" y="4699000"/>
            <a:ext cx="7727950" cy="1603375"/>
          </a:xfrm>
          <a:prstGeom prst="rect">
            <a:avLst/>
          </a:prstGeom>
          <a:noFill/>
          <a:ln>
            <a:noFill/>
          </a:ln>
          <a:effectLst>
            <a:outerShdw dist="53882"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92075" tIns="46038" rIns="92075" bIns="46038">
            <a:spAutoFit/>
          </a:bodyPr>
          <a:lstStyle>
            <a:lvl1pPr algn="l" defTabSz="346075">
              <a:spcBef>
                <a:spcPct val="0"/>
              </a:spcBef>
              <a:tabLst>
                <a:tab pos="571500" algn="l"/>
              </a:tabLst>
              <a:defRPr sz="2400">
                <a:solidFill>
                  <a:schemeClr val="tx1"/>
                </a:solidFill>
                <a:latin typeface="Times New Roman" pitchFamily="18" charset="0"/>
              </a:defRPr>
            </a:lvl1pPr>
            <a:lvl2pPr marL="341313" indent="-227013" algn="l" defTabSz="346075">
              <a:spcBef>
                <a:spcPct val="0"/>
              </a:spcBef>
              <a:tabLst>
                <a:tab pos="571500" algn="l"/>
              </a:tabLst>
              <a:defRPr sz="2400">
                <a:solidFill>
                  <a:schemeClr val="tx1"/>
                </a:solidFill>
                <a:latin typeface="Times New Roman" pitchFamily="18" charset="0"/>
              </a:defRPr>
            </a:lvl2pPr>
            <a:lvl3pPr marL="741363" indent="-285750" algn="l" defTabSz="346075">
              <a:spcBef>
                <a:spcPct val="0"/>
              </a:spcBef>
              <a:tabLst>
                <a:tab pos="571500" algn="l"/>
              </a:tabLst>
              <a:defRPr sz="2400">
                <a:solidFill>
                  <a:schemeClr val="tx1"/>
                </a:solidFill>
                <a:latin typeface="Times New Roman" pitchFamily="18" charset="0"/>
              </a:defRPr>
            </a:lvl3pPr>
            <a:lvl4pPr marL="1600200" indent="-228600" algn="l" defTabSz="346075">
              <a:spcBef>
                <a:spcPct val="0"/>
              </a:spcBef>
              <a:tabLst>
                <a:tab pos="571500" algn="l"/>
              </a:tabLst>
              <a:defRPr sz="2400">
                <a:solidFill>
                  <a:schemeClr val="tx1"/>
                </a:solidFill>
                <a:latin typeface="Times New Roman" pitchFamily="18" charset="0"/>
              </a:defRPr>
            </a:lvl4pPr>
            <a:lvl5pPr marL="2057400" indent="-228600" algn="l" defTabSz="346075">
              <a:spcBef>
                <a:spcPct val="0"/>
              </a:spcBef>
              <a:tabLst>
                <a:tab pos="571500" algn="l"/>
              </a:tabLst>
              <a:defRPr sz="2400">
                <a:solidFill>
                  <a:schemeClr val="tx1"/>
                </a:solidFill>
                <a:latin typeface="Times New Roman" pitchFamily="18" charset="0"/>
              </a:defRPr>
            </a:lvl5pPr>
            <a:lvl6pPr marL="2514600" indent="-228600" defTabSz="346075" fontAlgn="base">
              <a:spcBef>
                <a:spcPct val="0"/>
              </a:spcBef>
              <a:spcAft>
                <a:spcPct val="0"/>
              </a:spcAft>
              <a:tabLst>
                <a:tab pos="571500" algn="l"/>
              </a:tabLst>
              <a:defRPr sz="2400">
                <a:solidFill>
                  <a:schemeClr val="tx1"/>
                </a:solidFill>
                <a:latin typeface="Times New Roman" pitchFamily="18" charset="0"/>
              </a:defRPr>
            </a:lvl6pPr>
            <a:lvl7pPr marL="2971800" indent="-228600" defTabSz="346075" fontAlgn="base">
              <a:spcBef>
                <a:spcPct val="0"/>
              </a:spcBef>
              <a:spcAft>
                <a:spcPct val="0"/>
              </a:spcAft>
              <a:tabLst>
                <a:tab pos="571500" algn="l"/>
              </a:tabLst>
              <a:defRPr sz="2400">
                <a:solidFill>
                  <a:schemeClr val="tx1"/>
                </a:solidFill>
                <a:latin typeface="Times New Roman" pitchFamily="18" charset="0"/>
              </a:defRPr>
            </a:lvl7pPr>
            <a:lvl8pPr marL="3429000" indent="-228600" defTabSz="346075" fontAlgn="base">
              <a:spcBef>
                <a:spcPct val="0"/>
              </a:spcBef>
              <a:spcAft>
                <a:spcPct val="0"/>
              </a:spcAft>
              <a:tabLst>
                <a:tab pos="571500" algn="l"/>
              </a:tabLst>
              <a:defRPr sz="2400">
                <a:solidFill>
                  <a:schemeClr val="tx1"/>
                </a:solidFill>
                <a:latin typeface="Times New Roman" pitchFamily="18" charset="0"/>
              </a:defRPr>
            </a:lvl8pPr>
            <a:lvl9pPr marL="3886200" indent="-228600" defTabSz="346075" fontAlgn="base">
              <a:spcBef>
                <a:spcPct val="0"/>
              </a:spcBef>
              <a:spcAft>
                <a:spcPct val="0"/>
              </a:spcAft>
              <a:tabLst>
                <a:tab pos="571500" algn="l"/>
              </a:tabLst>
              <a:defRPr sz="2400">
                <a:solidFill>
                  <a:schemeClr val="tx1"/>
                </a:solidFill>
                <a:latin typeface="Times New Roman" pitchFamily="18" charset="0"/>
              </a:defRPr>
            </a:lvl9pPr>
          </a:lstStyle>
          <a:p>
            <a:pPr lvl="1">
              <a:lnSpc>
                <a:spcPct val="95000"/>
              </a:lnSpc>
              <a:spcBef>
                <a:spcPct val="35000"/>
              </a:spcBef>
              <a:buClr>
                <a:srgbClr val="FFCC66"/>
              </a:buClr>
              <a:buSzPct val="100000"/>
              <a:buFontTx/>
              <a:buChar char="•"/>
            </a:pPr>
            <a:r>
              <a:rPr lang="en-US" altLang="en-US" sz="2600">
                <a:solidFill>
                  <a:srgbClr val="F8F8D3"/>
                </a:solidFill>
                <a:latin typeface="Arial" pitchFamily="34" charset="0"/>
              </a:rPr>
              <a:t>Any attempt to change the department number for any row in the view will fail because it violates the WITH CHECK OPTION constraint.</a:t>
            </a:r>
          </a:p>
        </p:txBody>
      </p:sp>
      <p:sp>
        <p:nvSpPr>
          <p:cNvPr id="35846" name="Rectangle 6"/>
          <p:cNvSpPr>
            <a:spLocks noChangeArrowheads="1"/>
          </p:cNvSpPr>
          <p:nvPr/>
        </p:nvSpPr>
        <p:spPr bwMode="ltGray">
          <a:xfrm>
            <a:off x="1633538" y="3886200"/>
            <a:ext cx="5583237" cy="285750"/>
          </a:xfrm>
          <a:prstGeom prst="rect">
            <a:avLst/>
          </a:prstGeom>
          <a:solidFill>
            <a:srgbClr val="FF5050">
              <a:alpha val="50000"/>
            </a:srgbClr>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5847" name="Rectangle 7"/>
          <p:cNvSpPr>
            <a:spLocks noChangeArrowheads="1"/>
          </p:cNvSpPr>
          <p:nvPr/>
        </p:nvSpPr>
        <p:spPr bwMode="blackWhite">
          <a:xfrm>
            <a:off x="911225" y="2743200"/>
            <a:ext cx="7142163" cy="1765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lgn="l">
              <a:spcBef>
                <a:spcPct val="0"/>
              </a:spcBef>
              <a:tabLst>
                <a:tab pos="1601788" algn="l"/>
                <a:tab pos="1717675" algn="l"/>
              </a:tabLst>
              <a:defRPr sz="2400">
                <a:solidFill>
                  <a:schemeClr val="tx1"/>
                </a:solidFill>
                <a:latin typeface="Times New Roman" pitchFamily="18" charset="0"/>
              </a:defRPr>
            </a:lvl1pPr>
            <a:lvl2pPr algn="l">
              <a:spcBef>
                <a:spcPct val="0"/>
              </a:spcBef>
              <a:tabLst>
                <a:tab pos="1601788" algn="l"/>
                <a:tab pos="1717675" algn="l"/>
              </a:tabLst>
              <a:defRPr sz="2400">
                <a:solidFill>
                  <a:schemeClr val="tx1"/>
                </a:solidFill>
                <a:latin typeface="Times New Roman" pitchFamily="18" charset="0"/>
              </a:defRPr>
            </a:lvl2pPr>
            <a:lvl3pPr algn="l">
              <a:spcBef>
                <a:spcPct val="0"/>
              </a:spcBef>
              <a:tabLst>
                <a:tab pos="1601788" algn="l"/>
                <a:tab pos="1717675" algn="l"/>
              </a:tabLst>
              <a:defRPr sz="2400">
                <a:solidFill>
                  <a:schemeClr val="tx1"/>
                </a:solidFill>
                <a:latin typeface="Times New Roman" pitchFamily="18" charset="0"/>
              </a:defRPr>
            </a:lvl3pPr>
            <a:lvl4pPr algn="l">
              <a:spcBef>
                <a:spcPct val="0"/>
              </a:spcBef>
              <a:tabLst>
                <a:tab pos="1601788" algn="l"/>
                <a:tab pos="1717675" algn="l"/>
              </a:tabLst>
              <a:defRPr sz="2400">
                <a:solidFill>
                  <a:schemeClr val="tx1"/>
                </a:solidFill>
                <a:latin typeface="Times New Roman" pitchFamily="18" charset="0"/>
              </a:defRPr>
            </a:lvl4pPr>
            <a:lvl5pPr algn="l">
              <a:spcBef>
                <a:spcPct val="0"/>
              </a:spcBef>
              <a:tabLst>
                <a:tab pos="1601788" algn="l"/>
                <a:tab pos="1717675" algn="l"/>
              </a:tabLst>
              <a:defRPr sz="2400">
                <a:solidFill>
                  <a:schemeClr val="tx1"/>
                </a:solidFill>
                <a:latin typeface="Times New Roman" pitchFamily="18" charset="0"/>
              </a:defRPr>
            </a:lvl5pPr>
            <a:lvl6pPr fontAlgn="base">
              <a:spcBef>
                <a:spcPct val="0"/>
              </a:spcBef>
              <a:spcAft>
                <a:spcPct val="0"/>
              </a:spcAft>
              <a:tabLst>
                <a:tab pos="1601788" algn="l"/>
                <a:tab pos="1717675" algn="l"/>
              </a:tabLst>
              <a:defRPr sz="2400">
                <a:solidFill>
                  <a:schemeClr val="tx1"/>
                </a:solidFill>
                <a:latin typeface="Times New Roman" pitchFamily="18" charset="0"/>
              </a:defRPr>
            </a:lvl6pPr>
            <a:lvl7pPr fontAlgn="base">
              <a:spcBef>
                <a:spcPct val="0"/>
              </a:spcBef>
              <a:spcAft>
                <a:spcPct val="0"/>
              </a:spcAft>
              <a:tabLst>
                <a:tab pos="1601788" algn="l"/>
                <a:tab pos="1717675" algn="l"/>
              </a:tabLst>
              <a:defRPr sz="2400">
                <a:solidFill>
                  <a:schemeClr val="tx1"/>
                </a:solidFill>
                <a:latin typeface="Times New Roman" pitchFamily="18" charset="0"/>
              </a:defRPr>
            </a:lvl7pPr>
            <a:lvl8pPr fontAlgn="base">
              <a:spcBef>
                <a:spcPct val="0"/>
              </a:spcBef>
              <a:spcAft>
                <a:spcPct val="0"/>
              </a:spcAft>
              <a:tabLst>
                <a:tab pos="1601788" algn="l"/>
                <a:tab pos="1717675" algn="l"/>
              </a:tabLst>
              <a:defRPr sz="2400">
                <a:solidFill>
                  <a:schemeClr val="tx1"/>
                </a:solidFill>
                <a:latin typeface="Times New Roman" pitchFamily="18" charset="0"/>
              </a:defRPr>
            </a:lvl8pPr>
            <a:lvl9pPr fontAlgn="base">
              <a:spcBef>
                <a:spcPct val="0"/>
              </a:spcBef>
              <a:spcAft>
                <a:spcPct val="0"/>
              </a:spcAft>
              <a:tabLst>
                <a:tab pos="1601788" algn="l"/>
                <a:tab pos="1717675" algn="l"/>
              </a:tabLst>
              <a:defRPr sz="2400">
                <a:solidFill>
                  <a:schemeClr val="tx1"/>
                </a:solidFill>
                <a:latin typeface="Times New Roman" pitchFamily="18" charset="0"/>
              </a:defRPr>
            </a:lvl9pPr>
          </a:lstStyle>
          <a:p>
            <a:pPr>
              <a:lnSpc>
                <a:spcPct val="100000"/>
              </a:lnSpc>
            </a:pPr>
            <a:r>
              <a:rPr lang="en-US" altLang="en-US" sz="1800">
                <a:solidFill>
                  <a:srgbClr val="000000"/>
                </a:solidFill>
                <a:latin typeface="Courier New" pitchFamily="49" charset="0"/>
              </a:rPr>
              <a:t>SQL&gt; CREATE OR REPLACE VIEW empvu20</a:t>
            </a:r>
          </a:p>
          <a:p>
            <a:pPr>
              <a:lnSpc>
                <a:spcPct val="100000"/>
              </a:lnSpc>
            </a:pPr>
            <a:r>
              <a:rPr lang="en-US" altLang="en-US" sz="1800">
                <a:solidFill>
                  <a:srgbClr val="000000"/>
                </a:solidFill>
                <a:latin typeface="Courier New" pitchFamily="49" charset="0"/>
              </a:rPr>
              <a:t>  2  AS SELECT	*</a:t>
            </a:r>
          </a:p>
          <a:p>
            <a:pPr>
              <a:lnSpc>
                <a:spcPct val="100000"/>
              </a:lnSpc>
            </a:pPr>
            <a:r>
              <a:rPr lang="en-US" altLang="en-US" sz="1800">
                <a:solidFill>
                  <a:srgbClr val="000000"/>
                </a:solidFill>
                <a:latin typeface="Courier New" pitchFamily="49" charset="0"/>
              </a:rPr>
              <a:t>  3  FROM	        emp</a:t>
            </a:r>
          </a:p>
          <a:p>
            <a:pPr>
              <a:lnSpc>
                <a:spcPct val="100000"/>
              </a:lnSpc>
            </a:pPr>
            <a:r>
              <a:rPr lang="en-US" altLang="en-US" sz="1800">
                <a:solidFill>
                  <a:srgbClr val="000000"/>
                </a:solidFill>
                <a:latin typeface="Courier New" pitchFamily="49" charset="0"/>
              </a:rPr>
              <a:t>  4  WHERE	        deptno = 20</a:t>
            </a:r>
          </a:p>
          <a:p>
            <a:pPr>
              <a:lnSpc>
                <a:spcPct val="100000"/>
              </a:lnSpc>
            </a:pPr>
            <a:r>
              <a:rPr lang="en-US" altLang="en-US" sz="1800">
                <a:solidFill>
                  <a:srgbClr val="000000"/>
                </a:solidFill>
                <a:latin typeface="Courier New" pitchFamily="49" charset="0"/>
              </a:rPr>
              <a:t>  5  WITH CHECK OPTION CONSTRAINT empvu20_ck;</a:t>
            </a:r>
          </a:p>
          <a:p>
            <a:pPr>
              <a:lnSpc>
                <a:spcPct val="100000"/>
              </a:lnSpc>
            </a:pPr>
            <a:r>
              <a:rPr lang="en-US" altLang="en-US" sz="1800">
                <a:solidFill>
                  <a:srgbClr val="FF3300"/>
                </a:solidFill>
                <a:effectLst>
                  <a:outerShdw blurRad="38100" dist="38100" dir="2700000" algn="tl">
                    <a:srgbClr val="000000"/>
                  </a:outerShdw>
                </a:effectLst>
                <a:latin typeface="Courier New" pitchFamily="49" charset="0"/>
              </a:rPr>
              <a:t>View created.</a:t>
            </a:r>
          </a:p>
        </p:txBody>
      </p:sp>
    </p:spTree>
    <p:extLst>
      <p:ext uri="{BB962C8B-B14F-4D97-AF65-F5344CB8AC3E}">
        <p14:creationId xmlns:p14="http://schemas.microsoft.com/office/powerpoint/2010/main" val="131567774"/>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5846"/>
                                        </p:tgtEl>
                                        <p:attrNameLst>
                                          <p:attrName>style.visibility</p:attrName>
                                        </p:attrNameLst>
                                      </p:cBhvr>
                                      <p:to>
                                        <p:strVal val="visible"/>
                                      </p:to>
                                    </p:set>
                                    <p:animEffect transition="in" filter="wipe(up)">
                                      <p:cBhvr>
                                        <p:cTn id="7" dur="500"/>
                                        <p:tgtEl>
                                          <p:spTgt spid="358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6"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ChangeArrowheads="1"/>
          </p:cNvSpPr>
          <p:nvPr/>
        </p:nvSpPr>
        <p:spPr bwMode="blackWhite">
          <a:xfrm>
            <a:off x="923925" y="2770188"/>
            <a:ext cx="7497763" cy="2014537"/>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lIns="92075" tIns="46038" rIns="92075" bIns="46038" anchor="ctr"/>
          <a:lstStyle>
            <a:lvl1pPr algn="l">
              <a:spcBef>
                <a:spcPct val="0"/>
              </a:spcBef>
              <a:tabLst>
                <a:tab pos="1200150" algn="l"/>
              </a:tabLst>
              <a:defRPr sz="2400">
                <a:solidFill>
                  <a:schemeClr val="tx1"/>
                </a:solidFill>
                <a:latin typeface="Times New Roman" pitchFamily="18" charset="0"/>
              </a:defRPr>
            </a:lvl1pPr>
            <a:lvl2pPr algn="l">
              <a:spcBef>
                <a:spcPct val="0"/>
              </a:spcBef>
              <a:tabLst>
                <a:tab pos="1200150" algn="l"/>
              </a:tabLst>
              <a:defRPr sz="2400">
                <a:solidFill>
                  <a:schemeClr val="tx1"/>
                </a:solidFill>
                <a:latin typeface="Times New Roman" pitchFamily="18" charset="0"/>
              </a:defRPr>
            </a:lvl2pPr>
            <a:lvl3pPr algn="l">
              <a:spcBef>
                <a:spcPct val="0"/>
              </a:spcBef>
              <a:tabLst>
                <a:tab pos="1200150" algn="l"/>
              </a:tabLst>
              <a:defRPr sz="2400">
                <a:solidFill>
                  <a:schemeClr val="tx1"/>
                </a:solidFill>
                <a:latin typeface="Times New Roman" pitchFamily="18" charset="0"/>
              </a:defRPr>
            </a:lvl3pPr>
            <a:lvl4pPr algn="l">
              <a:spcBef>
                <a:spcPct val="0"/>
              </a:spcBef>
              <a:tabLst>
                <a:tab pos="1200150" algn="l"/>
              </a:tabLst>
              <a:defRPr sz="2400">
                <a:solidFill>
                  <a:schemeClr val="tx1"/>
                </a:solidFill>
                <a:latin typeface="Times New Roman" pitchFamily="18" charset="0"/>
              </a:defRPr>
            </a:lvl4pPr>
            <a:lvl5pPr algn="l">
              <a:spcBef>
                <a:spcPct val="0"/>
              </a:spcBef>
              <a:tabLst>
                <a:tab pos="1200150" algn="l"/>
              </a:tabLst>
              <a:defRPr sz="2400">
                <a:solidFill>
                  <a:schemeClr val="tx1"/>
                </a:solidFill>
                <a:latin typeface="Times New Roman" pitchFamily="18" charset="0"/>
              </a:defRPr>
            </a:lvl5pPr>
            <a:lvl6pPr fontAlgn="base">
              <a:spcBef>
                <a:spcPct val="0"/>
              </a:spcBef>
              <a:spcAft>
                <a:spcPct val="0"/>
              </a:spcAft>
              <a:tabLst>
                <a:tab pos="1200150" algn="l"/>
              </a:tabLst>
              <a:defRPr sz="2400">
                <a:solidFill>
                  <a:schemeClr val="tx1"/>
                </a:solidFill>
                <a:latin typeface="Times New Roman" pitchFamily="18" charset="0"/>
              </a:defRPr>
            </a:lvl6pPr>
            <a:lvl7pPr fontAlgn="base">
              <a:spcBef>
                <a:spcPct val="0"/>
              </a:spcBef>
              <a:spcAft>
                <a:spcPct val="0"/>
              </a:spcAft>
              <a:tabLst>
                <a:tab pos="1200150" algn="l"/>
              </a:tabLst>
              <a:defRPr sz="2400">
                <a:solidFill>
                  <a:schemeClr val="tx1"/>
                </a:solidFill>
                <a:latin typeface="Times New Roman" pitchFamily="18" charset="0"/>
              </a:defRPr>
            </a:lvl7pPr>
            <a:lvl8pPr fontAlgn="base">
              <a:spcBef>
                <a:spcPct val="0"/>
              </a:spcBef>
              <a:spcAft>
                <a:spcPct val="0"/>
              </a:spcAft>
              <a:tabLst>
                <a:tab pos="1200150" algn="l"/>
              </a:tabLst>
              <a:defRPr sz="2400">
                <a:solidFill>
                  <a:schemeClr val="tx1"/>
                </a:solidFill>
                <a:latin typeface="Times New Roman" pitchFamily="18" charset="0"/>
              </a:defRPr>
            </a:lvl8pPr>
            <a:lvl9pPr fontAlgn="base">
              <a:spcBef>
                <a:spcPct val="0"/>
              </a:spcBef>
              <a:spcAft>
                <a:spcPct val="0"/>
              </a:spcAft>
              <a:tabLst>
                <a:tab pos="1200150" algn="l"/>
              </a:tabLst>
              <a:defRPr sz="2400">
                <a:solidFill>
                  <a:schemeClr val="tx1"/>
                </a:solidFill>
                <a:latin typeface="Times New Roman" pitchFamily="18" charset="0"/>
              </a:defRPr>
            </a:lvl9pPr>
          </a:lstStyle>
          <a:p>
            <a:pPr>
              <a:lnSpc>
                <a:spcPct val="100000"/>
              </a:lnSpc>
            </a:pPr>
            <a:endParaRPr lang="en-US" altLang="en-US" sz="1800">
              <a:solidFill>
                <a:srgbClr val="000000"/>
              </a:solidFill>
              <a:latin typeface="Courier New" pitchFamily="49" charset="0"/>
            </a:endParaRPr>
          </a:p>
          <a:p>
            <a:pPr>
              <a:lnSpc>
                <a:spcPct val="100000"/>
              </a:lnSpc>
            </a:pPr>
            <a:endParaRPr lang="en-US" altLang="en-US" sz="1800">
              <a:solidFill>
                <a:srgbClr val="000000"/>
              </a:solidFill>
              <a:latin typeface="Courier New" pitchFamily="49" charset="0"/>
            </a:endParaRPr>
          </a:p>
        </p:txBody>
      </p:sp>
      <p:sp>
        <p:nvSpPr>
          <p:cNvPr id="37891" name="Rectangle 3"/>
          <p:cNvSpPr>
            <a:spLocks noGrp="1" noChangeArrowheads="1"/>
          </p:cNvSpPr>
          <p:nvPr>
            <p:ph type="title"/>
          </p:nvPr>
        </p:nvSpPr>
        <p:spPr>
          <a:noFill/>
          <a:ln/>
        </p:spPr>
        <p:txBody>
          <a:bodyPr/>
          <a:lstStyle/>
          <a:p>
            <a:r>
              <a:rPr lang="en-US" altLang="en-US"/>
              <a:t>Denying DML Operations</a:t>
            </a:r>
          </a:p>
        </p:txBody>
      </p:sp>
      <p:sp>
        <p:nvSpPr>
          <p:cNvPr id="37892" name="Rectangle 4"/>
          <p:cNvSpPr>
            <a:spLocks noGrp="1" noChangeArrowheads="1"/>
          </p:cNvSpPr>
          <p:nvPr>
            <p:ph type="body" idx="1"/>
          </p:nvPr>
        </p:nvSpPr>
        <p:spPr>
          <a:xfrm>
            <a:off x="847725" y="1341438"/>
            <a:ext cx="7385050" cy="1311275"/>
          </a:xfrm>
          <a:noFill/>
          <a:ln/>
        </p:spPr>
        <p:txBody>
          <a:bodyPr/>
          <a:lstStyle/>
          <a:p>
            <a:pPr lvl="1"/>
            <a:r>
              <a:rPr lang="en-US" altLang="en-US"/>
              <a:t>You can ensure that no DML operations occur by adding the WITH READ ONLY option to your view definition.</a:t>
            </a:r>
          </a:p>
        </p:txBody>
      </p:sp>
      <p:sp>
        <p:nvSpPr>
          <p:cNvPr id="37893" name="Rectangle 5"/>
          <p:cNvSpPr>
            <a:spLocks noChangeArrowheads="1"/>
          </p:cNvSpPr>
          <p:nvPr/>
        </p:nvSpPr>
        <p:spPr bwMode="blackWhite">
          <a:xfrm>
            <a:off x="936625" y="2757488"/>
            <a:ext cx="7497763" cy="20399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lgn="l">
              <a:spcBef>
                <a:spcPct val="0"/>
              </a:spcBef>
              <a:tabLst>
                <a:tab pos="1601788" algn="l"/>
                <a:tab pos="1717675" algn="l"/>
              </a:tabLst>
              <a:defRPr sz="2400">
                <a:solidFill>
                  <a:schemeClr val="tx1"/>
                </a:solidFill>
                <a:latin typeface="Times New Roman" pitchFamily="18" charset="0"/>
              </a:defRPr>
            </a:lvl1pPr>
            <a:lvl2pPr algn="l">
              <a:spcBef>
                <a:spcPct val="0"/>
              </a:spcBef>
              <a:tabLst>
                <a:tab pos="1601788" algn="l"/>
                <a:tab pos="1717675" algn="l"/>
              </a:tabLst>
              <a:defRPr sz="2400">
                <a:solidFill>
                  <a:schemeClr val="tx1"/>
                </a:solidFill>
                <a:latin typeface="Times New Roman" pitchFamily="18" charset="0"/>
              </a:defRPr>
            </a:lvl2pPr>
            <a:lvl3pPr algn="l">
              <a:spcBef>
                <a:spcPct val="0"/>
              </a:spcBef>
              <a:tabLst>
                <a:tab pos="1601788" algn="l"/>
                <a:tab pos="1717675" algn="l"/>
              </a:tabLst>
              <a:defRPr sz="2400">
                <a:solidFill>
                  <a:schemeClr val="tx1"/>
                </a:solidFill>
                <a:latin typeface="Times New Roman" pitchFamily="18" charset="0"/>
              </a:defRPr>
            </a:lvl3pPr>
            <a:lvl4pPr algn="l">
              <a:spcBef>
                <a:spcPct val="0"/>
              </a:spcBef>
              <a:tabLst>
                <a:tab pos="1601788" algn="l"/>
                <a:tab pos="1717675" algn="l"/>
              </a:tabLst>
              <a:defRPr sz="2400">
                <a:solidFill>
                  <a:schemeClr val="tx1"/>
                </a:solidFill>
                <a:latin typeface="Times New Roman" pitchFamily="18" charset="0"/>
              </a:defRPr>
            </a:lvl4pPr>
            <a:lvl5pPr algn="l">
              <a:spcBef>
                <a:spcPct val="0"/>
              </a:spcBef>
              <a:tabLst>
                <a:tab pos="1601788" algn="l"/>
                <a:tab pos="1717675" algn="l"/>
              </a:tabLst>
              <a:defRPr sz="2400">
                <a:solidFill>
                  <a:schemeClr val="tx1"/>
                </a:solidFill>
                <a:latin typeface="Times New Roman" pitchFamily="18" charset="0"/>
              </a:defRPr>
            </a:lvl5pPr>
            <a:lvl6pPr fontAlgn="base">
              <a:spcBef>
                <a:spcPct val="0"/>
              </a:spcBef>
              <a:spcAft>
                <a:spcPct val="0"/>
              </a:spcAft>
              <a:tabLst>
                <a:tab pos="1601788" algn="l"/>
                <a:tab pos="1717675" algn="l"/>
              </a:tabLst>
              <a:defRPr sz="2400">
                <a:solidFill>
                  <a:schemeClr val="tx1"/>
                </a:solidFill>
                <a:latin typeface="Times New Roman" pitchFamily="18" charset="0"/>
              </a:defRPr>
            </a:lvl6pPr>
            <a:lvl7pPr fontAlgn="base">
              <a:spcBef>
                <a:spcPct val="0"/>
              </a:spcBef>
              <a:spcAft>
                <a:spcPct val="0"/>
              </a:spcAft>
              <a:tabLst>
                <a:tab pos="1601788" algn="l"/>
                <a:tab pos="1717675" algn="l"/>
              </a:tabLst>
              <a:defRPr sz="2400">
                <a:solidFill>
                  <a:schemeClr val="tx1"/>
                </a:solidFill>
                <a:latin typeface="Times New Roman" pitchFamily="18" charset="0"/>
              </a:defRPr>
            </a:lvl7pPr>
            <a:lvl8pPr fontAlgn="base">
              <a:spcBef>
                <a:spcPct val="0"/>
              </a:spcBef>
              <a:spcAft>
                <a:spcPct val="0"/>
              </a:spcAft>
              <a:tabLst>
                <a:tab pos="1601788" algn="l"/>
                <a:tab pos="1717675" algn="l"/>
              </a:tabLst>
              <a:defRPr sz="2400">
                <a:solidFill>
                  <a:schemeClr val="tx1"/>
                </a:solidFill>
                <a:latin typeface="Times New Roman" pitchFamily="18" charset="0"/>
              </a:defRPr>
            </a:lvl8pPr>
            <a:lvl9pPr fontAlgn="base">
              <a:spcBef>
                <a:spcPct val="0"/>
              </a:spcBef>
              <a:spcAft>
                <a:spcPct val="0"/>
              </a:spcAft>
              <a:tabLst>
                <a:tab pos="1601788" algn="l"/>
                <a:tab pos="1717675" algn="l"/>
              </a:tabLst>
              <a:defRPr sz="2400">
                <a:solidFill>
                  <a:schemeClr val="tx1"/>
                </a:solidFill>
                <a:latin typeface="Times New Roman" pitchFamily="18" charset="0"/>
              </a:defRPr>
            </a:lvl9pPr>
          </a:lstStyle>
          <a:p>
            <a:pPr>
              <a:lnSpc>
                <a:spcPct val="100000"/>
              </a:lnSpc>
            </a:pPr>
            <a:r>
              <a:rPr lang="en-US" altLang="en-US" sz="1800">
                <a:solidFill>
                  <a:srgbClr val="000000"/>
                </a:solidFill>
                <a:latin typeface="Courier New" pitchFamily="49" charset="0"/>
              </a:rPr>
              <a:t>SQL&gt; CREATE OR REPLACE VIEW empvu10</a:t>
            </a:r>
          </a:p>
          <a:p>
            <a:pPr>
              <a:lnSpc>
                <a:spcPct val="100000"/>
              </a:lnSpc>
            </a:pPr>
            <a:r>
              <a:rPr lang="en-US" altLang="en-US" sz="1800">
                <a:solidFill>
                  <a:srgbClr val="000000"/>
                </a:solidFill>
                <a:latin typeface="Courier New" pitchFamily="49" charset="0"/>
              </a:rPr>
              <a:t>  2        (employee_number, employee_name, job_title)</a:t>
            </a:r>
          </a:p>
          <a:p>
            <a:pPr>
              <a:lnSpc>
                <a:spcPct val="100000"/>
              </a:lnSpc>
            </a:pPr>
            <a:r>
              <a:rPr lang="en-US" altLang="en-US" sz="1800">
                <a:solidFill>
                  <a:srgbClr val="000000"/>
                </a:solidFill>
                <a:latin typeface="Courier New" pitchFamily="49" charset="0"/>
              </a:rPr>
              <a:t>  3  AS SELECT	empno, ename, job</a:t>
            </a:r>
          </a:p>
          <a:p>
            <a:pPr>
              <a:lnSpc>
                <a:spcPct val="100000"/>
              </a:lnSpc>
            </a:pPr>
            <a:r>
              <a:rPr lang="en-US" altLang="en-US" sz="1800">
                <a:solidFill>
                  <a:srgbClr val="000000"/>
                </a:solidFill>
                <a:latin typeface="Courier New" pitchFamily="49" charset="0"/>
              </a:rPr>
              <a:t>  4  FROM				emp</a:t>
            </a:r>
          </a:p>
          <a:p>
            <a:pPr>
              <a:lnSpc>
                <a:spcPct val="100000"/>
              </a:lnSpc>
            </a:pPr>
            <a:r>
              <a:rPr lang="en-US" altLang="en-US" sz="1800">
                <a:solidFill>
                  <a:srgbClr val="000000"/>
                </a:solidFill>
                <a:latin typeface="Courier New" pitchFamily="49" charset="0"/>
              </a:rPr>
              <a:t>  5  WHERE				deptno = 10</a:t>
            </a:r>
          </a:p>
          <a:p>
            <a:pPr>
              <a:lnSpc>
                <a:spcPct val="100000"/>
              </a:lnSpc>
            </a:pPr>
            <a:r>
              <a:rPr lang="en-US" altLang="en-US" sz="1800">
                <a:solidFill>
                  <a:srgbClr val="000000"/>
                </a:solidFill>
                <a:latin typeface="Courier New" pitchFamily="49" charset="0"/>
              </a:rPr>
              <a:t>  6  WITH READ ONLY;</a:t>
            </a:r>
          </a:p>
          <a:p>
            <a:pPr>
              <a:lnSpc>
                <a:spcPct val="100000"/>
              </a:lnSpc>
            </a:pPr>
            <a:r>
              <a:rPr lang="en-US" altLang="en-US" sz="1800">
                <a:solidFill>
                  <a:srgbClr val="FF3300"/>
                </a:solidFill>
                <a:effectLst>
                  <a:outerShdw blurRad="38100" dist="38100" dir="2700000" algn="tl">
                    <a:srgbClr val="000000"/>
                  </a:outerShdw>
                </a:effectLst>
                <a:latin typeface="Courier New" pitchFamily="49" charset="0"/>
              </a:rPr>
              <a:t>View created.</a:t>
            </a:r>
          </a:p>
        </p:txBody>
      </p:sp>
      <p:sp>
        <p:nvSpPr>
          <p:cNvPr id="37894" name="Rectangle 6"/>
          <p:cNvSpPr>
            <a:spLocks noChangeArrowheads="1"/>
          </p:cNvSpPr>
          <p:nvPr/>
        </p:nvSpPr>
        <p:spPr bwMode="auto">
          <a:xfrm>
            <a:off x="847725" y="4951413"/>
            <a:ext cx="7385050" cy="1311275"/>
          </a:xfrm>
          <a:prstGeom prst="rect">
            <a:avLst/>
          </a:prstGeom>
          <a:noFill/>
          <a:ln>
            <a:noFill/>
          </a:ln>
          <a:effectLst>
            <a:outerShdw dist="53882" dir="2700000" algn="ctr" rotWithShape="0">
              <a:srgbClr val="000000"/>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txBody>
          <a:bodyPr lIns="92075" tIns="46038" rIns="92075" bIns="46038">
            <a:spAutoFit/>
          </a:bodyPr>
          <a:lstStyle>
            <a:lvl1pPr algn="l" defTabSz="346075">
              <a:spcBef>
                <a:spcPct val="0"/>
              </a:spcBef>
              <a:tabLst>
                <a:tab pos="571500" algn="l"/>
              </a:tabLst>
              <a:defRPr sz="2400">
                <a:solidFill>
                  <a:schemeClr val="tx1"/>
                </a:solidFill>
                <a:latin typeface="Times New Roman" pitchFamily="18" charset="0"/>
              </a:defRPr>
            </a:lvl1pPr>
            <a:lvl2pPr marL="341313" indent="-227013" algn="l" defTabSz="346075">
              <a:spcBef>
                <a:spcPct val="0"/>
              </a:spcBef>
              <a:tabLst>
                <a:tab pos="571500" algn="l"/>
              </a:tabLst>
              <a:defRPr sz="2400">
                <a:solidFill>
                  <a:schemeClr val="tx1"/>
                </a:solidFill>
                <a:latin typeface="Times New Roman" pitchFamily="18" charset="0"/>
              </a:defRPr>
            </a:lvl2pPr>
            <a:lvl3pPr marL="741363" indent="-285750" algn="l" defTabSz="346075">
              <a:spcBef>
                <a:spcPct val="0"/>
              </a:spcBef>
              <a:tabLst>
                <a:tab pos="571500" algn="l"/>
              </a:tabLst>
              <a:defRPr sz="2400">
                <a:solidFill>
                  <a:schemeClr val="tx1"/>
                </a:solidFill>
                <a:latin typeface="Times New Roman" pitchFamily="18" charset="0"/>
              </a:defRPr>
            </a:lvl3pPr>
            <a:lvl4pPr marL="1600200" indent="-228600" algn="l" defTabSz="346075">
              <a:spcBef>
                <a:spcPct val="0"/>
              </a:spcBef>
              <a:tabLst>
                <a:tab pos="571500" algn="l"/>
              </a:tabLst>
              <a:defRPr sz="2400">
                <a:solidFill>
                  <a:schemeClr val="tx1"/>
                </a:solidFill>
                <a:latin typeface="Times New Roman" pitchFamily="18" charset="0"/>
              </a:defRPr>
            </a:lvl4pPr>
            <a:lvl5pPr marL="2057400" indent="-228600" algn="l" defTabSz="346075">
              <a:spcBef>
                <a:spcPct val="0"/>
              </a:spcBef>
              <a:tabLst>
                <a:tab pos="571500" algn="l"/>
              </a:tabLst>
              <a:defRPr sz="2400">
                <a:solidFill>
                  <a:schemeClr val="tx1"/>
                </a:solidFill>
                <a:latin typeface="Times New Roman" pitchFamily="18" charset="0"/>
              </a:defRPr>
            </a:lvl5pPr>
            <a:lvl6pPr marL="2514600" indent="-228600" defTabSz="346075" fontAlgn="base">
              <a:spcBef>
                <a:spcPct val="0"/>
              </a:spcBef>
              <a:spcAft>
                <a:spcPct val="0"/>
              </a:spcAft>
              <a:tabLst>
                <a:tab pos="571500" algn="l"/>
              </a:tabLst>
              <a:defRPr sz="2400">
                <a:solidFill>
                  <a:schemeClr val="tx1"/>
                </a:solidFill>
                <a:latin typeface="Times New Roman" pitchFamily="18" charset="0"/>
              </a:defRPr>
            </a:lvl6pPr>
            <a:lvl7pPr marL="2971800" indent="-228600" defTabSz="346075" fontAlgn="base">
              <a:spcBef>
                <a:spcPct val="0"/>
              </a:spcBef>
              <a:spcAft>
                <a:spcPct val="0"/>
              </a:spcAft>
              <a:tabLst>
                <a:tab pos="571500" algn="l"/>
              </a:tabLst>
              <a:defRPr sz="2400">
                <a:solidFill>
                  <a:schemeClr val="tx1"/>
                </a:solidFill>
                <a:latin typeface="Times New Roman" pitchFamily="18" charset="0"/>
              </a:defRPr>
            </a:lvl7pPr>
            <a:lvl8pPr marL="3429000" indent="-228600" defTabSz="346075" fontAlgn="base">
              <a:spcBef>
                <a:spcPct val="0"/>
              </a:spcBef>
              <a:spcAft>
                <a:spcPct val="0"/>
              </a:spcAft>
              <a:tabLst>
                <a:tab pos="571500" algn="l"/>
              </a:tabLst>
              <a:defRPr sz="2400">
                <a:solidFill>
                  <a:schemeClr val="tx1"/>
                </a:solidFill>
                <a:latin typeface="Times New Roman" pitchFamily="18" charset="0"/>
              </a:defRPr>
            </a:lvl8pPr>
            <a:lvl9pPr marL="3886200" indent="-228600" defTabSz="346075" fontAlgn="base">
              <a:spcBef>
                <a:spcPct val="0"/>
              </a:spcBef>
              <a:spcAft>
                <a:spcPct val="0"/>
              </a:spcAft>
              <a:tabLst>
                <a:tab pos="571500" algn="l"/>
              </a:tabLst>
              <a:defRPr sz="2400">
                <a:solidFill>
                  <a:schemeClr val="tx1"/>
                </a:solidFill>
                <a:latin typeface="Times New Roman" pitchFamily="18" charset="0"/>
              </a:defRPr>
            </a:lvl9pPr>
          </a:lstStyle>
          <a:p>
            <a:pPr lvl="1">
              <a:lnSpc>
                <a:spcPct val="95000"/>
              </a:lnSpc>
              <a:spcBef>
                <a:spcPct val="35000"/>
              </a:spcBef>
              <a:buClr>
                <a:srgbClr val="FFCC66"/>
              </a:buClr>
              <a:buSzPct val="100000"/>
              <a:buFontTx/>
              <a:buChar char="•"/>
            </a:pPr>
            <a:r>
              <a:rPr lang="en-US" altLang="en-US" sz="2800">
                <a:solidFill>
                  <a:srgbClr val="F8F8D3"/>
                </a:solidFill>
                <a:latin typeface="Arial" pitchFamily="34" charset="0"/>
              </a:rPr>
              <a:t>Any attempt to perform a DML on any row in the view will result in Oracle Server error.</a:t>
            </a:r>
          </a:p>
        </p:txBody>
      </p:sp>
    </p:spTree>
    <p:extLst>
      <p:ext uri="{BB962C8B-B14F-4D97-AF65-F5344CB8AC3E}">
        <p14:creationId xmlns:p14="http://schemas.microsoft.com/office/powerpoint/2010/main" val="39946646"/>
      </p:ext>
    </p:extLst>
  </p:cSld>
  <p:clrMapOvr>
    <a:masterClrMapping/>
  </p:clrMapOvr>
  <p:transition spd="slow"/>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ChangeArrowheads="1"/>
          </p:cNvSpPr>
          <p:nvPr/>
        </p:nvSpPr>
        <p:spPr bwMode="blackWhite">
          <a:xfrm>
            <a:off x="923925" y="4295775"/>
            <a:ext cx="7493000" cy="592138"/>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lIns="92075" tIns="46038" rIns="92075" bIns="46038" anchor="ctr"/>
          <a:lstStyle>
            <a:lvl1pPr algn="l">
              <a:spcBef>
                <a:spcPct val="0"/>
              </a:spcBef>
              <a:tabLst>
                <a:tab pos="1200150" algn="l"/>
              </a:tabLst>
              <a:defRPr sz="2400">
                <a:solidFill>
                  <a:schemeClr val="tx1"/>
                </a:solidFill>
                <a:latin typeface="Times New Roman" pitchFamily="18" charset="0"/>
              </a:defRPr>
            </a:lvl1pPr>
            <a:lvl2pPr algn="l">
              <a:spcBef>
                <a:spcPct val="0"/>
              </a:spcBef>
              <a:tabLst>
                <a:tab pos="1200150" algn="l"/>
              </a:tabLst>
              <a:defRPr sz="2400">
                <a:solidFill>
                  <a:schemeClr val="tx1"/>
                </a:solidFill>
                <a:latin typeface="Times New Roman" pitchFamily="18" charset="0"/>
              </a:defRPr>
            </a:lvl2pPr>
            <a:lvl3pPr algn="l">
              <a:spcBef>
                <a:spcPct val="0"/>
              </a:spcBef>
              <a:tabLst>
                <a:tab pos="1200150" algn="l"/>
              </a:tabLst>
              <a:defRPr sz="2400">
                <a:solidFill>
                  <a:schemeClr val="tx1"/>
                </a:solidFill>
                <a:latin typeface="Times New Roman" pitchFamily="18" charset="0"/>
              </a:defRPr>
            </a:lvl3pPr>
            <a:lvl4pPr algn="l">
              <a:spcBef>
                <a:spcPct val="0"/>
              </a:spcBef>
              <a:tabLst>
                <a:tab pos="1200150" algn="l"/>
              </a:tabLst>
              <a:defRPr sz="2400">
                <a:solidFill>
                  <a:schemeClr val="tx1"/>
                </a:solidFill>
                <a:latin typeface="Times New Roman" pitchFamily="18" charset="0"/>
              </a:defRPr>
            </a:lvl4pPr>
            <a:lvl5pPr algn="l">
              <a:spcBef>
                <a:spcPct val="0"/>
              </a:spcBef>
              <a:tabLst>
                <a:tab pos="1200150" algn="l"/>
              </a:tabLst>
              <a:defRPr sz="2400">
                <a:solidFill>
                  <a:schemeClr val="tx1"/>
                </a:solidFill>
                <a:latin typeface="Times New Roman" pitchFamily="18" charset="0"/>
              </a:defRPr>
            </a:lvl5pPr>
            <a:lvl6pPr fontAlgn="base">
              <a:spcBef>
                <a:spcPct val="0"/>
              </a:spcBef>
              <a:spcAft>
                <a:spcPct val="0"/>
              </a:spcAft>
              <a:tabLst>
                <a:tab pos="1200150" algn="l"/>
              </a:tabLst>
              <a:defRPr sz="2400">
                <a:solidFill>
                  <a:schemeClr val="tx1"/>
                </a:solidFill>
                <a:latin typeface="Times New Roman" pitchFamily="18" charset="0"/>
              </a:defRPr>
            </a:lvl6pPr>
            <a:lvl7pPr fontAlgn="base">
              <a:spcBef>
                <a:spcPct val="0"/>
              </a:spcBef>
              <a:spcAft>
                <a:spcPct val="0"/>
              </a:spcAft>
              <a:tabLst>
                <a:tab pos="1200150" algn="l"/>
              </a:tabLst>
              <a:defRPr sz="2400">
                <a:solidFill>
                  <a:schemeClr val="tx1"/>
                </a:solidFill>
                <a:latin typeface="Times New Roman" pitchFamily="18" charset="0"/>
              </a:defRPr>
            </a:lvl7pPr>
            <a:lvl8pPr fontAlgn="base">
              <a:spcBef>
                <a:spcPct val="0"/>
              </a:spcBef>
              <a:spcAft>
                <a:spcPct val="0"/>
              </a:spcAft>
              <a:tabLst>
                <a:tab pos="1200150" algn="l"/>
              </a:tabLst>
              <a:defRPr sz="2400">
                <a:solidFill>
                  <a:schemeClr val="tx1"/>
                </a:solidFill>
                <a:latin typeface="Times New Roman" pitchFamily="18" charset="0"/>
              </a:defRPr>
            </a:lvl8pPr>
            <a:lvl9pPr fontAlgn="base">
              <a:spcBef>
                <a:spcPct val="0"/>
              </a:spcBef>
              <a:spcAft>
                <a:spcPct val="0"/>
              </a:spcAft>
              <a:tabLst>
                <a:tab pos="1200150" algn="l"/>
              </a:tabLst>
              <a:defRPr sz="2400">
                <a:solidFill>
                  <a:schemeClr val="tx1"/>
                </a:solidFill>
                <a:latin typeface="Times New Roman" pitchFamily="18" charset="0"/>
              </a:defRPr>
            </a:lvl9pPr>
          </a:lstStyle>
          <a:p>
            <a:pPr>
              <a:lnSpc>
                <a:spcPct val="100000"/>
              </a:lnSpc>
            </a:pPr>
            <a:endParaRPr lang="en-US" altLang="en-US" sz="1800">
              <a:solidFill>
                <a:srgbClr val="000000"/>
              </a:solidFill>
              <a:latin typeface="Courier New" pitchFamily="49" charset="0"/>
            </a:endParaRPr>
          </a:p>
          <a:p>
            <a:pPr>
              <a:lnSpc>
                <a:spcPct val="100000"/>
              </a:lnSpc>
            </a:pPr>
            <a:endParaRPr lang="en-US" altLang="en-US" sz="1800">
              <a:solidFill>
                <a:srgbClr val="000000"/>
              </a:solidFill>
              <a:latin typeface="Courier New" pitchFamily="49" charset="0"/>
            </a:endParaRPr>
          </a:p>
        </p:txBody>
      </p:sp>
      <p:sp>
        <p:nvSpPr>
          <p:cNvPr id="39939" name="Rectangle 3"/>
          <p:cNvSpPr>
            <a:spLocks noGrp="1" noChangeArrowheads="1"/>
          </p:cNvSpPr>
          <p:nvPr>
            <p:ph type="title"/>
          </p:nvPr>
        </p:nvSpPr>
        <p:spPr>
          <a:noFill/>
          <a:ln/>
        </p:spPr>
        <p:txBody>
          <a:bodyPr/>
          <a:lstStyle/>
          <a:p>
            <a:r>
              <a:rPr lang="en-US" altLang="en-US"/>
              <a:t>Removing a View</a:t>
            </a:r>
          </a:p>
        </p:txBody>
      </p:sp>
      <p:sp>
        <p:nvSpPr>
          <p:cNvPr id="39940" name="Rectangle 4"/>
          <p:cNvSpPr>
            <a:spLocks noGrp="1" noChangeArrowheads="1"/>
          </p:cNvSpPr>
          <p:nvPr>
            <p:ph type="body" idx="1"/>
          </p:nvPr>
        </p:nvSpPr>
        <p:spPr>
          <a:xfrm>
            <a:off x="860425" y="1795463"/>
            <a:ext cx="7385050" cy="1311275"/>
          </a:xfrm>
          <a:noFill/>
          <a:ln/>
        </p:spPr>
        <p:txBody>
          <a:bodyPr/>
          <a:lstStyle/>
          <a:p>
            <a:r>
              <a:rPr lang="en-US" altLang="en-US"/>
              <a:t>Remove a view without losing data because a view is based on underlying tables in the database.</a:t>
            </a:r>
          </a:p>
        </p:txBody>
      </p:sp>
      <p:sp>
        <p:nvSpPr>
          <p:cNvPr id="39941" name="Rectangle 5"/>
          <p:cNvSpPr>
            <a:spLocks noChangeArrowheads="1"/>
          </p:cNvSpPr>
          <p:nvPr/>
        </p:nvSpPr>
        <p:spPr bwMode="blackWhite">
          <a:xfrm>
            <a:off x="915988" y="4283075"/>
            <a:ext cx="7518400" cy="6175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lgn="l">
              <a:spcBef>
                <a:spcPct val="0"/>
              </a:spcBef>
              <a:tabLst>
                <a:tab pos="1601788" algn="l"/>
                <a:tab pos="1717675" algn="l"/>
              </a:tabLst>
              <a:defRPr sz="2400">
                <a:solidFill>
                  <a:schemeClr val="tx1"/>
                </a:solidFill>
                <a:latin typeface="Times New Roman" pitchFamily="18" charset="0"/>
              </a:defRPr>
            </a:lvl1pPr>
            <a:lvl2pPr algn="l">
              <a:spcBef>
                <a:spcPct val="0"/>
              </a:spcBef>
              <a:tabLst>
                <a:tab pos="1601788" algn="l"/>
                <a:tab pos="1717675" algn="l"/>
              </a:tabLst>
              <a:defRPr sz="2400">
                <a:solidFill>
                  <a:schemeClr val="tx1"/>
                </a:solidFill>
                <a:latin typeface="Times New Roman" pitchFamily="18" charset="0"/>
              </a:defRPr>
            </a:lvl2pPr>
            <a:lvl3pPr algn="l">
              <a:spcBef>
                <a:spcPct val="0"/>
              </a:spcBef>
              <a:tabLst>
                <a:tab pos="1601788" algn="l"/>
                <a:tab pos="1717675" algn="l"/>
              </a:tabLst>
              <a:defRPr sz="2400">
                <a:solidFill>
                  <a:schemeClr val="tx1"/>
                </a:solidFill>
                <a:latin typeface="Times New Roman" pitchFamily="18" charset="0"/>
              </a:defRPr>
            </a:lvl3pPr>
            <a:lvl4pPr algn="l">
              <a:spcBef>
                <a:spcPct val="0"/>
              </a:spcBef>
              <a:tabLst>
                <a:tab pos="1601788" algn="l"/>
                <a:tab pos="1717675" algn="l"/>
              </a:tabLst>
              <a:defRPr sz="2400">
                <a:solidFill>
                  <a:schemeClr val="tx1"/>
                </a:solidFill>
                <a:latin typeface="Times New Roman" pitchFamily="18" charset="0"/>
              </a:defRPr>
            </a:lvl4pPr>
            <a:lvl5pPr algn="l">
              <a:spcBef>
                <a:spcPct val="0"/>
              </a:spcBef>
              <a:tabLst>
                <a:tab pos="1601788" algn="l"/>
                <a:tab pos="1717675" algn="l"/>
              </a:tabLst>
              <a:defRPr sz="2400">
                <a:solidFill>
                  <a:schemeClr val="tx1"/>
                </a:solidFill>
                <a:latin typeface="Times New Roman" pitchFamily="18" charset="0"/>
              </a:defRPr>
            </a:lvl5pPr>
            <a:lvl6pPr fontAlgn="base">
              <a:spcBef>
                <a:spcPct val="0"/>
              </a:spcBef>
              <a:spcAft>
                <a:spcPct val="0"/>
              </a:spcAft>
              <a:tabLst>
                <a:tab pos="1601788" algn="l"/>
                <a:tab pos="1717675" algn="l"/>
              </a:tabLst>
              <a:defRPr sz="2400">
                <a:solidFill>
                  <a:schemeClr val="tx1"/>
                </a:solidFill>
                <a:latin typeface="Times New Roman" pitchFamily="18" charset="0"/>
              </a:defRPr>
            </a:lvl6pPr>
            <a:lvl7pPr fontAlgn="base">
              <a:spcBef>
                <a:spcPct val="0"/>
              </a:spcBef>
              <a:spcAft>
                <a:spcPct val="0"/>
              </a:spcAft>
              <a:tabLst>
                <a:tab pos="1601788" algn="l"/>
                <a:tab pos="1717675" algn="l"/>
              </a:tabLst>
              <a:defRPr sz="2400">
                <a:solidFill>
                  <a:schemeClr val="tx1"/>
                </a:solidFill>
                <a:latin typeface="Times New Roman" pitchFamily="18" charset="0"/>
              </a:defRPr>
            </a:lvl7pPr>
            <a:lvl8pPr fontAlgn="base">
              <a:spcBef>
                <a:spcPct val="0"/>
              </a:spcBef>
              <a:spcAft>
                <a:spcPct val="0"/>
              </a:spcAft>
              <a:tabLst>
                <a:tab pos="1601788" algn="l"/>
                <a:tab pos="1717675" algn="l"/>
              </a:tabLst>
              <a:defRPr sz="2400">
                <a:solidFill>
                  <a:schemeClr val="tx1"/>
                </a:solidFill>
                <a:latin typeface="Times New Roman" pitchFamily="18" charset="0"/>
              </a:defRPr>
            </a:lvl8pPr>
            <a:lvl9pPr fontAlgn="base">
              <a:spcBef>
                <a:spcPct val="0"/>
              </a:spcBef>
              <a:spcAft>
                <a:spcPct val="0"/>
              </a:spcAft>
              <a:tabLst>
                <a:tab pos="1601788" algn="l"/>
                <a:tab pos="1717675" algn="l"/>
              </a:tabLst>
              <a:defRPr sz="2400">
                <a:solidFill>
                  <a:schemeClr val="tx1"/>
                </a:solidFill>
                <a:latin typeface="Times New Roman" pitchFamily="18" charset="0"/>
              </a:defRPr>
            </a:lvl9pPr>
          </a:lstStyle>
          <a:p>
            <a:pPr>
              <a:lnSpc>
                <a:spcPct val="100000"/>
              </a:lnSpc>
            </a:pPr>
            <a:r>
              <a:rPr lang="en-US" altLang="en-US" sz="1800">
                <a:solidFill>
                  <a:srgbClr val="000000"/>
                </a:solidFill>
                <a:latin typeface="Courier New" pitchFamily="49" charset="0"/>
              </a:rPr>
              <a:t>SQL&gt; DROP VIEW empvu10; </a:t>
            </a:r>
          </a:p>
          <a:p>
            <a:pPr>
              <a:lnSpc>
                <a:spcPct val="100000"/>
              </a:lnSpc>
            </a:pPr>
            <a:r>
              <a:rPr lang="en-US" altLang="en-US" sz="1800">
                <a:solidFill>
                  <a:srgbClr val="FF3300"/>
                </a:solidFill>
                <a:effectLst>
                  <a:outerShdw blurRad="38100" dist="38100" dir="2700000" algn="tl">
                    <a:srgbClr val="000000"/>
                  </a:outerShdw>
                </a:effectLst>
                <a:latin typeface="Courier New" pitchFamily="49" charset="0"/>
              </a:rPr>
              <a:t>View dropped.</a:t>
            </a:r>
          </a:p>
        </p:txBody>
      </p:sp>
      <p:sp>
        <p:nvSpPr>
          <p:cNvPr id="39942" name="Rectangle 6"/>
          <p:cNvSpPr>
            <a:spLocks noChangeArrowheads="1"/>
          </p:cNvSpPr>
          <p:nvPr/>
        </p:nvSpPr>
        <p:spPr bwMode="blackWhite">
          <a:xfrm>
            <a:off x="928688" y="3306763"/>
            <a:ext cx="7493000" cy="338137"/>
          </a:xfrm>
          <a:prstGeom prst="rect">
            <a:avLst/>
          </a:prstGeom>
          <a:solidFill>
            <a:srgbClr val="FFFFCC"/>
          </a:solidFill>
          <a:ln w="25400">
            <a:solidFill>
              <a:srgbClr val="000000"/>
            </a:solidFill>
            <a:miter lim="800000"/>
            <a:headEnd/>
            <a:tailEnd/>
          </a:ln>
          <a:effectLst>
            <a:outerShdw dist="89803" dir="2700000" algn="ctr" rotWithShape="0">
              <a:srgbClr val="000000"/>
            </a:outerShdw>
          </a:effectLst>
        </p:spPr>
        <p:txBody>
          <a:bodyPr wrap="none" lIns="92075" tIns="46038" rIns="92075" bIns="46038" anchor="ctr"/>
          <a:lstStyle>
            <a:lvl1pPr algn="l">
              <a:spcBef>
                <a:spcPct val="0"/>
              </a:spcBef>
              <a:tabLst>
                <a:tab pos="1200150" algn="l"/>
              </a:tabLst>
              <a:defRPr sz="2400">
                <a:solidFill>
                  <a:schemeClr val="tx1"/>
                </a:solidFill>
                <a:latin typeface="Times New Roman" pitchFamily="18" charset="0"/>
              </a:defRPr>
            </a:lvl1pPr>
            <a:lvl2pPr algn="l">
              <a:spcBef>
                <a:spcPct val="0"/>
              </a:spcBef>
              <a:tabLst>
                <a:tab pos="1200150" algn="l"/>
              </a:tabLst>
              <a:defRPr sz="2400">
                <a:solidFill>
                  <a:schemeClr val="tx1"/>
                </a:solidFill>
                <a:latin typeface="Times New Roman" pitchFamily="18" charset="0"/>
              </a:defRPr>
            </a:lvl2pPr>
            <a:lvl3pPr algn="l">
              <a:spcBef>
                <a:spcPct val="0"/>
              </a:spcBef>
              <a:tabLst>
                <a:tab pos="1200150" algn="l"/>
              </a:tabLst>
              <a:defRPr sz="2400">
                <a:solidFill>
                  <a:schemeClr val="tx1"/>
                </a:solidFill>
                <a:latin typeface="Times New Roman" pitchFamily="18" charset="0"/>
              </a:defRPr>
            </a:lvl3pPr>
            <a:lvl4pPr algn="l">
              <a:spcBef>
                <a:spcPct val="0"/>
              </a:spcBef>
              <a:tabLst>
                <a:tab pos="1200150" algn="l"/>
              </a:tabLst>
              <a:defRPr sz="2400">
                <a:solidFill>
                  <a:schemeClr val="tx1"/>
                </a:solidFill>
                <a:latin typeface="Times New Roman" pitchFamily="18" charset="0"/>
              </a:defRPr>
            </a:lvl4pPr>
            <a:lvl5pPr algn="l">
              <a:spcBef>
                <a:spcPct val="0"/>
              </a:spcBef>
              <a:tabLst>
                <a:tab pos="1200150" algn="l"/>
              </a:tabLst>
              <a:defRPr sz="2400">
                <a:solidFill>
                  <a:schemeClr val="tx1"/>
                </a:solidFill>
                <a:latin typeface="Times New Roman" pitchFamily="18" charset="0"/>
              </a:defRPr>
            </a:lvl5pPr>
            <a:lvl6pPr fontAlgn="base">
              <a:spcBef>
                <a:spcPct val="0"/>
              </a:spcBef>
              <a:spcAft>
                <a:spcPct val="0"/>
              </a:spcAft>
              <a:tabLst>
                <a:tab pos="1200150" algn="l"/>
              </a:tabLst>
              <a:defRPr sz="2400">
                <a:solidFill>
                  <a:schemeClr val="tx1"/>
                </a:solidFill>
                <a:latin typeface="Times New Roman" pitchFamily="18" charset="0"/>
              </a:defRPr>
            </a:lvl6pPr>
            <a:lvl7pPr fontAlgn="base">
              <a:spcBef>
                <a:spcPct val="0"/>
              </a:spcBef>
              <a:spcAft>
                <a:spcPct val="0"/>
              </a:spcAft>
              <a:tabLst>
                <a:tab pos="1200150" algn="l"/>
              </a:tabLst>
              <a:defRPr sz="2400">
                <a:solidFill>
                  <a:schemeClr val="tx1"/>
                </a:solidFill>
                <a:latin typeface="Times New Roman" pitchFamily="18" charset="0"/>
              </a:defRPr>
            </a:lvl7pPr>
            <a:lvl8pPr fontAlgn="base">
              <a:spcBef>
                <a:spcPct val="0"/>
              </a:spcBef>
              <a:spcAft>
                <a:spcPct val="0"/>
              </a:spcAft>
              <a:tabLst>
                <a:tab pos="1200150" algn="l"/>
              </a:tabLst>
              <a:defRPr sz="2400">
                <a:solidFill>
                  <a:schemeClr val="tx1"/>
                </a:solidFill>
                <a:latin typeface="Times New Roman" pitchFamily="18" charset="0"/>
              </a:defRPr>
            </a:lvl8pPr>
            <a:lvl9pPr fontAlgn="base">
              <a:spcBef>
                <a:spcPct val="0"/>
              </a:spcBef>
              <a:spcAft>
                <a:spcPct val="0"/>
              </a:spcAft>
              <a:tabLst>
                <a:tab pos="1200150" algn="l"/>
              </a:tabLst>
              <a:defRPr sz="2400">
                <a:solidFill>
                  <a:schemeClr val="tx1"/>
                </a:solidFill>
                <a:latin typeface="Times New Roman" pitchFamily="18" charset="0"/>
              </a:defRPr>
            </a:lvl9pPr>
          </a:lstStyle>
          <a:p>
            <a:pPr>
              <a:lnSpc>
                <a:spcPct val="100000"/>
              </a:lnSpc>
            </a:pPr>
            <a:r>
              <a:rPr lang="en-US" altLang="en-US" sz="1800">
                <a:solidFill>
                  <a:srgbClr val="000000"/>
                </a:solidFill>
                <a:latin typeface="Courier New" pitchFamily="49" charset="0"/>
              </a:rPr>
              <a:t>DROP VIEW </a:t>
            </a:r>
            <a:r>
              <a:rPr lang="en-US" altLang="en-US" sz="1800" i="1">
                <a:solidFill>
                  <a:srgbClr val="000000"/>
                </a:solidFill>
                <a:latin typeface="Courier New" pitchFamily="49" charset="0"/>
              </a:rPr>
              <a:t>view</a:t>
            </a:r>
            <a:r>
              <a:rPr lang="en-US" altLang="en-US" sz="1800">
                <a:solidFill>
                  <a:srgbClr val="000000"/>
                </a:solidFill>
                <a:latin typeface="Courier New" pitchFamily="49" charset="0"/>
              </a:rPr>
              <a:t>; </a:t>
            </a:r>
          </a:p>
        </p:txBody>
      </p:sp>
    </p:spTree>
    <p:extLst>
      <p:ext uri="{BB962C8B-B14F-4D97-AF65-F5344CB8AC3E}">
        <p14:creationId xmlns:p14="http://schemas.microsoft.com/office/powerpoint/2010/main" val="3441430943"/>
      </p:ext>
    </p:extLst>
  </p:cSld>
  <p:clrMapOvr>
    <a:masterClrMapping/>
  </p:clrMapOvr>
  <p:transition spd="slow"/>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a:noFill/>
          <a:ln/>
        </p:spPr>
        <p:txBody>
          <a:bodyPr/>
          <a:lstStyle/>
          <a:p>
            <a:r>
              <a:rPr lang="en-US" altLang="en-US"/>
              <a:t>Summary</a:t>
            </a:r>
          </a:p>
        </p:txBody>
      </p:sp>
      <p:sp>
        <p:nvSpPr>
          <p:cNvPr id="41987" name="Rectangle 3"/>
          <p:cNvSpPr>
            <a:spLocks noGrp="1" noChangeArrowheads="1"/>
          </p:cNvSpPr>
          <p:nvPr>
            <p:ph type="body" idx="1"/>
          </p:nvPr>
        </p:nvSpPr>
        <p:spPr>
          <a:xfrm>
            <a:off x="860425" y="1341438"/>
            <a:ext cx="7654925" cy="4829175"/>
          </a:xfrm>
          <a:noFill/>
          <a:ln/>
        </p:spPr>
        <p:txBody>
          <a:bodyPr/>
          <a:lstStyle/>
          <a:p>
            <a:pPr lvl="1">
              <a:lnSpc>
                <a:spcPct val="90000"/>
              </a:lnSpc>
            </a:pPr>
            <a:r>
              <a:rPr lang="en-US" altLang="en-US"/>
              <a:t>A view is derived from data in other tables or other views.</a:t>
            </a:r>
          </a:p>
          <a:p>
            <a:pPr lvl="1">
              <a:lnSpc>
                <a:spcPct val="90000"/>
              </a:lnSpc>
            </a:pPr>
            <a:r>
              <a:rPr lang="en-US" altLang="en-US"/>
              <a:t>A view provides the following advantages:</a:t>
            </a:r>
          </a:p>
          <a:p>
            <a:pPr lvl="2">
              <a:lnSpc>
                <a:spcPct val="90000"/>
              </a:lnSpc>
            </a:pPr>
            <a:r>
              <a:rPr lang="en-US" altLang="en-US"/>
              <a:t>Restricts database access</a:t>
            </a:r>
          </a:p>
          <a:p>
            <a:pPr lvl="2">
              <a:lnSpc>
                <a:spcPct val="90000"/>
              </a:lnSpc>
            </a:pPr>
            <a:r>
              <a:rPr lang="en-US" altLang="en-US"/>
              <a:t>Simplifies queries</a:t>
            </a:r>
          </a:p>
          <a:p>
            <a:pPr lvl="2">
              <a:lnSpc>
                <a:spcPct val="90000"/>
              </a:lnSpc>
            </a:pPr>
            <a:r>
              <a:rPr lang="en-US" altLang="en-US"/>
              <a:t>Provides data independence</a:t>
            </a:r>
          </a:p>
          <a:p>
            <a:pPr lvl="2">
              <a:lnSpc>
                <a:spcPct val="90000"/>
              </a:lnSpc>
            </a:pPr>
            <a:r>
              <a:rPr lang="en-US" altLang="en-US"/>
              <a:t>Allows multiple views of the same data</a:t>
            </a:r>
          </a:p>
          <a:p>
            <a:pPr lvl="2">
              <a:lnSpc>
                <a:spcPct val="90000"/>
              </a:lnSpc>
            </a:pPr>
            <a:r>
              <a:rPr lang="en-US" altLang="en-US"/>
              <a:t>Can be dropped without removing the underlying data</a:t>
            </a:r>
          </a:p>
        </p:txBody>
      </p:sp>
    </p:spTree>
    <p:extLst>
      <p:ext uri="{BB962C8B-B14F-4D97-AF65-F5344CB8AC3E}">
        <p14:creationId xmlns:p14="http://schemas.microsoft.com/office/powerpoint/2010/main" val="100201323"/>
      </p:ext>
    </p:extLst>
  </p:cSld>
  <p:clrMapOvr>
    <a:masterClrMapping/>
  </p:clrMapOvr>
  <p:transition spd="slow"/>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noFill/>
          <a:ln/>
        </p:spPr>
        <p:txBody>
          <a:bodyPr/>
          <a:lstStyle/>
          <a:p>
            <a:r>
              <a:rPr lang="en-US" altLang="en-US"/>
              <a:t>Practice Overview</a:t>
            </a:r>
          </a:p>
        </p:txBody>
      </p:sp>
      <p:sp>
        <p:nvSpPr>
          <p:cNvPr id="44035" name="Rectangle 3"/>
          <p:cNvSpPr>
            <a:spLocks noGrp="1" noChangeArrowheads="1"/>
          </p:cNvSpPr>
          <p:nvPr>
            <p:ph type="body" idx="1"/>
          </p:nvPr>
        </p:nvSpPr>
        <p:spPr>
          <a:xfrm>
            <a:off x="858838" y="1795463"/>
            <a:ext cx="7385050" cy="498475"/>
          </a:xfrm>
          <a:noFill/>
          <a:ln/>
        </p:spPr>
        <p:txBody>
          <a:bodyPr/>
          <a:lstStyle/>
          <a:p>
            <a:pPr lvl="1"/>
            <a:r>
              <a:rPr lang="en-US" altLang="en-US"/>
              <a:t>Creating a simple view</a:t>
            </a:r>
          </a:p>
          <a:p>
            <a:pPr lvl="1"/>
            <a:r>
              <a:rPr lang="en-US" altLang="en-US"/>
              <a:t>Creating a complex view</a:t>
            </a:r>
          </a:p>
          <a:p>
            <a:pPr lvl="1"/>
            <a:r>
              <a:rPr lang="en-US" altLang="en-US"/>
              <a:t>Creating a view with a check constraint</a:t>
            </a:r>
          </a:p>
          <a:p>
            <a:pPr lvl="1"/>
            <a:r>
              <a:rPr lang="en-US" altLang="en-US"/>
              <a:t>Attempting to modify data in the view</a:t>
            </a:r>
          </a:p>
          <a:p>
            <a:pPr lvl="1"/>
            <a:r>
              <a:rPr lang="en-US" altLang="en-US"/>
              <a:t>Displaying view definitions</a:t>
            </a:r>
          </a:p>
          <a:p>
            <a:pPr lvl="1"/>
            <a:r>
              <a:rPr lang="en-US" altLang="en-US"/>
              <a:t>Removing views</a:t>
            </a:r>
          </a:p>
        </p:txBody>
      </p:sp>
    </p:spTree>
    <p:extLst>
      <p:ext uri="{BB962C8B-B14F-4D97-AF65-F5344CB8AC3E}">
        <p14:creationId xmlns:p14="http://schemas.microsoft.com/office/powerpoint/2010/main" val="174562088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ln/>
        </p:spPr>
        <p:txBody>
          <a:bodyPr/>
          <a:lstStyle/>
          <a:p>
            <a:endParaRPr lang="en-US" altLang="en-US"/>
          </a:p>
        </p:txBody>
      </p:sp>
      <p:sp>
        <p:nvSpPr>
          <p:cNvPr id="46083" name="Rectangle 3"/>
          <p:cNvSpPr>
            <a:spLocks noGrp="1" noChangeArrowheads="1"/>
          </p:cNvSpPr>
          <p:nvPr>
            <p:ph type="body" idx="1"/>
          </p:nvPr>
        </p:nvSpPr>
        <p:spPr>
          <a:xfrm>
            <a:off x="858838" y="1795463"/>
            <a:ext cx="7385050" cy="498475"/>
          </a:xfrm>
          <a:ln/>
        </p:spPr>
        <p:txBody>
          <a:bodyPr/>
          <a:lstStyle/>
          <a:p>
            <a:endParaRPr lang="en-US" altLang="en-US"/>
          </a:p>
        </p:txBody>
      </p:sp>
    </p:spTree>
    <p:extLst>
      <p:ext uri="{BB962C8B-B14F-4D97-AF65-F5344CB8AC3E}">
        <p14:creationId xmlns:p14="http://schemas.microsoft.com/office/powerpoint/2010/main" val="1844882483"/>
      </p:ext>
    </p:extLst>
  </p:cSld>
  <p:clrMapOvr>
    <a:masterClrMapping/>
  </p:clrMapOvr>
  <p:transition spd="slow"/>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ln/>
        </p:spPr>
        <p:txBody>
          <a:bodyPr/>
          <a:lstStyle/>
          <a:p>
            <a:endParaRPr lang="en-US" altLang="en-US"/>
          </a:p>
        </p:txBody>
      </p:sp>
      <p:sp>
        <p:nvSpPr>
          <p:cNvPr id="48131" name="Rectangle 3"/>
          <p:cNvSpPr>
            <a:spLocks noGrp="1" noChangeArrowheads="1"/>
          </p:cNvSpPr>
          <p:nvPr>
            <p:ph type="body" idx="1"/>
          </p:nvPr>
        </p:nvSpPr>
        <p:spPr>
          <a:xfrm>
            <a:off x="860425" y="1795463"/>
            <a:ext cx="7385050" cy="498475"/>
          </a:xfrm>
          <a:ln/>
        </p:spPr>
        <p:txBody>
          <a:bodyPr/>
          <a:lstStyle/>
          <a:p>
            <a:endParaRPr lang="en-US" altLang="en-US"/>
          </a:p>
        </p:txBody>
      </p:sp>
    </p:spTree>
    <p:extLst>
      <p:ext uri="{BB962C8B-B14F-4D97-AF65-F5344CB8AC3E}">
        <p14:creationId xmlns:p14="http://schemas.microsoft.com/office/powerpoint/2010/main" val="620123390"/>
      </p:ext>
    </p:extLst>
  </p:cSld>
  <p:clrMapOvr>
    <a:masterClrMapping/>
  </p:clrMapOvr>
  <p:transition spd="slow"/>
</p:sld>
</file>

<file path=ppt/theme/theme1.xml><?xml version="1.0" encoding="utf-8"?>
<a:theme xmlns:a="http://schemas.openxmlformats.org/drawingml/2006/main" name="Les01">
  <a:themeElements>
    <a:clrScheme name="">
      <a:dk1>
        <a:srgbClr val="0E0E58"/>
      </a:dk1>
      <a:lt1>
        <a:srgbClr val="F8F8D3"/>
      </a:lt1>
      <a:dk2>
        <a:srgbClr val="2323DC"/>
      </a:dk2>
      <a:lt2>
        <a:srgbClr val="7BEAEA"/>
      </a:lt2>
      <a:accent1>
        <a:srgbClr val="DDDDDD"/>
      </a:accent1>
      <a:accent2>
        <a:srgbClr val="EAC67B"/>
      </a:accent2>
      <a:accent3>
        <a:srgbClr val="ACACEB"/>
      </a:accent3>
      <a:accent4>
        <a:srgbClr val="D4D4B4"/>
      </a:accent4>
      <a:accent5>
        <a:srgbClr val="EBEBEB"/>
      </a:accent5>
      <a:accent6>
        <a:srgbClr val="D4B36F"/>
      </a:accent6>
      <a:hlink>
        <a:srgbClr val="7BEAEA"/>
      </a:hlink>
      <a:folHlink>
        <a:srgbClr val="D3EAF8"/>
      </a:folHlink>
    </a:clrScheme>
    <a:fontScheme name="Les01">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gradFill rotWithShape="0">
          <a:gsLst>
            <a:gs pos="0">
              <a:srgbClr val="D3EAF8">
                <a:gamma/>
                <a:shade val="89804"/>
                <a:invGamma/>
              </a:srgbClr>
            </a:gs>
            <a:gs pos="50000">
              <a:srgbClr val="D3EAF8"/>
            </a:gs>
            <a:gs pos="100000">
              <a:srgbClr val="D3EAF8">
                <a:gamma/>
                <a:shade val="89804"/>
                <a:invGamma/>
              </a:srgbClr>
            </a:gs>
          </a:gsLst>
          <a:lin ang="18900000" scaled="1"/>
        </a:gradFill>
        <a:ln w="50800" cap="flat" cmpd="sng" algn="ctr">
          <a:solidFill>
            <a:schemeClr val="bg2"/>
          </a:solidFill>
          <a:prstDash val="solid"/>
          <a:round/>
          <a:headEnd type="none" w="sm" len="sm"/>
          <a:tailEnd type="none" w="sm" len="sm"/>
        </a:ln>
        <a:effectLst>
          <a:outerShdw dist="53882" dir="2700000" algn="ctr" rotWithShape="0">
            <a:srgbClr val="000000"/>
          </a:outerShdw>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20000"/>
          </a:lnSpc>
          <a:spcBef>
            <a:spcPct val="60000"/>
          </a:spcBef>
          <a:spcAft>
            <a:spcPct val="0"/>
          </a:spcAft>
          <a:buClrTx/>
          <a:buSzTx/>
          <a:buFontTx/>
          <a:buNone/>
          <a:tabLst/>
          <a:defRPr kumimoji="0" lang="en-US" sz="2800" b="1" i="0" u="none" strike="noStrike" cap="none" normalizeH="0" baseline="0" smtClean="0">
            <a:ln>
              <a:noFill/>
            </a:ln>
            <a:solidFill>
              <a:schemeClr val="bg2"/>
            </a:solidFill>
            <a:effectLst/>
            <a:latin typeface="Arial Narrow" pitchFamily="34" charset="0"/>
          </a:defRPr>
        </a:defPPr>
      </a:lstStyle>
    </a:spDef>
    <a:lnDef>
      <a:spPr bwMode="auto">
        <a:xfrm>
          <a:off x="0" y="0"/>
          <a:ext cx="1" cy="1"/>
        </a:xfrm>
        <a:custGeom>
          <a:avLst/>
          <a:gdLst/>
          <a:ahLst/>
          <a:cxnLst/>
          <a:rect l="0" t="0" r="0" b="0"/>
          <a:pathLst/>
        </a:custGeom>
        <a:gradFill rotWithShape="0">
          <a:gsLst>
            <a:gs pos="0">
              <a:srgbClr val="D3EAF8">
                <a:gamma/>
                <a:shade val="89804"/>
                <a:invGamma/>
              </a:srgbClr>
            </a:gs>
            <a:gs pos="50000">
              <a:srgbClr val="D3EAF8"/>
            </a:gs>
            <a:gs pos="100000">
              <a:srgbClr val="D3EAF8">
                <a:gamma/>
                <a:shade val="89804"/>
                <a:invGamma/>
              </a:srgbClr>
            </a:gs>
          </a:gsLst>
          <a:lin ang="18900000" scaled="1"/>
        </a:gradFill>
        <a:ln w="50800" cap="flat" cmpd="sng" algn="ctr">
          <a:solidFill>
            <a:schemeClr val="bg2"/>
          </a:solidFill>
          <a:prstDash val="solid"/>
          <a:round/>
          <a:headEnd type="none" w="sm" len="sm"/>
          <a:tailEnd type="none" w="sm" len="sm"/>
        </a:ln>
        <a:effectLst>
          <a:outerShdw dist="53882" dir="2700000" algn="ctr" rotWithShape="0">
            <a:srgbClr val="000000"/>
          </a:outerShdw>
        </a:effec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20000"/>
          </a:lnSpc>
          <a:spcBef>
            <a:spcPct val="60000"/>
          </a:spcBef>
          <a:spcAft>
            <a:spcPct val="0"/>
          </a:spcAft>
          <a:buClrTx/>
          <a:buSzTx/>
          <a:buFontTx/>
          <a:buNone/>
          <a:tabLst/>
          <a:defRPr kumimoji="0" lang="en-US" sz="2800" b="1" i="0" u="none" strike="noStrike" cap="none" normalizeH="0" baseline="0" smtClean="0">
            <a:ln>
              <a:noFill/>
            </a:ln>
            <a:solidFill>
              <a:schemeClr val="bg2"/>
            </a:solidFill>
            <a:effectLst/>
            <a:latin typeface="Arial Narrow" pitchFamily="34" charset="0"/>
          </a:defRPr>
        </a:defPPr>
      </a:lstStyle>
    </a:lnDef>
  </a:objectDefaults>
  <a:extraClrSchemeLst>
    <a:extraClrScheme>
      <a:clrScheme name="Les01 1">
        <a:dk1>
          <a:srgbClr val="000066"/>
        </a:dk1>
        <a:lt1>
          <a:srgbClr val="FFFFFF"/>
        </a:lt1>
        <a:dk2>
          <a:srgbClr val="3366FF"/>
        </a:dk2>
        <a:lt2>
          <a:srgbClr val="66FFFF"/>
        </a:lt2>
        <a:accent1>
          <a:srgbClr val="DDDDDD"/>
        </a:accent1>
        <a:accent2>
          <a:srgbClr val="FFCC66"/>
        </a:accent2>
        <a:accent3>
          <a:srgbClr val="ADB8FF"/>
        </a:accent3>
        <a:accent4>
          <a:srgbClr val="DADADA"/>
        </a:accent4>
        <a:accent5>
          <a:srgbClr val="EBEBEB"/>
        </a:accent5>
        <a:accent6>
          <a:srgbClr val="E7B95C"/>
        </a:accent6>
        <a:hlink>
          <a:srgbClr val="FF0033"/>
        </a:hlink>
        <a:folHlink>
          <a:srgbClr val="99CCFF"/>
        </a:folHlink>
      </a:clrScheme>
      <a:clrMap bg1="dk2" tx1="lt1" bg2="dk1" tx2="lt2" accent1="accent1" accent2="accent2" accent3="accent3" accent4="accent4" accent5="accent5" accent6="accent6" hlink="hlink" folHlink="folHlink"/>
    </a:extraClrScheme>
    <a:extraClrScheme>
      <a:clrScheme name="Les01 2">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Les01 3">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Les01 4">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Les01 5">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Les01 6">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Les01 7">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Les01 8">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
    <a:dk1>
      <a:srgbClr val="0E0E58"/>
    </a:dk1>
    <a:lt1>
      <a:srgbClr val="F8F8D3"/>
    </a:lt1>
    <a:dk2>
      <a:srgbClr val="2323DC"/>
    </a:dk2>
    <a:lt2>
      <a:srgbClr val="7BEAEA"/>
    </a:lt2>
    <a:accent1>
      <a:srgbClr val="DDDDDD"/>
    </a:accent1>
    <a:accent2>
      <a:srgbClr val="EAC67B"/>
    </a:accent2>
    <a:accent3>
      <a:srgbClr val="ACACEB"/>
    </a:accent3>
    <a:accent4>
      <a:srgbClr val="D4D4B4"/>
    </a:accent4>
    <a:accent5>
      <a:srgbClr val="EBEBEB"/>
    </a:accent5>
    <a:accent6>
      <a:srgbClr val="D4B36F"/>
    </a:accent6>
    <a:hlink>
      <a:srgbClr val="7BEAEA"/>
    </a:hlink>
    <a:folHlink>
      <a:srgbClr val="D3EAF8"/>
    </a:folHlink>
  </a:clrScheme>
</a:themeOverride>
</file>

<file path=docProps/app.xml><?xml version="1.0" encoding="utf-8"?>
<Properties xmlns="http://schemas.openxmlformats.org/officeDocument/2006/extended-properties" xmlns:vt="http://schemas.openxmlformats.org/officeDocument/2006/docPropsVTypes">
  <Template>C:\Jobs\intro\newintro\SQL1\Les01.ppt</Template>
  <TotalTime>2844</TotalTime>
  <Words>7046</Words>
  <Application>Microsoft Office PowerPoint</Application>
  <PresentationFormat>On-screen Show (4:3)</PresentationFormat>
  <Paragraphs>798</Paragraphs>
  <Slides>41</Slides>
  <Notes>40</Notes>
  <HiddenSlides>2</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Arial</vt:lpstr>
      <vt:lpstr>Arial Narrow</vt:lpstr>
      <vt:lpstr>Courier New</vt:lpstr>
      <vt:lpstr>Symbol</vt:lpstr>
      <vt:lpstr>Times</vt:lpstr>
      <vt:lpstr>Times New Roman</vt:lpstr>
      <vt:lpstr>Les01</vt:lpstr>
      <vt:lpstr>Subqueries</vt:lpstr>
      <vt:lpstr>Objectives</vt:lpstr>
      <vt:lpstr>Using a Subquery  to Solve a Problem</vt:lpstr>
      <vt:lpstr>Subqueries</vt:lpstr>
      <vt:lpstr>Using a Subquery</vt:lpstr>
      <vt:lpstr>Guidelines for Using Subqueries</vt:lpstr>
      <vt:lpstr>Types of Subqueries</vt:lpstr>
      <vt:lpstr>Single-Row Subqueries</vt:lpstr>
      <vt:lpstr>Executing Single-Row Subqueries</vt:lpstr>
      <vt:lpstr>Using Group Functions  in a Subquery</vt:lpstr>
      <vt:lpstr>HAVING Clause with Subqueries</vt:lpstr>
      <vt:lpstr>What Is Wrong  with This Statement?</vt:lpstr>
      <vt:lpstr>Will This Statement Work?</vt:lpstr>
      <vt:lpstr>Multiple-Row Subqueries</vt:lpstr>
      <vt:lpstr>PowerPoint Presentation</vt:lpstr>
      <vt:lpstr>Using ANY Operator  in Multiple-Row Subqueries</vt:lpstr>
      <vt:lpstr>Using ALL Operator  in Multiple-Row Subqueries</vt:lpstr>
      <vt:lpstr>Summary</vt:lpstr>
      <vt:lpstr>Practice Overview</vt:lpstr>
      <vt:lpstr>Creating Views </vt:lpstr>
      <vt:lpstr>Objectives</vt:lpstr>
      <vt:lpstr>Database Objects</vt:lpstr>
      <vt:lpstr>What Is a View?</vt:lpstr>
      <vt:lpstr>Why Use Views?</vt:lpstr>
      <vt:lpstr>Simple Views  and Complex Views</vt:lpstr>
      <vt:lpstr>Creating a View</vt:lpstr>
      <vt:lpstr>Creating a View</vt:lpstr>
      <vt:lpstr>Creating a View</vt:lpstr>
      <vt:lpstr>Retrieving Data from a View</vt:lpstr>
      <vt:lpstr>Querying a View</vt:lpstr>
      <vt:lpstr>Modifying a View</vt:lpstr>
      <vt:lpstr>Creating a Complex View</vt:lpstr>
      <vt:lpstr>Rules for Performing  DML Operations on a View</vt:lpstr>
      <vt:lpstr>Rules for Performing  DML Operations on a View</vt:lpstr>
      <vt:lpstr>Using the WITH CHECK OPTION Clause</vt:lpstr>
      <vt:lpstr>Denying DML Operations</vt:lpstr>
      <vt:lpstr>Removing a View</vt:lpstr>
      <vt:lpstr>Summary</vt:lpstr>
      <vt:lpstr>Practice Overview</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&lt;Lesson Title&gt;</dc:title>
  <dc:creator>Julie Rose</dc:creator>
  <cp:lastModifiedBy>Dr Khurram Shahzad</cp:lastModifiedBy>
  <cp:revision>179</cp:revision>
  <cp:lastPrinted>1998-06-30T21:15:58Z</cp:lastPrinted>
  <dcterms:created xsi:type="dcterms:W3CDTF">1995-06-17T23:31:02Z</dcterms:created>
  <dcterms:modified xsi:type="dcterms:W3CDTF">2025-03-27T14:32:24Z</dcterms:modified>
</cp:coreProperties>
</file>